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26.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0.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30"/>
  </p:notesMasterIdLst>
  <p:handoutMasterIdLst>
    <p:handoutMasterId r:id="rId31"/>
  </p:handoutMasterIdLst>
  <p:sldIdLst>
    <p:sldId id="1192" r:id="rId2"/>
    <p:sldId id="1267" r:id="rId3"/>
    <p:sldId id="1293" r:id="rId4"/>
    <p:sldId id="1294" r:id="rId5"/>
    <p:sldId id="1295" r:id="rId6"/>
    <p:sldId id="1296" r:id="rId7"/>
    <p:sldId id="1297" r:id="rId8"/>
    <p:sldId id="1331" r:id="rId9"/>
    <p:sldId id="1332" r:id="rId10"/>
    <p:sldId id="1334" r:id="rId11"/>
    <p:sldId id="1333" r:id="rId12"/>
    <p:sldId id="1300" r:id="rId13"/>
    <p:sldId id="1316" r:id="rId14"/>
    <p:sldId id="1303" r:id="rId15"/>
    <p:sldId id="1304" r:id="rId16"/>
    <p:sldId id="1305" r:id="rId17"/>
    <p:sldId id="1306" r:id="rId18"/>
    <p:sldId id="1307" r:id="rId19"/>
    <p:sldId id="1308" r:id="rId20"/>
    <p:sldId id="1328" r:id="rId21"/>
    <p:sldId id="1310" r:id="rId22"/>
    <p:sldId id="1311" r:id="rId23"/>
    <p:sldId id="1317" r:id="rId24"/>
    <p:sldId id="1318" r:id="rId25"/>
    <p:sldId id="1313" r:id="rId26"/>
    <p:sldId id="1314" r:id="rId27"/>
    <p:sldId id="1322" r:id="rId28"/>
    <p:sldId id="1320" r:id="rId29"/>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6"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64" autoAdjust="0"/>
    <p:restoredTop sz="70097" autoAdjust="0"/>
  </p:normalViewPr>
  <p:slideViewPr>
    <p:cSldViewPr snapToGrid="0">
      <p:cViewPr>
        <p:scale>
          <a:sx n="80" d="100"/>
          <a:sy n="80" d="100"/>
        </p:scale>
        <p:origin x="-1752" y="-354"/>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50" d="100"/>
          <a:sy n="50" d="100"/>
        </p:scale>
        <p:origin x="-2244" y="-56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A4770306-9EFA-4471-A7E3-35C84498F69B}" type="slidenum">
              <a:rPr lang="en-US" altLang="en-US"/>
              <a:pPr>
                <a:defRPr/>
              </a:pPr>
              <a:t>‹#›</a:t>
            </a:fld>
            <a:endParaRPr lang="en-US" altLang="en-US"/>
          </a:p>
        </p:txBody>
      </p:sp>
    </p:spTree>
    <p:extLst>
      <p:ext uri="{BB962C8B-B14F-4D97-AF65-F5344CB8AC3E}">
        <p14:creationId xmlns:p14="http://schemas.microsoft.com/office/powerpoint/2010/main" val="453975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E7AB74E6-AC4A-41D1-BFAE-B1EB9AF651B1}"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Reserves - </a:t>
            </a:r>
            <a:fld id="{0B6C4C7D-C1B2-42B0-A432-EF721B89EEBF}" type="slidenum">
              <a:rPr lang="en-US" altLang="en-US"/>
              <a:pPr>
                <a:defRPr/>
              </a:pPr>
              <a:t>‹#›</a:t>
            </a:fld>
            <a:endParaRPr lang="en-US" altLang="en-US"/>
          </a:p>
        </p:txBody>
      </p:sp>
    </p:spTree>
    <p:extLst>
      <p:ext uri="{BB962C8B-B14F-4D97-AF65-F5344CB8AC3E}">
        <p14:creationId xmlns:p14="http://schemas.microsoft.com/office/powerpoint/2010/main" val="462993614"/>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4A2B6705-4484-4BC4-9C35-128A60D3576E}" type="slidenum">
              <a:rPr lang="en-US" altLang="en-US" sz="1200" smtClean="0">
                <a:solidFill>
                  <a:schemeClr val="tx1"/>
                </a:solidFill>
              </a:rPr>
              <a:pPr eaLnBrk="1" hangingPunct="1"/>
              <a:t>1</a:t>
            </a:fld>
            <a:endParaRPr lang="en-US" altLang="en-US" sz="1200" smtClean="0">
              <a:solidFill>
                <a:schemeClr val="tx1"/>
              </a:solidFill>
            </a:endParaRPr>
          </a:p>
        </p:txBody>
      </p:sp>
      <p:sp>
        <p:nvSpPr>
          <p:cNvPr id="32772" name="Rectangle 2"/>
          <p:cNvSpPr>
            <a:spLocks noGrp="1" noRot="1" noChangeAspect="1" noChangeArrowheads="1" noTextEdit="1"/>
          </p:cNvSpPr>
          <p:nvPr>
            <p:ph type="sldImg"/>
          </p:nvPr>
        </p:nvSpPr>
        <p:spPr>
          <a:xfrm>
            <a:off x="715963" y="630238"/>
            <a:ext cx="5430837" cy="4073525"/>
          </a:xfrm>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1F291643-8B29-4C10-ADD7-6AECB3D5C654}" type="slidenum">
              <a:rPr lang="en-US" altLang="en-US" sz="1200" smtClean="0">
                <a:solidFill>
                  <a:schemeClr val="tx1"/>
                </a:solidFill>
              </a:rPr>
              <a:pPr eaLnBrk="1" hangingPunct="1"/>
              <a:t>2</a:t>
            </a:fld>
            <a:endParaRPr lang="en-US" altLang="en-US" sz="1200" smtClean="0">
              <a:solidFill>
                <a:schemeClr val="tx1"/>
              </a:solidFill>
            </a:endParaRPr>
          </a:p>
        </p:txBody>
      </p:sp>
      <p:sp>
        <p:nvSpPr>
          <p:cNvPr id="33796" name="Rectangle 2"/>
          <p:cNvSpPr>
            <a:spLocks noGrp="1" noRot="1" noChangeAspect="1" noChangeArrowheads="1" noTextEdit="1"/>
          </p:cNvSpPr>
          <p:nvPr>
            <p:ph type="sldImg"/>
          </p:nvPr>
        </p:nvSpPr>
        <p:spPr>
          <a:xfrm>
            <a:off x="715963" y="630238"/>
            <a:ext cx="5432425" cy="4073525"/>
          </a:xfrm>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EF3A38DF-13E1-4D4A-9BC8-21DEF17C49AE}" type="slidenum">
              <a:rPr lang="en-US" altLang="en-US" sz="1200" smtClean="0">
                <a:solidFill>
                  <a:schemeClr val="tx1"/>
                </a:solidFill>
              </a:rPr>
              <a:pPr eaLnBrk="1" hangingPunct="1"/>
              <a:t>3</a:t>
            </a:fld>
            <a:endParaRPr lang="en-US" altLang="en-US" sz="1200" smtClean="0">
              <a:solidFill>
                <a:schemeClr val="tx1"/>
              </a:solidFill>
            </a:endParaRPr>
          </a:p>
        </p:txBody>
      </p:sp>
      <p:sp>
        <p:nvSpPr>
          <p:cNvPr id="34820" name="Rectangle 2"/>
          <p:cNvSpPr>
            <a:spLocks noGrp="1" noRot="1" noChangeAspect="1" noChangeArrowheads="1" noTextEdit="1"/>
          </p:cNvSpPr>
          <p:nvPr>
            <p:ph type="sldImg"/>
          </p:nvPr>
        </p:nvSpPr>
        <p:spPr>
          <a:xfrm>
            <a:off x="715963" y="630238"/>
            <a:ext cx="5432425" cy="4073525"/>
          </a:xfrm>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59D53AB5-FCBA-49AB-94E6-EC690887027A}" type="slidenum">
              <a:rPr lang="en-US" altLang="en-US" sz="1200" smtClean="0">
                <a:solidFill>
                  <a:schemeClr val="tx1"/>
                </a:solidFill>
              </a:rPr>
              <a:pPr eaLnBrk="1" hangingPunct="1"/>
              <a:t>4</a:t>
            </a:fld>
            <a:endParaRPr lang="en-US" altLang="en-US" sz="1200" smtClean="0">
              <a:solidFill>
                <a:schemeClr val="tx1"/>
              </a:solidFill>
            </a:endParaRPr>
          </a:p>
        </p:txBody>
      </p:sp>
      <p:sp>
        <p:nvSpPr>
          <p:cNvPr id="35844" name="Rectangle 2"/>
          <p:cNvSpPr>
            <a:spLocks noGrp="1" noRot="1" noChangeAspect="1" noChangeArrowheads="1" noTextEdit="1"/>
          </p:cNvSpPr>
          <p:nvPr>
            <p:ph type="sldImg"/>
          </p:nvPr>
        </p:nvSpPr>
        <p:spPr>
          <a:xfrm>
            <a:off x="715963" y="630238"/>
            <a:ext cx="5432425"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Most students with any length of experience in claims adjustment will be very familiar with the business processes around financials. The purpose of this first section is largely to define the terms used by Guidewire when describing the functionality of ClaimCenter and the specific behaviors of the base application.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1B016EF0-C8DC-42AD-9819-8B8110A144FB}" type="slidenum">
              <a:rPr lang="en-US" altLang="en-US" sz="1200" smtClean="0">
                <a:solidFill>
                  <a:schemeClr val="tx1"/>
                </a:solidFill>
              </a:rPr>
              <a:pPr eaLnBrk="1" hangingPunct="1"/>
              <a:t>5</a:t>
            </a:fld>
            <a:endParaRPr lang="en-US" altLang="en-US" sz="1200" smtClean="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reserve line can be thought of as a "T-account" set aside for one specific aspect of exposure processing. It contains both credits and debits, and its size is equal to the sum of the credits minus the sum of the debits.</a:t>
            </a:r>
          </a:p>
          <a:p>
            <a:pPr eaLnBrk="1" hangingPunct="1"/>
            <a:r>
              <a:rPr lang="en-US" dirty="0" smtClean="0"/>
              <a:t>In the insurance industry, the term "reserve" is sometimes used to refer to the total amount of money set aside for exposure payment. (For example, "The exposure has a reserve of $3000.") At other times, it is used to mean an increase in the amount of money set aside for exposure payment. (For example, "I added a $500 reserve because the vehicle damage was more extensive than originally reported.") To clarify any possible confusion, this course uses the term "reserve line" to refer to the total amount of money set aside for exposure payment, and "reserve transaction" to refer to an increase in the amount of money set aside for exposure payment.</a:t>
            </a:r>
          </a:p>
          <a:p>
            <a:pPr eaLnBrk="1" hangingPunct="1"/>
            <a:r>
              <a:rPr lang="en-US" dirty="0" smtClean="0"/>
              <a:t>Recall that state regulations require insurance companies to err on the side of solvency and to be very conservative in recording expected liabilities for claims that have been reported and even for claims that are not yet known but which can be statistically predicted. For the purpose of ClaimCenter, reserve lines are set for a specific exposure to estimate the probable future payments.</a:t>
            </a:r>
          </a:p>
          <a:p>
            <a:pPr eaLnBrk="1" hangingPunct="1"/>
            <a:r>
              <a:rPr lang="en-US" dirty="0" smtClean="0"/>
              <a:t>There is no technical requirement for an exposure to have a reserve line. You can create and even close exposures without creating reserve lines. However, the primary reason one creates exposures is so that payments can be made to claimants, and you cannot make payments to claimants without reserve lines.</a:t>
            </a:r>
          </a:p>
          <a:p>
            <a:pPr eaLnBrk="1" hangingPunct="1"/>
            <a:r>
              <a:rPr lang="en-US" dirty="0" smtClean="0"/>
              <a:t>Technically, ClaimCenter also allows for claim-level reserve lines. However, in practice, this is rarely used. This course assumes all reserve lines are associated to exposures.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5B24DD6B-AF3A-462C-8BF6-69D4C9EC527C}" type="slidenum">
              <a:rPr lang="en-US" altLang="en-US" sz="1200" smtClean="0">
                <a:solidFill>
                  <a:schemeClr val="tx1"/>
                </a:solidFill>
              </a:rPr>
              <a:pPr eaLnBrk="1" hangingPunct="1"/>
              <a:t>6</a:t>
            </a:fld>
            <a:endParaRPr lang="en-US" altLang="en-US" sz="1200" smtClean="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adjudication of an exposure can result in two broad types of payments: indemnity and expense.</a:t>
            </a:r>
          </a:p>
          <a:p>
            <a:pPr lvl="1" eaLnBrk="1" hangingPunct="1"/>
            <a:r>
              <a:rPr lang="en-US" dirty="0" smtClean="0"/>
              <a:t>An indemnity payment is a payment made to a claimant to make them whole again. For example, if the exposure is for collision coverage to the insured, then the indemnity payment is intended to repair or replace the damaged vehicle. The process of indemnification involves</a:t>
            </a:r>
            <a:r>
              <a:rPr lang="en-US" baseline="0" dirty="0" smtClean="0"/>
              <a:t> restoring the claimant back to the state they were in before the loss or damage. The goal is to restore a policyholder to the same financial position after the loss as that prior to the loss, without the policyholder profiting from the loss.</a:t>
            </a:r>
            <a:endParaRPr lang="en-US" dirty="0" smtClean="0"/>
          </a:p>
          <a:p>
            <a:pPr lvl="1" eaLnBrk="1" hangingPunct="1"/>
            <a:r>
              <a:rPr lang="en-US" dirty="0" smtClean="0"/>
              <a:t>An expense payment is a payment made to cover costs incurred by the carrier while processing the exposure. For example, if the exposure is for collision coverage to the insured, an independent auto inspector may have been hired to survey and assess the auto damage. The expense payment goes to the inspector for services rendered. This is a cost that the carrier incurred as a result of processing the claim and cannot be passed on to the claimant. Therefore, it is an expense.</a:t>
            </a:r>
          </a:p>
          <a:p>
            <a:pPr eaLnBrk="1" hangingPunct="1"/>
            <a:r>
              <a:rPr lang="en-US" dirty="0" smtClean="0"/>
              <a:t>A claims processing system can have more than two cost types. Typically, each cost type ultimately belongs to either indemnity or expense. For example, the base application has four cost types: Claim Cost (indemnity), Adjusting and other expense (expense), Defense and cost containment expense (expense), and Unspecified (neither).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2C12B4F3-A996-4B74-81FC-C1328B94CE4C}" type="slidenum">
              <a:rPr lang="en-US" altLang="en-US" sz="1200" smtClean="0">
                <a:solidFill>
                  <a:schemeClr val="tx1"/>
                </a:solidFill>
              </a:rPr>
              <a:pPr eaLnBrk="1" hangingPunct="1"/>
              <a:t>7</a:t>
            </a:fld>
            <a:endParaRPr lang="en-US" altLang="en-US" sz="1200" smtClean="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Cost categories can be shared across multiple cost types. For example, "vehicle inspection" could be a cost category for both Expense (when the carrier requires the inspection and/or hires a third-party inspector) and Indemnity (when the claimant gets an inspection and the relevant coverage covers it).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86646BBA-1B63-4A63-AE37-48064BB88425}" type="slidenum">
              <a:rPr lang="en-US" altLang="en-US" sz="1200" smtClean="0">
                <a:solidFill>
                  <a:schemeClr val="tx1"/>
                </a:solidFill>
              </a:rPr>
              <a:pPr eaLnBrk="1" hangingPunct="1"/>
              <a:t>8</a:t>
            </a:fld>
            <a:endParaRPr lang="en-US" altLang="en-US" sz="1200" smtClean="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Every reserve line is uniquely defined by its exposure, cost type, and cost category*. The example above contains four valid reserve lines:</a:t>
            </a:r>
          </a:p>
          <a:p>
            <a:pPr lvl="1" eaLnBrk="1" hangingPunct="1"/>
            <a:r>
              <a:rPr lang="en-US" dirty="0" smtClean="0"/>
              <a:t>Exposure 1, claim cost, auto body</a:t>
            </a:r>
          </a:p>
          <a:p>
            <a:pPr lvl="1" eaLnBrk="1" hangingPunct="1"/>
            <a:r>
              <a:rPr lang="en-US" dirty="0" smtClean="0"/>
              <a:t>Exposure 1, expense, inspection</a:t>
            </a:r>
          </a:p>
          <a:p>
            <a:pPr lvl="1" eaLnBrk="1" hangingPunct="1"/>
            <a:r>
              <a:rPr lang="en-US" dirty="0" smtClean="0"/>
              <a:t>Exposure 2, claim cost, auto body</a:t>
            </a:r>
          </a:p>
          <a:p>
            <a:pPr lvl="1" eaLnBrk="1" hangingPunct="1"/>
            <a:r>
              <a:rPr lang="en-US" dirty="0" smtClean="0"/>
              <a:t>Exposure 2, claim cost, towing</a:t>
            </a:r>
          </a:p>
          <a:p>
            <a:pPr eaLnBrk="1" hangingPunct="1"/>
            <a:r>
              <a:rPr lang="en-US" dirty="0" smtClean="0"/>
              <a:t>In the example above, the third reserve line on the first exposure cannot be created because it is not a unique combination of exposure, claim cost, and claim category.</a:t>
            </a:r>
          </a:p>
          <a:p>
            <a:pPr eaLnBrk="1" hangingPunct="1"/>
            <a:endParaRPr lang="en-US" dirty="0" smtClean="0"/>
          </a:p>
          <a:p>
            <a:pPr marL="171450" indent="-171450" eaLnBrk="1" hangingPunct="1">
              <a:buFont typeface="Arial" charset="0"/>
              <a:buChar char="•"/>
            </a:pPr>
            <a:r>
              <a:rPr lang="en-US" baseline="0" dirty="0" smtClean="0"/>
              <a:t>The exception to this is when Multicurrency Reserving is enabled in ClaimCenter. This feature is explained on the next two</a:t>
            </a:r>
            <a:r>
              <a:rPr lang="en-US" dirty="0" smtClean="0"/>
              <a:t> </a:t>
            </a:r>
            <a:r>
              <a:rPr lang="en-US" baseline="0" dirty="0" smtClean="0"/>
              <a:t>slides. This slide uses dollar symbols on the reserve lines to indicate that the reserves are in US dollars.</a:t>
            </a:r>
          </a:p>
          <a:p>
            <a:pPr marL="171450" indent="-171450" eaLnBrk="1" hangingPunct="1">
              <a:buFont typeface="Arial" charset="0"/>
              <a:buChar char="•"/>
            </a:pPr>
            <a:endParaRPr lang="en-US" dirty="0"/>
          </a:p>
          <a:p>
            <a:pPr marL="171450" indent="-171450" eaLnBrk="1" hangingPunct="1">
              <a:buFont typeface="Arial" charset="0"/>
              <a:buChar char="•"/>
            </a:pPr>
            <a:r>
              <a:rPr lang="en-US" dirty="0" smtClean="0"/>
              <a:t>If using Multicurrency Reserving, every reserve line is uniquely defined by its exposure, cost type, cost category and </a:t>
            </a:r>
            <a:r>
              <a:rPr lang="en-US" b="1" dirty="0" smtClean="0"/>
              <a:t>currency</a:t>
            </a:r>
            <a:r>
              <a:rPr lang="en-US" dirty="0" smtClean="0"/>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DB29606A-92FF-4063-9949-A258729A0054}" type="slidenum">
              <a:rPr lang="en-US" altLang="en-US" sz="1200" smtClean="0">
                <a:solidFill>
                  <a:schemeClr val="tx1"/>
                </a:solidFill>
              </a:rPr>
              <a:pPr eaLnBrk="1" hangingPunct="1"/>
              <a:t>9</a:t>
            </a:fld>
            <a:endParaRPr lang="en-US" altLang="en-US" sz="1200" smtClean="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most cases, a reserve transaction can be thought of as adding money to a reserve line. (However, there are circumstances where the amount of money set aside may have been deemed too high, and a reserve transaction will be used to subtract money from a reserve line without actually paying that money to a claimant or other party.)</a:t>
            </a:r>
          </a:p>
          <a:p>
            <a:pPr eaLnBrk="1" hangingPunct="1"/>
            <a:r>
              <a:rPr lang="en-US" dirty="0" smtClean="0"/>
              <a:t>In most cases, a payment transaction can be thought of as subtracting money from a reserve line. (However, there are circumstances where a payment transaction credits money to a reserve line, possibly because an error occurred and the payee returned the money to the carrier.)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DB29606A-92FF-4063-9949-A258729A0054}" type="slidenum">
              <a:rPr lang="en-US" altLang="en-US" sz="1200" smtClean="0">
                <a:solidFill>
                  <a:schemeClr val="tx1"/>
                </a:solidFill>
              </a:rPr>
              <a:pPr eaLnBrk="1" hangingPunct="1"/>
              <a:t>10</a:t>
            </a:fld>
            <a:endParaRPr lang="en-US" altLang="en-US" sz="1200" smtClean="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aseline="0" dirty="0" err="1" smtClean="0"/>
              <a:t>ClaimCenter’s</a:t>
            </a:r>
            <a:r>
              <a:rPr lang="en-US" baseline="0" dirty="0" smtClean="0"/>
              <a:t> Multicurrency Reserving feature</a:t>
            </a:r>
            <a:r>
              <a:rPr lang="en-US" dirty="0" smtClean="0"/>
              <a:t> allows for flexibility in</a:t>
            </a:r>
            <a:r>
              <a:rPr lang="en-US" baseline="0" dirty="0" smtClean="0"/>
              <a:t> the ability to process reserve and other financial transactions in multiple currencies (US Dollar, Euro, GBP, Canadian Dollar, etc.). </a:t>
            </a:r>
          </a:p>
          <a:p>
            <a:pPr eaLnBrk="1" hangingPunct="1"/>
            <a:endParaRPr lang="en-US" baseline="0" dirty="0" smtClean="0"/>
          </a:p>
          <a:p>
            <a:pPr marL="0" marR="0" indent="0" algn="l" defTabSz="914400" rtl="0" eaLnBrk="1" fontAlgn="base" latinLnBrk="0" hangingPunct="1">
              <a:lnSpc>
                <a:spcPct val="100000"/>
              </a:lnSpc>
              <a:spcBef>
                <a:spcPct val="10000"/>
              </a:spcBef>
              <a:spcAft>
                <a:spcPct val="0"/>
              </a:spcAft>
              <a:buClrTx/>
              <a:buSzTx/>
              <a:buFontTx/>
              <a:buNone/>
              <a:tabLst/>
              <a:defRPr/>
            </a:pPr>
            <a:r>
              <a:rPr lang="en-US" baseline="0" dirty="0" smtClean="0"/>
              <a:t>The example above shows processing reserves and payments in Euros (</a:t>
            </a:r>
            <a:r>
              <a:rPr lang="en-US" sz="1000" b="0" dirty="0" smtClean="0">
                <a:cs typeface="Arial" charset="0"/>
              </a:rPr>
              <a:t>€), even though in </a:t>
            </a:r>
            <a:r>
              <a:rPr lang="en-US" sz="1000" b="0" smtClean="0">
                <a:cs typeface="Arial" charset="0"/>
              </a:rPr>
              <a:t>the example, ClaimCenter’s</a:t>
            </a:r>
            <a:r>
              <a:rPr lang="en-US" sz="1000" b="0" dirty="0" smtClean="0">
                <a:cs typeface="Arial" charset="0"/>
              </a:rPr>
              <a:t> base currency</a:t>
            </a:r>
            <a:r>
              <a:rPr lang="en-US" sz="1000" b="0" baseline="0" dirty="0" smtClean="0">
                <a:cs typeface="Arial" charset="0"/>
              </a:rPr>
              <a:t> is GBP. </a:t>
            </a:r>
            <a:endParaRPr lang="en-US" baseline="0" dirty="0" smtClean="0"/>
          </a:p>
          <a:p>
            <a:pPr eaLnBrk="1" hangingPunct="1"/>
            <a:endParaRPr lang="en-US" baseline="0" dirty="0" smtClean="0"/>
          </a:p>
          <a:p>
            <a:pPr eaLnBrk="1" hangingPunct="1"/>
            <a:r>
              <a:rPr lang="en-US" baseline="0" dirty="0" smtClean="0"/>
              <a:t>Multicurrency reserving also allows the ability to process reserves in Euros </a:t>
            </a:r>
            <a:r>
              <a:rPr lang="en-US" b="0" baseline="0" dirty="0" smtClean="0"/>
              <a:t>(</a:t>
            </a:r>
            <a:r>
              <a:rPr lang="en-US" sz="1000" b="0" dirty="0" smtClean="0">
                <a:cs typeface="Arial" charset="0"/>
              </a:rPr>
              <a:t>€), but payments in British</a:t>
            </a:r>
            <a:r>
              <a:rPr lang="en-US" sz="1000" b="0" baseline="0" dirty="0" smtClean="0">
                <a:cs typeface="Arial" charset="0"/>
              </a:rPr>
              <a:t> Pounds (</a:t>
            </a:r>
            <a:r>
              <a:rPr lang="en-US" sz="1000" b="0" dirty="0" smtClean="0"/>
              <a:t>£).</a:t>
            </a:r>
            <a:endParaRPr lang="en-US" b="0"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DA028EDA-CE83-4CC4-80A3-5AA0D5A680D4}" type="slidenum">
              <a:rPr lang="en-US" altLang="en-US" sz="1200" smtClean="0">
                <a:solidFill>
                  <a:schemeClr val="tx1"/>
                </a:solidFill>
              </a:rPr>
              <a:pPr eaLnBrk="1" hangingPunct="1"/>
              <a:t>11</a:t>
            </a:fld>
            <a:endParaRPr lang="en-US" altLang="en-US" sz="1200" smtClean="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ClaimCenter multicurrency feature allows you to set reserves, make payments, write checks and collect recoveries in more than one currency. It knows the base ClaimCenter currency, but accounts for these transactions in the currencies in which they were made. Finally, it adjusts for exchange rate fluctuations that change payment amounts.</a:t>
            </a:r>
          </a:p>
          <a:p>
            <a:pPr eaLnBrk="1" hangingPunct="1"/>
            <a:r>
              <a:rPr lang="en-US" dirty="0" smtClean="0"/>
              <a:t>Every instance of ClaimCenter uses a single base currency, but many tasks can now be performed using another transaction currency. In particular, a ClaimCenter user may:</a:t>
            </a:r>
          </a:p>
          <a:p>
            <a:pPr lvl="1" eaLnBrk="1" hangingPunct="1"/>
            <a:r>
              <a:rPr lang="en-US" dirty="0" smtClean="0"/>
              <a:t>Create payments, issue checks, and receive recoveries in any currency.</a:t>
            </a:r>
          </a:p>
          <a:p>
            <a:pPr lvl="1" eaLnBrk="1" hangingPunct="1"/>
            <a:r>
              <a:rPr lang="en-US" dirty="0" smtClean="0"/>
              <a:t>Create reserves and recovery reserves in any currency; all of them, no matter their currency, still contribute to the aggregate reserves and recovery reserves, which are always displayed in units of the base currency.</a:t>
            </a:r>
          </a:p>
          <a:p>
            <a:pPr lvl="1" eaLnBrk="1" hangingPunct="1"/>
            <a:r>
              <a:rPr lang="en-US" dirty="0" smtClean="0"/>
              <a:t>Search for checks and recoveries in any particular currency - or in all currencies.</a:t>
            </a:r>
          </a:p>
          <a:p>
            <a:pPr lvl="1" eaLnBrk="1" hangingPunct="1"/>
            <a:r>
              <a:rPr lang="en-US" dirty="0" smtClean="0"/>
              <a:t>Create bulk invoice payments and write their associated checks in any currency.</a:t>
            </a:r>
          </a:p>
          <a:p>
            <a:pPr lvl="1" eaLnBrk="1" hangingPunct="1"/>
            <a:r>
              <a:rPr lang="en-US" dirty="0" smtClean="0"/>
              <a:t>View financial summaries which include </a:t>
            </a:r>
            <a:r>
              <a:rPr lang="en-US" i="1" dirty="0" smtClean="0"/>
              <a:t>all </a:t>
            </a:r>
            <a:r>
              <a:rPr lang="en-US" dirty="0" smtClean="0"/>
              <a:t>transactions, independent of their currency.</a:t>
            </a:r>
          </a:p>
          <a:p>
            <a:pPr lvl="1" eaLnBrk="1" hangingPunct="1"/>
            <a:r>
              <a:rPr lang="en-US" dirty="0" smtClean="0"/>
              <a:t>Adjust the actual amount, in the base currency, of a check and its payment(s), after the check has been cashed and the actual amount of the check in the base currency (which has changed because of exchange rate fluctuations) is known.</a:t>
            </a:r>
          </a:p>
          <a:p>
            <a:pPr lvl="1" eaLnBrk="1" hangingPunct="1"/>
            <a:r>
              <a:rPr lang="en-US" dirty="0" smtClean="0"/>
              <a:t>Add a Preferred Currency field to contacts, which tells ClaimCenter the default currency to use when writing a check to that contact (vendor).</a:t>
            </a:r>
          </a:p>
          <a:p>
            <a:pPr lvl="1" eaLnBrk="1" hangingPunct="1"/>
            <a:r>
              <a:rPr lang="en-US" dirty="0" smtClean="0"/>
              <a:t>Enter exchange rates manually when needed, or automatically get them from an outside provider.</a:t>
            </a:r>
          </a:p>
          <a:p>
            <a:pPr lvl="1" eaLnBrk="1" hangingPunct="1"/>
            <a:r>
              <a:rPr lang="en-US" dirty="0" smtClean="0"/>
              <a:t>Periodically update exchange rates obtained from an outside provider.</a:t>
            </a:r>
          </a:p>
          <a:p>
            <a:pPr indent="-114300" eaLnBrk="1" hangingPunct="1"/>
            <a:r>
              <a:rPr lang="en-US" dirty="0"/>
              <a:t>For more information on this topic, consult the “Multicurrency Reserving” lesson in the ClaimCenter 7.0 - 8.0 New Configuration Features course. </a:t>
            </a:r>
          </a:p>
          <a:p>
            <a:pPr lvl="1"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F8988A3C-2C0E-47C8-A668-F7CBAD098E1B}" type="slidenum">
              <a:rPr lang="en-US" altLang="en-US" sz="1200" smtClean="0">
                <a:solidFill>
                  <a:schemeClr val="tx1"/>
                </a:solidFill>
              </a:rPr>
              <a:pPr eaLnBrk="1" hangingPunct="1"/>
              <a:t>12</a:t>
            </a:fld>
            <a:endParaRPr lang="en-US" altLang="en-US" sz="1200" smtClean="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Recall the following definitions:</a:t>
            </a:r>
          </a:p>
          <a:p>
            <a:pPr lvl="1" eaLnBrk="1" hangingPunct="1"/>
            <a:r>
              <a:rPr lang="en-US" dirty="0" smtClean="0"/>
              <a:t>Recovery is a general term that refers to all forms of recouping some of the indemnity payments made on a claim. There are two primary forms of recovery: subrogation and salvage.</a:t>
            </a:r>
          </a:p>
          <a:p>
            <a:pPr lvl="1" eaLnBrk="1" hangingPunct="1"/>
            <a:r>
              <a:rPr lang="en-US" dirty="0" smtClean="0"/>
              <a:t>Subrogation is the act of the carrier getting financial reimbursement from a 3rd party when someone insured by the carrier suffers a loss and it is not the insured's fault. For example, if Jim Means is insured by Acme Insurance and his car is hit by Florence Rigby, then Acme Insurance can attempt to collect money from Florence Rigby's insurance company to cover the money which Acme must pay to Jim Means for his loss. Subrogation is relevant only when there is a 3rd party who is responsible for the loss.</a:t>
            </a:r>
          </a:p>
          <a:p>
            <a:pPr lvl="1" eaLnBrk="1" hangingPunct="1"/>
            <a:r>
              <a:rPr lang="en-US" dirty="0" smtClean="0"/>
              <a:t>Salvage is the act of the carrier paying the full value of damaged property, taking possession of it, and then attempting to recoup some of the cost by reselling the property (or portions of it). For example, if Jim Means has an insured car which is damaged in a collision to the point where it can no longer be driven, Acme Insurance could pay the full value of the car to Jim Means, take possession of it, and then sell any salvageable parts to a scrap yard.</a:t>
            </a:r>
          </a:p>
          <a:p>
            <a:pPr eaLnBrk="1" hangingPunct="1"/>
            <a:r>
              <a:rPr lang="en-US" dirty="0" smtClean="0"/>
              <a:t>The example shown above is for a collision exposure in which the vehicle is a total loss. The carrier plans to pay the insured for the full value of the vehicle, which is $3500. The carrier then expects to be able to sell the vehicle to a salvage yard and recoup $3500.</a:t>
            </a:r>
          </a:p>
          <a:p>
            <a:pPr eaLnBrk="1" hangingPunct="1"/>
            <a:endParaRPr lang="en-US" b="0" dirty="0"/>
          </a:p>
          <a:p>
            <a:pPr eaLnBrk="1" hangingPunct="1"/>
            <a:r>
              <a:rPr lang="en-US" dirty="0" smtClean="0"/>
              <a:t>Recovery, subrogation and salvage are discussed in the “Specialized Claim Processes” lesson.</a:t>
            </a:r>
            <a:endParaRPr lang="en-US" b="0"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C15BFB85-AAFA-4AC1-88F0-AAE5EC490312}"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412E9970-E369-494C-B5B4-B82ED136261B}"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2B9243BD-224F-43FE-9C0E-7326A6A04BBC}"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During exposure set-up, there is an Initial Reserve rule set which is executed after the exposure workplan is generated. It is this rule set which is typically used to create reserves automatically.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5A9EF4D9-AE7D-4CA1-BA42-6FD60CBC983B}"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Business rules can create reserve transactions and use attributes from the claim and its sub-objects (such as the claim's segment) to determine cost type, cost category, and/or reserve amount. In the example above, complex exposures with injuries involving hospitalization are given an initial reserve of $30,000</a:t>
            </a:r>
            <a:r>
              <a:rPr lang="en-US" baseline="0" dirty="0" smtClean="0"/>
              <a:t> upon creation of the exposure.</a:t>
            </a:r>
            <a:endParaRPr lang="en-US" dirty="0" smtClean="0"/>
          </a:p>
          <a:p>
            <a:pPr eaLnBrk="1" hangingPunct="1"/>
            <a:r>
              <a:rPr lang="en-US" dirty="0" smtClean="0"/>
              <a:t>The exposures screen lists every exposure and, among other things, the amount of money left in the reserve line. Just by observing the exposures list, you cannot tell if the reserve line was created automatically or manually. However, if you have just created the exposure(s) and have not created a manual reserve transaction, then you know the reserve line was created automatically.</a:t>
            </a:r>
          </a:p>
          <a:p>
            <a:pPr eaLnBrk="1" hangingPunct="1"/>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AA372019-1EF7-4D0C-9BF9-4BD6AC92B61B}" type="slidenum">
              <a:rPr lang="en-US" altLang="en-US" sz="1200" smtClean="0">
                <a:solidFill>
                  <a:schemeClr val="tx1"/>
                </a:solidFill>
              </a:rPr>
              <a:pPr eaLnBrk="1" hangingPunct="1"/>
              <a:t>17</a:t>
            </a:fld>
            <a:endParaRPr lang="en-US" altLang="en-US" sz="1200" smtClean="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xfrm>
            <a:off x="406400" y="4899025"/>
            <a:ext cx="6069013" cy="3941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dirty="0" smtClean="0"/>
              <a:t>The Set Reserves list contains two buttons, Show Group and Show All, which are available only when you navigate to the Set Reserves list from the Transaction Detail screen. This navigation is accomplished in the base application by going to the Transactions list, navigating to a specific transaction, and clicking the Edit button.) If you choose to edit an existing transaction, then ClaimCenter navigates to the Set Reserves list, but only the selected transaction is shown in the list. The results are shown in the screenshot below, (which is visible if you view PowerPoint in Notes view (View &gt; Notes Page)).</a:t>
            </a:r>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endParaRPr lang="en-US" dirty="0" smtClean="0"/>
          </a:p>
          <a:p>
            <a:pPr eaLnBrk="1" hangingPunct="1">
              <a:lnSpc>
                <a:spcPct val="90000"/>
              </a:lnSpc>
            </a:pPr>
            <a:r>
              <a:rPr lang="en-US" dirty="0" smtClean="0"/>
              <a:t>The Show Group button displays all reserve lines of reserves submitted with the given reserve. The Show All button displays all transactions (in which case the view is identical to the screenshot shown in the slide above).</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206" y="5993261"/>
            <a:ext cx="6056881" cy="154162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F761A0EB-4BBC-40A1-8C31-F13A04D16017}" type="slidenum">
              <a:rPr lang="en-US" altLang="en-US" sz="1200" smtClean="0">
                <a:solidFill>
                  <a:schemeClr val="tx1"/>
                </a:solidFill>
              </a:rPr>
              <a:pPr eaLnBrk="1" hangingPunct="1"/>
              <a:t>18</a:t>
            </a:fld>
            <a:endParaRPr lang="en-US" altLang="en-US" sz="1200" smtClean="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base application, after you choose the exposure and cost type, the Cost Category dropdown is filtered to prevent you from choosing any value that would result in a duplicate set of information. This is appropriate since such a choice would be a modification to the existing reserve line and this is done by modifying the reserve line, discussed later in this lesson. In</a:t>
            </a:r>
            <a:r>
              <a:rPr lang="en-US" baseline="0" dirty="0" smtClean="0"/>
              <a:t> the above example, because there already is a “Claim Cost” cost type and “Auto body” cost category on the “(2) 3</a:t>
            </a:r>
            <a:r>
              <a:rPr lang="en-US" baseline="30000" dirty="0" smtClean="0"/>
              <a:t>rd</a:t>
            </a:r>
            <a:r>
              <a:rPr lang="en-US" baseline="0" dirty="0" smtClean="0"/>
              <a:t> Party Vehicle – Richard Jackson” Exposure.</a:t>
            </a:r>
            <a:br>
              <a:rPr lang="en-US" baseline="0" dirty="0" smtClean="0"/>
            </a:br>
            <a:endParaRPr lang="en-US" dirty="0" smtClean="0"/>
          </a:p>
          <a:p>
            <a:pPr eaLnBrk="1" hangingPunct="1"/>
            <a:r>
              <a:rPr lang="en-US" dirty="0" smtClean="0"/>
              <a:t>Cost Category is a dependent dropdown for which Cost Type is the parent dropdown.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24D4F130-9A68-46B1-9A9E-8A040561F608}" type="slidenum">
              <a:rPr lang="en-US" altLang="en-US" sz="1200" smtClean="0">
                <a:solidFill>
                  <a:schemeClr val="tx1"/>
                </a:solidFill>
              </a:rPr>
              <a:pPr eaLnBrk="1" hangingPunct="1"/>
              <a:t>19</a:t>
            </a:fld>
            <a:endParaRPr lang="en-US" altLang="en-US" sz="1200" smtClean="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ClaimCenter does have approval rules which can set a reserve transaction to pending approval if the amount exceeds the user's authority limits. Financial approvals is discussed in detail in the "Supervisors" lesson.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C521DB57-8F8A-450C-9F3D-7E05FE91E8C9}" type="slidenum">
              <a:rPr lang="en-US" altLang="en-US" sz="1200" smtClean="0">
                <a:solidFill>
                  <a:schemeClr val="tx1"/>
                </a:solidFill>
              </a:rPr>
              <a:pPr eaLnBrk="1" hangingPunct="1"/>
              <a:t>20</a:t>
            </a:fld>
            <a:endParaRPr lang="en-US" altLang="en-US" sz="1200" smtClean="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When you complete your work on the Set Reserves page, ClaimCenter navigates you to the list of financial transactions for the claim. The resulting reserve line can also be seen from the Financials Summary page, which is discussed on the next slide.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65A39907-DBCF-4627-BFDD-4C77772295E9}" type="slidenum">
              <a:rPr lang="en-US" altLang="en-US" sz="1200" smtClean="0">
                <a:solidFill>
                  <a:schemeClr val="tx1"/>
                </a:solidFill>
              </a:rPr>
              <a:pPr eaLnBrk="1" hangingPunct="1"/>
              <a:t>21</a:t>
            </a:fld>
            <a:endParaRPr lang="en-US" altLang="en-US" sz="120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Summary screen provides a high-level summary of the financials for a claim.</a:t>
            </a:r>
          </a:p>
          <a:p>
            <a:pPr eaLnBrk="1" hangingPunct="1"/>
            <a:r>
              <a:rPr lang="en-US" dirty="0" smtClean="0"/>
              <a:t>The View dropdown is discussed on the next slides. Depending on the selected view, reserve lines are listed individually or summed together by exposure, claimant, or coverage.</a:t>
            </a:r>
          </a:p>
          <a:p>
            <a:pPr eaLnBrk="1" hangingPunct="1"/>
            <a:r>
              <a:rPr lang="en-US" dirty="0" smtClean="0"/>
              <a:t>Summary information is displayed only in the base currency. This is because each value could be the result of multiple transactions across three or more currencies.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39AD9D69-9A89-4EA9-8555-3797A52978B5}" type="slidenum">
              <a:rPr lang="en-US" altLang="en-US" sz="1200" smtClean="0">
                <a:solidFill>
                  <a:schemeClr val="tx1"/>
                </a:solidFill>
              </a:rPr>
              <a:pPr eaLnBrk="1" hangingPunct="1"/>
              <a:t>22</a:t>
            </a:fld>
            <a:endParaRPr lang="en-US" altLang="en-US" sz="120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An example of the "exposure only" view is shown below (which is visible if you view PowerPoint in Notes view (View &gt; Notes Page)). Note that the "exposure only" view lists each reserve line, but it omits the aggregate "Claim Cost" and aggregate "Expense" lines. The aggregates can be seen in the Exposure </a:t>
            </a:r>
            <a:r>
              <a:rPr lang="en-US" dirty="0"/>
              <a:t>view in </a:t>
            </a:r>
            <a:r>
              <a:rPr lang="en-US" dirty="0" smtClean="0"/>
              <a:t>bold </a:t>
            </a:r>
            <a:r>
              <a:rPr lang="en-US" dirty="0"/>
              <a:t>in </a:t>
            </a:r>
            <a:r>
              <a:rPr lang="en-US" dirty="0" smtClean="0"/>
              <a:t>the slide screenshot above. Exposures (1) and (2) each have two aggregates ("Claim Cost" and "Expense - A&amp;O").</a:t>
            </a:r>
          </a:p>
          <a:p>
            <a:pPr algn="ctr" eaLnBrk="1" hangingPunct="1"/>
            <a:endParaRPr lang="en-US" dirty="0" smtClean="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194" y="5768099"/>
            <a:ext cx="6250675" cy="221628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959B38CF-8372-47D3-986C-D00B0CD4F138}" type="slidenum">
              <a:rPr lang="en-US" altLang="en-US" sz="1200" smtClean="0">
                <a:solidFill>
                  <a:schemeClr val="tx1"/>
                </a:solidFill>
              </a:rPr>
              <a:pPr eaLnBrk="1" hangingPunct="1"/>
              <a:t>23</a:t>
            </a:fld>
            <a:endParaRPr lang="en-US" altLang="en-US" sz="120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An example of the "claim cost only" view is shown below (which is visible if you view PowerPoint in Notes view (View &gt; Notes Page)). Note that the "claim cost only" view omits expense reserve lines, such as the "vehicle inspection" reserve line on the first exposure shown above.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83" y="5516754"/>
            <a:ext cx="5977714" cy="200214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A7FD08B8-FDA8-41CC-9A97-8F8E83DCCD09}" type="slidenum">
              <a:rPr lang="en-US" altLang="en-US" sz="1200" smtClean="0">
                <a:solidFill>
                  <a:schemeClr val="tx1"/>
                </a:solidFill>
              </a:rPr>
              <a:pPr eaLnBrk="1" hangingPunct="1"/>
              <a:t>24</a:t>
            </a:fld>
            <a:endParaRPr lang="en-US" altLang="en-US" sz="1200" smtClean="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Note that each of the views change the way in which the reserve lines are grouped together, but because no information is omitted from one view to the next, the number of reserve lines remains the same. Every screenshot shows three</a:t>
            </a:r>
            <a:r>
              <a:rPr lang="en-US" baseline="0" dirty="0" smtClean="0"/>
              <a:t> </a:t>
            </a:r>
            <a:r>
              <a:rPr lang="en-US" dirty="0" smtClean="0"/>
              <a:t>reserve lines (which can be easily identified visually by the three context menu buttons).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D8A1A2D0-4D1C-4C86-AE67-655A2CFCA4D4}" type="slidenum">
              <a:rPr lang="en-US" altLang="en-US" sz="1200" smtClean="0">
                <a:solidFill>
                  <a:schemeClr val="tx1"/>
                </a:solidFill>
              </a:rPr>
              <a:pPr eaLnBrk="1" hangingPunct="1"/>
              <a:t>25</a:t>
            </a:fld>
            <a:endParaRPr lang="en-US" altLang="en-US" sz="1200" smtClean="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smtClean="0"/>
              <a:t>There are two ways to navigate to edit a specific reserve in ClaimCenter.</a:t>
            </a:r>
          </a:p>
          <a:p>
            <a:pPr marL="190500" indent="-190500" eaLnBrk="1" hangingPunct="1">
              <a:buFontTx/>
              <a:buAutoNum type="arabicPeriod"/>
            </a:pPr>
            <a:r>
              <a:rPr lang="en-US" smtClean="0"/>
              <a:t>From the Financials Summary screen, you can click the down-arrow to the left of a reserve and select "Edit Reserve", as the screenshot above demonstrates.</a:t>
            </a:r>
          </a:p>
          <a:p>
            <a:pPr marL="190500" indent="-190500" eaLnBrk="1" hangingPunct="1">
              <a:buFontTx/>
              <a:buAutoNum type="arabicPeriod"/>
            </a:pPr>
            <a:r>
              <a:rPr lang="en-US" smtClean="0"/>
              <a:t>From the Reserve Details screen, you can click the "Edit" button.</a:t>
            </a:r>
          </a:p>
          <a:p>
            <a:pPr marL="190500" indent="-190500" eaLnBrk="1" hangingPunct="1"/>
            <a:r>
              <a:rPr lang="en-US" smtClean="0"/>
              <a:t>Note the distinction between a reserve transaction ($500) and the reserve line (now at $3000).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CC98844D-5D13-4BA8-9D98-BE8564C5A0CB}" type="slidenum">
              <a:rPr lang="en-US" altLang="en-US" sz="1200" smtClean="0">
                <a:solidFill>
                  <a:schemeClr val="tx1"/>
                </a:solidFill>
              </a:rPr>
              <a:pPr eaLnBrk="1" hangingPunct="1"/>
              <a:t>26</a:t>
            </a:fld>
            <a:endParaRPr lang="en-US" altLang="en-US" sz="1200" smtClean="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Reserves - </a:t>
            </a:r>
            <a:fld id="{3369373A-8B51-4915-9F88-87F861B8DFB5}" type="slidenum">
              <a:rPr lang="en-US" altLang="en-US" sz="1200" smtClean="0">
                <a:solidFill>
                  <a:schemeClr val="tx1"/>
                </a:solidFill>
              </a:rPr>
              <a:pPr eaLnBrk="1" hangingPunct="1"/>
              <a:t>27</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t>Answers</a:t>
            </a:r>
          </a:p>
          <a:p>
            <a:pPr eaLnBrk="1" hangingPunct="1"/>
            <a:r>
              <a:rPr lang="en-US" dirty="0" smtClean="0"/>
              <a:t>1. Exposure, cost type, and cost category</a:t>
            </a:r>
          </a:p>
          <a:p>
            <a:pPr eaLnBrk="1" hangingPunct="1"/>
            <a:r>
              <a:rPr lang="en-US" dirty="0" smtClean="0"/>
              <a:t>2. Indemnity and expense.</a:t>
            </a:r>
          </a:p>
          <a:p>
            <a:pPr eaLnBrk="1" hangingPunct="1"/>
            <a:r>
              <a:rPr lang="en-US" dirty="0" smtClean="0"/>
              <a:t>3. A reserve line is an amount of money set aside to cover indemnity and expense payments related to an exposure. A reserve transaction is a transaction which modifies the amount of money in a reserve line, typically by adding to it.</a:t>
            </a:r>
          </a:p>
          <a:p>
            <a:pPr eaLnBrk="1" hangingPunct="1"/>
            <a:r>
              <a:rPr lang="en-US" dirty="0" smtClean="0"/>
              <a:t>4. Against a different exposure, yes, but not against the same exposure</a:t>
            </a:r>
            <a:r>
              <a:rPr lang="en-US" baseline="0" dirty="0" smtClean="0"/>
              <a:t>. If Multicurrency Reserving is enabled, you can create more than one reserve line against the same cost type/cost category combination as long as each is in a different currency. </a:t>
            </a:r>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Reserves - </a:t>
            </a:r>
            <a:fld id="{211C349A-83C9-44D0-A356-DBEB3FC715FC}" type="slidenum">
              <a:rPr lang="en-US" altLang="en-US" smtClean="0"/>
              <a:pPr>
                <a:defRPr/>
              </a:pPr>
              <a:t>28</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346578682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41775342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0876512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180974973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39137956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39510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97403059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44270702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98000963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05226356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413249516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91567776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19113" y="1192213"/>
            <a:ext cx="4083050" cy="5197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754563" y="1192213"/>
            <a:ext cx="4083050" cy="5197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0287937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latin typeface="Arial" pitchFamily="34"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latin typeface="Arial" pitchFamily="34"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9102D617-A406-4217-8D8B-AF0A48AA97BA}"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latin typeface="Arial" pitchFamily="34" charset="0"/>
                <a:cs typeface="Times New Roman" pitchFamily="18" charset="0"/>
              </a:rPr>
              <a:t> </a:t>
            </a:r>
          </a:p>
        </p:txBody>
      </p:sp>
      <p:pic>
        <p:nvPicPr>
          <p:cNvPr id="1030" name="Picture 127"/>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16"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7" r:id="rId12"/>
    <p:sldLayoutId id="2147483715" r:id="rId13"/>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Reserves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12 </a:t>
            </a:r>
            <a:r>
              <a:rPr lang="en-US" dirty="0"/>
              <a:t>January 2015</a:t>
            </a:r>
            <a:endParaRPr lang="en-US"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Define financial terms used by ClaimCenter for managing reserves</a:t>
            </a:r>
          </a:p>
          <a:p>
            <a:pPr lvl="1"/>
            <a:r>
              <a:rPr lang="en-US" smtClean="0"/>
              <a:t>Create reserve lines</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Reserve basics</a:t>
            </a:r>
          </a:p>
          <a:p>
            <a:pPr>
              <a:lnSpc>
                <a:spcPct val="150000"/>
              </a:lnSpc>
              <a:buFont typeface="Arial" charset="0"/>
              <a:buChar char="•"/>
            </a:pPr>
            <a:r>
              <a:rPr lang="en-US" sz="2800" smtClean="0">
                <a:solidFill>
                  <a:srgbClr val="C0C0C0"/>
                </a:solidFill>
              </a:rPr>
              <a:t>Working with reserve lines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smtClean="0"/>
              <a:t>Financials</a:t>
            </a:r>
          </a:p>
        </p:txBody>
      </p:sp>
      <p:sp>
        <p:nvSpPr>
          <p:cNvPr id="7171" name="Rectangle 3"/>
          <p:cNvSpPr>
            <a:spLocks noGrp="1" noChangeArrowheads="1"/>
          </p:cNvSpPr>
          <p:nvPr>
            <p:ph idx="1"/>
          </p:nvPr>
        </p:nvSpPr>
        <p:spPr>
          <a:xfrm>
            <a:off x="519113" y="3811588"/>
            <a:ext cx="8318500" cy="2578100"/>
          </a:xfrm>
        </p:spPr>
        <p:txBody>
          <a:bodyPr/>
          <a:lstStyle/>
          <a:p>
            <a:pPr>
              <a:buFont typeface="Arial" charset="0"/>
              <a:buChar char="•"/>
            </a:pPr>
            <a:r>
              <a:rPr lang="en-US" smtClean="0"/>
              <a:t>Fundamental purpose of exposure is to track information about payment from coverage to claimant</a:t>
            </a:r>
          </a:p>
          <a:p>
            <a:pPr>
              <a:buFont typeface="Arial" charset="0"/>
              <a:buChar char="•"/>
            </a:pPr>
            <a:r>
              <a:rPr lang="en-US" smtClean="0"/>
              <a:t>"Financials" is umbrella term for process of setting aside money for and then issuing payments</a:t>
            </a:r>
          </a:p>
        </p:txBody>
      </p:sp>
      <p:grpSp>
        <p:nvGrpSpPr>
          <p:cNvPr id="7172" name="Group 4"/>
          <p:cNvGrpSpPr>
            <a:grpSpLocks/>
          </p:cNvGrpSpPr>
          <p:nvPr/>
        </p:nvGrpSpPr>
        <p:grpSpPr bwMode="auto">
          <a:xfrm>
            <a:off x="768350" y="995363"/>
            <a:ext cx="1220788" cy="1214437"/>
            <a:chOff x="3360" y="800"/>
            <a:chExt cx="620" cy="616"/>
          </a:xfrm>
        </p:grpSpPr>
        <p:sp>
          <p:nvSpPr>
            <p:cNvPr id="7207" name="AutoShape 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7208" name="Freeform 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7209" name="Group 7"/>
            <p:cNvGrpSpPr>
              <a:grpSpLocks/>
            </p:cNvGrpSpPr>
            <p:nvPr/>
          </p:nvGrpSpPr>
          <p:grpSpPr bwMode="auto">
            <a:xfrm flipH="1">
              <a:off x="3749" y="1171"/>
              <a:ext cx="212" cy="213"/>
              <a:chOff x="1350" y="686"/>
              <a:chExt cx="1132" cy="1132"/>
            </a:xfrm>
          </p:grpSpPr>
          <p:sp>
            <p:nvSpPr>
              <p:cNvPr id="7211" name="AutoShape 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2" name="Picture 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210" name="Picture 1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3" name="Group 11"/>
          <p:cNvGrpSpPr>
            <a:grpSpLocks/>
          </p:cNvGrpSpPr>
          <p:nvPr/>
        </p:nvGrpSpPr>
        <p:grpSpPr bwMode="auto">
          <a:xfrm>
            <a:off x="7605713" y="1727200"/>
            <a:ext cx="896937" cy="896938"/>
            <a:chOff x="1350" y="686"/>
            <a:chExt cx="1132" cy="1132"/>
          </a:xfrm>
        </p:grpSpPr>
        <p:sp>
          <p:nvSpPr>
            <p:cNvPr id="7205" name="AutoShape 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06" name="Picture 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4" name="Text Box 14"/>
          <p:cNvSpPr txBox="1">
            <a:spLocks noChangeArrowheads="1"/>
          </p:cNvSpPr>
          <p:nvPr/>
        </p:nvSpPr>
        <p:spPr bwMode="auto">
          <a:xfrm>
            <a:off x="731838" y="2217738"/>
            <a:ext cx="1319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Exposure</a:t>
            </a:r>
          </a:p>
        </p:txBody>
      </p:sp>
      <p:sp>
        <p:nvSpPr>
          <p:cNvPr id="7175" name="Text Box 15"/>
          <p:cNvSpPr txBox="1">
            <a:spLocks noChangeArrowheads="1"/>
          </p:cNvSpPr>
          <p:nvPr/>
        </p:nvSpPr>
        <p:spPr bwMode="auto">
          <a:xfrm>
            <a:off x="5521325" y="2597150"/>
            <a:ext cx="1319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Check</a:t>
            </a:r>
          </a:p>
        </p:txBody>
      </p:sp>
      <p:sp>
        <p:nvSpPr>
          <p:cNvPr id="7176" name="Text Box 16"/>
          <p:cNvSpPr txBox="1">
            <a:spLocks noChangeArrowheads="1"/>
          </p:cNvSpPr>
          <p:nvPr/>
        </p:nvSpPr>
        <p:spPr bwMode="auto">
          <a:xfrm>
            <a:off x="7402513" y="2659063"/>
            <a:ext cx="1319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Payee</a:t>
            </a:r>
          </a:p>
        </p:txBody>
      </p:sp>
      <p:grpSp>
        <p:nvGrpSpPr>
          <p:cNvPr id="7177" name="Group 17"/>
          <p:cNvGrpSpPr>
            <a:grpSpLocks/>
          </p:cNvGrpSpPr>
          <p:nvPr/>
        </p:nvGrpSpPr>
        <p:grpSpPr bwMode="auto">
          <a:xfrm>
            <a:off x="5610225" y="1800225"/>
            <a:ext cx="1146175" cy="796925"/>
            <a:chOff x="3153" y="1049"/>
            <a:chExt cx="752" cy="523"/>
          </a:xfrm>
        </p:grpSpPr>
        <p:sp>
          <p:nvSpPr>
            <p:cNvPr id="7203" name="Rectangle 18"/>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7204" name="Picture 1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8" name="Group 20"/>
          <p:cNvGrpSpPr>
            <a:grpSpLocks/>
          </p:cNvGrpSpPr>
          <p:nvPr/>
        </p:nvGrpSpPr>
        <p:grpSpPr bwMode="auto">
          <a:xfrm>
            <a:off x="3187700" y="1169988"/>
            <a:ext cx="1201738" cy="1503362"/>
            <a:chOff x="4174" y="933"/>
            <a:chExt cx="921" cy="1151"/>
          </a:xfrm>
        </p:grpSpPr>
        <p:sp>
          <p:nvSpPr>
            <p:cNvPr id="7186" name="Rectangle 21"/>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7187" name="AutoShape 22"/>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88" name="AutoShape 23"/>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89" name="AutoShape 24"/>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0" name="Freeform 25"/>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1" name="Freeform 26"/>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2" name="Freeform 27"/>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3" name="Freeform 28"/>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4" name="Freeform 29"/>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5" name="Freeform 30"/>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6" name="Freeform 31"/>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7" name="Line 32"/>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98" name="Line 33"/>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99" name="Line 34"/>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0" name="Line 35"/>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1" name="Line 36"/>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2" name="Line 37"/>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79" name="AutoShape 38"/>
          <p:cNvSpPr>
            <a:spLocks noChangeArrowheads="1"/>
          </p:cNvSpPr>
          <p:nvPr/>
        </p:nvSpPr>
        <p:spPr bwMode="auto">
          <a:xfrm>
            <a:off x="2111375" y="957263"/>
            <a:ext cx="1230313" cy="981075"/>
          </a:xfrm>
          <a:prstGeom prst="rightArrow">
            <a:avLst>
              <a:gd name="adj1" fmla="val 50000"/>
              <a:gd name="adj2" fmla="val 31351"/>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7180" name="Text Box 39"/>
          <p:cNvSpPr txBox="1">
            <a:spLocks noChangeArrowheads="1"/>
          </p:cNvSpPr>
          <p:nvPr/>
        </p:nvSpPr>
        <p:spPr bwMode="auto">
          <a:xfrm>
            <a:off x="2139950" y="1247775"/>
            <a:ext cx="11207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+$3000</a:t>
            </a:r>
          </a:p>
        </p:txBody>
      </p:sp>
      <p:sp>
        <p:nvSpPr>
          <p:cNvPr id="7181" name="AutoShape 40"/>
          <p:cNvSpPr>
            <a:spLocks noChangeArrowheads="1"/>
          </p:cNvSpPr>
          <p:nvPr/>
        </p:nvSpPr>
        <p:spPr bwMode="auto">
          <a:xfrm>
            <a:off x="4364038" y="1693863"/>
            <a:ext cx="1231900" cy="981075"/>
          </a:xfrm>
          <a:prstGeom prst="rightArrow">
            <a:avLst>
              <a:gd name="adj1" fmla="val 50000"/>
              <a:gd name="adj2" fmla="val 31392"/>
            </a:avLst>
          </a:prstGeom>
          <a:gradFill rotWithShape="1">
            <a:gsLst>
              <a:gs pos="0">
                <a:srgbClr val="FF8989"/>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7182" name="Text Box 41"/>
          <p:cNvSpPr txBox="1">
            <a:spLocks noChangeArrowheads="1"/>
          </p:cNvSpPr>
          <p:nvPr/>
        </p:nvSpPr>
        <p:spPr bwMode="auto">
          <a:xfrm>
            <a:off x="4476750" y="2000250"/>
            <a:ext cx="10112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-$3000</a:t>
            </a:r>
          </a:p>
        </p:txBody>
      </p:sp>
      <p:sp>
        <p:nvSpPr>
          <p:cNvPr id="7183" name="Line 42"/>
          <p:cNvSpPr>
            <a:spLocks noChangeShapeType="1"/>
          </p:cNvSpPr>
          <p:nvPr/>
        </p:nvSpPr>
        <p:spPr bwMode="auto">
          <a:xfrm>
            <a:off x="1985963" y="2005013"/>
            <a:ext cx="13096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4" name="Line 43"/>
          <p:cNvSpPr>
            <a:spLocks noChangeShapeType="1"/>
          </p:cNvSpPr>
          <p:nvPr/>
        </p:nvSpPr>
        <p:spPr bwMode="auto">
          <a:xfrm>
            <a:off x="6762750" y="2192338"/>
            <a:ext cx="804863"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5" name="Text Box 44"/>
          <p:cNvSpPr txBox="1">
            <a:spLocks noChangeArrowheads="1"/>
          </p:cNvSpPr>
          <p:nvPr/>
        </p:nvSpPr>
        <p:spPr bwMode="auto">
          <a:xfrm>
            <a:off x="3106738" y="2716213"/>
            <a:ext cx="13192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Reserve</a:t>
            </a:r>
            <a:br>
              <a:rPr lang="en-US" sz="2000" b="1"/>
            </a:br>
            <a:r>
              <a:rPr lang="en-US" sz="2000" b="1"/>
              <a:t>Line</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Line 2"/>
          <p:cNvSpPr>
            <a:spLocks noChangeShapeType="1"/>
          </p:cNvSpPr>
          <p:nvPr/>
        </p:nvSpPr>
        <p:spPr bwMode="auto">
          <a:xfrm flipV="1">
            <a:off x="2911475" y="1466850"/>
            <a:ext cx="0" cy="222408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5" name="Line 3"/>
          <p:cNvSpPr>
            <a:spLocks noChangeShapeType="1"/>
          </p:cNvSpPr>
          <p:nvPr/>
        </p:nvSpPr>
        <p:spPr bwMode="auto">
          <a:xfrm flipH="1">
            <a:off x="2913063" y="2409825"/>
            <a:ext cx="1143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6" name="Line 4"/>
          <p:cNvSpPr>
            <a:spLocks noChangeShapeType="1"/>
          </p:cNvSpPr>
          <p:nvPr/>
        </p:nvSpPr>
        <p:spPr bwMode="auto">
          <a:xfrm flipH="1">
            <a:off x="2913063" y="3675063"/>
            <a:ext cx="1143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7" name="Rectangle 5"/>
          <p:cNvSpPr>
            <a:spLocks noGrp="1" noChangeArrowheads="1"/>
          </p:cNvSpPr>
          <p:nvPr>
            <p:ph type="title"/>
          </p:nvPr>
        </p:nvSpPr>
        <p:spPr/>
        <p:txBody>
          <a:bodyPr/>
          <a:lstStyle/>
          <a:p>
            <a:pPr eaLnBrk="1" hangingPunct="1"/>
            <a:r>
              <a:rPr lang="en-US" smtClean="0"/>
              <a:t>Reserve lines</a:t>
            </a:r>
          </a:p>
        </p:txBody>
      </p:sp>
      <p:sp>
        <p:nvSpPr>
          <p:cNvPr id="8198" name="Rectangle 6"/>
          <p:cNvSpPr>
            <a:spLocks noGrp="1" noChangeArrowheads="1"/>
          </p:cNvSpPr>
          <p:nvPr>
            <p:ph idx="1"/>
          </p:nvPr>
        </p:nvSpPr>
        <p:spPr>
          <a:xfrm>
            <a:off x="519113" y="4402138"/>
            <a:ext cx="8318500" cy="1987550"/>
          </a:xfrm>
        </p:spPr>
        <p:txBody>
          <a:bodyPr/>
          <a:lstStyle/>
          <a:p>
            <a:pPr>
              <a:buFont typeface="Arial" charset="0"/>
              <a:buChar char="•"/>
            </a:pPr>
            <a:r>
              <a:rPr lang="en-US" smtClean="0"/>
              <a:t>A reserve line is an amount of money set aside for expected payments related to a given exposure</a:t>
            </a:r>
          </a:p>
          <a:p>
            <a:pPr lvl="1"/>
            <a:r>
              <a:rPr lang="en-US" smtClean="0"/>
              <a:t>Every exposure ultimately has one or more reserve lines</a:t>
            </a:r>
          </a:p>
        </p:txBody>
      </p:sp>
      <p:grpSp>
        <p:nvGrpSpPr>
          <p:cNvPr id="8199" name="Group 7"/>
          <p:cNvGrpSpPr>
            <a:grpSpLocks/>
          </p:cNvGrpSpPr>
          <p:nvPr/>
        </p:nvGrpSpPr>
        <p:grpSpPr bwMode="auto">
          <a:xfrm>
            <a:off x="3708400" y="1858963"/>
            <a:ext cx="777875" cy="973137"/>
            <a:chOff x="4174" y="933"/>
            <a:chExt cx="921" cy="1151"/>
          </a:xfrm>
        </p:grpSpPr>
        <p:sp>
          <p:nvSpPr>
            <p:cNvPr id="8228" name="Rectangle 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29" name="AutoShape 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0" name="AutoShape 1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1" name="AutoShape 1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2" name="Freeform 1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3" name="Freeform 1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4" name="Freeform 1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5" name="Freeform 1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6" name="Freeform 1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7" name="Freeform 1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8" name="Freeform 1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9" name="Line 1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0" name="Line 2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1" name="Line 2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2" name="Line 2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3" name="Line 2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4" name="Line 2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00" name="Group 25"/>
          <p:cNvGrpSpPr>
            <a:grpSpLocks/>
          </p:cNvGrpSpPr>
          <p:nvPr/>
        </p:nvGrpSpPr>
        <p:grpSpPr bwMode="auto">
          <a:xfrm>
            <a:off x="2306638" y="674688"/>
            <a:ext cx="1187450" cy="1179512"/>
            <a:chOff x="3360" y="800"/>
            <a:chExt cx="620" cy="616"/>
          </a:xfrm>
        </p:grpSpPr>
        <p:sp>
          <p:nvSpPr>
            <p:cNvPr id="8222" name="AutoShape 2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8223" name="Freeform 2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8224" name="Group 28"/>
            <p:cNvGrpSpPr>
              <a:grpSpLocks/>
            </p:cNvGrpSpPr>
            <p:nvPr/>
          </p:nvGrpSpPr>
          <p:grpSpPr bwMode="auto">
            <a:xfrm flipH="1">
              <a:off x="3749" y="1171"/>
              <a:ext cx="212" cy="213"/>
              <a:chOff x="1350" y="686"/>
              <a:chExt cx="1132" cy="1132"/>
            </a:xfrm>
          </p:grpSpPr>
          <p:sp>
            <p:nvSpPr>
              <p:cNvPr id="8226" name="AutoShape 2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8227" name="Picture 3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225" name="Picture 3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01" name="Group 32"/>
          <p:cNvGrpSpPr>
            <a:grpSpLocks/>
          </p:cNvGrpSpPr>
          <p:nvPr/>
        </p:nvGrpSpPr>
        <p:grpSpPr bwMode="auto">
          <a:xfrm>
            <a:off x="3708400" y="3124200"/>
            <a:ext cx="777875" cy="973138"/>
            <a:chOff x="4174" y="933"/>
            <a:chExt cx="921" cy="1151"/>
          </a:xfrm>
        </p:grpSpPr>
        <p:sp>
          <p:nvSpPr>
            <p:cNvPr id="8205" name="Rectangle 33"/>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06" name="AutoShape 34"/>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07" name="AutoShape 35"/>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08" name="AutoShape 36"/>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09" name="Freeform 37"/>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0" name="Freeform 38"/>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1" name="Freeform 39"/>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2" name="Freeform 40"/>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3" name="Freeform 41"/>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4" name="Freeform 42"/>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5" name="Freeform 43"/>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6" name="Line 44"/>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7" name="Line 45"/>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8" name="Line 46"/>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9" name="Line 47"/>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20" name="Line 48"/>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21" name="Line 49"/>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02" name="Text Box 50"/>
          <p:cNvSpPr txBox="1">
            <a:spLocks noChangeArrowheads="1"/>
          </p:cNvSpPr>
          <p:nvPr/>
        </p:nvSpPr>
        <p:spPr bwMode="auto">
          <a:xfrm>
            <a:off x="3717925" y="749300"/>
            <a:ext cx="34909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Coverage: collision</a:t>
            </a:r>
            <a:br>
              <a:rPr lang="en-US" sz="2000" b="1"/>
            </a:br>
            <a:r>
              <a:rPr lang="en-US" sz="2000" b="1"/>
              <a:t>Claimant: Jim Means</a:t>
            </a:r>
          </a:p>
        </p:txBody>
      </p:sp>
      <p:sp>
        <p:nvSpPr>
          <p:cNvPr id="8203" name="Text Box 51"/>
          <p:cNvSpPr txBox="1">
            <a:spLocks noChangeArrowheads="1"/>
          </p:cNvSpPr>
          <p:nvPr/>
        </p:nvSpPr>
        <p:spPr bwMode="auto">
          <a:xfrm>
            <a:off x="4572000" y="1862138"/>
            <a:ext cx="4070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457200" algn="l"/>
              </a:tabLst>
              <a:defRPr sz="1400">
                <a:solidFill>
                  <a:schemeClr val="bg1"/>
                </a:solidFill>
                <a:latin typeface="Arial" charset="0"/>
              </a:defRPr>
            </a:lvl1pPr>
            <a:lvl2pPr marL="742950" indent="-285750" eaLnBrk="0" hangingPunct="0">
              <a:tabLst>
                <a:tab pos="457200" algn="l"/>
              </a:tabLst>
              <a:defRPr sz="1400">
                <a:solidFill>
                  <a:schemeClr val="bg1"/>
                </a:solidFill>
                <a:latin typeface="Arial" charset="0"/>
              </a:defRPr>
            </a:lvl2pPr>
            <a:lvl3pPr marL="1143000" indent="-228600" eaLnBrk="0" hangingPunct="0">
              <a:tabLst>
                <a:tab pos="457200" algn="l"/>
              </a:tabLst>
              <a:defRPr sz="1400">
                <a:solidFill>
                  <a:schemeClr val="bg1"/>
                </a:solidFill>
                <a:latin typeface="Arial" charset="0"/>
              </a:defRPr>
            </a:lvl3pPr>
            <a:lvl4pPr marL="1600200" indent="-228600" eaLnBrk="0" hangingPunct="0">
              <a:tabLst>
                <a:tab pos="457200" algn="l"/>
              </a:tabLst>
              <a:defRPr sz="1400">
                <a:solidFill>
                  <a:schemeClr val="bg1"/>
                </a:solidFill>
                <a:latin typeface="Arial" charset="0"/>
              </a:defRPr>
            </a:lvl4pPr>
            <a:lvl5pPr marL="2057400" indent="-228600" eaLnBrk="0" hangingPunct="0">
              <a:tabLst>
                <a:tab pos="4572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9pPr>
          </a:lstStyle>
          <a:p>
            <a:pPr algn="l" eaLnBrk="1" hangingPunct="1"/>
            <a:r>
              <a:rPr lang="en-US" sz="2000" b="1">
                <a:solidFill>
                  <a:srgbClr val="FF0000"/>
                </a:solidFill>
              </a:rPr>
              <a:t>Reserve Line 1</a:t>
            </a:r>
            <a:r>
              <a:rPr lang="en-US" sz="2000" b="1"/>
              <a:t/>
            </a:r>
            <a:br>
              <a:rPr lang="en-US" sz="2000" b="1"/>
            </a:br>
            <a:r>
              <a:rPr lang="en-US" sz="2000" b="1"/>
              <a:t>to pay for damage done to</a:t>
            </a:r>
            <a:br>
              <a:rPr lang="en-US" sz="2000" b="1"/>
            </a:br>
            <a:r>
              <a:rPr lang="en-US" sz="2000" b="1"/>
              <a:t>	insured's car</a:t>
            </a:r>
          </a:p>
        </p:txBody>
      </p:sp>
      <p:sp>
        <p:nvSpPr>
          <p:cNvPr id="8204" name="Text Box 52"/>
          <p:cNvSpPr txBox="1">
            <a:spLocks noChangeArrowheads="1"/>
          </p:cNvSpPr>
          <p:nvPr/>
        </p:nvSpPr>
        <p:spPr bwMode="auto">
          <a:xfrm>
            <a:off x="4572000" y="3127375"/>
            <a:ext cx="4070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457200" algn="l"/>
              </a:tabLst>
              <a:defRPr sz="1400">
                <a:solidFill>
                  <a:schemeClr val="bg1"/>
                </a:solidFill>
                <a:latin typeface="Arial" charset="0"/>
              </a:defRPr>
            </a:lvl1pPr>
            <a:lvl2pPr marL="742950" indent="-285750" eaLnBrk="0" hangingPunct="0">
              <a:tabLst>
                <a:tab pos="457200" algn="l"/>
              </a:tabLst>
              <a:defRPr sz="1400">
                <a:solidFill>
                  <a:schemeClr val="bg1"/>
                </a:solidFill>
                <a:latin typeface="Arial" charset="0"/>
              </a:defRPr>
            </a:lvl2pPr>
            <a:lvl3pPr marL="1143000" indent="-228600" eaLnBrk="0" hangingPunct="0">
              <a:tabLst>
                <a:tab pos="457200" algn="l"/>
              </a:tabLst>
              <a:defRPr sz="1400">
                <a:solidFill>
                  <a:schemeClr val="bg1"/>
                </a:solidFill>
                <a:latin typeface="Arial" charset="0"/>
              </a:defRPr>
            </a:lvl3pPr>
            <a:lvl4pPr marL="1600200" indent="-228600" eaLnBrk="0" hangingPunct="0">
              <a:tabLst>
                <a:tab pos="457200" algn="l"/>
              </a:tabLst>
              <a:defRPr sz="1400">
                <a:solidFill>
                  <a:schemeClr val="bg1"/>
                </a:solidFill>
                <a:latin typeface="Arial" charset="0"/>
              </a:defRPr>
            </a:lvl4pPr>
            <a:lvl5pPr marL="2057400" indent="-228600" eaLnBrk="0" hangingPunct="0">
              <a:tabLst>
                <a:tab pos="4572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457200" algn="l"/>
              </a:tabLst>
              <a:defRPr sz="1400">
                <a:solidFill>
                  <a:schemeClr val="bg1"/>
                </a:solidFill>
                <a:latin typeface="Arial" charset="0"/>
              </a:defRPr>
            </a:lvl9pPr>
          </a:lstStyle>
          <a:p>
            <a:pPr algn="l" eaLnBrk="1" hangingPunct="1"/>
            <a:r>
              <a:rPr lang="en-US" sz="2000" b="1">
                <a:solidFill>
                  <a:srgbClr val="FF0000"/>
                </a:solidFill>
              </a:rPr>
              <a:t>Reserve Line 2</a:t>
            </a:r>
            <a:br>
              <a:rPr lang="en-US" sz="2000" b="1">
                <a:solidFill>
                  <a:srgbClr val="FF0000"/>
                </a:solidFill>
              </a:rPr>
            </a:br>
            <a:r>
              <a:rPr lang="en-US" sz="2000" b="1"/>
              <a:t>to pay for auto inspection</a:t>
            </a:r>
            <a:br>
              <a:rPr lang="en-US" sz="2000" b="1"/>
            </a:br>
            <a:r>
              <a:rPr lang="en-US" sz="2000" b="1"/>
              <a:t>	required by the carrier</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Text Box 2"/>
          <p:cNvSpPr txBox="1">
            <a:spLocks noChangeArrowheads="1"/>
          </p:cNvSpPr>
          <p:nvPr/>
        </p:nvSpPr>
        <p:spPr bwMode="auto">
          <a:xfrm>
            <a:off x="4567238" y="3128963"/>
            <a:ext cx="45767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057400" algn="l"/>
              </a:tabLst>
              <a:defRPr sz="1400">
                <a:solidFill>
                  <a:schemeClr val="bg1"/>
                </a:solidFill>
                <a:latin typeface="Arial" charset="0"/>
              </a:defRPr>
            </a:lvl1pPr>
            <a:lvl2pPr marL="742950" indent="-285750" eaLnBrk="0" hangingPunct="0">
              <a:tabLst>
                <a:tab pos="2057400" algn="l"/>
              </a:tabLst>
              <a:defRPr sz="1400">
                <a:solidFill>
                  <a:schemeClr val="bg1"/>
                </a:solidFill>
                <a:latin typeface="Arial" charset="0"/>
              </a:defRPr>
            </a:lvl2pPr>
            <a:lvl3pPr marL="1143000" indent="-228600" eaLnBrk="0" hangingPunct="0">
              <a:tabLst>
                <a:tab pos="2057400" algn="l"/>
              </a:tabLst>
              <a:defRPr sz="1400">
                <a:solidFill>
                  <a:schemeClr val="bg1"/>
                </a:solidFill>
                <a:latin typeface="Arial" charset="0"/>
              </a:defRPr>
            </a:lvl3pPr>
            <a:lvl4pPr marL="1600200" indent="-228600" eaLnBrk="0" hangingPunct="0">
              <a:tabLst>
                <a:tab pos="2057400" algn="l"/>
              </a:tabLst>
              <a:defRPr sz="1400">
                <a:solidFill>
                  <a:schemeClr val="bg1"/>
                </a:solidFill>
                <a:latin typeface="Arial" charset="0"/>
              </a:defRPr>
            </a:lvl4pPr>
            <a:lvl5pPr marL="2057400" indent="-228600" eaLnBrk="0" hangingPunct="0">
              <a:tabLst>
                <a:tab pos="20574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9pPr>
          </a:lstStyle>
          <a:p>
            <a:pPr algn="l" eaLnBrk="1" hangingPunct="1"/>
            <a:r>
              <a:rPr lang="en-US" sz="2000" b="1"/>
              <a:t>Reserve Line 2 (required inspection)</a:t>
            </a:r>
            <a:br>
              <a:rPr lang="en-US" sz="2000" b="1"/>
            </a:br>
            <a:r>
              <a:rPr lang="en-US" sz="2000" b="1">
                <a:solidFill>
                  <a:srgbClr val="FF0000"/>
                </a:solidFill>
              </a:rPr>
              <a:t>Cost type: 	Expense</a:t>
            </a:r>
          </a:p>
        </p:txBody>
      </p:sp>
      <p:sp>
        <p:nvSpPr>
          <p:cNvPr id="9219" name="Rectangle 3"/>
          <p:cNvSpPr>
            <a:spLocks noGrp="1" noChangeArrowheads="1"/>
          </p:cNvSpPr>
          <p:nvPr>
            <p:ph type="title"/>
          </p:nvPr>
        </p:nvSpPr>
        <p:spPr/>
        <p:txBody>
          <a:bodyPr/>
          <a:lstStyle/>
          <a:p>
            <a:pPr eaLnBrk="1" hangingPunct="1"/>
            <a:r>
              <a:rPr lang="en-US" smtClean="0"/>
              <a:t>Cost types</a:t>
            </a:r>
          </a:p>
        </p:txBody>
      </p:sp>
      <p:sp>
        <p:nvSpPr>
          <p:cNvPr id="9220" name="Rectangle 4"/>
          <p:cNvSpPr>
            <a:spLocks noGrp="1" noChangeArrowheads="1"/>
          </p:cNvSpPr>
          <p:nvPr>
            <p:ph idx="1"/>
          </p:nvPr>
        </p:nvSpPr>
        <p:spPr>
          <a:xfrm>
            <a:off x="355600" y="4176713"/>
            <a:ext cx="8648700" cy="1612900"/>
          </a:xfrm>
        </p:spPr>
        <p:txBody>
          <a:bodyPr/>
          <a:lstStyle/>
          <a:p>
            <a:pPr>
              <a:buFont typeface="Arial" charset="0"/>
              <a:buChar char="•"/>
            </a:pPr>
            <a:r>
              <a:rPr lang="en-US" dirty="0" smtClean="0"/>
              <a:t>Every reserve line is categorized by a "cost type", which describes if the money is for indemnity or expense</a:t>
            </a:r>
          </a:p>
          <a:p>
            <a:pPr lvl="1"/>
            <a:r>
              <a:rPr lang="en-US" dirty="0" smtClean="0"/>
              <a:t>Indemnity reserves (claim cost) are used to indemnify claimants ("make them whole" / "restore them to the original state")</a:t>
            </a:r>
          </a:p>
          <a:p>
            <a:pPr lvl="1"/>
            <a:r>
              <a:rPr lang="en-US" dirty="0" smtClean="0"/>
              <a:t>Expense reserves are used to cover costs incurred by the carrier as a result of processing this portion of the claim</a:t>
            </a:r>
          </a:p>
        </p:txBody>
      </p:sp>
      <p:sp>
        <p:nvSpPr>
          <p:cNvPr id="9221" name="Line 5"/>
          <p:cNvSpPr>
            <a:spLocks noChangeShapeType="1"/>
          </p:cNvSpPr>
          <p:nvPr/>
        </p:nvSpPr>
        <p:spPr bwMode="auto">
          <a:xfrm flipV="1">
            <a:off x="2911475" y="1466850"/>
            <a:ext cx="0" cy="222408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2" name="Line 6"/>
          <p:cNvSpPr>
            <a:spLocks noChangeShapeType="1"/>
          </p:cNvSpPr>
          <p:nvPr/>
        </p:nvSpPr>
        <p:spPr bwMode="auto">
          <a:xfrm flipH="1">
            <a:off x="2913063" y="2409825"/>
            <a:ext cx="1143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3" name="Line 7"/>
          <p:cNvSpPr>
            <a:spLocks noChangeShapeType="1"/>
          </p:cNvSpPr>
          <p:nvPr/>
        </p:nvSpPr>
        <p:spPr bwMode="auto">
          <a:xfrm flipH="1">
            <a:off x="2913063" y="3675063"/>
            <a:ext cx="1143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9224" name="Group 8"/>
          <p:cNvGrpSpPr>
            <a:grpSpLocks/>
          </p:cNvGrpSpPr>
          <p:nvPr/>
        </p:nvGrpSpPr>
        <p:grpSpPr bwMode="auto">
          <a:xfrm>
            <a:off x="3708400" y="1858963"/>
            <a:ext cx="777875" cy="973137"/>
            <a:chOff x="4174" y="933"/>
            <a:chExt cx="921" cy="1151"/>
          </a:xfrm>
        </p:grpSpPr>
        <p:sp>
          <p:nvSpPr>
            <p:cNvPr id="9252" name="Rectangle 9"/>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9253" name="AutoShape 10"/>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54" name="AutoShape 11"/>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55" name="AutoShape 12"/>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56" name="Freeform 13"/>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7" name="Freeform 14"/>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8" name="Freeform 15"/>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9" name="Freeform 16"/>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60" name="Freeform 17"/>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61" name="Freeform 18"/>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62" name="Freeform 19"/>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63" name="Line 20"/>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64" name="Line 21"/>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65" name="Line 22"/>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66" name="Line 23"/>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67" name="Line 24"/>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68" name="Line 25"/>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25" name="Group 26"/>
          <p:cNvGrpSpPr>
            <a:grpSpLocks/>
          </p:cNvGrpSpPr>
          <p:nvPr/>
        </p:nvGrpSpPr>
        <p:grpSpPr bwMode="auto">
          <a:xfrm>
            <a:off x="2306638" y="674688"/>
            <a:ext cx="1187450" cy="1179512"/>
            <a:chOff x="3360" y="800"/>
            <a:chExt cx="620" cy="616"/>
          </a:xfrm>
        </p:grpSpPr>
        <p:sp>
          <p:nvSpPr>
            <p:cNvPr id="9246" name="AutoShape 2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9247" name="Freeform 28"/>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9248" name="Group 29"/>
            <p:cNvGrpSpPr>
              <a:grpSpLocks/>
            </p:cNvGrpSpPr>
            <p:nvPr/>
          </p:nvGrpSpPr>
          <p:grpSpPr bwMode="auto">
            <a:xfrm flipH="1">
              <a:off x="3749" y="1171"/>
              <a:ext cx="212" cy="213"/>
              <a:chOff x="1350" y="686"/>
              <a:chExt cx="1132" cy="1132"/>
            </a:xfrm>
          </p:grpSpPr>
          <p:sp>
            <p:nvSpPr>
              <p:cNvPr id="9250" name="AutoShape 3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251" name="Picture 3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249" name="Picture 3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6" name="Group 33"/>
          <p:cNvGrpSpPr>
            <a:grpSpLocks/>
          </p:cNvGrpSpPr>
          <p:nvPr/>
        </p:nvGrpSpPr>
        <p:grpSpPr bwMode="auto">
          <a:xfrm>
            <a:off x="3708400" y="3124200"/>
            <a:ext cx="777875" cy="973138"/>
            <a:chOff x="4174" y="933"/>
            <a:chExt cx="921" cy="1151"/>
          </a:xfrm>
        </p:grpSpPr>
        <p:sp>
          <p:nvSpPr>
            <p:cNvPr id="9229" name="Rectangle 3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9230" name="AutoShape 3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31" name="AutoShape 3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32" name="AutoShape 3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33" name="Freeform 3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34" name="Freeform 3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35" name="Freeform 4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36" name="Freeform 4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37" name="Freeform 4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38" name="Freeform 4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39" name="Freeform 4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40" name="Line 4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1" name="Line 4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2" name="Line 4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3" name="Line 4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4" name="Line 4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5" name="Line 5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27" name="Text Box 51"/>
          <p:cNvSpPr txBox="1">
            <a:spLocks noChangeArrowheads="1"/>
          </p:cNvSpPr>
          <p:nvPr/>
        </p:nvSpPr>
        <p:spPr bwMode="auto">
          <a:xfrm>
            <a:off x="3717925" y="749300"/>
            <a:ext cx="34909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Coverage: collision</a:t>
            </a:r>
            <a:br>
              <a:rPr lang="en-US" sz="2000" b="1"/>
            </a:br>
            <a:r>
              <a:rPr lang="en-US" sz="2000" b="1"/>
              <a:t>Claimant: Jim Means</a:t>
            </a:r>
          </a:p>
        </p:txBody>
      </p:sp>
      <p:sp>
        <p:nvSpPr>
          <p:cNvPr id="9228" name="Text Box 52"/>
          <p:cNvSpPr txBox="1">
            <a:spLocks noChangeArrowheads="1"/>
          </p:cNvSpPr>
          <p:nvPr/>
        </p:nvSpPr>
        <p:spPr bwMode="auto">
          <a:xfrm>
            <a:off x="4572000" y="1862138"/>
            <a:ext cx="4324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057400" algn="l"/>
              </a:tabLst>
              <a:defRPr sz="1400">
                <a:solidFill>
                  <a:schemeClr val="bg1"/>
                </a:solidFill>
                <a:latin typeface="Arial" charset="0"/>
              </a:defRPr>
            </a:lvl1pPr>
            <a:lvl2pPr marL="742950" indent="-285750" eaLnBrk="0" hangingPunct="0">
              <a:tabLst>
                <a:tab pos="2057400" algn="l"/>
              </a:tabLst>
              <a:defRPr sz="1400">
                <a:solidFill>
                  <a:schemeClr val="bg1"/>
                </a:solidFill>
                <a:latin typeface="Arial" charset="0"/>
              </a:defRPr>
            </a:lvl2pPr>
            <a:lvl3pPr marL="1143000" indent="-228600" eaLnBrk="0" hangingPunct="0">
              <a:tabLst>
                <a:tab pos="2057400" algn="l"/>
              </a:tabLst>
              <a:defRPr sz="1400">
                <a:solidFill>
                  <a:schemeClr val="bg1"/>
                </a:solidFill>
                <a:latin typeface="Arial" charset="0"/>
              </a:defRPr>
            </a:lvl3pPr>
            <a:lvl4pPr marL="1600200" indent="-228600" eaLnBrk="0" hangingPunct="0">
              <a:tabLst>
                <a:tab pos="2057400" algn="l"/>
              </a:tabLst>
              <a:defRPr sz="1400">
                <a:solidFill>
                  <a:schemeClr val="bg1"/>
                </a:solidFill>
                <a:latin typeface="Arial" charset="0"/>
              </a:defRPr>
            </a:lvl4pPr>
            <a:lvl5pPr marL="2057400" indent="-228600" eaLnBrk="0" hangingPunct="0">
              <a:tabLst>
                <a:tab pos="20574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9pPr>
          </a:lstStyle>
          <a:p>
            <a:pPr algn="l" eaLnBrk="1" hangingPunct="1"/>
            <a:r>
              <a:rPr lang="en-US" sz="2000" b="1"/>
              <a:t>Reserve Line 1 (damage to car)</a:t>
            </a:r>
            <a:br>
              <a:rPr lang="en-US" sz="2000" b="1"/>
            </a:br>
            <a:r>
              <a:rPr lang="en-US" sz="2000" b="1">
                <a:solidFill>
                  <a:srgbClr val="FF0000"/>
                </a:solidFill>
              </a:rPr>
              <a:t>Cost type: 	Claim Cost</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Text Box 2"/>
          <p:cNvSpPr txBox="1">
            <a:spLocks noChangeArrowheads="1"/>
          </p:cNvSpPr>
          <p:nvPr/>
        </p:nvSpPr>
        <p:spPr bwMode="auto">
          <a:xfrm>
            <a:off x="4567238" y="3128963"/>
            <a:ext cx="45767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057400" algn="l"/>
              </a:tabLst>
              <a:defRPr sz="1400">
                <a:solidFill>
                  <a:schemeClr val="bg1"/>
                </a:solidFill>
                <a:latin typeface="Arial" charset="0"/>
              </a:defRPr>
            </a:lvl1pPr>
            <a:lvl2pPr marL="742950" indent="-285750" eaLnBrk="0" hangingPunct="0">
              <a:tabLst>
                <a:tab pos="2057400" algn="l"/>
              </a:tabLst>
              <a:defRPr sz="1400">
                <a:solidFill>
                  <a:schemeClr val="bg1"/>
                </a:solidFill>
                <a:latin typeface="Arial" charset="0"/>
              </a:defRPr>
            </a:lvl2pPr>
            <a:lvl3pPr marL="1143000" indent="-228600" eaLnBrk="0" hangingPunct="0">
              <a:tabLst>
                <a:tab pos="2057400" algn="l"/>
              </a:tabLst>
              <a:defRPr sz="1400">
                <a:solidFill>
                  <a:schemeClr val="bg1"/>
                </a:solidFill>
                <a:latin typeface="Arial" charset="0"/>
              </a:defRPr>
            </a:lvl3pPr>
            <a:lvl4pPr marL="1600200" indent="-228600" eaLnBrk="0" hangingPunct="0">
              <a:tabLst>
                <a:tab pos="2057400" algn="l"/>
              </a:tabLst>
              <a:defRPr sz="1400">
                <a:solidFill>
                  <a:schemeClr val="bg1"/>
                </a:solidFill>
                <a:latin typeface="Arial" charset="0"/>
              </a:defRPr>
            </a:lvl4pPr>
            <a:lvl5pPr marL="2057400" indent="-228600" eaLnBrk="0" hangingPunct="0">
              <a:tabLst>
                <a:tab pos="20574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9pPr>
          </a:lstStyle>
          <a:p>
            <a:pPr algn="l" eaLnBrk="1" hangingPunct="1"/>
            <a:r>
              <a:rPr lang="en-US" sz="2000" b="1"/>
              <a:t>Reserve Line 2 (required inspection)</a:t>
            </a:r>
            <a:br>
              <a:rPr lang="en-US" sz="2000" b="1"/>
            </a:br>
            <a:r>
              <a:rPr lang="en-US" sz="2000" b="1"/>
              <a:t>Cost type: 	Expense</a:t>
            </a:r>
            <a:br>
              <a:rPr lang="en-US" sz="2000" b="1"/>
            </a:br>
            <a:r>
              <a:rPr lang="en-US" sz="2000" b="1">
                <a:solidFill>
                  <a:srgbClr val="FF0000"/>
                </a:solidFill>
              </a:rPr>
              <a:t>Cost category: 	Vehicle inspection</a:t>
            </a:r>
          </a:p>
        </p:txBody>
      </p:sp>
      <p:sp>
        <p:nvSpPr>
          <p:cNvPr id="10243" name="Rectangle 3"/>
          <p:cNvSpPr>
            <a:spLocks noGrp="1" noChangeArrowheads="1"/>
          </p:cNvSpPr>
          <p:nvPr>
            <p:ph type="title"/>
          </p:nvPr>
        </p:nvSpPr>
        <p:spPr/>
        <p:txBody>
          <a:bodyPr/>
          <a:lstStyle/>
          <a:p>
            <a:pPr eaLnBrk="1" hangingPunct="1"/>
            <a:r>
              <a:rPr lang="en-US" smtClean="0"/>
              <a:t>Cost categories</a:t>
            </a:r>
          </a:p>
        </p:txBody>
      </p:sp>
      <p:sp>
        <p:nvSpPr>
          <p:cNvPr id="10244" name="Rectangle 4"/>
          <p:cNvSpPr>
            <a:spLocks noGrp="1" noChangeArrowheads="1"/>
          </p:cNvSpPr>
          <p:nvPr>
            <p:ph idx="1"/>
          </p:nvPr>
        </p:nvSpPr>
        <p:spPr>
          <a:xfrm>
            <a:off x="519113" y="4402138"/>
            <a:ext cx="8318500" cy="1558925"/>
          </a:xfrm>
        </p:spPr>
        <p:txBody>
          <a:bodyPr/>
          <a:lstStyle/>
          <a:p>
            <a:pPr>
              <a:buFont typeface="Arial" charset="0"/>
              <a:buChar char="•"/>
            </a:pPr>
            <a:r>
              <a:rPr lang="en-US" smtClean="0"/>
              <a:t>Every reserve line is further categorized by "cost category"</a:t>
            </a:r>
          </a:p>
          <a:p>
            <a:pPr lvl="1"/>
            <a:r>
              <a:rPr lang="en-US" smtClean="0"/>
              <a:t>A cost category is a specific classification of a cost type used to track payments, identify leakage, predict future reserves, or control reserve creation and approval</a:t>
            </a:r>
          </a:p>
        </p:txBody>
      </p:sp>
      <p:sp>
        <p:nvSpPr>
          <p:cNvPr id="10245" name="Line 5"/>
          <p:cNvSpPr>
            <a:spLocks noChangeShapeType="1"/>
          </p:cNvSpPr>
          <p:nvPr/>
        </p:nvSpPr>
        <p:spPr bwMode="auto">
          <a:xfrm flipV="1">
            <a:off x="2911475" y="1466850"/>
            <a:ext cx="0" cy="222408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6" name="Line 6"/>
          <p:cNvSpPr>
            <a:spLocks noChangeShapeType="1"/>
          </p:cNvSpPr>
          <p:nvPr/>
        </p:nvSpPr>
        <p:spPr bwMode="auto">
          <a:xfrm flipH="1">
            <a:off x="2913063" y="2409825"/>
            <a:ext cx="1143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7" name="Line 7"/>
          <p:cNvSpPr>
            <a:spLocks noChangeShapeType="1"/>
          </p:cNvSpPr>
          <p:nvPr/>
        </p:nvSpPr>
        <p:spPr bwMode="auto">
          <a:xfrm flipH="1">
            <a:off x="2913063" y="3675063"/>
            <a:ext cx="1143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48" name="Group 8"/>
          <p:cNvGrpSpPr>
            <a:grpSpLocks/>
          </p:cNvGrpSpPr>
          <p:nvPr/>
        </p:nvGrpSpPr>
        <p:grpSpPr bwMode="auto">
          <a:xfrm>
            <a:off x="3708400" y="1858963"/>
            <a:ext cx="777875" cy="973137"/>
            <a:chOff x="4174" y="933"/>
            <a:chExt cx="921" cy="1151"/>
          </a:xfrm>
        </p:grpSpPr>
        <p:sp>
          <p:nvSpPr>
            <p:cNvPr id="10276" name="Rectangle 9"/>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0277" name="AutoShape 10"/>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78" name="AutoShape 11"/>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79" name="AutoShape 12"/>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80" name="Freeform 13"/>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1" name="Freeform 14"/>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2" name="Freeform 15"/>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3" name="Freeform 16"/>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4" name="Freeform 17"/>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5" name="Freeform 18"/>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6" name="Freeform 19"/>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87" name="Line 20"/>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88" name="Line 21"/>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89" name="Line 22"/>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90" name="Line 23"/>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91" name="Line 24"/>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92" name="Line 25"/>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49" name="Group 26"/>
          <p:cNvGrpSpPr>
            <a:grpSpLocks/>
          </p:cNvGrpSpPr>
          <p:nvPr/>
        </p:nvGrpSpPr>
        <p:grpSpPr bwMode="auto">
          <a:xfrm>
            <a:off x="2306638" y="674688"/>
            <a:ext cx="1187450" cy="1179512"/>
            <a:chOff x="3360" y="800"/>
            <a:chExt cx="620" cy="616"/>
          </a:xfrm>
        </p:grpSpPr>
        <p:sp>
          <p:nvSpPr>
            <p:cNvPr id="10270" name="AutoShape 2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0271" name="Freeform 28"/>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0272" name="Group 29"/>
            <p:cNvGrpSpPr>
              <a:grpSpLocks/>
            </p:cNvGrpSpPr>
            <p:nvPr/>
          </p:nvGrpSpPr>
          <p:grpSpPr bwMode="auto">
            <a:xfrm flipH="1">
              <a:off x="3749" y="1171"/>
              <a:ext cx="212" cy="213"/>
              <a:chOff x="1350" y="686"/>
              <a:chExt cx="1132" cy="1132"/>
            </a:xfrm>
          </p:grpSpPr>
          <p:sp>
            <p:nvSpPr>
              <p:cNvPr id="10274" name="AutoShape 3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275" name="Picture 3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73" name="Picture 3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50" name="Group 33"/>
          <p:cNvGrpSpPr>
            <a:grpSpLocks/>
          </p:cNvGrpSpPr>
          <p:nvPr/>
        </p:nvGrpSpPr>
        <p:grpSpPr bwMode="auto">
          <a:xfrm>
            <a:off x="3708400" y="3124200"/>
            <a:ext cx="777875" cy="973138"/>
            <a:chOff x="4174" y="933"/>
            <a:chExt cx="921" cy="1151"/>
          </a:xfrm>
        </p:grpSpPr>
        <p:sp>
          <p:nvSpPr>
            <p:cNvPr id="10253" name="Rectangle 3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0254" name="AutoShape 3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55" name="AutoShape 3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56" name="AutoShape 3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57" name="Freeform 3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58" name="Freeform 3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59" name="Freeform 4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60" name="Freeform 4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61" name="Freeform 4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62" name="Freeform 4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63" name="Freeform 4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264" name="Line 4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5" name="Line 4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6" name="Line 4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7" name="Line 4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8" name="Line 4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9" name="Line 5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51" name="Text Box 51"/>
          <p:cNvSpPr txBox="1">
            <a:spLocks noChangeArrowheads="1"/>
          </p:cNvSpPr>
          <p:nvPr/>
        </p:nvSpPr>
        <p:spPr bwMode="auto">
          <a:xfrm>
            <a:off x="3717925" y="749300"/>
            <a:ext cx="34909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Coverage: collision</a:t>
            </a:r>
            <a:br>
              <a:rPr lang="en-US" sz="2000" b="1"/>
            </a:br>
            <a:r>
              <a:rPr lang="en-US" sz="2000" b="1"/>
              <a:t>Claimant: Jim Means</a:t>
            </a:r>
          </a:p>
        </p:txBody>
      </p:sp>
      <p:sp>
        <p:nvSpPr>
          <p:cNvPr id="10252" name="Text Box 52"/>
          <p:cNvSpPr txBox="1">
            <a:spLocks noChangeArrowheads="1"/>
          </p:cNvSpPr>
          <p:nvPr/>
        </p:nvSpPr>
        <p:spPr bwMode="auto">
          <a:xfrm>
            <a:off x="4572000" y="1862138"/>
            <a:ext cx="4070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057400" algn="l"/>
              </a:tabLst>
              <a:defRPr sz="1400">
                <a:solidFill>
                  <a:schemeClr val="bg1"/>
                </a:solidFill>
                <a:latin typeface="Arial" charset="0"/>
              </a:defRPr>
            </a:lvl1pPr>
            <a:lvl2pPr marL="742950" indent="-285750" eaLnBrk="0" hangingPunct="0">
              <a:tabLst>
                <a:tab pos="2057400" algn="l"/>
              </a:tabLst>
              <a:defRPr sz="1400">
                <a:solidFill>
                  <a:schemeClr val="bg1"/>
                </a:solidFill>
                <a:latin typeface="Arial" charset="0"/>
              </a:defRPr>
            </a:lvl2pPr>
            <a:lvl3pPr marL="1143000" indent="-228600" eaLnBrk="0" hangingPunct="0">
              <a:tabLst>
                <a:tab pos="2057400" algn="l"/>
              </a:tabLst>
              <a:defRPr sz="1400">
                <a:solidFill>
                  <a:schemeClr val="bg1"/>
                </a:solidFill>
                <a:latin typeface="Arial" charset="0"/>
              </a:defRPr>
            </a:lvl3pPr>
            <a:lvl4pPr marL="1600200" indent="-228600" eaLnBrk="0" hangingPunct="0">
              <a:tabLst>
                <a:tab pos="2057400" algn="l"/>
              </a:tabLst>
              <a:defRPr sz="1400">
                <a:solidFill>
                  <a:schemeClr val="bg1"/>
                </a:solidFill>
                <a:latin typeface="Arial" charset="0"/>
              </a:defRPr>
            </a:lvl4pPr>
            <a:lvl5pPr marL="2057400" indent="-228600" eaLnBrk="0" hangingPunct="0">
              <a:tabLst>
                <a:tab pos="20574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057400" algn="l"/>
              </a:tabLst>
              <a:defRPr sz="1400">
                <a:solidFill>
                  <a:schemeClr val="bg1"/>
                </a:solidFill>
                <a:latin typeface="Arial" charset="0"/>
              </a:defRPr>
            </a:lvl9pPr>
          </a:lstStyle>
          <a:p>
            <a:pPr algn="l" eaLnBrk="1" hangingPunct="1"/>
            <a:r>
              <a:rPr lang="en-US" sz="2000" b="1" dirty="0"/>
              <a:t>Reserve Line 1 (damage to car)</a:t>
            </a:r>
            <a:br>
              <a:rPr lang="en-US" sz="2000" b="1" dirty="0"/>
            </a:br>
            <a:r>
              <a:rPr lang="en-US" sz="2000" b="1" dirty="0"/>
              <a:t>Cost type: 	Claim Cost</a:t>
            </a:r>
            <a:r>
              <a:rPr lang="en-US" sz="2000" b="1" dirty="0">
                <a:solidFill>
                  <a:srgbClr val="FF0000"/>
                </a:solidFill>
              </a:rPr>
              <a:t/>
            </a:r>
            <a:br>
              <a:rPr lang="en-US" sz="2000" b="1" dirty="0">
                <a:solidFill>
                  <a:srgbClr val="FF0000"/>
                </a:solidFill>
              </a:rPr>
            </a:br>
            <a:r>
              <a:rPr lang="en-US" sz="2000" b="1" dirty="0" err="1">
                <a:solidFill>
                  <a:srgbClr val="FF0000"/>
                </a:solidFill>
              </a:rPr>
              <a:t>Cost</a:t>
            </a:r>
            <a:r>
              <a:rPr lang="en-US" sz="2000" b="1" dirty="0">
                <a:solidFill>
                  <a:srgbClr val="FF0000"/>
                </a:solidFill>
              </a:rPr>
              <a:t> category: 	Auto body</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sp>
        <p:nvSpPr>
          <p:cNvPr id="11266" name="Rectangle 2"/>
          <p:cNvSpPr>
            <a:spLocks noGrp="1" noChangeArrowheads="1"/>
          </p:cNvSpPr>
          <p:nvPr>
            <p:ph type="title"/>
          </p:nvPr>
        </p:nvSpPr>
        <p:spPr/>
        <p:txBody>
          <a:bodyPr/>
          <a:lstStyle/>
          <a:p>
            <a:pPr eaLnBrk="1" hangingPunct="1"/>
            <a:r>
              <a:rPr lang="en-US" dirty="0" smtClean="0"/>
              <a:t>Reserve lines are unique</a:t>
            </a:r>
          </a:p>
        </p:txBody>
      </p:sp>
      <p:sp>
        <p:nvSpPr>
          <p:cNvPr id="11267" name="Rectangle 3"/>
          <p:cNvSpPr>
            <a:spLocks noGrp="1" noChangeArrowheads="1"/>
          </p:cNvSpPr>
          <p:nvPr>
            <p:ph idx="1"/>
          </p:nvPr>
        </p:nvSpPr>
        <p:spPr>
          <a:xfrm>
            <a:off x="495300" y="4959350"/>
            <a:ext cx="8318500" cy="1511300"/>
          </a:xfrm>
        </p:spPr>
        <p:txBody>
          <a:bodyPr/>
          <a:lstStyle/>
          <a:p>
            <a:pPr>
              <a:buFont typeface="Arial" charset="0"/>
              <a:buChar char="•"/>
            </a:pPr>
            <a:r>
              <a:rPr lang="en-US" sz="2200" dirty="0" smtClean="0"/>
              <a:t>Every reserve line is uniquely defined by its exposure, cost type, and cost category (except when using Multicurrency Reserving)</a:t>
            </a:r>
          </a:p>
          <a:p>
            <a:pPr lvl="1"/>
            <a:r>
              <a:rPr lang="en-US" dirty="0" smtClean="0"/>
              <a:t>You cannot have two reserve lines on the same exposure with the same cost type and cost category (and currency)</a:t>
            </a:r>
          </a:p>
        </p:txBody>
      </p:sp>
      <p:sp>
        <p:nvSpPr>
          <p:cNvPr id="11268" name="Text Box 4"/>
          <p:cNvSpPr txBox="1">
            <a:spLocks noChangeArrowheads="1"/>
          </p:cNvSpPr>
          <p:nvPr/>
        </p:nvSpPr>
        <p:spPr bwMode="auto">
          <a:xfrm>
            <a:off x="1952625" y="2971800"/>
            <a:ext cx="29368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11275" algn="l"/>
              </a:tabLst>
              <a:defRPr sz="1400">
                <a:solidFill>
                  <a:schemeClr val="bg1"/>
                </a:solidFill>
                <a:latin typeface="Arial" charset="0"/>
              </a:defRPr>
            </a:lvl1pPr>
            <a:lvl2pPr marL="742950" indent="-285750" eaLnBrk="0" hangingPunct="0">
              <a:tabLst>
                <a:tab pos="1311275" algn="l"/>
              </a:tabLst>
              <a:defRPr sz="1400">
                <a:solidFill>
                  <a:schemeClr val="bg1"/>
                </a:solidFill>
                <a:latin typeface="Arial" charset="0"/>
              </a:defRPr>
            </a:lvl2pPr>
            <a:lvl3pPr marL="1143000" indent="-228600" eaLnBrk="0" hangingPunct="0">
              <a:tabLst>
                <a:tab pos="1311275" algn="l"/>
              </a:tabLst>
              <a:defRPr sz="1400">
                <a:solidFill>
                  <a:schemeClr val="bg1"/>
                </a:solidFill>
                <a:latin typeface="Arial" charset="0"/>
              </a:defRPr>
            </a:lvl3pPr>
            <a:lvl4pPr marL="1600200" indent="-228600" eaLnBrk="0" hangingPunct="0">
              <a:tabLst>
                <a:tab pos="1311275" algn="l"/>
              </a:tabLst>
              <a:defRPr sz="1400">
                <a:solidFill>
                  <a:schemeClr val="bg1"/>
                </a:solidFill>
                <a:latin typeface="Arial" charset="0"/>
              </a:defRPr>
            </a:lvl4pPr>
            <a:lvl5pPr marL="2057400" indent="-228600" eaLnBrk="0" hangingPunct="0">
              <a:tabLst>
                <a:tab pos="131127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9pPr>
          </a:lstStyle>
          <a:p>
            <a:pPr algn="l" eaLnBrk="1" hangingPunct="1"/>
            <a:r>
              <a:rPr lang="en-US" sz="1800" b="1"/>
              <a:t>Cost type: 	Expense</a:t>
            </a:r>
            <a:br>
              <a:rPr lang="en-US" sz="1800" b="1"/>
            </a:br>
            <a:r>
              <a:rPr lang="en-US" sz="1800" b="1"/>
              <a:t>Cost ctgry: 	Inspection</a:t>
            </a:r>
          </a:p>
        </p:txBody>
      </p:sp>
      <p:sp>
        <p:nvSpPr>
          <p:cNvPr id="11269" name="Line 5"/>
          <p:cNvSpPr>
            <a:spLocks noChangeShapeType="1"/>
          </p:cNvSpPr>
          <p:nvPr/>
        </p:nvSpPr>
        <p:spPr bwMode="auto">
          <a:xfrm flipV="1">
            <a:off x="803275" y="1417638"/>
            <a:ext cx="0" cy="18303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0" name="Line 6"/>
          <p:cNvSpPr>
            <a:spLocks noChangeShapeType="1"/>
          </p:cNvSpPr>
          <p:nvPr/>
        </p:nvSpPr>
        <p:spPr bwMode="auto">
          <a:xfrm flipH="1">
            <a:off x="804863" y="2182813"/>
            <a:ext cx="8667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1" name="Line 7"/>
          <p:cNvSpPr>
            <a:spLocks noChangeShapeType="1"/>
          </p:cNvSpPr>
          <p:nvPr/>
        </p:nvSpPr>
        <p:spPr bwMode="auto">
          <a:xfrm flipH="1">
            <a:off x="804863" y="3238500"/>
            <a:ext cx="79851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72" name="Group 8"/>
          <p:cNvGrpSpPr>
            <a:grpSpLocks/>
          </p:cNvGrpSpPr>
          <p:nvPr/>
        </p:nvGrpSpPr>
        <p:grpSpPr bwMode="auto">
          <a:xfrm>
            <a:off x="1233488" y="1771650"/>
            <a:ext cx="654050" cy="817563"/>
            <a:chOff x="4174" y="933"/>
            <a:chExt cx="921" cy="1151"/>
          </a:xfrm>
        </p:grpSpPr>
        <p:sp>
          <p:nvSpPr>
            <p:cNvPr id="11371" name="Rectangle 9"/>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72" name="AutoShape 10"/>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73" name="AutoShape 11"/>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74" name="AutoShape 12"/>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75" name="Freeform 13"/>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6" name="Freeform 14"/>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7" name="Freeform 15"/>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8" name="Freeform 16"/>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9" name="Freeform 17"/>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80" name="Freeform 18"/>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81" name="Freeform 19"/>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82" name="Line 20"/>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3" name="Line 21"/>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4" name="Line 22"/>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5" name="Line 23"/>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6" name="Line 24"/>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7" name="Line 25"/>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273" name="Group 26"/>
          <p:cNvGrpSpPr>
            <a:grpSpLocks/>
          </p:cNvGrpSpPr>
          <p:nvPr/>
        </p:nvGrpSpPr>
        <p:grpSpPr bwMode="auto">
          <a:xfrm>
            <a:off x="373063" y="796925"/>
            <a:ext cx="857250" cy="850900"/>
            <a:chOff x="3360" y="800"/>
            <a:chExt cx="620" cy="616"/>
          </a:xfrm>
        </p:grpSpPr>
        <p:sp>
          <p:nvSpPr>
            <p:cNvPr id="11365" name="AutoShape 2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366" name="Freeform 28"/>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367" name="Group 29"/>
            <p:cNvGrpSpPr>
              <a:grpSpLocks/>
            </p:cNvGrpSpPr>
            <p:nvPr/>
          </p:nvGrpSpPr>
          <p:grpSpPr bwMode="auto">
            <a:xfrm flipH="1">
              <a:off x="3749" y="1171"/>
              <a:ext cx="212" cy="213"/>
              <a:chOff x="1350" y="686"/>
              <a:chExt cx="1132" cy="1132"/>
            </a:xfrm>
          </p:grpSpPr>
          <p:sp>
            <p:nvSpPr>
              <p:cNvPr id="11369" name="AutoShape 3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370" name="Picture 3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368" name="Picture 3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74" name="Group 33"/>
          <p:cNvGrpSpPr>
            <a:grpSpLocks/>
          </p:cNvGrpSpPr>
          <p:nvPr/>
        </p:nvGrpSpPr>
        <p:grpSpPr bwMode="auto">
          <a:xfrm>
            <a:off x="1233488" y="2844800"/>
            <a:ext cx="654050" cy="817563"/>
            <a:chOff x="4174" y="933"/>
            <a:chExt cx="921" cy="1151"/>
          </a:xfrm>
        </p:grpSpPr>
        <p:sp>
          <p:nvSpPr>
            <p:cNvPr id="11348" name="Rectangle 3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49" name="AutoShape 3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50" name="AutoShape 3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51" name="AutoShape 3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52" name="Freeform 3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3" name="Freeform 3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4" name="Freeform 4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5" name="Freeform 4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6" name="Freeform 4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7" name="Freeform 4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8" name="Freeform 4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9" name="Line 4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0" name="Line 4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1" name="Line 4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2" name="Line 4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3" name="Line 4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4" name="Line 5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75" name="Text Box 51"/>
          <p:cNvSpPr txBox="1">
            <a:spLocks noChangeArrowheads="1"/>
          </p:cNvSpPr>
          <p:nvPr/>
        </p:nvSpPr>
        <p:spPr bwMode="auto">
          <a:xfrm>
            <a:off x="1301750" y="904875"/>
            <a:ext cx="3181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Coverage: collision</a:t>
            </a:r>
            <a:br>
              <a:rPr lang="en-US" sz="2000" b="1"/>
            </a:br>
            <a:r>
              <a:rPr lang="en-US" sz="2000" b="1"/>
              <a:t>Claimant: Brittany Turner</a:t>
            </a:r>
          </a:p>
        </p:txBody>
      </p:sp>
      <p:sp>
        <p:nvSpPr>
          <p:cNvPr id="11276" name="Text Box 52"/>
          <p:cNvSpPr txBox="1">
            <a:spLocks noChangeArrowheads="1"/>
          </p:cNvSpPr>
          <p:nvPr/>
        </p:nvSpPr>
        <p:spPr bwMode="auto">
          <a:xfrm>
            <a:off x="1957388" y="1914525"/>
            <a:ext cx="2724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11275" algn="l"/>
              </a:tabLst>
              <a:defRPr sz="1400">
                <a:solidFill>
                  <a:schemeClr val="bg1"/>
                </a:solidFill>
                <a:latin typeface="Arial" charset="0"/>
              </a:defRPr>
            </a:lvl1pPr>
            <a:lvl2pPr marL="742950" indent="-285750" eaLnBrk="0" hangingPunct="0">
              <a:tabLst>
                <a:tab pos="1311275" algn="l"/>
              </a:tabLst>
              <a:defRPr sz="1400">
                <a:solidFill>
                  <a:schemeClr val="bg1"/>
                </a:solidFill>
                <a:latin typeface="Arial" charset="0"/>
              </a:defRPr>
            </a:lvl2pPr>
            <a:lvl3pPr marL="1143000" indent="-228600" eaLnBrk="0" hangingPunct="0">
              <a:tabLst>
                <a:tab pos="1311275" algn="l"/>
              </a:tabLst>
              <a:defRPr sz="1400">
                <a:solidFill>
                  <a:schemeClr val="bg1"/>
                </a:solidFill>
                <a:latin typeface="Arial" charset="0"/>
              </a:defRPr>
            </a:lvl3pPr>
            <a:lvl4pPr marL="1600200" indent="-228600" eaLnBrk="0" hangingPunct="0">
              <a:tabLst>
                <a:tab pos="1311275" algn="l"/>
              </a:tabLst>
              <a:defRPr sz="1400">
                <a:solidFill>
                  <a:schemeClr val="bg1"/>
                </a:solidFill>
                <a:latin typeface="Arial" charset="0"/>
              </a:defRPr>
            </a:lvl4pPr>
            <a:lvl5pPr marL="2057400" indent="-228600" eaLnBrk="0" hangingPunct="0">
              <a:tabLst>
                <a:tab pos="131127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9pPr>
          </a:lstStyle>
          <a:p>
            <a:pPr algn="l" eaLnBrk="1" hangingPunct="1"/>
            <a:r>
              <a:rPr lang="en-US" sz="1800" b="1"/>
              <a:t>Cost type: 	Claim Cost</a:t>
            </a:r>
            <a:br>
              <a:rPr lang="en-US" sz="1800" b="1"/>
            </a:br>
            <a:r>
              <a:rPr lang="en-US" sz="1800" b="1"/>
              <a:t>Cost ctgry: 	Auto body</a:t>
            </a:r>
          </a:p>
        </p:txBody>
      </p:sp>
      <p:sp>
        <p:nvSpPr>
          <p:cNvPr id="11277" name="Text Box 53"/>
          <p:cNvSpPr txBox="1">
            <a:spLocks noChangeArrowheads="1"/>
          </p:cNvSpPr>
          <p:nvPr/>
        </p:nvSpPr>
        <p:spPr bwMode="auto">
          <a:xfrm>
            <a:off x="1952625" y="4017963"/>
            <a:ext cx="27305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11275" algn="l"/>
              </a:tabLst>
              <a:defRPr sz="1400">
                <a:solidFill>
                  <a:schemeClr val="bg1"/>
                </a:solidFill>
                <a:latin typeface="Arial" charset="0"/>
              </a:defRPr>
            </a:lvl1pPr>
            <a:lvl2pPr marL="742950" indent="-285750" eaLnBrk="0" hangingPunct="0">
              <a:tabLst>
                <a:tab pos="1311275" algn="l"/>
              </a:tabLst>
              <a:defRPr sz="1400">
                <a:solidFill>
                  <a:schemeClr val="bg1"/>
                </a:solidFill>
                <a:latin typeface="Arial" charset="0"/>
              </a:defRPr>
            </a:lvl2pPr>
            <a:lvl3pPr marL="1143000" indent="-228600" eaLnBrk="0" hangingPunct="0">
              <a:tabLst>
                <a:tab pos="1311275" algn="l"/>
              </a:tabLst>
              <a:defRPr sz="1400">
                <a:solidFill>
                  <a:schemeClr val="bg1"/>
                </a:solidFill>
                <a:latin typeface="Arial" charset="0"/>
              </a:defRPr>
            </a:lvl3pPr>
            <a:lvl4pPr marL="1600200" indent="-228600" eaLnBrk="0" hangingPunct="0">
              <a:tabLst>
                <a:tab pos="1311275" algn="l"/>
              </a:tabLst>
              <a:defRPr sz="1400">
                <a:solidFill>
                  <a:schemeClr val="bg1"/>
                </a:solidFill>
                <a:latin typeface="Arial" charset="0"/>
              </a:defRPr>
            </a:lvl4pPr>
            <a:lvl5pPr marL="2057400" indent="-228600" eaLnBrk="0" hangingPunct="0">
              <a:tabLst>
                <a:tab pos="131127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9pPr>
          </a:lstStyle>
          <a:p>
            <a:pPr algn="l" eaLnBrk="1" hangingPunct="1"/>
            <a:r>
              <a:rPr lang="en-US" sz="1800" b="1">
                <a:solidFill>
                  <a:srgbClr val="FF0000"/>
                </a:solidFill>
              </a:rPr>
              <a:t>Cost type: 	Claim Cost</a:t>
            </a:r>
            <a:br>
              <a:rPr lang="en-US" sz="1800" b="1">
                <a:solidFill>
                  <a:srgbClr val="FF0000"/>
                </a:solidFill>
              </a:rPr>
            </a:br>
            <a:r>
              <a:rPr lang="en-US" sz="1800" b="1">
                <a:solidFill>
                  <a:srgbClr val="FF0000"/>
                </a:solidFill>
              </a:rPr>
              <a:t>Cost ctgry: 	Auto body</a:t>
            </a:r>
          </a:p>
        </p:txBody>
      </p:sp>
      <p:sp>
        <p:nvSpPr>
          <p:cNvPr id="11278" name="Line 54"/>
          <p:cNvSpPr>
            <a:spLocks noChangeShapeType="1"/>
          </p:cNvSpPr>
          <p:nvPr/>
        </p:nvSpPr>
        <p:spPr bwMode="auto">
          <a:xfrm flipH="1">
            <a:off x="804863" y="4337050"/>
            <a:ext cx="9175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79" name="Group 55"/>
          <p:cNvGrpSpPr>
            <a:grpSpLocks/>
          </p:cNvGrpSpPr>
          <p:nvPr/>
        </p:nvGrpSpPr>
        <p:grpSpPr bwMode="auto">
          <a:xfrm>
            <a:off x="1233488" y="3925888"/>
            <a:ext cx="654050" cy="817562"/>
            <a:chOff x="4174" y="933"/>
            <a:chExt cx="921" cy="1151"/>
          </a:xfrm>
        </p:grpSpPr>
        <p:sp>
          <p:nvSpPr>
            <p:cNvPr id="11331" name="Rectangle 56"/>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32" name="AutoShape 57"/>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33" name="AutoShape 58"/>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34" name="AutoShape 59"/>
            <p:cNvSpPr>
              <a:spLocks noChangeArrowheads="1"/>
            </p:cNvSpPr>
            <p:nvPr/>
          </p:nvSpPr>
          <p:spPr bwMode="auto">
            <a:xfrm>
              <a:off x="4174" y="994"/>
              <a:ext cx="912" cy="1090"/>
            </a:xfrm>
            <a:prstGeom prst="parallelogram">
              <a:avLst>
                <a:gd name="adj" fmla="val 15597"/>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35" name="Freeform 60"/>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36" name="Freeform 61"/>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37" name="Freeform 62"/>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38" name="Freeform 63"/>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39" name="Freeform 64"/>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40" name="Freeform 65"/>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41" name="Freeform 66"/>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42" name="Line 67"/>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3" name="Line 68"/>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4" name="Line 69"/>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5" name="Line 70"/>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6" name="Line 71"/>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7" name="Line 72"/>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80" name="AutoShape 73"/>
          <p:cNvSpPr>
            <a:spLocks noChangeArrowheads="1"/>
          </p:cNvSpPr>
          <p:nvPr/>
        </p:nvSpPr>
        <p:spPr bwMode="auto">
          <a:xfrm>
            <a:off x="673100" y="3957638"/>
            <a:ext cx="676275" cy="676275"/>
          </a:xfrm>
          <a:custGeom>
            <a:avLst/>
            <a:gdLst>
              <a:gd name="T0" fmla="*/ 331461419 w 21600"/>
              <a:gd name="T1" fmla="*/ 0 h 21600"/>
              <a:gd name="T2" fmla="*/ 97074639 w 21600"/>
              <a:gd name="T3" fmla="*/ 97074639 h 21600"/>
              <a:gd name="T4" fmla="*/ 0 w 21600"/>
              <a:gd name="T5" fmla="*/ 331461419 h 21600"/>
              <a:gd name="T6" fmla="*/ 97074639 w 21600"/>
              <a:gd name="T7" fmla="*/ 565847353 h 21600"/>
              <a:gd name="T8" fmla="*/ 331461419 w 21600"/>
              <a:gd name="T9" fmla="*/ 662921836 h 21600"/>
              <a:gd name="T10" fmla="*/ 565847353 w 21600"/>
              <a:gd name="T11" fmla="*/ 565847353 h 21600"/>
              <a:gd name="T12" fmla="*/ 662921836 w 21600"/>
              <a:gd name="T13" fmla="*/ 331461419 h 21600"/>
              <a:gd name="T14" fmla="*/ 565847353 w 21600"/>
              <a:gd name="T15" fmla="*/ 97074639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1281" name="Line 74"/>
          <p:cNvSpPr>
            <a:spLocks noChangeShapeType="1"/>
          </p:cNvSpPr>
          <p:nvPr/>
        </p:nvSpPr>
        <p:spPr bwMode="auto">
          <a:xfrm flipV="1">
            <a:off x="5040313" y="1362075"/>
            <a:ext cx="0" cy="189547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2" name="Line 75"/>
          <p:cNvSpPr>
            <a:spLocks noChangeShapeType="1"/>
          </p:cNvSpPr>
          <p:nvPr/>
        </p:nvSpPr>
        <p:spPr bwMode="auto">
          <a:xfrm flipH="1">
            <a:off x="5041900" y="2182813"/>
            <a:ext cx="8667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83" name="Group 76"/>
          <p:cNvGrpSpPr>
            <a:grpSpLocks/>
          </p:cNvGrpSpPr>
          <p:nvPr/>
        </p:nvGrpSpPr>
        <p:grpSpPr bwMode="auto">
          <a:xfrm>
            <a:off x="5470525" y="1771650"/>
            <a:ext cx="654050" cy="817563"/>
            <a:chOff x="4174" y="933"/>
            <a:chExt cx="921" cy="1151"/>
          </a:xfrm>
        </p:grpSpPr>
        <p:sp>
          <p:nvSpPr>
            <p:cNvPr id="11314" name="Rectangle 77"/>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15" name="AutoShape 78"/>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16" name="AutoShape 79"/>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17" name="AutoShape 80"/>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18" name="Freeform 81"/>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19" name="Freeform 82"/>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20" name="Freeform 83"/>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21" name="Freeform 84"/>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22" name="Freeform 85"/>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23" name="Freeform 86"/>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24" name="Freeform 87"/>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25" name="Line 88"/>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26" name="Line 89"/>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27" name="Line 90"/>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28" name="Line 91"/>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29" name="Line 92"/>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30" name="Line 93"/>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284" name="Group 94"/>
          <p:cNvGrpSpPr>
            <a:grpSpLocks/>
          </p:cNvGrpSpPr>
          <p:nvPr/>
        </p:nvGrpSpPr>
        <p:grpSpPr bwMode="auto">
          <a:xfrm>
            <a:off x="4610100" y="796925"/>
            <a:ext cx="857250" cy="850900"/>
            <a:chOff x="3360" y="800"/>
            <a:chExt cx="620" cy="616"/>
          </a:xfrm>
        </p:grpSpPr>
        <p:sp>
          <p:nvSpPr>
            <p:cNvPr id="11308" name="AutoShape 9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309" name="Freeform 9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310" name="Group 97"/>
            <p:cNvGrpSpPr>
              <a:grpSpLocks/>
            </p:cNvGrpSpPr>
            <p:nvPr/>
          </p:nvGrpSpPr>
          <p:grpSpPr bwMode="auto">
            <a:xfrm flipH="1">
              <a:off x="3749" y="1171"/>
              <a:ext cx="212" cy="213"/>
              <a:chOff x="1350" y="686"/>
              <a:chExt cx="1132" cy="1132"/>
            </a:xfrm>
          </p:grpSpPr>
          <p:sp>
            <p:nvSpPr>
              <p:cNvPr id="11312" name="AutoShape 9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313" name="Picture 9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311" name="Picture 10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85" name="Text Box 101"/>
          <p:cNvSpPr txBox="1">
            <a:spLocks noChangeArrowheads="1"/>
          </p:cNvSpPr>
          <p:nvPr/>
        </p:nvSpPr>
        <p:spPr bwMode="auto">
          <a:xfrm>
            <a:off x="5538788" y="765175"/>
            <a:ext cx="36052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Coverage:</a:t>
            </a:r>
            <a:br>
              <a:rPr lang="en-US" sz="2000" b="1"/>
            </a:br>
            <a:r>
              <a:rPr lang="en-US" sz="2000" b="1"/>
              <a:t>     liability - auto damage</a:t>
            </a:r>
            <a:br>
              <a:rPr lang="en-US" sz="2000" b="1"/>
            </a:br>
            <a:r>
              <a:rPr lang="en-US" sz="2000" b="1"/>
              <a:t>Claimant: Marcus Sato</a:t>
            </a:r>
          </a:p>
        </p:txBody>
      </p:sp>
      <p:sp>
        <p:nvSpPr>
          <p:cNvPr id="11286" name="Text Box 102"/>
          <p:cNvSpPr txBox="1">
            <a:spLocks noChangeArrowheads="1"/>
          </p:cNvSpPr>
          <p:nvPr/>
        </p:nvSpPr>
        <p:spPr bwMode="auto">
          <a:xfrm>
            <a:off x="6194425" y="1914525"/>
            <a:ext cx="2724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11275" algn="l"/>
              </a:tabLst>
              <a:defRPr sz="1400">
                <a:solidFill>
                  <a:schemeClr val="bg1"/>
                </a:solidFill>
                <a:latin typeface="Arial" charset="0"/>
              </a:defRPr>
            </a:lvl1pPr>
            <a:lvl2pPr marL="742950" indent="-285750" eaLnBrk="0" hangingPunct="0">
              <a:tabLst>
                <a:tab pos="1311275" algn="l"/>
              </a:tabLst>
              <a:defRPr sz="1400">
                <a:solidFill>
                  <a:schemeClr val="bg1"/>
                </a:solidFill>
                <a:latin typeface="Arial" charset="0"/>
              </a:defRPr>
            </a:lvl2pPr>
            <a:lvl3pPr marL="1143000" indent="-228600" eaLnBrk="0" hangingPunct="0">
              <a:tabLst>
                <a:tab pos="1311275" algn="l"/>
              </a:tabLst>
              <a:defRPr sz="1400">
                <a:solidFill>
                  <a:schemeClr val="bg1"/>
                </a:solidFill>
                <a:latin typeface="Arial" charset="0"/>
              </a:defRPr>
            </a:lvl3pPr>
            <a:lvl4pPr marL="1600200" indent="-228600" eaLnBrk="0" hangingPunct="0">
              <a:tabLst>
                <a:tab pos="1311275" algn="l"/>
              </a:tabLst>
              <a:defRPr sz="1400">
                <a:solidFill>
                  <a:schemeClr val="bg1"/>
                </a:solidFill>
                <a:latin typeface="Arial" charset="0"/>
              </a:defRPr>
            </a:lvl4pPr>
            <a:lvl5pPr marL="2057400" indent="-228600" eaLnBrk="0" hangingPunct="0">
              <a:tabLst>
                <a:tab pos="131127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9pPr>
          </a:lstStyle>
          <a:p>
            <a:pPr algn="l" eaLnBrk="1" hangingPunct="1"/>
            <a:r>
              <a:rPr lang="en-US" sz="1800" b="1"/>
              <a:t>Cost type: 	Claim Cost</a:t>
            </a:r>
            <a:br>
              <a:rPr lang="en-US" sz="1800" b="1"/>
            </a:br>
            <a:r>
              <a:rPr lang="en-US" sz="1800" b="1"/>
              <a:t>Cost ctgry: 	Auto body</a:t>
            </a:r>
          </a:p>
        </p:txBody>
      </p:sp>
      <p:sp>
        <p:nvSpPr>
          <p:cNvPr id="11287" name="Line 103"/>
          <p:cNvSpPr>
            <a:spLocks noChangeShapeType="1"/>
          </p:cNvSpPr>
          <p:nvPr/>
        </p:nvSpPr>
        <p:spPr bwMode="auto">
          <a:xfrm flipH="1">
            <a:off x="5040313" y="3238500"/>
            <a:ext cx="8667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88" name="Group 104"/>
          <p:cNvGrpSpPr>
            <a:grpSpLocks/>
          </p:cNvGrpSpPr>
          <p:nvPr/>
        </p:nvGrpSpPr>
        <p:grpSpPr bwMode="auto">
          <a:xfrm>
            <a:off x="5468938" y="2844800"/>
            <a:ext cx="654050" cy="817563"/>
            <a:chOff x="4174" y="933"/>
            <a:chExt cx="921" cy="1151"/>
          </a:xfrm>
        </p:grpSpPr>
        <p:sp>
          <p:nvSpPr>
            <p:cNvPr id="11291" name="Rectangle 10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292" name="AutoShape 10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93" name="AutoShape 10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94" name="AutoShape 10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95" name="Freeform 10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296" name="Freeform 1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297" name="Freeform 1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298" name="Freeform 1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299" name="Freeform 1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00" name="Freeform 1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01" name="Freeform 1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02" name="Line 1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3" name="Line 1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4" name="Line 1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5" name="Line 1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6" name="Line 1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7" name="Line 1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89" name="Text Box 122"/>
          <p:cNvSpPr txBox="1">
            <a:spLocks noChangeArrowheads="1"/>
          </p:cNvSpPr>
          <p:nvPr/>
        </p:nvSpPr>
        <p:spPr bwMode="auto">
          <a:xfrm>
            <a:off x="6192838" y="2971800"/>
            <a:ext cx="2724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11275" algn="l"/>
              </a:tabLst>
              <a:defRPr sz="1400">
                <a:solidFill>
                  <a:schemeClr val="bg1"/>
                </a:solidFill>
                <a:latin typeface="Arial" charset="0"/>
              </a:defRPr>
            </a:lvl1pPr>
            <a:lvl2pPr marL="742950" indent="-285750" eaLnBrk="0" hangingPunct="0">
              <a:tabLst>
                <a:tab pos="1311275" algn="l"/>
              </a:tabLst>
              <a:defRPr sz="1400">
                <a:solidFill>
                  <a:schemeClr val="bg1"/>
                </a:solidFill>
                <a:latin typeface="Arial" charset="0"/>
              </a:defRPr>
            </a:lvl2pPr>
            <a:lvl3pPr marL="1143000" indent="-228600" eaLnBrk="0" hangingPunct="0">
              <a:tabLst>
                <a:tab pos="1311275" algn="l"/>
              </a:tabLst>
              <a:defRPr sz="1400">
                <a:solidFill>
                  <a:schemeClr val="bg1"/>
                </a:solidFill>
                <a:latin typeface="Arial" charset="0"/>
              </a:defRPr>
            </a:lvl3pPr>
            <a:lvl4pPr marL="1600200" indent="-228600" eaLnBrk="0" hangingPunct="0">
              <a:tabLst>
                <a:tab pos="1311275" algn="l"/>
              </a:tabLst>
              <a:defRPr sz="1400">
                <a:solidFill>
                  <a:schemeClr val="bg1"/>
                </a:solidFill>
                <a:latin typeface="Arial" charset="0"/>
              </a:defRPr>
            </a:lvl4pPr>
            <a:lvl5pPr marL="2057400" indent="-228600" eaLnBrk="0" hangingPunct="0">
              <a:tabLst>
                <a:tab pos="131127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11275" algn="l"/>
              </a:tabLst>
              <a:defRPr sz="1400">
                <a:solidFill>
                  <a:schemeClr val="bg1"/>
                </a:solidFill>
                <a:latin typeface="Arial" charset="0"/>
              </a:defRPr>
            </a:lvl9pPr>
          </a:lstStyle>
          <a:p>
            <a:pPr algn="l" eaLnBrk="1" hangingPunct="1"/>
            <a:r>
              <a:rPr lang="en-US" sz="1800" b="1"/>
              <a:t>Cost type: 	Claim Cost</a:t>
            </a:r>
            <a:br>
              <a:rPr lang="en-US" sz="1800" b="1"/>
            </a:br>
            <a:r>
              <a:rPr lang="en-US" sz="1800" b="1"/>
              <a:t>Cost ctgry: 	Towing</a:t>
            </a:r>
          </a:p>
        </p:txBody>
      </p:sp>
      <p:sp>
        <p:nvSpPr>
          <p:cNvPr id="11290" name="Line 123"/>
          <p:cNvSpPr>
            <a:spLocks noChangeShapeType="1"/>
          </p:cNvSpPr>
          <p:nvPr/>
        </p:nvSpPr>
        <p:spPr bwMode="auto">
          <a:xfrm flipV="1">
            <a:off x="803275" y="3238500"/>
            <a:ext cx="0" cy="1082675"/>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5" name="Rectangle 124"/>
          <p:cNvSpPr/>
          <p:nvPr/>
        </p:nvSpPr>
        <p:spPr>
          <a:xfrm>
            <a:off x="1959366" y="5734969"/>
            <a:ext cx="327334" cy="400110"/>
          </a:xfrm>
          <a:prstGeom prst="rect">
            <a:avLst/>
          </a:prstGeom>
        </p:spPr>
        <p:txBody>
          <a:bodyPr wrap="none">
            <a:spAutoFit/>
          </a:bodyPr>
          <a:lstStyle/>
          <a:p>
            <a:r>
              <a:rPr lang="en-US" dirty="0" smtClean="0"/>
              <a:t>$</a:t>
            </a:r>
            <a:endParaRPr lang="en-US" dirty="0"/>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3613" y="2228934"/>
            <a:ext cx="4508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0788" y="3300326"/>
            <a:ext cx="4508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4959" y="4388430"/>
            <a:ext cx="4508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0413" y="2244854"/>
            <a:ext cx="4508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2685" y="3311670"/>
            <a:ext cx="4508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025709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grpSp>
        <p:nvGrpSpPr>
          <p:cNvPr id="32" name="Group 4"/>
          <p:cNvGrpSpPr>
            <a:grpSpLocks/>
          </p:cNvGrpSpPr>
          <p:nvPr/>
        </p:nvGrpSpPr>
        <p:grpSpPr bwMode="auto">
          <a:xfrm>
            <a:off x="4011863" y="2470176"/>
            <a:ext cx="1201737" cy="1503363"/>
            <a:chOff x="4174" y="933"/>
            <a:chExt cx="921" cy="1151"/>
          </a:xfrm>
        </p:grpSpPr>
        <p:sp>
          <p:nvSpPr>
            <p:cNvPr id="33"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4"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5"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7"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0"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1"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3"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4"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290" name="Rectangle 2"/>
          <p:cNvSpPr>
            <a:spLocks noGrp="1" noChangeArrowheads="1"/>
          </p:cNvSpPr>
          <p:nvPr>
            <p:ph type="title"/>
          </p:nvPr>
        </p:nvSpPr>
        <p:spPr/>
        <p:txBody>
          <a:bodyPr/>
          <a:lstStyle/>
          <a:p>
            <a:pPr eaLnBrk="1" hangingPunct="1"/>
            <a:r>
              <a:rPr lang="en-US" smtClean="0"/>
              <a:t>Basic transactions</a:t>
            </a:r>
          </a:p>
        </p:txBody>
      </p:sp>
      <p:sp>
        <p:nvSpPr>
          <p:cNvPr id="12291" name="Rectangle 3"/>
          <p:cNvSpPr>
            <a:spLocks noGrp="1" noChangeArrowheads="1"/>
          </p:cNvSpPr>
          <p:nvPr>
            <p:ph idx="1"/>
          </p:nvPr>
        </p:nvSpPr>
        <p:spPr>
          <a:xfrm>
            <a:off x="519113" y="4402138"/>
            <a:ext cx="8318500" cy="1501775"/>
          </a:xfrm>
        </p:spPr>
        <p:txBody>
          <a:bodyPr/>
          <a:lstStyle/>
          <a:p>
            <a:pPr>
              <a:buFont typeface="Arial" charset="0"/>
              <a:buChar char="•"/>
            </a:pPr>
            <a:r>
              <a:rPr lang="en-US" dirty="0" smtClean="0"/>
              <a:t>Transactions modify the amount of money in a reserve line</a:t>
            </a:r>
          </a:p>
          <a:p>
            <a:pPr lvl="1"/>
            <a:r>
              <a:rPr lang="en-US" dirty="0" smtClean="0"/>
              <a:t>A reserve transaction modifies the amount of money set aside for the reserve line</a:t>
            </a:r>
          </a:p>
          <a:p>
            <a:pPr lvl="1"/>
            <a:r>
              <a:rPr lang="en-US" dirty="0" smtClean="0"/>
              <a:t>A payment transaction moves money from a reserve line to a payment to a claimant or other party</a:t>
            </a:r>
          </a:p>
        </p:txBody>
      </p:sp>
      <p:grpSp>
        <p:nvGrpSpPr>
          <p:cNvPr id="12292" name="Group 4"/>
          <p:cNvGrpSpPr>
            <a:grpSpLocks/>
          </p:cNvGrpSpPr>
          <p:nvPr/>
        </p:nvGrpSpPr>
        <p:grpSpPr bwMode="auto">
          <a:xfrm>
            <a:off x="4005263" y="718975"/>
            <a:ext cx="1201737" cy="1503363"/>
            <a:chOff x="4174" y="933"/>
            <a:chExt cx="921" cy="1151"/>
          </a:xfrm>
        </p:grpSpPr>
        <p:sp>
          <p:nvSpPr>
            <p:cNvPr id="12302"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2303"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4"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5"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6"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07"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08"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09"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10"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11"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12"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13"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4"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5"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6"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7"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8"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293" name="AutoShape 22"/>
          <p:cNvSpPr>
            <a:spLocks noChangeArrowheads="1"/>
          </p:cNvSpPr>
          <p:nvPr/>
        </p:nvSpPr>
        <p:spPr bwMode="auto">
          <a:xfrm>
            <a:off x="2081213" y="490375"/>
            <a:ext cx="1798637" cy="981075"/>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2294" name="Text Box 23"/>
          <p:cNvSpPr txBox="1">
            <a:spLocks noChangeArrowheads="1"/>
          </p:cNvSpPr>
          <p:nvPr/>
        </p:nvSpPr>
        <p:spPr bwMode="auto">
          <a:xfrm>
            <a:off x="2109788" y="780888"/>
            <a:ext cx="14049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t>+$2000</a:t>
            </a:r>
          </a:p>
        </p:txBody>
      </p:sp>
      <p:sp>
        <p:nvSpPr>
          <p:cNvPr id="12295" name="Text Box 24"/>
          <p:cNvSpPr txBox="1">
            <a:spLocks noChangeArrowheads="1"/>
          </p:cNvSpPr>
          <p:nvPr/>
        </p:nvSpPr>
        <p:spPr bwMode="auto">
          <a:xfrm>
            <a:off x="565150" y="658650"/>
            <a:ext cx="14557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reserve</a:t>
            </a:r>
            <a:br>
              <a:rPr lang="en-US" sz="2000" b="1"/>
            </a:br>
            <a:r>
              <a:rPr lang="en-US" sz="2000" b="1"/>
              <a:t>transaction</a:t>
            </a:r>
          </a:p>
        </p:txBody>
      </p:sp>
      <p:sp>
        <p:nvSpPr>
          <p:cNvPr id="12296" name="AutoShape 25"/>
          <p:cNvSpPr>
            <a:spLocks noChangeArrowheads="1"/>
          </p:cNvSpPr>
          <p:nvPr/>
        </p:nvSpPr>
        <p:spPr bwMode="auto">
          <a:xfrm>
            <a:off x="5257800" y="1496850"/>
            <a:ext cx="1798638" cy="981075"/>
          </a:xfrm>
          <a:prstGeom prst="rightArrow">
            <a:avLst>
              <a:gd name="adj1" fmla="val 50000"/>
              <a:gd name="adj2" fmla="val 45833"/>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2297" name="Text Box 26"/>
          <p:cNvSpPr txBox="1">
            <a:spLocks noChangeArrowheads="1"/>
          </p:cNvSpPr>
          <p:nvPr/>
        </p:nvSpPr>
        <p:spPr bwMode="auto">
          <a:xfrm>
            <a:off x="5937250" y="1803238"/>
            <a:ext cx="14049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-$2250</a:t>
            </a:r>
          </a:p>
        </p:txBody>
      </p:sp>
      <p:sp>
        <p:nvSpPr>
          <p:cNvPr id="12298" name="Text Box 27"/>
          <p:cNvSpPr txBox="1">
            <a:spLocks noChangeArrowheads="1"/>
          </p:cNvSpPr>
          <p:nvPr/>
        </p:nvSpPr>
        <p:spPr bwMode="auto">
          <a:xfrm>
            <a:off x="7078663" y="1650838"/>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payment</a:t>
            </a:r>
            <a:br>
              <a:rPr lang="en-US" sz="2000" b="1">
                <a:solidFill>
                  <a:srgbClr val="FF0000"/>
                </a:solidFill>
              </a:rPr>
            </a:br>
            <a:r>
              <a:rPr lang="en-US" sz="2000" b="1">
                <a:solidFill>
                  <a:srgbClr val="FF0000"/>
                </a:solidFill>
              </a:rPr>
              <a:t>transaction</a:t>
            </a:r>
          </a:p>
        </p:txBody>
      </p:sp>
      <p:sp>
        <p:nvSpPr>
          <p:cNvPr id="12299" name="AutoShape 28"/>
          <p:cNvSpPr>
            <a:spLocks noChangeArrowheads="1"/>
          </p:cNvSpPr>
          <p:nvPr/>
        </p:nvSpPr>
        <p:spPr bwMode="auto">
          <a:xfrm>
            <a:off x="2320925" y="1114263"/>
            <a:ext cx="1798638" cy="981075"/>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2300" name="Text Box 29"/>
          <p:cNvSpPr txBox="1">
            <a:spLocks noChangeArrowheads="1"/>
          </p:cNvSpPr>
          <p:nvPr/>
        </p:nvSpPr>
        <p:spPr bwMode="auto">
          <a:xfrm>
            <a:off x="2349500" y="1422238"/>
            <a:ext cx="14049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+$500</a:t>
            </a:r>
          </a:p>
        </p:txBody>
      </p:sp>
      <p:sp>
        <p:nvSpPr>
          <p:cNvPr id="12301" name="Text Box 30"/>
          <p:cNvSpPr txBox="1">
            <a:spLocks noChangeArrowheads="1"/>
          </p:cNvSpPr>
          <p:nvPr/>
        </p:nvSpPr>
        <p:spPr bwMode="auto">
          <a:xfrm>
            <a:off x="584200" y="1300000"/>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a:t>reserve</a:t>
            </a:r>
            <a:br>
              <a:rPr lang="en-US" sz="2000" b="1" dirty="0"/>
            </a:br>
            <a:r>
              <a:rPr lang="en-US" sz="2000" b="1" dirty="0"/>
              <a:t>transaction</a:t>
            </a:r>
          </a:p>
        </p:txBody>
      </p:sp>
      <p:sp>
        <p:nvSpPr>
          <p:cNvPr id="50" name="AutoShape 25"/>
          <p:cNvSpPr>
            <a:spLocks noChangeArrowheads="1"/>
          </p:cNvSpPr>
          <p:nvPr/>
        </p:nvSpPr>
        <p:spPr bwMode="auto">
          <a:xfrm>
            <a:off x="5264400" y="3248051"/>
            <a:ext cx="1798638" cy="981075"/>
          </a:xfrm>
          <a:prstGeom prst="rightArrow">
            <a:avLst>
              <a:gd name="adj1" fmla="val 50000"/>
              <a:gd name="adj2" fmla="val 45833"/>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51" name="Text Box 26"/>
          <p:cNvSpPr txBox="1">
            <a:spLocks noChangeArrowheads="1"/>
          </p:cNvSpPr>
          <p:nvPr/>
        </p:nvSpPr>
        <p:spPr bwMode="auto">
          <a:xfrm>
            <a:off x="6038850" y="3554439"/>
            <a:ext cx="1404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smtClean="0">
                <a:solidFill>
                  <a:srgbClr val="FF0000"/>
                </a:solidFill>
              </a:rPr>
              <a:t>-$500</a:t>
            </a:r>
            <a:endParaRPr lang="en-US" sz="2400" b="1" dirty="0">
              <a:solidFill>
                <a:srgbClr val="FF0000"/>
              </a:solidFill>
            </a:endParaRPr>
          </a:p>
        </p:txBody>
      </p:sp>
      <p:sp>
        <p:nvSpPr>
          <p:cNvPr id="52" name="Text Box 27"/>
          <p:cNvSpPr txBox="1">
            <a:spLocks noChangeArrowheads="1"/>
          </p:cNvSpPr>
          <p:nvPr/>
        </p:nvSpPr>
        <p:spPr bwMode="auto">
          <a:xfrm>
            <a:off x="7087600" y="3402039"/>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solidFill>
                  <a:srgbClr val="FF0000"/>
                </a:solidFill>
              </a:rPr>
              <a:t>payment</a:t>
            </a:r>
            <a:br>
              <a:rPr lang="en-US" sz="2000" b="1" dirty="0">
                <a:solidFill>
                  <a:srgbClr val="FF0000"/>
                </a:solidFill>
              </a:rPr>
            </a:br>
            <a:r>
              <a:rPr lang="en-US" sz="2000" b="1" dirty="0">
                <a:solidFill>
                  <a:srgbClr val="FF0000"/>
                </a:solidFill>
              </a:rPr>
              <a:t>transaction</a:t>
            </a:r>
          </a:p>
        </p:txBody>
      </p:sp>
      <p:sp>
        <p:nvSpPr>
          <p:cNvPr id="53" name="AutoShape 28"/>
          <p:cNvSpPr>
            <a:spLocks noChangeArrowheads="1"/>
          </p:cNvSpPr>
          <p:nvPr/>
        </p:nvSpPr>
        <p:spPr bwMode="auto">
          <a:xfrm>
            <a:off x="2327525" y="2865464"/>
            <a:ext cx="1798638" cy="981075"/>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54" name="Text Box 30"/>
          <p:cNvSpPr txBox="1">
            <a:spLocks noChangeArrowheads="1"/>
          </p:cNvSpPr>
          <p:nvPr/>
        </p:nvSpPr>
        <p:spPr bwMode="auto">
          <a:xfrm>
            <a:off x="590800" y="3051201"/>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a:t>reserve</a:t>
            </a:r>
            <a:br>
              <a:rPr lang="en-US" sz="2000" b="1" dirty="0"/>
            </a:br>
            <a:r>
              <a:rPr lang="en-US" sz="2000" b="1" dirty="0"/>
              <a:t>transaction</a:t>
            </a:r>
          </a:p>
        </p:txBody>
      </p:sp>
      <p:sp>
        <p:nvSpPr>
          <p:cNvPr id="55" name="Text Box 23"/>
          <p:cNvSpPr txBox="1">
            <a:spLocks noChangeArrowheads="1"/>
          </p:cNvSpPr>
          <p:nvPr/>
        </p:nvSpPr>
        <p:spPr bwMode="auto">
          <a:xfrm>
            <a:off x="2379350" y="3180332"/>
            <a:ext cx="14049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smtClean="0"/>
              <a:t>+</a:t>
            </a:r>
            <a:r>
              <a:rPr lang="en-US" sz="2400" b="1" dirty="0">
                <a:cs typeface="Arial" charset="0"/>
              </a:rPr>
              <a:t>$</a:t>
            </a:r>
            <a:r>
              <a:rPr lang="en-US" sz="2400" b="1" dirty="0" smtClean="0"/>
              <a:t>500</a:t>
            </a:r>
            <a:endParaRPr lang="en-US" sz="2400" b="1" dirty="0"/>
          </a:p>
        </p:txBody>
      </p:sp>
    </p:spTree>
    <p:extLst>
      <p:ext uri="{BB962C8B-B14F-4D97-AF65-F5344CB8AC3E}">
        <p14:creationId xmlns:p14="http://schemas.microsoft.com/office/powerpoint/2010/main" val="390583582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grpSp>
        <p:nvGrpSpPr>
          <p:cNvPr id="32" name="Group 4"/>
          <p:cNvGrpSpPr>
            <a:grpSpLocks/>
          </p:cNvGrpSpPr>
          <p:nvPr/>
        </p:nvGrpSpPr>
        <p:grpSpPr bwMode="auto">
          <a:xfrm>
            <a:off x="4237595" y="4025985"/>
            <a:ext cx="1201737" cy="1503363"/>
            <a:chOff x="4174" y="933"/>
            <a:chExt cx="921" cy="1151"/>
          </a:xfrm>
        </p:grpSpPr>
        <p:sp>
          <p:nvSpPr>
            <p:cNvPr id="33"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4"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5"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7"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0"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1"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3"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4"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290" name="Rectangle 2"/>
          <p:cNvSpPr>
            <a:spLocks noGrp="1" noChangeArrowheads="1"/>
          </p:cNvSpPr>
          <p:nvPr>
            <p:ph type="title"/>
          </p:nvPr>
        </p:nvSpPr>
        <p:spPr/>
        <p:txBody>
          <a:bodyPr/>
          <a:lstStyle/>
          <a:p>
            <a:pPr eaLnBrk="1" hangingPunct="1"/>
            <a:r>
              <a:rPr lang="en-US" dirty="0" smtClean="0"/>
              <a:t>Multicurrency: background</a:t>
            </a:r>
          </a:p>
        </p:txBody>
      </p:sp>
      <p:sp>
        <p:nvSpPr>
          <p:cNvPr id="12291" name="Rectangle 3"/>
          <p:cNvSpPr>
            <a:spLocks noGrp="1" noChangeArrowheads="1"/>
          </p:cNvSpPr>
          <p:nvPr>
            <p:ph idx="1"/>
          </p:nvPr>
        </p:nvSpPr>
        <p:spPr>
          <a:xfrm>
            <a:off x="494583" y="695184"/>
            <a:ext cx="8318500" cy="1501775"/>
          </a:xfrm>
        </p:spPr>
        <p:txBody>
          <a:bodyPr/>
          <a:lstStyle/>
          <a:p>
            <a:pPr>
              <a:buFont typeface="Arial" charset="0"/>
              <a:buChar char="•"/>
            </a:pPr>
            <a:r>
              <a:rPr lang="en-US" sz="2000" dirty="0" smtClean="0"/>
              <a:t>Transactions may occur in one or more currencies other than the base currency</a:t>
            </a:r>
          </a:p>
          <a:p>
            <a:pPr>
              <a:buFont typeface="Arial" charset="0"/>
              <a:buChar char="•"/>
            </a:pPr>
            <a:r>
              <a:rPr lang="en-US" sz="2000" dirty="0" smtClean="0"/>
              <a:t>Base application supports multicurrency in the following available currencies:</a:t>
            </a:r>
          </a:p>
          <a:p>
            <a:pPr lvl="1">
              <a:buFont typeface="Wingdings" pitchFamily="2" charset="2"/>
              <a:buChar char="§"/>
            </a:pPr>
            <a:r>
              <a:rPr lang="en-US" sz="1800" dirty="0"/>
              <a:t>AUD – Australian dollar</a:t>
            </a:r>
          </a:p>
          <a:p>
            <a:pPr lvl="1">
              <a:buFont typeface="Wingdings" pitchFamily="2" charset="2"/>
              <a:buChar char="§"/>
            </a:pPr>
            <a:r>
              <a:rPr lang="en-US" sz="1800" dirty="0"/>
              <a:t>CAD – Canadian dollar</a:t>
            </a:r>
          </a:p>
          <a:p>
            <a:pPr lvl="1">
              <a:buFont typeface="Wingdings" pitchFamily="2" charset="2"/>
              <a:buChar char="§"/>
            </a:pPr>
            <a:r>
              <a:rPr lang="en-US" sz="1800" dirty="0"/>
              <a:t>EUR – European Union euro</a:t>
            </a:r>
          </a:p>
          <a:p>
            <a:pPr lvl="1">
              <a:buFont typeface="Wingdings" pitchFamily="2" charset="2"/>
              <a:buChar char="§"/>
            </a:pPr>
            <a:r>
              <a:rPr lang="en-US" sz="1800" dirty="0"/>
              <a:t>GBP – British pound</a:t>
            </a:r>
          </a:p>
          <a:p>
            <a:pPr lvl="1">
              <a:buFont typeface="Wingdings" pitchFamily="2" charset="2"/>
              <a:buChar char="§"/>
            </a:pPr>
            <a:r>
              <a:rPr lang="en-US" sz="1800" dirty="0"/>
              <a:t>JPY – Japanese yen</a:t>
            </a:r>
          </a:p>
          <a:p>
            <a:pPr lvl="1">
              <a:buFont typeface="Wingdings" pitchFamily="2" charset="2"/>
              <a:buChar char="§"/>
            </a:pPr>
            <a:r>
              <a:rPr lang="en-US" sz="1800" dirty="0"/>
              <a:t>RUB – Russian ruble</a:t>
            </a:r>
          </a:p>
          <a:p>
            <a:pPr lvl="1">
              <a:buFont typeface="Wingdings" pitchFamily="2" charset="2"/>
              <a:buChar char="§"/>
            </a:pPr>
            <a:r>
              <a:rPr lang="en-US" sz="1800" dirty="0"/>
              <a:t>USD – U.S. dollar</a:t>
            </a:r>
          </a:p>
          <a:p>
            <a:pPr lvl="1">
              <a:buFont typeface="Arial" charset="0"/>
              <a:buChar char="•"/>
            </a:pPr>
            <a:endParaRPr lang="en-US" sz="2000" dirty="0" smtClean="0"/>
          </a:p>
        </p:txBody>
      </p:sp>
      <p:sp>
        <p:nvSpPr>
          <p:cNvPr id="50" name="AutoShape 25"/>
          <p:cNvSpPr>
            <a:spLocks noChangeArrowheads="1"/>
          </p:cNvSpPr>
          <p:nvPr/>
        </p:nvSpPr>
        <p:spPr bwMode="auto">
          <a:xfrm>
            <a:off x="5490132" y="4803860"/>
            <a:ext cx="1798638" cy="981075"/>
          </a:xfrm>
          <a:prstGeom prst="rightArrow">
            <a:avLst>
              <a:gd name="adj1" fmla="val 50000"/>
              <a:gd name="adj2" fmla="val 45833"/>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51" name="Text Box 26"/>
          <p:cNvSpPr txBox="1">
            <a:spLocks noChangeArrowheads="1"/>
          </p:cNvSpPr>
          <p:nvPr/>
        </p:nvSpPr>
        <p:spPr bwMode="auto">
          <a:xfrm>
            <a:off x="6264582" y="5110248"/>
            <a:ext cx="1404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smtClean="0">
                <a:solidFill>
                  <a:srgbClr val="FF0000"/>
                </a:solidFill>
              </a:rPr>
              <a:t>-€47</a:t>
            </a:r>
            <a:endParaRPr lang="en-US" sz="2400" b="1" dirty="0">
              <a:solidFill>
                <a:srgbClr val="FF0000"/>
              </a:solidFill>
            </a:endParaRPr>
          </a:p>
        </p:txBody>
      </p:sp>
      <p:sp>
        <p:nvSpPr>
          <p:cNvPr id="52" name="Text Box 27"/>
          <p:cNvSpPr txBox="1">
            <a:spLocks noChangeArrowheads="1"/>
          </p:cNvSpPr>
          <p:nvPr/>
        </p:nvSpPr>
        <p:spPr bwMode="auto">
          <a:xfrm>
            <a:off x="7313332" y="4957848"/>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solidFill>
                  <a:srgbClr val="FF0000"/>
                </a:solidFill>
              </a:rPr>
              <a:t>payment</a:t>
            </a:r>
            <a:br>
              <a:rPr lang="en-US" sz="2000" b="1" dirty="0">
                <a:solidFill>
                  <a:srgbClr val="FF0000"/>
                </a:solidFill>
              </a:rPr>
            </a:br>
            <a:r>
              <a:rPr lang="en-US" sz="2000" b="1" dirty="0">
                <a:solidFill>
                  <a:srgbClr val="FF0000"/>
                </a:solidFill>
              </a:rPr>
              <a:t>transaction</a:t>
            </a:r>
          </a:p>
        </p:txBody>
      </p:sp>
      <p:sp>
        <p:nvSpPr>
          <p:cNvPr id="53" name="AutoShape 28"/>
          <p:cNvSpPr>
            <a:spLocks noChangeArrowheads="1"/>
          </p:cNvSpPr>
          <p:nvPr/>
        </p:nvSpPr>
        <p:spPr bwMode="auto">
          <a:xfrm>
            <a:off x="2553257" y="4421273"/>
            <a:ext cx="1798638" cy="981075"/>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54" name="Text Box 30"/>
          <p:cNvSpPr txBox="1">
            <a:spLocks noChangeArrowheads="1"/>
          </p:cNvSpPr>
          <p:nvPr/>
        </p:nvSpPr>
        <p:spPr bwMode="auto">
          <a:xfrm>
            <a:off x="816532" y="4607010"/>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a:t>reserve</a:t>
            </a:r>
            <a:br>
              <a:rPr lang="en-US" sz="2000" b="1" dirty="0"/>
            </a:br>
            <a:r>
              <a:rPr lang="en-US" sz="2000" b="1" dirty="0"/>
              <a:t>transaction</a:t>
            </a:r>
          </a:p>
        </p:txBody>
      </p:sp>
      <p:sp>
        <p:nvSpPr>
          <p:cNvPr id="55" name="Text Box 23"/>
          <p:cNvSpPr txBox="1">
            <a:spLocks noChangeArrowheads="1"/>
          </p:cNvSpPr>
          <p:nvPr/>
        </p:nvSpPr>
        <p:spPr bwMode="auto">
          <a:xfrm>
            <a:off x="2605082" y="4736141"/>
            <a:ext cx="14049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smtClean="0"/>
              <a:t>+</a:t>
            </a:r>
            <a:r>
              <a:rPr lang="en-US" sz="2400" b="1" dirty="0" smtClean="0">
                <a:cs typeface="Arial" charset="0"/>
              </a:rPr>
              <a:t>€</a:t>
            </a:r>
            <a:r>
              <a:rPr lang="en-US" sz="2400" b="1" dirty="0" smtClean="0"/>
              <a:t>50,0</a:t>
            </a:r>
            <a:endParaRPr lang="en-US" sz="2400" b="1" dirty="0"/>
          </a:p>
        </p:txBody>
      </p:sp>
      <p:pic>
        <p:nvPicPr>
          <p:cNvPr id="1026" name="Picture 2" descr="http://www.clker.com/cliparts/e/c/7/9/11949890211029228051eu_flag_hash_0x8a0ab9c__01.svg.hi.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9928" y="5085394"/>
            <a:ext cx="599951" cy="406967"/>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http://www.clker.com/cliparts/e/c/7/9/11949890211029228051eu_flag_hash_0x8a0ab9c__01.svg.hi.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2414" y="5447452"/>
            <a:ext cx="599951" cy="406967"/>
          </a:xfrm>
          <a:prstGeom prst="rect">
            <a:avLst/>
          </a:prstGeom>
          <a:noFill/>
          <a:extLst>
            <a:ext uri="{909E8E84-426E-40DD-AFC4-6F175D3DCCD1}">
              <a14:hiddenFill xmlns:a14="http://schemas.microsoft.com/office/drawing/2010/main">
                <a:solidFill>
                  <a:srgbClr val="FFFFFF"/>
                </a:solidFill>
              </a14:hiddenFill>
            </a:ext>
          </a:extLst>
        </p:spPr>
      </p:pic>
      <p:sp>
        <p:nvSpPr>
          <p:cNvPr id="58" name="Text Box 30"/>
          <p:cNvSpPr txBox="1">
            <a:spLocks noChangeArrowheads="1"/>
          </p:cNvSpPr>
          <p:nvPr/>
        </p:nvSpPr>
        <p:spPr bwMode="auto">
          <a:xfrm>
            <a:off x="953570" y="5784935"/>
            <a:ext cx="1676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smtClean="0"/>
              <a:t>base:</a:t>
            </a:r>
            <a:endParaRPr lang="en-US" sz="2000" b="1" dirty="0"/>
          </a:p>
        </p:txBody>
      </p:sp>
      <p:pic>
        <p:nvPicPr>
          <p:cNvPr id="56" name="Picture 4" descr="http://www.crwflags.com/fotw/images/g/gb.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1947" y="5818794"/>
            <a:ext cx="660241" cy="330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17881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4338" name="Line 2"/>
          <p:cNvSpPr>
            <a:spLocks noChangeShapeType="1"/>
          </p:cNvSpPr>
          <p:nvPr/>
        </p:nvSpPr>
        <p:spPr bwMode="auto">
          <a:xfrm>
            <a:off x="2371725" y="1619250"/>
            <a:ext cx="0" cy="212407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39" name="Line 3"/>
          <p:cNvSpPr>
            <a:spLocks noChangeShapeType="1"/>
          </p:cNvSpPr>
          <p:nvPr/>
        </p:nvSpPr>
        <p:spPr bwMode="auto">
          <a:xfrm>
            <a:off x="2371725" y="3743325"/>
            <a:ext cx="1138238"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0" name="Line 4"/>
          <p:cNvSpPr>
            <a:spLocks noChangeShapeType="1"/>
          </p:cNvSpPr>
          <p:nvPr/>
        </p:nvSpPr>
        <p:spPr bwMode="auto">
          <a:xfrm flipH="1">
            <a:off x="2360613" y="2668588"/>
            <a:ext cx="13335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1" name="Rectangle 5"/>
          <p:cNvSpPr>
            <a:spLocks noGrp="1" noChangeArrowheads="1"/>
          </p:cNvSpPr>
          <p:nvPr>
            <p:ph type="title"/>
          </p:nvPr>
        </p:nvSpPr>
        <p:spPr/>
        <p:txBody>
          <a:bodyPr/>
          <a:lstStyle/>
          <a:p>
            <a:pPr eaLnBrk="1" hangingPunct="1"/>
            <a:r>
              <a:rPr lang="en-US" dirty="0" smtClean="0"/>
              <a:t>Example: Multicurrency transactions</a:t>
            </a:r>
          </a:p>
        </p:txBody>
      </p:sp>
      <p:sp>
        <p:nvSpPr>
          <p:cNvPr id="14342" name="Rectangle 6"/>
          <p:cNvSpPr>
            <a:spLocks noGrp="1" noChangeArrowheads="1"/>
          </p:cNvSpPr>
          <p:nvPr>
            <p:ph idx="1"/>
          </p:nvPr>
        </p:nvSpPr>
        <p:spPr>
          <a:xfrm>
            <a:off x="371475" y="4348163"/>
            <a:ext cx="8624888" cy="1997075"/>
          </a:xfrm>
        </p:spPr>
        <p:txBody>
          <a:bodyPr/>
          <a:lstStyle/>
          <a:p>
            <a:pPr>
              <a:buFont typeface="Arial" charset="0"/>
              <a:buChar char="•"/>
            </a:pPr>
            <a:r>
              <a:rPr lang="en-US" smtClean="0"/>
              <a:t>ClaimCenter financial transactions can be in more than one currency</a:t>
            </a:r>
          </a:p>
          <a:p>
            <a:pPr lvl="1"/>
            <a:r>
              <a:rPr lang="en-US" smtClean="0"/>
              <a:t>There is one “base” and any number of “transaction” currencies</a:t>
            </a:r>
          </a:p>
          <a:p>
            <a:pPr lvl="1"/>
            <a:r>
              <a:rPr lang="en-US" smtClean="0"/>
              <a:t>Using the transaction exchange rate, non-base transactions are displayed in both the transaction and base currencies </a:t>
            </a:r>
          </a:p>
        </p:txBody>
      </p:sp>
      <p:grpSp>
        <p:nvGrpSpPr>
          <p:cNvPr id="14343" name="Group 7"/>
          <p:cNvGrpSpPr>
            <a:grpSpLocks/>
          </p:cNvGrpSpPr>
          <p:nvPr/>
        </p:nvGrpSpPr>
        <p:grpSpPr bwMode="auto">
          <a:xfrm>
            <a:off x="3263900" y="2181225"/>
            <a:ext cx="885825" cy="877888"/>
            <a:chOff x="2461" y="1618"/>
            <a:chExt cx="635" cy="629"/>
          </a:xfrm>
        </p:grpSpPr>
        <p:sp>
          <p:nvSpPr>
            <p:cNvPr id="14385" name="AutoShape 8"/>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4386" name="Freeform 9"/>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cap="flat" cmpd="sng">
              <a:solidFill>
                <a:schemeClr val="bg1"/>
              </a:solidFill>
              <a:prstDash val="solid"/>
              <a:round/>
              <a:headEnd/>
              <a:tailEnd/>
            </a:ln>
          </p:spPr>
          <p:txBody>
            <a:bodyPr wrap="none" lIns="0" tIns="0" rIns="0" bIns="0" anchor="ctr">
              <a:spAutoFit/>
            </a:bodyPr>
            <a:lstStyle/>
            <a:p>
              <a:endParaRPr lang="en-US"/>
            </a:p>
          </p:txBody>
        </p:sp>
        <p:grpSp>
          <p:nvGrpSpPr>
            <p:cNvPr id="14387" name="Group 10"/>
            <p:cNvGrpSpPr>
              <a:grpSpLocks/>
            </p:cNvGrpSpPr>
            <p:nvPr/>
          </p:nvGrpSpPr>
          <p:grpSpPr bwMode="auto">
            <a:xfrm>
              <a:off x="2461" y="1618"/>
              <a:ext cx="275" cy="318"/>
              <a:chOff x="2983" y="1384"/>
              <a:chExt cx="275" cy="318"/>
            </a:xfrm>
          </p:grpSpPr>
          <p:sp>
            <p:nvSpPr>
              <p:cNvPr id="14388" name="Freeform 11"/>
              <p:cNvSpPr>
                <a:spLocks/>
              </p:cNvSpPr>
              <p:nvPr/>
            </p:nvSpPr>
            <p:spPr bwMode="auto">
              <a:xfrm>
                <a:off x="2983" y="1384"/>
                <a:ext cx="275" cy="318"/>
              </a:xfrm>
              <a:custGeom>
                <a:avLst/>
                <a:gdLst>
                  <a:gd name="T0" fmla="*/ 0 w 343"/>
                  <a:gd name="T1" fmla="*/ 127 h 396"/>
                  <a:gd name="T2" fmla="*/ 2 w 343"/>
                  <a:gd name="T3" fmla="*/ 153 h 396"/>
                  <a:gd name="T4" fmla="*/ 8 w 343"/>
                  <a:gd name="T5" fmla="*/ 177 h 396"/>
                  <a:gd name="T6" fmla="*/ 18 w 343"/>
                  <a:gd name="T7" fmla="*/ 199 h 396"/>
                  <a:gd name="T8" fmla="*/ 33 w 343"/>
                  <a:gd name="T9" fmla="*/ 218 h 396"/>
                  <a:gd name="T10" fmla="*/ 49 w 343"/>
                  <a:gd name="T11" fmla="*/ 234 h 396"/>
                  <a:gd name="T12" fmla="*/ 67 w 343"/>
                  <a:gd name="T13" fmla="*/ 245 h 396"/>
                  <a:gd name="T14" fmla="*/ 88 w 343"/>
                  <a:gd name="T15" fmla="*/ 253 h 396"/>
                  <a:gd name="T16" fmla="*/ 110 w 343"/>
                  <a:gd name="T17" fmla="*/ 255 h 396"/>
                  <a:gd name="T18" fmla="*/ 132 w 343"/>
                  <a:gd name="T19" fmla="*/ 253 h 396"/>
                  <a:gd name="T20" fmla="*/ 153 w 343"/>
                  <a:gd name="T21" fmla="*/ 245 h 396"/>
                  <a:gd name="T22" fmla="*/ 172 w 343"/>
                  <a:gd name="T23" fmla="*/ 234 h 396"/>
                  <a:gd name="T24" fmla="*/ 188 w 343"/>
                  <a:gd name="T25" fmla="*/ 218 h 396"/>
                  <a:gd name="T26" fmla="*/ 202 w 343"/>
                  <a:gd name="T27" fmla="*/ 199 h 396"/>
                  <a:gd name="T28" fmla="*/ 212 w 343"/>
                  <a:gd name="T29" fmla="*/ 177 h 396"/>
                  <a:gd name="T30" fmla="*/ 219 w 343"/>
                  <a:gd name="T31" fmla="*/ 153 h 396"/>
                  <a:gd name="T32" fmla="*/ 220 w 343"/>
                  <a:gd name="T33" fmla="*/ 127 h 396"/>
                  <a:gd name="T34" fmla="*/ 219 w 343"/>
                  <a:gd name="T35" fmla="*/ 102 h 396"/>
                  <a:gd name="T36" fmla="*/ 212 w 343"/>
                  <a:gd name="T37" fmla="*/ 77 h 396"/>
                  <a:gd name="T38" fmla="*/ 202 w 343"/>
                  <a:gd name="T39" fmla="*/ 56 h 396"/>
                  <a:gd name="T40" fmla="*/ 188 w 343"/>
                  <a:gd name="T41" fmla="*/ 38 h 396"/>
                  <a:gd name="T42" fmla="*/ 172 w 343"/>
                  <a:gd name="T43" fmla="*/ 22 h 396"/>
                  <a:gd name="T44" fmla="*/ 153 w 343"/>
                  <a:gd name="T45" fmla="*/ 10 h 396"/>
                  <a:gd name="T46" fmla="*/ 132 w 343"/>
                  <a:gd name="T47" fmla="*/ 2 h 396"/>
                  <a:gd name="T48" fmla="*/ 110 w 343"/>
                  <a:gd name="T49" fmla="*/ 0 h 396"/>
                  <a:gd name="T50" fmla="*/ 88 w 343"/>
                  <a:gd name="T51" fmla="*/ 2 h 396"/>
                  <a:gd name="T52" fmla="*/ 67 w 343"/>
                  <a:gd name="T53" fmla="*/ 10 h 396"/>
                  <a:gd name="T54" fmla="*/ 49 w 343"/>
                  <a:gd name="T55" fmla="*/ 22 h 396"/>
                  <a:gd name="T56" fmla="*/ 33 w 343"/>
                  <a:gd name="T57" fmla="*/ 38 h 396"/>
                  <a:gd name="T58" fmla="*/ 18 w 343"/>
                  <a:gd name="T59" fmla="*/ 56 h 396"/>
                  <a:gd name="T60" fmla="*/ 8 w 343"/>
                  <a:gd name="T61" fmla="*/ 77 h 396"/>
                  <a:gd name="T62" fmla="*/ 2 w 343"/>
                  <a:gd name="T63" fmla="*/ 102 h 396"/>
                  <a:gd name="T64" fmla="*/ 0 w 343"/>
                  <a:gd name="T65" fmla="*/ 127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9" name="Freeform 12"/>
              <p:cNvSpPr>
                <a:spLocks/>
              </p:cNvSpPr>
              <p:nvPr/>
            </p:nvSpPr>
            <p:spPr bwMode="auto">
              <a:xfrm>
                <a:off x="2999" y="1400"/>
                <a:ext cx="243" cy="286"/>
              </a:xfrm>
              <a:custGeom>
                <a:avLst/>
                <a:gdLst>
                  <a:gd name="T0" fmla="*/ 0 w 303"/>
                  <a:gd name="T1" fmla="*/ 114 h 356"/>
                  <a:gd name="T2" fmla="*/ 2 w 303"/>
                  <a:gd name="T3" fmla="*/ 92 h 356"/>
                  <a:gd name="T4" fmla="*/ 8 w 303"/>
                  <a:gd name="T5" fmla="*/ 71 h 356"/>
                  <a:gd name="T6" fmla="*/ 17 w 303"/>
                  <a:gd name="T7" fmla="*/ 51 h 356"/>
                  <a:gd name="T8" fmla="*/ 29 w 303"/>
                  <a:gd name="T9" fmla="*/ 34 h 356"/>
                  <a:gd name="T10" fmla="*/ 43 w 303"/>
                  <a:gd name="T11" fmla="*/ 20 h 356"/>
                  <a:gd name="T12" fmla="*/ 60 w 303"/>
                  <a:gd name="T13" fmla="*/ 10 h 356"/>
                  <a:gd name="T14" fmla="*/ 78 w 303"/>
                  <a:gd name="T15" fmla="*/ 2 h 356"/>
                  <a:gd name="T16" fmla="*/ 97 w 303"/>
                  <a:gd name="T17" fmla="*/ 0 h 356"/>
                  <a:gd name="T18" fmla="*/ 117 w 303"/>
                  <a:gd name="T19" fmla="*/ 2 h 356"/>
                  <a:gd name="T20" fmla="*/ 136 w 303"/>
                  <a:gd name="T21" fmla="*/ 10 h 356"/>
                  <a:gd name="T22" fmla="*/ 152 w 303"/>
                  <a:gd name="T23" fmla="*/ 20 h 356"/>
                  <a:gd name="T24" fmla="*/ 167 w 303"/>
                  <a:gd name="T25" fmla="*/ 34 h 356"/>
                  <a:gd name="T26" fmla="*/ 177 w 303"/>
                  <a:gd name="T27" fmla="*/ 51 h 356"/>
                  <a:gd name="T28" fmla="*/ 187 w 303"/>
                  <a:gd name="T29" fmla="*/ 71 h 356"/>
                  <a:gd name="T30" fmla="*/ 193 w 303"/>
                  <a:gd name="T31" fmla="*/ 92 h 356"/>
                  <a:gd name="T32" fmla="*/ 195 w 303"/>
                  <a:gd name="T33" fmla="*/ 114 h 356"/>
                  <a:gd name="T34" fmla="*/ 193 w 303"/>
                  <a:gd name="T35" fmla="*/ 138 h 356"/>
                  <a:gd name="T36" fmla="*/ 187 w 303"/>
                  <a:gd name="T37" fmla="*/ 159 h 356"/>
                  <a:gd name="T38" fmla="*/ 177 w 303"/>
                  <a:gd name="T39" fmla="*/ 179 h 356"/>
                  <a:gd name="T40" fmla="*/ 167 w 303"/>
                  <a:gd name="T41" fmla="*/ 196 h 356"/>
                  <a:gd name="T42" fmla="*/ 152 w 303"/>
                  <a:gd name="T43" fmla="*/ 210 h 356"/>
                  <a:gd name="T44" fmla="*/ 136 w 303"/>
                  <a:gd name="T45" fmla="*/ 221 h 356"/>
                  <a:gd name="T46" fmla="*/ 117 w 303"/>
                  <a:gd name="T47" fmla="*/ 228 h 356"/>
                  <a:gd name="T48" fmla="*/ 97 w 303"/>
                  <a:gd name="T49" fmla="*/ 230 h 356"/>
                  <a:gd name="T50" fmla="*/ 78 w 303"/>
                  <a:gd name="T51" fmla="*/ 228 h 356"/>
                  <a:gd name="T52" fmla="*/ 60 w 303"/>
                  <a:gd name="T53" fmla="*/ 221 h 356"/>
                  <a:gd name="T54" fmla="*/ 43 w 303"/>
                  <a:gd name="T55" fmla="*/ 210 h 356"/>
                  <a:gd name="T56" fmla="*/ 29 w 303"/>
                  <a:gd name="T57" fmla="*/ 196 h 356"/>
                  <a:gd name="T58" fmla="*/ 17 w 303"/>
                  <a:gd name="T59" fmla="*/ 179 h 356"/>
                  <a:gd name="T60" fmla="*/ 8 w 303"/>
                  <a:gd name="T61" fmla="*/ 159 h 356"/>
                  <a:gd name="T62" fmla="*/ 2 w 303"/>
                  <a:gd name="T63" fmla="*/ 138 h 356"/>
                  <a:gd name="T64" fmla="*/ 0 w 303"/>
                  <a:gd name="T65" fmla="*/ 11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0" name="Freeform 13"/>
              <p:cNvSpPr>
                <a:spLocks/>
              </p:cNvSpPr>
              <p:nvPr/>
            </p:nvSpPr>
            <p:spPr bwMode="auto">
              <a:xfrm>
                <a:off x="3127" y="1444"/>
                <a:ext cx="77" cy="167"/>
              </a:xfrm>
              <a:custGeom>
                <a:avLst/>
                <a:gdLst>
                  <a:gd name="T0" fmla="*/ 0 w 95"/>
                  <a:gd name="T1" fmla="*/ 12 h 208"/>
                  <a:gd name="T2" fmla="*/ 2 w 95"/>
                  <a:gd name="T3" fmla="*/ 12 h 208"/>
                  <a:gd name="T4" fmla="*/ 5 w 95"/>
                  <a:gd name="T5" fmla="*/ 14 h 208"/>
                  <a:gd name="T6" fmla="*/ 11 w 95"/>
                  <a:gd name="T7" fmla="*/ 15 h 208"/>
                  <a:gd name="T8" fmla="*/ 17 w 95"/>
                  <a:gd name="T9" fmla="*/ 18 h 208"/>
                  <a:gd name="T10" fmla="*/ 24 w 95"/>
                  <a:gd name="T11" fmla="*/ 22 h 208"/>
                  <a:gd name="T12" fmla="*/ 31 w 95"/>
                  <a:gd name="T13" fmla="*/ 27 h 208"/>
                  <a:gd name="T14" fmla="*/ 37 w 95"/>
                  <a:gd name="T15" fmla="*/ 33 h 208"/>
                  <a:gd name="T16" fmla="*/ 43 w 95"/>
                  <a:gd name="T17" fmla="*/ 41 h 208"/>
                  <a:gd name="T18" fmla="*/ 48 w 95"/>
                  <a:gd name="T19" fmla="*/ 59 h 208"/>
                  <a:gd name="T20" fmla="*/ 48 w 95"/>
                  <a:gd name="T21" fmla="*/ 79 h 208"/>
                  <a:gd name="T22" fmla="*/ 42 w 95"/>
                  <a:gd name="T23" fmla="*/ 103 h 208"/>
                  <a:gd name="T24" fmla="*/ 31 w 95"/>
                  <a:gd name="T25" fmla="*/ 128 h 208"/>
                  <a:gd name="T26" fmla="*/ 43 w 95"/>
                  <a:gd name="T27" fmla="*/ 134 h 208"/>
                  <a:gd name="T28" fmla="*/ 55 w 95"/>
                  <a:gd name="T29" fmla="*/ 105 h 208"/>
                  <a:gd name="T30" fmla="*/ 62 w 95"/>
                  <a:gd name="T31" fmla="*/ 79 h 208"/>
                  <a:gd name="T32" fmla="*/ 61 w 95"/>
                  <a:gd name="T33" fmla="*/ 55 h 208"/>
                  <a:gd name="T34" fmla="*/ 54 w 95"/>
                  <a:gd name="T35" fmla="*/ 36 h 208"/>
                  <a:gd name="T36" fmla="*/ 48 w 95"/>
                  <a:gd name="T37" fmla="*/ 26 h 208"/>
                  <a:gd name="T38" fmla="*/ 40 w 95"/>
                  <a:gd name="T39" fmla="*/ 18 h 208"/>
                  <a:gd name="T40" fmla="*/ 32 w 95"/>
                  <a:gd name="T41" fmla="*/ 11 h 208"/>
                  <a:gd name="T42" fmla="*/ 23 w 95"/>
                  <a:gd name="T43" fmla="*/ 6 h 208"/>
                  <a:gd name="T44" fmla="*/ 15 w 95"/>
                  <a:gd name="T45" fmla="*/ 4 h 208"/>
                  <a:gd name="T46" fmla="*/ 9 w 95"/>
                  <a:gd name="T47" fmla="*/ 2 h 208"/>
                  <a:gd name="T48" fmla="*/ 5 w 95"/>
                  <a:gd name="T49" fmla="*/ 0 h 208"/>
                  <a:gd name="T50" fmla="*/ 2 w 95"/>
                  <a:gd name="T51" fmla="*/ 0 h 208"/>
                  <a:gd name="T52" fmla="*/ 0 w 95"/>
                  <a:gd name="T53" fmla="*/ 1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1" name="Freeform 14"/>
              <p:cNvSpPr>
                <a:spLocks/>
              </p:cNvSpPr>
              <p:nvPr/>
            </p:nvSpPr>
            <p:spPr bwMode="auto">
              <a:xfrm>
                <a:off x="3074" y="1506"/>
                <a:ext cx="72" cy="95"/>
              </a:xfrm>
              <a:custGeom>
                <a:avLst/>
                <a:gdLst>
                  <a:gd name="T0" fmla="*/ 0 w 90"/>
                  <a:gd name="T1" fmla="*/ 39 h 118"/>
                  <a:gd name="T2" fmla="*/ 2 w 90"/>
                  <a:gd name="T3" fmla="*/ 46 h 118"/>
                  <a:gd name="T4" fmla="*/ 2 w 90"/>
                  <a:gd name="T5" fmla="*/ 54 h 118"/>
                  <a:gd name="T6" fmla="*/ 5 w 90"/>
                  <a:gd name="T7" fmla="*/ 60 h 118"/>
                  <a:gd name="T8" fmla="*/ 8 w 90"/>
                  <a:gd name="T9" fmla="*/ 65 h 118"/>
                  <a:gd name="T10" fmla="*/ 14 w 90"/>
                  <a:gd name="T11" fmla="*/ 70 h 118"/>
                  <a:gd name="T12" fmla="*/ 18 w 90"/>
                  <a:gd name="T13" fmla="*/ 74 h 118"/>
                  <a:gd name="T14" fmla="*/ 24 w 90"/>
                  <a:gd name="T15" fmla="*/ 76 h 118"/>
                  <a:gd name="T16" fmla="*/ 29 w 90"/>
                  <a:gd name="T17" fmla="*/ 76 h 118"/>
                  <a:gd name="T18" fmla="*/ 34 w 90"/>
                  <a:gd name="T19" fmla="*/ 76 h 118"/>
                  <a:gd name="T20" fmla="*/ 40 w 90"/>
                  <a:gd name="T21" fmla="*/ 74 h 118"/>
                  <a:gd name="T22" fmla="*/ 45 w 90"/>
                  <a:gd name="T23" fmla="*/ 70 h 118"/>
                  <a:gd name="T24" fmla="*/ 50 w 90"/>
                  <a:gd name="T25" fmla="*/ 65 h 118"/>
                  <a:gd name="T26" fmla="*/ 53 w 90"/>
                  <a:gd name="T27" fmla="*/ 60 h 118"/>
                  <a:gd name="T28" fmla="*/ 56 w 90"/>
                  <a:gd name="T29" fmla="*/ 54 h 118"/>
                  <a:gd name="T30" fmla="*/ 57 w 90"/>
                  <a:gd name="T31" fmla="*/ 46 h 118"/>
                  <a:gd name="T32" fmla="*/ 58 w 90"/>
                  <a:gd name="T33" fmla="*/ 39 h 118"/>
                  <a:gd name="T34" fmla="*/ 57 w 90"/>
                  <a:gd name="T35" fmla="*/ 31 h 118"/>
                  <a:gd name="T36" fmla="*/ 56 w 90"/>
                  <a:gd name="T37" fmla="*/ 24 h 118"/>
                  <a:gd name="T38" fmla="*/ 53 w 90"/>
                  <a:gd name="T39" fmla="*/ 17 h 118"/>
                  <a:gd name="T40" fmla="*/ 50 w 90"/>
                  <a:gd name="T41" fmla="*/ 11 h 118"/>
                  <a:gd name="T42" fmla="*/ 45 w 90"/>
                  <a:gd name="T43" fmla="*/ 6 h 118"/>
                  <a:gd name="T44" fmla="*/ 40 w 90"/>
                  <a:gd name="T45" fmla="*/ 3 h 118"/>
                  <a:gd name="T46" fmla="*/ 34 w 90"/>
                  <a:gd name="T47" fmla="*/ 2 h 118"/>
                  <a:gd name="T48" fmla="*/ 29 w 90"/>
                  <a:gd name="T49" fmla="*/ 0 h 118"/>
                  <a:gd name="T50" fmla="*/ 24 w 90"/>
                  <a:gd name="T51" fmla="*/ 2 h 118"/>
                  <a:gd name="T52" fmla="*/ 18 w 90"/>
                  <a:gd name="T53" fmla="*/ 3 h 118"/>
                  <a:gd name="T54" fmla="*/ 14 w 90"/>
                  <a:gd name="T55" fmla="*/ 6 h 118"/>
                  <a:gd name="T56" fmla="*/ 8 w 90"/>
                  <a:gd name="T57" fmla="*/ 11 h 118"/>
                  <a:gd name="T58" fmla="*/ 5 w 90"/>
                  <a:gd name="T59" fmla="*/ 17 h 118"/>
                  <a:gd name="T60" fmla="*/ 2 w 90"/>
                  <a:gd name="T61" fmla="*/ 24 h 118"/>
                  <a:gd name="T62" fmla="*/ 2 w 90"/>
                  <a:gd name="T63" fmla="*/ 31 h 118"/>
                  <a:gd name="T64" fmla="*/ 0 w 90"/>
                  <a:gd name="T65" fmla="*/ 39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2" name="Freeform 15"/>
              <p:cNvSpPr>
                <a:spLocks/>
              </p:cNvSpPr>
              <p:nvPr/>
            </p:nvSpPr>
            <p:spPr bwMode="auto">
              <a:xfrm>
                <a:off x="3082" y="1514"/>
                <a:ext cx="56" cy="79"/>
              </a:xfrm>
              <a:custGeom>
                <a:avLst/>
                <a:gdLst>
                  <a:gd name="T0" fmla="*/ 0 w 70"/>
                  <a:gd name="T1" fmla="*/ 32 h 98"/>
                  <a:gd name="T2" fmla="*/ 2 w 70"/>
                  <a:gd name="T3" fmla="*/ 20 h 98"/>
                  <a:gd name="T4" fmla="*/ 7 w 70"/>
                  <a:gd name="T5" fmla="*/ 10 h 98"/>
                  <a:gd name="T6" fmla="*/ 14 w 70"/>
                  <a:gd name="T7" fmla="*/ 3 h 98"/>
                  <a:gd name="T8" fmla="*/ 22 w 70"/>
                  <a:gd name="T9" fmla="*/ 0 h 98"/>
                  <a:gd name="T10" fmla="*/ 30 w 70"/>
                  <a:gd name="T11" fmla="*/ 3 h 98"/>
                  <a:gd name="T12" fmla="*/ 38 w 70"/>
                  <a:gd name="T13" fmla="*/ 10 h 98"/>
                  <a:gd name="T14" fmla="*/ 43 w 70"/>
                  <a:gd name="T15" fmla="*/ 20 h 98"/>
                  <a:gd name="T16" fmla="*/ 45 w 70"/>
                  <a:gd name="T17" fmla="*/ 32 h 98"/>
                  <a:gd name="T18" fmla="*/ 43 w 70"/>
                  <a:gd name="T19" fmla="*/ 45 h 98"/>
                  <a:gd name="T20" fmla="*/ 38 w 70"/>
                  <a:gd name="T21" fmla="*/ 54 h 98"/>
                  <a:gd name="T22" fmla="*/ 30 w 70"/>
                  <a:gd name="T23" fmla="*/ 60 h 98"/>
                  <a:gd name="T24" fmla="*/ 22 w 70"/>
                  <a:gd name="T25" fmla="*/ 64 h 98"/>
                  <a:gd name="T26" fmla="*/ 14 w 70"/>
                  <a:gd name="T27" fmla="*/ 60 h 98"/>
                  <a:gd name="T28" fmla="*/ 7 w 70"/>
                  <a:gd name="T29" fmla="*/ 54 h 98"/>
                  <a:gd name="T30" fmla="*/ 2 w 70"/>
                  <a:gd name="T31" fmla="*/ 45 h 98"/>
                  <a:gd name="T32" fmla="*/ 0 w 70"/>
                  <a:gd name="T33" fmla="*/ 32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4344" name="Freeform 16"/>
          <p:cNvSpPr>
            <a:spLocks/>
          </p:cNvSpPr>
          <p:nvPr/>
        </p:nvSpPr>
        <p:spPr bwMode="auto">
          <a:xfrm>
            <a:off x="2162175" y="3719513"/>
            <a:ext cx="127000" cy="160337"/>
          </a:xfrm>
          <a:custGeom>
            <a:avLst/>
            <a:gdLst>
              <a:gd name="T0" fmla="*/ 12601573 w 80"/>
              <a:gd name="T1" fmla="*/ 0 h 101"/>
              <a:gd name="T2" fmla="*/ 30241876 w 80"/>
              <a:gd name="T3" fmla="*/ 2519355 h 101"/>
              <a:gd name="T4" fmla="*/ 42843446 w 80"/>
              <a:gd name="T5" fmla="*/ 7559652 h 101"/>
              <a:gd name="T6" fmla="*/ 60483752 w 80"/>
              <a:gd name="T7" fmla="*/ 12599948 h 101"/>
              <a:gd name="T8" fmla="*/ 78124045 w 80"/>
              <a:gd name="T9" fmla="*/ 22680541 h 101"/>
              <a:gd name="T10" fmla="*/ 90725615 w 80"/>
              <a:gd name="T11" fmla="*/ 32761138 h 101"/>
              <a:gd name="T12" fmla="*/ 105846572 w 80"/>
              <a:gd name="T13" fmla="*/ 42841728 h 101"/>
              <a:gd name="T14" fmla="*/ 120967503 w 80"/>
              <a:gd name="T15" fmla="*/ 57962627 h 101"/>
              <a:gd name="T16" fmla="*/ 136088435 w 80"/>
              <a:gd name="T17" fmla="*/ 70564158 h 101"/>
              <a:gd name="T18" fmla="*/ 146169056 w 80"/>
              <a:gd name="T19" fmla="*/ 85685044 h 101"/>
              <a:gd name="T20" fmla="*/ 158769039 w 80"/>
              <a:gd name="T21" fmla="*/ 98284989 h 101"/>
              <a:gd name="T22" fmla="*/ 168851248 w 80"/>
              <a:gd name="T23" fmla="*/ 115926841 h 101"/>
              <a:gd name="T24" fmla="*/ 178931869 w 80"/>
              <a:gd name="T25" fmla="*/ 133567080 h 101"/>
              <a:gd name="T26" fmla="*/ 186491541 w 80"/>
              <a:gd name="T27" fmla="*/ 148687966 h 101"/>
              <a:gd name="T28" fmla="*/ 194052801 w 80"/>
              <a:gd name="T29" fmla="*/ 166329793 h 101"/>
              <a:gd name="T30" fmla="*/ 196572162 w 80"/>
              <a:gd name="T31" fmla="*/ 173889442 h 101"/>
              <a:gd name="T32" fmla="*/ 196572162 w 80"/>
              <a:gd name="T33" fmla="*/ 183970033 h 101"/>
              <a:gd name="T34" fmla="*/ 196572162 w 80"/>
              <a:gd name="T35" fmla="*/ 194050623 h 101"/>
              <a:gd name="T36" fmla="*/ 201612473 w 80"/>
              <a:gd name="T37" fmla="*/ 204131214 h 101"/>
              <a:gd name="T38" fmla="*/ 191531852 w 80"/>
              <a:gd name="T39" fmla="*/ 214211854 h 101"/>
              <a:gd name="T40" fmla="*/ 178931869 w 80"/>
              <a:gd name="T41" fmla="*/ 224292445 h 101"/>
              <a:gd name="T42" fmla="*/ 166330299 w 80"/>
              <a:gd name="T43" fmla="*/ 239413330 h 101"/>
              <a:gd name="T44" fmla="*/ 156249678 w 80"/>
              <a:gd name="T45" fmla="*/ 254534216 h 101"/>
              <a:gd name="T46" fmla="*/ 146169056 w 80"/>
              <a:gd name="T47" fmla="*/ 239413330 h 101"/>
              <a:gd name="T48" fmla="*/ 138607797 w 80"/>
              <a:gd name="T49" fmla="*/ 224292445 h 101"/>
              <a:gd name="T50" fmla="*/ 128527176 w 80"/>
              <a:gd name="T51" fmla="*/ 214211854 h 101"/>
              <a:gd name="T52" fmla="*/ 120967503 w 80"/>
              <a:gd name="T53" fmla="*/ 201611860 h 101"/>
              <a:gd name="T54" fmla="*/ 115927193 w 80"/>
              <a:gd name="T55" fmla="*/ 183970033 h 101"/>
              <a:gd name="T56" fmla="*/ 105846572 w 80"/>
              <a:gd name="T57" fmla="*/ 171370088 h 101"/>
              <a:gd name="T58" fmla="*/ 98286875 w 80"/>
              <a:gd name="T59" fmla="*/ 156249203 h 101"/>
              <a:gd name="T60" fmla="*/ 90725615 w 80"/>
              <a:gd name="T61" fmla="*/ 146168612 h 101"/>
              <a:gd name="T62" fmla="*/ 80644994 w 80"/>
              <a:gd name="T63" fmla="*/ 128526785 h 101"/>
              <a:gd name="T64" fmla="*/ 75604683 w 80"/>
              <a:gd name="T65" fmla="*/ 118446194 h 101"/>
              <a:gd name="T66" fmla="*/ 60483752 w 80"/>
              <a:gd name="T67" fmla="*/ 108365604 h 101"/>
              <a:gd name="T68" fmla="*/ 50403118 w 80"/>
              <a:gd name="T69" fmla="*/ 98284989 h 101"/>
              <a:gd name="T70" fmla="*/ 37801548 w 80"/>
              <a:gd name="T71" fmla="*/ 85685044 h 101"/>
              <a:gd name="T72" fmla="*/ 27720927 w 80"/>
              <a:gd name="T73" fmla="*/ 78123808 h 101"/>
              <a:gd name="T74" fmla="*/ 12601573 w 80"/>
              <a:gd name="T75" fmla="*/ 70564158 h 101"/>
              <a:gd name="T76" fmla="*/ 0 w 80"/>
              <a:gd name="T77" fmla="*/ 65523863 h 101"/>
              <a:gd name="T78" fmla="*/ 0 w 80"/>
              <a:gd name="T79" fmla="*/ 55443273 h 101"/>
              <a:gd name="T80" fmla="*/ 0 w 80"/>
              <a:gd name="T81" fmla="*/ 42841728 h 101"/>
              <a:gd name="T82" fmla="*/ 2520950 w 80"/>
              <a:gd name="T83" fmla="*/ 32761138 h 101"/>
              <a:gd name="T84" fmla="*/ 7559675 w 80"/>
              <a:gd name="T85" fmla="*/ 22680541 h 101"/>
              <a:gd name="T86" fmla="*/ 7559675 w 80"/>
              <a:gd name="T87" fmla="*/ 12599948 h 101"/>
              <a:gd name="T88" fmla="*/ 10080624 w 80"/>
              <a:gd name="T89" fmla="*/ 7559652 h 101"/>
              <a:gd name="T90" fmla="*/ 12601573 w 80"/>
              <a:gd name="T91" fmla="*/ 0 h 101"/>
              <a:gd name="T92" fmla="*/ 12601573 w 80"/>
              <a:gd name="T93" fmla="*/ 0 h 101"/>
              <a:gd name="T94" fmla="*/ 12601573 w 80"/>
              <a:gd name="T95" fmla="*/ 0 h 10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0"/>
              <a:gd name="T145" fmla="*/ 0 h 101"/>
              <a:gd name="T146" fmla="*/ 80 w 80"/>
              <a:gd name="T147" fmla="*/ 101 h 10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0" h="101">
                <a:moveTo>
                  <a:pt x="5" y="0"/>
                </a:moveTo>
                <a:lnTo>
                  <a:pt x="12" y="1"/>
                </a:lnTo>
                <a:lnTo>
                  <a:pt x="17" y="3"/>
                </a:lnTo>
                <a:lnTo>
                  <a:pt x="24" y="5"/>
                </a:lnTo>
                <a:lnTo>
                  <a:pt x="31" y="9"/>
                </a:lnTo>
                <a:lnTo>
                  <a:pt x="36" y="13"/>
                </a:lnTo>
                <a:lnTo>
                  <a:pt x="42" y="17"/>
                </a:lnTo>
                <a:lnTo>
                  <a:pt x="48" y="23"/>
                </a:lnTo>
                <a:lnTo>
                  <a:pt x="54" y="28"/>
                </a:lnTo>
                <a:lnTo>
                  <a:pt x="58" y="34"/>
                </a:lnTo>
                <a:lnTo>
                  <a:pt x="63" y="39"/>
                </a:lnTo>
                <a:lnTo>
                  <a:pt x="67" y="46"/>
                </a:lnTo>
                <a:lnTo>
                  <a:pt x="71" y="53"/>
                </a:lnTo>
                <a:lnTo>
                  <a:pt x="74" y="59"/>
                </a:lnTo>
                <a:lnTo>
                  <a:pt x="77" y="66"/>
                </a:lnTo>
                <a:lnTo>
                  <a:pt x="78" y="69"/>
                </a:lnTo>
                <a:lnTo>
                  <a:pt x="78" y="73"/>
                </a:lnTo>
                <a:lnTo>
                  <a:pt x="78" y="77"/>
                </a:lnTo>
                <a:lnTo>
                  <a:pt x="80" y="81"/>
                </a:lnTo>
                <a:lnTo>
                  <a:pt x="76" y="85"/>
                </a:lnTo>
                <a:lnTo>
                  <a:pt x="71" y="89"/>
                </a:lnTo>
                <a:lnTo>
                  <a:pt x="66" y="95"/>
                </a:lnTo>
                <a:lnTo>
                  <a:pt x="62" y="101"/>
                </a:lnTo>
                <a:lnTo>
                  <a:pt x="58" y="95"/>
                </a:lnTo>
                <a:lnTo>
                  <a:pt x="55" y="89"/>
                </a:lnTo>
                <a:lnTo>
                  <a:pt x="51" y="85"/>
                </a:lnTo>
                <a:lnTo>
                  <a:pt x="48" y="80"/>
                </a:lnTo>
                <a:lnTo>
                  <a:pt x="46" y="73"/>
                </a:lnTo>
                <a:lnTo>
                  <a:pt x="42" y="68"/>
                </a:lnTo>
                <a:lnTo>
                  <a:pt x="39" y="62"/>
                </a:lnTo>
                <a:lnTo>
                  <a:pt x="36" y="58"/>
                </a:lnTo>
                <a:lnTo>
                  <a:pt x="32" y="51"/>
                </a:lnTo>
                <a:lnTo>
                  <a:pt x="30" y="47"/>
                </a:lnTo>
                <a:lnTo>
                  <a:pt x="24" y="43"/>
                </a:lnTo>
                <a:lnTo>
                  <a:pt x="20" y="39"/>
                </a:lnTo>
                <a:lnTo>
                  <a:pt x="15" y="34"/>
                </a:lnTo>
                <a:lnTo>
                  <a:pt x="11" y="31"/>
                </a:lnTo>
                <a:lnTo>
                  <a:pt x="5" y="28"/>
                </a:lnTo>
                <a:lnTo>
                  <a:pt x="0" y="26"/>
                </a:lnTo>
                <a:lnTo>
                  <a:pt x="0" y="22"/>
                </a:lnTo>
                <a:lnTo>
                  <a:pt x="0" y="17"/>
                </a:lnTo>
                <a:lnTo>
                  <a:pt x="1" y="13"/>
                </a:lnTo>
                <a:lnTo>
                  <a:pt x="3" y="9"/>
                </a:lnTo>
                <a:lnTo>
                  <a:pt x="3" y="5"/>
                </a:lnTo>
                <a:lnTo>
                  <a:pt x="4" y="3"/>
                </a:lnTo>
                <a:lnTo>
                  <a:pt x="5" y="0"/>
                </a:lnTo>
                <a:close/>
              </a:path>
            </a:pathLst>
          </a:custGeom>
          <a:solidFill>
            <a:srgbClr val="FFFF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4345" name="Group 17"/>
          <p:cNvGrpSpPr>
            <a:grpSpLocks/>
          </p:cNvGrpSpPr>
          <p:nvPr/>
        </p:nvGrpSpPr>
        <p:grpSpPr bwMode="auto">
          <a:xfrm>
            <a:off x="3294063" y="3294063"/>
            <a:ext cx="954087" cy="960437"/>
            <a:chOff x="2413" y="1759"/>
            <a:chExt cx="656" cy="660"/>
          </a:xfrm>
        </p:grpSpPr>
        <p:sp>
          <p:nvSpPr>
            <p:cNvPr id="14383" name="AutoShape 18"/>
            <p:cNvSpPr>
              <a:spLocks noChangeArrowheads="1"/>
            </p:cNvSpPr>
            <p:nvPr/>
          </p:nvSpPr>
          <p:spPr bwMode="auto">
            <a:xfrm>
              <a:off x="2413" y="1759"/>
              <a:ext cx="560" cy="560"/>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4384" name="Freeform 19"/>
            <p:cNvSpPr>
              <a:spLocks/>
            </p:cNvSpPr>
            <p:nvPr/>
          </p:nvSpPr>
          <p:spPr bwMode="auto">
            <a:xfrm rot="-1815386">
              <a:off x="2565" y="2174"/>
              <a:ext cx="504" cy="245"/>
            </a:xfrm>
            <a:custGeom>
              <a:avLst/>
              <a:gdLst>
                <a:gd name="T0" fmla="*/ 86 w 624"/>
                <a:gd name="T1" fmla="*/ 66 h 303"/>
                <a:gd name="T2" fmla="*/ 32 w 624"/>
                <a:gd name="T3" fmla="*/ 19 h 303"/>
                <a:gd name="T4" fmla="*/ 43 w 624"/>
                <a:gd name="T5" fmla="*/ 6 h 303"/>
                <a:gd name="T6" fmla="*/ 102 w 624"/>
                <a:gd name="T7" fmla="*/ 0 h 303"/>
                <a:gd name="T8" fmla="*/ 149 w 624"/>
                <a:gd name="T9" fmla="*/ 32 h 303"/>
                <a:gd name="T10" fmla="*/ 151 w 624"/>
                <a:gd name="T11" fmla="*/ 49 h 303"/>
                <a:gd name="T12" fmla="*/ 296 w 624"/>
                <a:gd name="T13" fmla="*/ 77 h 303"/>
                <a:gd name="T14" fmla="*/ 334 w 624"/>
                <a:gd name="T15" fmla="*/ 27 h 303"/>
                <a:gd name="T16" fmla="*/ 388 w 624"/>
                <a:gd name="T17" fmla="*/ 22 h 303"/>
                <a:gd name="T18" fmla="*/ 401 w 624"/>
                <a:gd name="T19" fmla="*/ 41 h 303"/>
                <a:gd name="T20" fmla="*/ 348 w 624"/>
                <a:gd name="T21" fmla="*/ 92 h 303"/>
                <a:gd name="T22" fmla="*/ 358 w 624"/>
                <a:gd name="T23" fmla="*/ 129 h 303"/>
                <a:gd name="T24" fmla="*/ 407 w 624"/>
                <a:gd name="T25" fmla="*/ 132 h 303"/>
                <a:gd name="T26" fmla="*/ 395 w 624"/>
                <a:gd name="T27" fmla="*/ 169 h 303"/>
                <a:gd name="T28" fmla="*/ 360 w 624"/>
                <a:gd name="T29" fmla="*/ 198 h 303"/>
                <a:gd name="T30" fmla="*/ 321 w 624"/>
                <a:gd name="T31" fmla="*/ 198 h 303"/>
                <a:gd name="T32" fmla="*/ 300 w 624"/>
                <a:gd name="T33" fmla="*/ 176 h 303"/>
                <a:gd name="T34" fmla="*/ 282 w 624"/>
                <a:gd name="T35" fmla="*/ 132 h 303"/>
                <a:gd name="T36" fmla="*/ 143 w 624"/>
                <a:gd name="T37" fmla="*/ 110 h 303"/>
                <a:gd name="T38" fmla="*/ 116 w 624"/>
                <a:gd name="T39" fmla="*/ 149 h 303"/>
                <a:gd name="T40" fmla="*/ 66 w 624"/>
                <a:gd name="T41" fmla="*/ 157 h 303"/>
                <a:gd name="T42" fmla="*/ 29 w 624"/>
                <a:gd name="T43" fmla="*/ 139 h 303"/>
                <a:gd name="T44" fmla="*/ 0 w 624"/>
                <a:gd name="T45" fmla="*/ 110 h 303"/>
                <a:gd name="T46" fmla="*/ 53 w 624"/>
                <a:gd name="T47" fmla="*/ 114 h 303"/>
                <a:gd name="T48" fmla="*/ 86 w 624"/>
                <a:gd name="T49" fmla="*/ 66 h 3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4"/>
                <a:gd name="T76" fmla="*/ 0 h 303"/>
                <a:gd name="T77" fmla="*/ 624 w 624"/>
                <a:gd name="T78" fmla="*/ 303 h 30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4" h="303">
                  <a:moveTo>
                    <a:pt x="132" y="102"/>
                  </a:moveTo>
                  <a:lnTo>
                    <a:pt x="48" y="30"/>
                  </a:lnTo>
                  <a:lnTo>
                    <a:pt x="66" y="9"/>
                  </a:lnTo>
                  <a:lnTo>
                    <a:pt x="156" y="0"/>
                  </a:lnTo>
                  <a:lnTo>
                    <a:pt x="228" y="48"/>
                  </a:lnTo>
                  <a:lnTo>
                    <a:pt x="231" y="75"/>
                  </a:lnTo>
                  <a:lnTo>
                    <a:pt x="453" y="117"/>
                  </a:lnTo>
                  <a:lnTo>
                    <a:pt x="513" y="42"/>
                  </a:lnTo>
                  <a:lnTo>
                    <a:pt x="594" y="33"/>
                  </a:lnTo>
                  <a:lnTo>
                    <a:pt x="615" y="63"/>
                  </a:lnTo>
                  <a:lnTo>
                    <a:pt x="534" y="141"/>
                  </a:lnTo>
                  <a:lnTo>
                    <a:pt x="549" y="198"/>
                  </a:lnTo>
                  <a:lnTo>
                    <a:pt x="624" y="201"/>
                  </a:lnTo>
                  <a:lnTo>
                    <a:pt x="606" y="258"/>
                  </a:lnTo>
                  <a:lnTo>
                    <a:pt x="552" y="303"/>
                  </a:lnTo>
                  <a:lnTo>
                    <a:pt x="492" y="303"/>
                  </a:lnTo>
                  <a:lnTo>
                    <a:pt x="459" y="270"/>
                  </a:lnTo>
                  <a:lnTo>
                    <a:pt x="432" y="201"/>
                  </a:lnTo>
                  <a:lnTo>
                    <a:pt x="219" y="168"/>
                  </a:lnTo>
                  <a:lnTo>
                    <a:pt x="177" y="228"/>
                  </a:lnTo>
                  <a:lnTo>
                    <a:pt x="102" y="240"/>
                  </a:lnTo>
                  <a:lnTo>
                    <a:pt x="45" y="213"/>
                  </a:lnTo>
                  <a:lnTo>
                    <a:pt x="0" y="168"/>
                  </a:lnTo>
                  <a:lnTo>
                    <a:pt x="81" y="174"/>
                  </a:lnTo>
                  <a:lnTo>
                    <a:pt x="132" y="102"/>
                  </a:lnTo>
                  <a:close/>
                </a:path>
              </a:pathLst>
            </a:custGeom>
            <a:solidFill>
              <a:srgbClr val="FFFF99"/>
            </a:solidFill>
            <a:ln w="28575" cap="flat" cmpd="sng">
              <a:solidFill>
                <a:schemeClr val="bg1"/>
              </a:solidFill>
              <a:prstDash val="solid"/>
              <a:round/>
              <a:headEnd type="none" w="med" len="med"/>
              <a:tailEnd type="none" w="med" len="med"/>
            </a:ln>
          </p:spPr>
          <p:txBody>
            <a:bodyPr lIns="0" tIns="0" rIns="0" bIns="0" anchor="ctr">
              <a:spAutoFit/>
            </a:bodyPr>
            <a:lstStyle/>
            <a:p>
              <a:endParaRPr lang="en-US"/>
            </a:p>
          </p:txBody>
        </p:sp>
      </p:grpSp>
      <p:grpSp>
        <p:nvGrpSpPr>
          <p:cNvPr id="14346" name="Group 20"/>
          <p:cNvGrpSpPr>
            <a:grpSpLocks/>
          </p:cNvGrpSpPr>
          <p:nvPr/>
        </p:nvGrpSpPr>
        <p:grpSpPr bwMode="auto">
          <a:xfrm>
            <a:off x="1554163" y="830263"/>
            <a:ext cx="1658937" cy="1222375"/>
            <a:chOff x="2083" y="1606"/>
            <a:chExt cx="1489" cy="1097"/>
          </a:xfrm>
        </p:grpSpPr>
        <p:sp>
          <p:nvSpPr>
            <p:cNvPr id="14350" name="Rectangle 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351" name="Freeform 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52" name="Freeform 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53" name="Freeform 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54" name="Freeform 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355" name="Rectangle 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356" name="Rectangle 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57" name="AutoShape 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358" name="Freeform 29"/>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59" name="Freeform 30"/>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60" name="Rectangle 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61" name="Rectangle 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62" name="Rectangle 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363" name="Group 34"/>
            <p:cNvGrpSpPr>
              <a:grpSpLocks/>
            </p:cNvGrpSpPr>
            <p:nvPr/>
          </p:nvGrpSpPr>
          <p:grpSpPr bwMode="auto">
            <a:xfrm>
              <a:off x="2221" y="1871"/>
              <a:ext cx="518" cy="782"/>
              <a:chOff x="2400" y="1656"/>
              <a:chExt cx="752" cy="1136"/>
            </a:xfrm>
          </p:grpSpPr>
          <p:sp>
            <p:nvSpPr>
              <p:cNvPr id="14376" name="Freeform 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77" name="Freeform 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78" name="Freeform 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79" name="Freeform 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80" name="Freeform 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381" name="Line 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82" name="Line 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364" name="Group 42"/>
            <p:cNvGrpSpPr>
              <a:grpSpLocks/>
            </p:cNvGrpSpPr>
            <p:nvPr/>
          </p:nvGrpSpPr>
          <p:grpSpPr bwMode="auto">
            <a:xfrm rot="-6511945">
              <a:off x="2834" y="1842"/>
              <a:ext cx="518" cy="783"/>
              <a:chOff x="2400" y="1656"/>
              <a:chExt cx="752" cy="1136"/>
            </a:xfrm>
          </p:grpSpPr>
          <p:sp>
            <p:nvSpPr>
              <p:cNvPr id="14369" name="Freeform 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70" name="Freeform 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71" name="Freeform 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72" name="Freeform 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73" name="Freeform 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74" name="Line 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5" name="Line 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65" name="Freeform 50"/>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66" name="Freeform 51"/>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67" name="Rectangle 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68" name="Rectangle 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7" name="Text Box 54"/>
          <p:cNvSpPr txBox="1">
            <a:spLocks noChangeArrowheads="1"/>
          </p:cNvSpPr>
          <p:nvPr/>
        </p:nvSpPr>
        <p:spPr bwMode="auto">
          <a:xfrm>
            <a:off x="3359150" y="877888"/>
            <a:ext cx="48625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 Insured lives in London, UK </a:t>
            </a:r>
            <a:br>
              <a:rPr lang="en-US" sz="2000" b="1"/>
            </a:br>
            <a:r>
              <a:rPr lang="en-US" sz="2000" b="1"/>
              <a:t>- has accident in Calais, France</a:t>
            </a:r>
            <a:br>
              <a:rPr lang="en-US" sz="2000" b="1"/>
            </a:br>
            <a:r>
              <a:rPr lang="en-US" sz="2000" b="1"/>
              <a:t>- covered by a British carrier (GBP)</a:t>
            </a:r>
          </a:p>
        </p:txBody>
      </p:sp>
      <p:sp>
        <p:nvSpPr>
          <p:cNvPr id="14348" name="Text Box 55"/>
          <p:cNvSpPr txBox="1">
            <a:spLocks noChangeArrowheads="1"/>
          </p:cNvSpPr>
          <p:nvPr/>
        </p:nvSpPr>
        <p:spPr bwMode="auto">
          <a:xfrm>
            <a:off x="4351338" y="3387725"/>
            <a:ext cx="3422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t>Jean-Paul's Garage</a:t>
            </a:r>
            <a:br>
              <a:rPr lang="en-US" sz="2000" b="1" dirty="0"/>
            </a:br>
            <a:r>
              <a:rPr lang="en-US" sz="2000" b="1" dirty="0"/>
              <a:t>bill: </a:t>
            </a:r>
            <a:r>
              <a:rPr lang="en-US" sz="2000" b="1" dirty="0">
                <a:cs typeface="Arial" charset="0"/>
              </a:rPr>
              <a:t>€417 </a:t>
            </a:r>
            <a:r>
              <a:rPr lang="en-US" b="1" dirty="0"/>
              <a:t>(base = £330)</a:t>
            </a:r>
            <a:r>
              <a:rPr lang="en-US" sz="2000" b="1" dirty="0">
                <a:cs typeface="Arial" charset="0"/>
              </a:rPr>
              <a:t> </a:t>
            </a:r>
          </a:p>
        </p:txBody>
      </p:sp>
      <p:sp>
        <p:nvSpPr>
          <p:cNvPr id="14349" name="Text Box 56"/>
          <p:cNvSpPr txBox="1">
            <a:spLocks noChangeArrowheads="1"/>
          </p:cNvSpPr>
          <p:nvPr/>
        </p:nvSpPr>
        <p:spPr bwMode="auto">
          <a:xfrm>
            <a:off x="4351338" y="2295525"/>
            <a:ext cx="3422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t>Dr. Gareth Baker</a:t>
            </a:r>
            <a:br>
              <a:rPr lang="en-US" sz="2000" b="1" dirty="0"/>
            </a:br>
            <a:r>
              <a:rPr lang="en-US" sz="2000" b="1" dirty="0"/>
              <a:t>bill: </a:t>
            </a:r>
            <a:r>
              <a:rPr lang="en-US" sz="2000" b="1" dirty="0">
                <a:cs typeface="Arial" charset="0"/>
              </a:rPr>
              <a:t>£283</a:t>
            </a:r>
            <a:endParaRPr lang="en-US" sz="2000" b="1" dirty="0"/>
          </a:p>
        </p:txBody>
      </p:sp>
    </p:spTree>
    <p:extLst>
      <p:ext uri="{BB962C8B-B14F-4D97-AF65-F5344CB8AC3E}">
        <p14:creationId xmlns:p14="http://schemas.microsoft.com/office/powerpoint/2010/main" val="261989533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3314" name="Rectangle 2"/>
          <p:cNvSpPr>
            <a:spLocks noGrp="1" noChangeArrowheads="1"/>
          </p:cNvSpPr>
          <p:nvPr>
            <p:ph type="title"/>
          </p:nvPr>
        </p:nvSpPr>
        <p:spPr/>
        <p:txBody>
          <a:bodyPr/>
          <a:lstStyle/>
          <a:p>
            <a:pPr eaLnBrk="1" hangingPunct="1"/>
            <a:r>
              <a:rPr lang="en-US" dirty="0" smtClean="0"/>
              <a:t>Recovery transactions</a:t>
            </a:r>
          </a:p>
        </p:txBody>
      </p:sp>
      <p:sp>
        <p:nvSpPr>
          <p:cNvPr id="13315" name="Rectangle 3"/>
          <p:cNvSpPr>
            <a:spLocks noGrp="1" noChangeArrowheads="1"/>
          </p:cNvSpPr>
          <p:nvPr>
            <p:ph idx="1"/>
          </p:nvPr>
        </p:nvSpPr>
        <p:spPr>
          <a:xfrm>
            <a:off x="495300" y="3464665"/>
            <a:ext cx="8318500" cy="2251075"/>
          </a:xfrm>
        </p:spPr>
        <p:txBody>
          <a:bodyPr/>
          <a:lstStyle/>
          <a:p>
            <a:pPr>
              <a:buFont typeface="Arial" charset="0"/>
              <a:buChar char="•"/>
            </a:pPr>
            <a:r>
              <a:rPr lang="en-US" dirty="0" smtClean="0"/>
              <a:t>There are two transaction types specific to recoveries</a:t>
            </a:r>
          </a:p>
          <a:p>
            <a:pPr lvl="1"/>
            <a:r>
              <a:rPr lang="en-US" dirty="0" smtClean="0"/>
              <a:t>A recovery reserve transaction denotes money which the carrier expects to get from subrogation or salvage</a:t>
            </a:r>
          </a:p>
          <a:p>
            <a:pPr lvl="1"/>
            <a:r>
              <a:rPr lang="en-US" dirty="0" smtClean="0"/>
              <a:t>A recovery transaction denotes money which has been collected from subrogation or salvage</a:t>
            </a:r>
          </a:p>
          <a:p>
            <a:r>
              <a:rPr lang="en-US" dirty="0"/>
              <a:t>A single reserve line can include both recovery and non-recovery </a:t>
            </a:r>
            <a:r>
              <a:rPr lang="en-US" dirty="0" smtClean="0"/>
              <a:t>transactions.</a:t>
            </a:r>
            <a:r>
              <a:rPr lang="en-US" dirty="0"/>
              <a:t> </a:t>
            </a:r>
            <a:r>
              <a:rPr lang="en-US" dirty="0" smtClean="0"/>
              <a:t>That </a:t>
            </a:r>
            <a:r>
              <a:rPr lang="en-US" dirty="0"/>
              <a:t>single line can contain multiple balances, each tracked separately.</a:t>
            </a:r>
            <a:endParaRPr lang="en-US" dirty="0" smtClean="0"/>
          </a:p>
        </p:txBody>
      </p:sp>
      <p:grpSp>
        <p:nvGrpSpPr>
          <p:cNvPr id="13316" name="Group 4"/>
          <p:cNvGrpSpPr>
            <a:grpSpLocks/>
          </p:cNvGrpSpPr>
          <p:nvPr/>
        </p:nvGrpSpPr>
        <p:grpSpPr bwMode="auto">
          <a:xfrm>
            <a:off x="3708400" y="1562100"/>
            <a:ext cx="1201738" cy="1503363"/>
            <a:chOff x="4174" y="933"/>
            <a:chExt cx="921" cy="1151"/>
          </a:xfrm>
        </p:grpSpPr>
        <p:sp>
          <p:nvSpPr>
            <p:cNvPr id="13323"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3324"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5"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6"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7"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28"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29"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30"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31"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32"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33"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334"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5"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6"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7"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8"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9"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17" name="AutoShape 22"/>
          <p:cNvSpPr>
            <a:spLocks noChangeArrowheads="1"/>
          </p:cNvSpPr>
          <p:nvPr/>
        </p:nvSpPr>
        <p:spPr bwMode="auto">
          <a:xfrm>
            <a:off x="2028825" y="1508125"/>
            <a:ext cx="1798638" cy="981075"/>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3318" name="Text Box 23"/>
          <p:cNvSpPr txBox="1">
            <a:spLocks noChangeArrowheads="1"/>
          </p:cNvSpPr>
          <p:nvPr/>
        </p:nvSpPr>
        <p:spPr bwMode="auto">
          <a:xfrm>
            <a:off x="2057400" y="1798638"/>
            <a:ext cx="14049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+$3500</a:t>
            </a:r>
          </a:p>
        </p:txBody>
      </p:sp>
      <p:sp>
        <p:nvSpPr>
          <p:cNvPr id="13319" name="Text Box 24"/>
          <p:cNvSpPr txBox="1">
            <a:spLocks noChangeArrowheads="1"/>
          </p:cNvSpPr>
          <p:nvPr/>
        </p:nvSpPr>
        <p:spPr bwMode="auto">
          <a:xfrm>
            <a:off x="1819275" y="803275"/>
            <a:ext cx="1676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recovery</a:t>
            </a:r>
            <a:br>
              <a:rPr lang="en-US" sz="2000" b="1"/>
            </a:br>
            <a:r>
              <a:rPr lang="en-US" sz="2000" b="1"/>
              <a:t>reserve</a:t>
            </a:r>
            <a:br>
              <a:rPr lang="en-US" sz="2000" b="1"/>
            </a:br>
            <a:r>
              <a:rPr lang="en-US" sz="2000" b="1"/>
              <a:t>transaction</a:t>
            </a:r>
          </a:p>
        </p:txBody>
      </p:sp>
      <p:sp>
        <p:nvSpPr>
          <p:cNvPr id="13320" name="AutoShape 25"/>
          <p:cNvSpPr>
            <a:spLocks noChangeArrowheads="1"/>
          </p:cNvSpPr>
          <p:nvPr/>
        </p:nvSpPr>
        <p:spPr bwMode="auto">
          <a:xfrm>
            <a:off x="4960938" y="2182813"/>
            <a:ext cx="1798637" cy="981075"/>
          </a:xfrm>
          <a:prstGeom prst="rightArrow">
            <a:avLst>
              <a:gd name="adj1" fmla="val 50000"/>
              <a:gd name="adj2" fmla="val 45833"/>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3321" name="Text Box 26"/>
          <p:cNvSpPr txBox="1">
            <a:spLocks noChangeArrowheads="1"/>
          </p:cNvSpPr>
          <p:nvPr/>
        </p:nvSpPr>
        <p:spPr bwMode="auto">
          <a:xfrm>
            <a:off x="5640388" y="2489200"/>
            <a:ext cx="140493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-$3500</a:t>
            </a:r>
          </a:p>
        </p:txBody>
      </p:sp>
      <p:sp>
        <p:nvSpPr>
          <p:cNvPr id="13322" name="Text Box 27"/>
          <p:cNvSpPr txBox="1">
            <a:spLocks noChangeArrowheads="1"/>
          </p:cNvSpPr>
          <p:nvPr/>
        </p:nvSpPr>
        <p:spPr bwMode="auto">
          <a:xfrm>
            <a:off x="4868863" y="2895600"/>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recovery</a:t>
            </a:r>
            <a:br>
              <a:rPr lang="en-US" sz="2000" b="1">
                <a:solidFill>
                  <a:srgbClr val="FF0000"/>
                </a:solidFill>
              </a:rPr>
            </a:br>
            <a:r>
              <a:rPr lang="en-US" sz="2000" b="1">
                <a:solidFill>
                  <a:srgbClr val="FF0000"/>
                </a:solidFill>
              </a:rPr>
              <a:t>transaction</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pic>
        <p:nvPicPr>
          <p:cNvPr id="67" name="Picture 23" descr="CC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5124" y="1170707"/>
            <a:ext cx="1077455" cy="107745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5363" name="Rectangle 3"/>
          <p:cNvSpPr>
            <a:spLocks noGrp="1" noChangeArrowheads="1"/>
          </p:cNvSpPr>
          <p:nvPr>
            <p:ph type="title"/>
          </p:nvPr>
        </p:nvSpPr>
        <p:spPr/>
        <p:txBody>
          <a:bodyPr/>
          <a:lstStyle/>
          <a:p>
            <a:pPr eaLnBrk="1" hangingPunct="1"/>
            <a:r>
              <a:rPr lang="en-US" smtClean="0"/>
              <a:t>Financials approval</a:t>
            </a:r>
          </a:p>
        </p:txBody>
      </p:sp>
      <p:sp>
        <p:nvSpPr>
          <p:cNvPr id="15364" name="Rectangle 4"/>
          <p:cNvSpPr>
            <a:spLocks noGrp="1" noChangeArrowheads="1"/>
          </p:cNvSpPr>
          <p:nvPr>
            <p:ph idx="1"/>
          </p:nvPr>
        </p:nvSpPr>
        <p:spPr>
          <a:xfrm>
            <a:off x="519113" y="3798888"/>
            <a:ext cx="8318500" cy="2590800"/>
          </a:xfrm>
        </p:spPr>
        <p:txBody>
          <a:bodyPr/>
          <a:lstStyle/>
          <a:p>
            <a:pPr>
              <a:buFont typeface="Arial" charset="0"/>
              <a:buChar char="•"/>
            </a:pPr>
            <a:r>
              <a:rPr lang="en-US" dirty="0" smtClean="0"/>
              <a:t>ClaimCenter reviews every transaction (including reserve transactions) to determine if it requires approval</a:t>
            </a:r>
          </a:p>
          <a:p>
            <a:pPr lvl="1"/>
            <a:r>
              <a:rPr lang="en-US" dirty="0" smtClean="0"/>
              <a:t>Financials approval is discussed in the “Financials Approval” lesson of this course</a:t>
            </a:r>
          </a:p>
        </p:txBody>
      </p:sp>
      <p:sp>
        <p:nvSpPr>
          <p:cNvPr id="15365" name="Rectangle 5"/>
          <p:cNvSpPr>
            <a:spLocks noChangeArrowheads="1"/>
          </p:cNvSpPr>
          <p:nvPr/>
        </p:nvSpPr>
        <p:spPr bwMode="auto">
          <a:xfrm>
            <a:off x="2413000" y="2803525"/>
            <a:ext cx="2381250" cy="173038"/>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5366" name="Group 6"/>
          <p:cNvGrpSpPr>
            <a:grpSpLocks/>
          </p:cNvGrpSpPr>
          <p:nvPr/>
        </p:nvGrpSpPr>
        <p:grpSpPr bwMode="auto">
          <a:xfrm>
            <a:off x="1827213" y="2357438"/>
            <a:ext cx="1341437" cy="903287"/>
            <a:chOff x="2984" y="3331"/>
            <a:chExt cx="845" cy="569"/>
          </a:xfrm>
        </p:grpSpPr>
        <p:sp>
          <p:nvSpPr>
            <p:cNvPr id="15414" name="AutoShape 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5415" name="Group 8"/>
            <p:cNvGrpSpPr>
              <a:grpSpLocks/>
            </p:cNvGrpSpPr>
            <p:nvPr/>
          </p:nvGrpSpPr>
          <p:grpSpPr bwMode="auto">
            <a:xfrm>
              <a:off x="3386" y="3487"/>
              <a:ext cx="443" cy="398"/>
              <a:chOff x="4838" y="2218"/>
              <a:chExt cx="395" cy="355"/>
            </a:xfrm>
          </p:grpSpPr>
          <p:sp>
            <p:nvSpPr>
              <p:cNvPr id="15416" name="Freeform 9"/>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7" name="Freeform 10"/>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8" name="Freeform 11"/>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9" name="Freeform 12"/>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0" name="Freeform 13"/>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1" name="Freeform 14"/>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2" name="Freeform 15"/>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3" name="Rectangle 1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24" name="Rectangle 1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25" name="Freeform 18"/>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6" name="Rectangle 1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5367" name="Group 20"/>
          <p:cNvGrpSpPr>
            <a:grpSpLocks/>
          </p:cNvGrpSpPr>
          <p:nvPr/>
        </p:nvGrpSpPr>
        <p:grpSpPr bwMode="auto">
          <a:xfrm>
            <a:off x="5657850" y="2428875"/>
            <a:ext cx="1725613" cy="933450"/>
            <a:chOff x="4323" y="1144"/>
            <a:chExt cx="1815" cy="981"/>
          </a:xfrm>
        </p:grpSpPr>
        <p:grpSp>
          <p:nvGrpSpPr>
            <p:cNvPr id="15395" name="Group 21"/>
            <p:cNvGrpSpPr>
              <a:grpSpLocks/>
            </p:cNvGrpSpPr>
            <p:nvPr/>
          </p:nvGrpSpPr>
          <p:grpSpPr bwMode="auto">
            <a:xfrm>
              <a:off x="5381" y="1178"/>
              <a:ext cx="757" cy="947"/>
              <a:chOff x="4174" y="933"/>
              <a:chExt cx="921" cy="1151"/>
            </a:xfrm>
          </p:grpSpPr>
          <p:sp>
            <p:nvSpPr>
              <p:cNvPr id="15397" name="Rectangle 22"/>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5398" name="AutoShape 23"/>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399" name="AutoShape 24"/>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400" name="AutoShape 25"/>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5401" name="Freeform 26"/>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2" name="Freeform 27"/>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3" name="Freeform 28"/>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4" name="Freeform 29"/>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5" name="Freeform 30"/>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6" name="Freeform 31"/>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7" name="Freeform 32"/>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408" name="Line 33"/>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09" name="Line 34"/>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10" name="Line 35"/>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11" name="Line 36"/>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12" name="Line 37"/>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13" name="Line 38"/>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5396" name="AutoShape 39"/>
            <p:cNvSpPr>
              <a:spLocks noChangeArrowheads="1"/>
            </p:cNvSpPr>
            <p:nvPr/>
          </p:nvSpPr>
          <p:spPr bwMode="auto">
            <a:xfrm>
              <a:off x="4323" y="1144"/>
              <a:ext cx="1133" cy="618"/>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sp>
        <p:nvSpPr>
          <p:cNvPr id="15368" name="Text Box 40"/>
          <p:cNvSpPr txBox="1">
            <a:spLocks noChangeArrowheads="1"/>
          </p:cNvSpPr>
          <p:nvPr/>
        </p:nvSpPr>
        <p:spPr bwMode="auto">
          <a:xfrm>
            <a:off x="5440363" y="2081213"/>
            <a:ext cx="14049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+$50,000</a:t>
            </a:r>
          </a:p>
        </p:txBody>
      </p:sp>
      <p:grpSp>
        <p:nvGrpSpPr>
          <p:cNvPr id="15369" name="Group 41"/>
          <p:cNvGrpSpPr>
            <a:grpSpLocks/>
          </p:cNvGrpSpPr>
          <p:nvPr/>
        </p:nvGrpSpPr>
        <p:grpSpPr bwMode="auto">
          <a:xfrm>
            <a:off x="4657725" y="2416175"/>
            <a:ext cx="963613" cy="785813"/>
            <a:chOff x="729" y="3059"/>
            <a:chExt cx="607" cy="495"/>
          </a:xfrm>
        </p:grpSpPr>
        <p:grpSp>
          <p:nvGrpSpPr>
            <p:cNvPr id="15381" name="Group 42"/>
            <p:cNvGrpSpPr>
              <a:grpSpLocks/>
            </p:cNvGrpSpPr>
            <p:nvPr/>
          </p:nvGrpSpPr>
          <p:grpSpPr bwMode="auto">
            <a:xfrm>
              <a:off x="836" y="3059"/>
              <a:ext cx="500" cy="495"/>
              <a:chOff x="2064" y="3278"/>
              <a:chExt cx="500" cy="495"/>
            </a:xfrm>
          </p:grpSpPr>
          <p:sp>
            <p:nvSpPr>
              <p:cNvPr id="15392" name="Rectangle 43"/>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15393" name="Rectangle 44"/>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15394" name="AutoShape 45"/>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15382" name="Group 46"/>
            <p:cNvGrpSpPr>
              <a:grpSpLocks/>
            </p:cNvGrpSpPr>
            <p:nvPr/>
          </p:nvGrpSpPr>
          <p:grpSpPr bwMode="auto">
            <a:xfrm>
              <a:off x="729" y="3115"/>
              <a:ext cx="512" cy="334"/>
              <a:chOff x="4250" y="2059"/>
              <a:chExt cx="438" cy="286"/>
            </a:xfrm>
          </p:grpSpPr>
          <p:sp>
            <p:nvSpPr>
              <p:cNvPr id="15383" name="Freeform 47"/>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4" name="Freeform 48"/>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5" name="Freeform 49"/>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6" name="Freeform 50"/>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7" name="Freeform 51"/>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8" name="Freeform 52"/>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9" name="Freeform 53"/>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0" name="Freeform 54"/>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1" name="Freeform 55"/>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5370" name="Group 56"/>
          <p:cNvGrpSpPr>
            <a:grpSpLocks/>
          </p:cNvGrpSpPr>
          <p:nvPr/>
        </p:nvGrpSpPr>
        <p:grpSpPr bwMode="auto">
          <a:xfrm rot="-951516">
            <a:off x="3129675" y="889927"/>
            <a:ext cx="973138" cy="381000"/>
            <a:chOff x="4530" y="0"/>
            <a:chExt cx="723" cy="283"/>
          </a:xfrm>
        </p:grpSpPr>
        <p:sp>
          <p:nvSpPr>
            <p:cNvPr id="15376" name="Freeform 57"/>
            <p:cNvSpPr>
              <a:spLocks/>
            </p:cNvSpPr>
            <p:nvPr/>
          </p:nvSpPr>
          <p:spPr bwMode="auto">
            <a:xfrm>
              <a:off x="4535" y="14"/>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7" name="Freeform 58"/>
            <p:cNvSpPr>
              <a:spLocks/>
            </p:cNvSpPr>
            <p:nvPr/>
          </p:nvSpPr>
          <p:spPr bwMode="auto">
            <a:xfrm>
              <a:off x="4968" y="54"/>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8" name="Freeform 59"/>
            <p:cNvSpPr>
              <a:spLocks/>
            </p:cNvSpPr>
            <p:nvPr/>
          </p:nvSpPr>
          <p:spPr bwMode="auto">
            <a:xfrm>
              <a:off x="4976" y="100"/>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9" name="Freeform 60"/>
            <p:cNvSpPr>
              <a:spLocks/>
            </p:cNvSpPr>
            <p:nvPr/>
          </p:nvSpPr>
          <p:spPr bwMode="auto">
            <a:xfrm>
              <a:off x="4975" y="49"/>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0" name="Freeform 61"/>
            <p:cNvSpPr>
              <a:spLocks/>
            </p:cNvSpPr>
            <p:nvPr/>
          </p:nvSpPr>
          <p:spPr bwMode="auto">
            <a:xfrm>
              <a:off x="4530" y="0"/>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71" name="Group 62"/>
          <p:cNvGrpSpPr>
            <a:grpSpLocks/>
          </p:cNvGrpSpPr>
          <p:nvPr/>
        </p:nvGrpSpPr>
        <p:grpSpPr bwMode="auto">
          <a:xfrm>
            <a:off x="4310063" y="1555750"/>
            <a:ext cx="819150" cy="788988"/>
            <a:chOff x="5244" y="451"/>
            <a:chExt cx="516" cy="497"/>
          </a:xfrm>
        </p:grpSpPr>
        <p:sp>
          <p:nvSpPr>
            <p:cNvPr id="15372" name="Freeform 63"/>
            <p:cNvSpPr>
              <a:spLocks/>
            </p:cNvSpPr>
            <p:nvPr/>
          </p:nvSpPr>
          <p:spPr bwMode="auto">
            <a:xfrm>
              <a:off x="5253" y="456"/>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3" name="Freeform 64"/>
            <p:cNvSpPr>
              <a:spLocks/>
            </p:cNvSpPr>
            <p:nvPr/>
          </p:nvSpPr>
          <p:spPr bwMode="auto">
            <a:xfrm>
              <a:off x="5244" y="607"/>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4" name="Freeform 65"/>
            <p:cNvSpPr>
              <a:spLocks/>
            </p:cNvSpPr>
            <p:nvPr/>
          </p:nvSpPr>
          <p:spPr bwMode="auto">
            <a:xfrm>
              <a:off x="5363" y="451"/>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5" name="Freeform 66"/>
            <p:cNvSpPr>
              <a:spLocks/>
            </p:cNvSpPr>
            <p:nvPr/>
          </p:nvSpPr>
          <p:spPr bwMode="auto">
            <a:xfrm>
              <a:off x="5367" y="887"/>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smtClean="0"/>
              <a:t>Lesson outline</a:t>
            </a:r>
          </a:p>
        </p:txBody>
      </p:sp>
      <p:sp>
        <p:nvSpPr>
          <p:cNvPr id="16387"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Reserve basics</a:t>
            </a:r>
          </a:p>
          <a:p>
            <a:pPr>
              <a:lnSpc>
                <a:spcPct val="150000"/>
              </a:lnSpc>
              <a:buFont typeface="Arial" charset="0"/>
              <a:buChar char="•"/>
            </a:pPr>
            <a:r>
              <a:rPr lang="en-US" sz="2800" smtClean="0"/>
              <a:t>Working with reserve lines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smtClean="0"/>
              <a:t>Who creates reserve transactions?</a:t>
            </a:r>
          </a:p>
        </p:txBody>
      </p:sp>
      <p:sp>
        <p:nvSpPr>
          <p:cNvPr id="17411" name="Rectangle 3"/>
          <p:cNvSpPr>
            <a:spLocks noGrp="1" noChangeArrowheads="1"/>
          </p:cNvSpPr>
          <p:nvPr>
            <p:ph idx="1"/>
          </p:nvPr>
        </p:nvSpPr>
        <p:spPr>
          <a:xfrm>
            <a:off x="519113" y="1192213"/>
            <a:ext cx="3814762" cy="5197475"/>
          </a:xfrm>
        </p:spPr>
        <p:txBody>
          <a:bodyPr/>
          <a:lstStyle/>
          <a:p>
            <a:pPr>
              <a:buFont typeface="Arial" charset="0"/>
              <a:buChar char="•"/>
            </a:pPr>
            <a:r>
              <a:rPr lang="en-US" smtClean="0"/>
              <a:t>A reserve can be created automatically by business rules</a:t>
            </a:r>
          </a:p>
          <a:p>
            <a:pPr lvl="1"/>
            <a:r>
              <a:rPr lang="en-US" smtClean="0"/>
              <a:t>When this occurs, it typically occurs during exposure setup</a:t>
            </a:r>
            <a:br>
              <a:rPr lang="en-US" smtClean="0"/>
            </a:br>
            <a:r>
              <a:rPr lang="en-US" smtClean="0"/>
              <a:t/>
            </a:r>
            <a:br>
              <a:rPr lang="en-US" smtClean="0"/>
            </a:br>
            <a:endParaRPr lang="en-US" smtClean="0"/>
          </a:p>
          <a:p>
            <a:pPr>
              <a:buFont typeface="Arial" charset="0"/>
              <a:buChar char="•"/>
            </a:pPr>
            <a:r>
              <a:rPr lang="en-US" smtClean="0"/>
              <a:t>A reserve can be created manually by an adjuster</a:t>
            </a:r>
          </a:p>
        </p:txBody>
      </p:sp>
      <p:grpSp>
        <p:nvGrpSpPr>
          <p:cNvPr id="17412" name="Group 4"/>
          <p:cNvGrpSpPr>
            <a:grpSpLocks/>
          </p:cNvGrpSpPr>
          <p:nvPr/>
        </p:nvGrpSpPr>
        <p:grpSpPr bwMode="auto">
          <a:xfrm>
            <a:off x="4945063" y="4324350"/>
            <a:ext cx="1341437" cy="903288"/>
            <a:chOff x="2984" y="3331"/>
            <a:chExt cx="845" cy="569"/>
          </a:xfrm>
        </p:grpSpPr>
        <p:sp>
          <p:nvSpPr>
            <p:cNvPr id="17481" name="AutoShape 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82" name="Group 6"/>
            <p:cNvGrpSpPr>
              <a:grpSpLocks/>
            </p:cNvGrpSpPr>
            <p:nvPr/>
          </p:nvGrpSpPr>
          <p:grpSpPr bwMode="auto">
            <a:xfrm>
              <a:off x="3386" y="3487"/>
              <a:ext cx="443" cy="398"/>
              <a:chOff x="4838" y="2218"/>
              <a:chExt cx="395" cy="355"/>
            </a:xfrm>
          </p:grpSpPr>
          <p:sp>
            <p:nvSpPr>
              <p:cNvPr id="17483" name="Freeform 7"/>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4" name="Freeform 8"/>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5" name="Freeform 9"/>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6" name="Freeform 10"/>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7" name="Freeform 11"/>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8" name="Freeform 12"/>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9" name="Freeform 13"/>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0" name="Rectangle 1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91" name="Rectangle 1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92" name="Freeform 16"/>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3" name="Rectangle 1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7413" name="Group 18"/>
          <p:cNvGrpSpPr>
            <a:grpSpLocks/>
          </p:cNvGrpSpPr>
          <p:nvPr/>
        </p:nvGrpSpPr>
        <p:grpSpPr bwMode="auto">
          <a:xfrm>
            <a:off x="4870450" y="1349375"/>
            <a:ext cx="3189288" cy="2046288"/>
            <a:chOff x="3034" y="1936"/>
            <a:chExt cx="2009" cy="1289"/>
          </a:xfrm>
        </p:grpSpPr>
        <p:sp>
          <p:nvSpPr>
            <p:cNvPr id="17433" name="Line 19"/>
            <p:cNvSpPr>
              <a:spLocks noChangeShapeType="1"/>
            </p:cNvSpPr>
            <p:nvPr/>
          </p:nvSpPr>
          <p:spPr bwMode="auto">
            <a:xfrm>
              <a:off x="4253" y="2658"/>
              <a:ext cx="0" cy="32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4" name="Line 20"/>
            <p:cNvSpPr>
              <a:spLocks noChangeShapeType="1"/>
            </p:cNvSpPr>
            <p:nvPr/>
          </p:nvSpPr>
          <p:spPr bwMode="auto">
            <a:xfrm>
              <a:off x="4242" y="2980"/>
              <a:ext cx="3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5" name="Freeform 21"/>
            <p:cNvSpPr>
              <a:spLocks/>
            </p:cNvSpPr>
            <p:nvPr/>
          </p:nvSpPr>
          <p:spPr bwMode="auto">
            <a:xfrm>
              <a:off x="3034" y="2045"/>
              <a:ext cx="634" cy="878"/>
            </a:xfrm>
            <a:custGeom>
              <a:avLst/>
              <a:gdLst>
                <a:gd name="T0" fmla="*/ 318 w 1020"/>
                <a:gd name="T1" fmla="*/ 0 h 1836"/>
                <a:gd name="T2" fmla="*/ 232 w 1020"/>
                <a:gd name="T3" fmla="*/ 32 h 1836"/>
                <a:gd name="T4" fmla="*/ 144 w 1020"/>
                <a:gd name="T5" fmla="*/ 82 h 1836"/>
                <a:gd name="T6" fmla="*/ 107 w 1020"/>
                <a:gd name="T7" fmla="*/ 103 h 1836"/>
                <a:gd name="T8" fmla="*/ 86 w 1020"/>
                <a:gd name="T9" fmla="*/ 132 h 1836"/>
                <a:gd name="T10" fmla="*/ 37 w 1020"/>
                <a:gd name="T11" fmla="*/ 205 h 1836"/>
                <a:gd name="T12" fmla="*/ 4 w 1020"/>
                <a:gd name="T13" fmla="*/ 322 h 1836"/>
                <a:gd name="T14" fmla="*/ 14 w 1020"/>
                <a:gd name="T15" fmla="*/ 395 h 1836"/>
                <a:gd name="T16" fmla="*/ 76 w 1020"/>
                <a:gd name="T17" fmla="*/ 416 h 1836"/>
                <a:gd name="T18" fmla="*/ 216 w 1020"/>
                <a:gd name="T19" fmla="*/ 415 h 1836"/>
                <a:gd name="T20" fmla="*/ 308 w 1020"/>
                <a:gd name="T21" fmla="*/ 391 h 1836"/>
                <a:gd name="T22" fmla="*/ 394 w 1020"/>
                <a:gd name="T23" fmla="*/ 371 h 1836"/>
                <a:gd name="T24" fmla="*/ 387 w 1020"/>
                <a:gd name="T25" fmla="*/ 343 h 1836"/>
                <a:gd name="T26" fmla="*/ 306 w 1020"/>
                <a:gd name="T27" fmla="*/ 360 h 1836"/>
                <a:gd name="T28" fmla="*/ 232 w 1020"/>
                <a:gd name="T29" fmla="*/ 377 h 1836"/>
                <a:gd name="T30" fmla="*/ 144 w 1020"/>
                <a:gd name="T31" fmla="*/ 385 h 1836"/>
                <a:gd name="T32" fmla="*/ 65 w 1020"/>
                <a:gd name="T33" fmla="*/ 382 h 1836"/>
                <a:gd name="T34" fmla="*/ 58 w 1020"/>
                <a:gd name="T35" fmla="*/ 335 h 1836"/>
                <a:gd name="T36" fmla="*/ 74 w 1020"/>
                <a:gd name="T37" fmla="*/ 262 h 1836"/>
                <a:gd name="T38" fmla="*/ 107 w 1020"/>
                <a:gd name="T39" fmla="*/ 185 h 1836"/>
                <a:gd name="T40" fmla="*/ 160 w 1020"/>
                <a:gd name="T41" fmla="*/ 129 h 1836"/>
                <a:gd name="T42" fmla="*/ 236 w 1020"/>
                <a:gd name="T43" fmla="*/ 73 h 1836"/>
                <a:gd name="T44" fmla="*/ 296 w 1020"/>
                <a:gd name="T45" fmla="*/ 47 h 1836"/>
                <a:gd name="T46" fmla="*/ 338 w 1020"/>
                <a:gd name="T47" fmla="*/ 36 h 18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20"/>
                <a:gd name="T73" fmla="*/ 0 h 1836"/>
                <a:gd name="T74" fmla="*/ 1020 w 1020"/>
                <a:gd name="T75" fmla="*/ 1836 h 18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20" h="1836">
                  <a:moveTo>
                    <a:pt x="822" y="0"/>
                  </a:moveTo>
                  <a:lnTo>
                    <a:pt x="600" y="138"/>
                  </a:lnTo>
                  <a:lnTo>
                    <a:pt x="372" y="360"/>
                  </a:lnTo>
                  <a:cubicBezTo>
                    <a:pt x="318" y="412"/>
                    <a:pt x="301" y="414"/>
                    <a:pt x="276" y="450"/>
                  </a:cubicBezTo>
                  <a:cubicBezTo>
                    <a:pt x="251" y="486"/>
                    <a:pt x="252" y="502"/>
                    <a:pt x="222" y="576"/>
                  </a:cubicBezTo>
                  <a:lnTo>
                    <a:pt x="96" y="894"/>
                  </a:lnTo>
                  <a:lnTo>
                    <a:pt x="12" y="1410"/>
                  </a:lnTo>
                  <a:cubicBezTo>
                    <a:pt x="2" y="1549"/>
                    <a:pt x="0" y="1620"/>
                    <a:pt x="36" y="1728"/>
                  </a:cubicBezTo>
                  <a:cubicBezTo>
                    <a:pt x="72" y="1836"/>
                    <a:pt x="111" y="1804"/>
                    <a:pt x="198" y="1818"/>
                  </a:cubicBezTo>
                  <a:lnTo>
                    <a:pt x="558" y="1812"/>
                  </a:lnTo>
                  <a:lnTo>
                    <a:pt x="798" y="1710"/>
                  </a:lnTo>
                  <a:lnTo>
                    <a:pt x="1020" y="1620"/>
                  </a:lnTo>
                  <a:lnTo>
                    <a:pt x="1002" y="1500"/>
                  </a:lnTo>
                  <a:lnTo>
                    <a:pt x="792" y="1572"/>
                  </a:lnTo>
                  <a:lnTo>
                    <a:pt x="600" y="1650"/>
                  </a:lnTo>
                  <a:lnTo>
                    <a:pt x="372" y="1686"/>
                  </a:lnTo>
                  <a:cubicBezTo>
                    <a:pt x="372" y="1686"/>
                    <a:pt x="276" y="1686"/>
                    <a:pt x="168" y="1668"/>
                  </a:cubicBezTo>
                  <a:cubicBezTo>
                    <a:pt x="150" y="1536"/>
                    <a:pt x="150" y="1464"/>
                    <a:pt x="150" y="1464"/>
                  </a:cubicBezTo>
                  <a:lnTo>
                    <a:pt x="192" y="1146"/>
                  </a:lnTo>
                  <a:lnTo>
                    <a:pt x="276" y="810"/>
                  </a:lnTo>
                  <a:lnTo>
                    <a:pt x="414" y="564"/>
                  </a:lnTo>
                  <a:lnTo>
                    <a:pt x="612" y="318"/>
                  </a:lnTo>
                  <a:lnTo>
                    <a:pt x="768" y="204"/>
                  </a:lnTo>
                  <a:lnTo>
                    <a:pt x="876" y="156"/>
                  </a:lnTo>
                </a:path>
              </a:pathLst>
            </a:custGeom>
            <a:solidFill>
              <a:schemeClr val="bg1"/>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436" name="Rectangle 22"/>
            <p:cNvSpPr>
              <a:spLocks noChangeArrowheads="1"/>
            </p:cNvSpPr>
            <p:nvPr/>
          </p:nvSpPr>
          <p:spPr bwMode="auto">
            <a:xfrm rot="-2963728">
              <a:off x="3809" y="2608"/>
              <a:ext cx="69" cy="308"/>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17437" name="Rectangle 23"/>
            <p:cNvSpPr>
              <a:spLocks noChangeArrowheads="1"/>
            </p:cNvSpPr>
            <p:nvPr/>
          </p:nvSpPr>
          <p:spPr bwMode="auto">
            <a:xfrm rot="-2963728">
              <a:off x="3700" y="2645"/>
              <a:ext cx="69" cy="46"/>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17438" name="AutoShape 24"/>
            <p:cNvSpPr>
              <a:spLocks noChangeArrowheads="1"/>
            </p:cNvSpPr>
            <p:nvPr/>
          </p:nvSpPr>
          <p:spPr bwMode="auto">
            <a:xfrm rot="18636272" flipV="1">
              <a:off x="3942" y="2852"/>
              <a:ext cx="69" cy="45"/>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nvGrpSpPr>
            <p:cNvPr id="17439" name="Group 25"/>
            <p:cNvGrpSpPr>
              <a:grpSpLocks/>
            </p:cNvGrpSpPr>
            <p:nvPr/>
          </p:nvGrpSpPr>
          <p:grpSpPr bwMode="auto">
            <a:xfrm>
              <a:off x="3624" y="2675"/>
              <a:ext cx="318" cy="159"/>
              <a:chOff x="4250" y="2059"/>
              <a:chExt cx="438" cy="286"/>
            </a:xfrm>
          </p:grpSpPr>
          <p:sp>
            <p:nvSpPr>
              <p:cNvPr id="17472" name="Freeform 26"/>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3" name="Freeform 27"/>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4" name="Freeform 28"/>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5" name="Freeform 29"/>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6" name="Freeform 30"/>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7" name="Freeform 31"/>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8" name="Freeform 32"/>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9" name="Freeform 33"/>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0" name="Freeform 34"/>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40" name="Group 35"/>
            <p:cNvGrpSpPr>
              <a:grpSpLocks/>
            </p:cNvGrpSpPr>
            <p:nvPr/>
          </p:nvGrpSpPr>
          <p:grpSpPr bwMode="auto">
            <a:xfrm>
              <a:off x="3448" y="1936"/>
              <a:ext cx="1595" cy="397"/>
              <a:chOff x="3914" y="1449"/>
              <a:chExt cx="1683" cy="419"/>
            </a:xfrm>
          </p:grpSpPr>
          <p:sp>
            <p:nvSpPr>
              <p:cNvPr id="17466" name="Rectangle 36"/>
              <p:cNvSpPr>
                <a:spLocks noChangeArrowheads="1"/>
              </p:cNvSpPr>
              <p:nvPr/>
            </p:nvSpPr>
            <p:spPr bwMode="auto">
              <a:xfrm>
                <a:off x="3914" y="1449"/>
                <a:ext cx="1683" cy="419"/>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17467" name="Rectangle 37"/>
              <p:cNvSpPr>
                <a:spLocks noChangeArrowheads="1"/>
              </p:cNvSpPr>
              <p:nvPr/>
            </p:nvSpPr>
            <p:spPr bwMode="auto">
              <a:xfrm>
                <a:off x="3968" y="1477"/>
                <a:ext cx="471" cy="349"/>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7468" name="Rectangle 38"/>
              <p:cNvSpPr>
                <a:spLocks noChangeArrowheads="1"/>
              </p:cNvSpPr>
              <p:nvPr/>
            </p:nvSpPr>
            <p:spPr bwMode="auto">
              <a:xfrm>
                <a:off x="4525" y="1479"/>
                <a:ext cx="471" cy="349"/>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7469" name="Rectangle 39"/>
              <p:cNvSpPr>
                <a:spLocks noChangeArrowheads="1"/>
              </p:cNvSpPr>
              <p:nvPr/>
            </p:nvSpPr>
            <p:spPr bwMode="auto">
              <a:xfrm>
                <a:off x="5081" y="1480"/>
                <a:ext cx="471" cy="349"/>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7470" name="Line 40"/>
              <p:cNvSpPr>
                <a:spLocks noChangeShapeType="1"/>
              </p:cNvSpPr>
              <p:nvPr/>
            </p:nvSpPr>
            <p:spPr bwMode="auto">
              <a:xfrm>
                <a:off x="4438" y="1662"/>
                <a:ext cx="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1" name="Line 41"/>
              <p:cNvSpPr>
                <a:spLocks noChangeShapeType="1"/>
              </p:cNvSpPr>
              <p:nvPr/>
            </p:nvSpPr>
            <p:spPr bwMode="auto">
              <a:xfrm>
                <a:off x="4995" y="1662"/>
                <a:ext cx="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7441" name="Group 42"/>
            <p:cNvGrpSpPr>
              <a:grpSpLocks/>
            </p:cNvGrpSpPr>
            <p:nvPr/>
          </p:nvGrpSpPr>
          <p:grpSpPr bwMode="auto">
            <a:xfrm>
              <a:off x="4038" y="2376"/>
              <a:ext cx="410" cy="407"/>
              <a:chOff x="3360" y="800"/>
              <a:chExt cx="620" cy="616"/>
            </a:xfrm>
          </p:grpSpPr>
          <p:sp>
            <p:nvSpPr>
              <p:cNvPr id="17460" name="AutoShape 4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7461" name="Freeform 44"/>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7462" name="Group 45"/>
              <p:cNvGrpSpPr>
                <a:grpSpLocks/>
              </p:cNvGrpSpPr>
              <p:nvPr/>
            </p:nvGrpSpPr>
            <p:grpSpPr bwMode="auto">
              <a:xfrm flipH="1">
                <a:off x="3749" y="1171"/>
                <a:ext cx="212" cy="213"/>
                <a:chOff x="1350" y="686"/>
                <a:chExt cx="1132" cy="1132"/>
              </a:xfrm>
            </p:grpSpPr>
            <p:sp>
              <p:nvSpPr>
                <p:cNvPr id="17464" name="AutoShape 4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7465" name="Picture 4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463" name="Picture 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42" name="Group 49"/>
            <p:cNvGrpSpPr>
              <a:grpSpLocks/>
            </p:cNvGrpSpPr>
            <p:nvPr/>
          </p:nvGrpSpPr>
          <p:grpSpPr bwMode="auto">
            <a:xfrm>
              <a:off x="4484" y="2719"/>
              <a:ext cx="404" cy="506"/>
              <a:chOff x="4174" y="933"/>
              <a:chExt cx="921" cy="1151"/>
            </a:xfrm>
          </p:grpSpPr>
          <p:sp>
            <p:nvSpPr>
              <p:cNvPr id="17443" name="Rectangle 50"/>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7444" name="AutoShape 51"/>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45" name="AutoShape 52"/>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46" name="AutoShape 53"/>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47" name="Freeform 54"/>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48" name="Freeform 55"/>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49" name="Freeform 56"/>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50" name="Freeform 57"/>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51" name="Freeform 58"/>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52" name="Freeform 59"/>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53" name="Freeform 60"/>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54" name="Line 61"/>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5" name="Line 62"/>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6" name="Line 63"/>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7" name="Line 64"/>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8" name="Line 65"/>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9" name="Line 66"/>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17414" name="Group 67"/>
          <p:cNvGrpSpPr>
            <a:grpSpLocks/>
          </p:cNvGrpSpPr>
          <p:nvPr/>
        </p:nvGrpSpPr>
        <p:grpSpPr bwMode="auto">
          <a:xfrm>
            <a:off x="7453313" y="4257675"/>
            <a:ext cx="800100" cy="1001713"/>
            <a:chOff x="4174" y="933"/>
            <a:chExt cx="921" cy="1151"/>
          </a:xfrm>
        </p:grpSpPr>
        <p:sp>
          <p:nvSpPr>
            <p:cNvPr id="17416" name="Rectangle 6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7417" name="AutoShape 6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18" name="AutoShape 7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19" name="AutoShape 7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20" name="Freeform 7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1" name="Freeform 7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2" name="Freeform 7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3" name="Freeform 7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4" name="Freeform 7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5" name="Freeform 7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6" name="Freeform 7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427" name="Line 7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8" name="Line 8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9" name="Line 8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0" name="Line 8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1" name="Line 8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2" name="Line 8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415" name="Line 85"/>
          <p:cNvSpPr>
            <a:spLocks noChangeShapeType="1"/>
          </p:cNvSpPr>
          <p:nvPr/>
        </p:nvSpPr>
        <p:spPr bwMode="auto">
          <a:xfrm>
            <a:off x="6330950" y="4765675"/>
            <a:ext cx="11604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013" y="3970882"/>
            <a:ext cx="8684111" cy="212115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5" name="Rectangle 3"/>
          <p:cNvSpPr>
            <a:spLocks noGrp="1" noChangeArrowheads="1"/>
          </p:cNvSpPr>
          <p:nvPr>
            <p:ph type="title"/>
          </p:nvPr>
        </p:nvSpPr>
        <p:spPr/>
        <p:txBody>
          <a:bodyPr/>
          <a:lstStyle/>
          <a:p>
            <a:pPr eaLnBrk="1" hangingPunct="1"/>
            <a:r>
              <a:rPr lang="en-US" smtClean="0"/>
              <a:t>Automatic reserves: example</a:t>
            </a:r>
          </a:p>
        </p:txBody>
      </p:sp>
      <p:sp>
        <p:nvSpPr>
          <p:cNvPr id="18436" name="Line 4"/>
          <p:cNvSpPr>
            <a:spLocks noChangeShapeType="1"/>
          </p:cNvSpPr>
          <p:nvPr/>
        </p:nvSpPr>
        <p:spPr bwMode="auto">
          <a:xfrm>
            <a:off x="8456613" y="3638550"/>
            <a:ext cx="0" cy="217963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7" name="Text Box 5"/>
          <p:cNvSpPr txBox="1">
            <a:spLocks noChangeArrowheads="1"/>
          </p:cNvSpPr>
          <p:nvPr/>
        </p:nvSpPr>
        <p:spPr bwMode="auto">
          <a:xfrm>
            <a:off x="1027113" y="981075"/>
            <a:ext cx="7219950"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if 	exposure segment = "complex" AND</a:t>
            </a:r>
            <a:br>
              <a:rPr lang="en-US" sz="2400" b="1">
                <a:solidFill>
                  <a:srgbClr val="FF0000"/>
                </a:solidFill>
              </a:rPr>
            </a:br>
            <a:r>
              <a:rPr lang="en-US" sz="2400" b="1">
                <a:solidFill>
                  <a:srgbClr val="FF0000"/>
                </a:solidFill>
              </a:rPr>
              <a:t>	exposure type = "bodily injury" AND</a:t>
            </a:r>
            <a:br>
              <a:rPr lang="en-US" sz="2400" b="1">
                <a:solidFill>
                  <a:srgbClr val="FF0000"/>
                </a:solidFill>
              </a:rPr>
            </a:br>
            <a:r>
              <a:rPr lang="en-US" sz="2400" b="1">
                <a:solidFill>
                  <a:srgbClr val="FF0000"/>
                </a:solidFill>
              </a:rPr>
              <a:t>	injury severity = "major (hospitalization)"</a:t>
            </a:r>
          </a:p>
          <a:p>
            <a:pPr algn="l" eaLnBrk="1" hangingPunct="1"/>
            <a:r>
              <a:rPr lang="en-US" sz="2400" b="1">
                <a:solidFill>
                  <a:srgbClr val="FF0000"/>
                </a:solidFill>
              </a:rPr>
              <a:t>then	create reserve line with:</a:t>
            </a:r>
            <a:br>
              <a:rPr lang="en-US" sz="2400" b="1">
                <a:solidFill>
                  <a:srgbClr val="FF0000"/>
                </a:solidFill>
              </a:rPr>
            </a:br>
            <a:r>
              <a:rPr lang="en-US" sz="2400" b="1">
                <a:solidFill>
                  <a:srgbClr val="FF0000"/>
                </a:solidFill>
              </a:rPr>
              <a:t>		- cost type of "Claim Cost"</a:t>
            </a:r>
            <a:br>
              <a:rPr lang="en-US" sz="2400" b="1">
                <a:solidFill>
                  <a:srgbClr val="FF0000"/>
                </a:solidFill>
              </a:rPr>
            </a:br>
            <a:r>
              <a:rPr lang="en-US" sz="2400" b="1">
                <a:solidFill>
                  <a:srgbClr val="FF0000"/>
                </a:solidFill>
              </a:rPr>
              <a:t>		- cost category of "Medical"</a:t>
            </a:r>
            <a:br>
              <a:rPr lang="en-US" sz="2400" b="1">
                <a:solidFill>
                  <a:srgbClr val="FF0000"/>
                </a:solidFill>
              </a:rPr>
            </a:br>
            <a:r>
              <a:rPr lang="en-US" sz="2400" b="1">
                <a:solidFill>
                  <a:srgbClr val="FF0000"/>
                </a:solidFill>
              </a:rPr>
              <a:t>		- reserve amount of "$30,000"</a:t>
            </a:r>
          </a:p>
        </p:txBody>
      </p:sp>
      <p:sp>
        <p:nvSpPr>
          <p:cNvPr id="18438" name="Line 6"/>
          <p:cNvSpPr>
            <a:spLocks noChangeShapeType="1"/>
          </p:cNvSpPr>
          <p:nvPr/>
        </p:nvSpPr>
        <p:spPr bwMode="auto">
          <a:xfrm>
            <a:off x="7167563" y="3648075"/>
            <a:ext cx="13081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19459" name="Rectangle 2"/>
          <p:cNvSpPr>
            <a:spLocks noGrp="1" noChangeArrowheads="1"/>
          </p:cNvSpPr>
          <p:nvPr>
            <p:ph type="title"/>
          </p:nvPr>
        </p:nvSpPr>
        <p:spPr/>
        <p:txBody>
          <a:bodyPr/>
          <a:lstStyle/>
          <a:p>
            <a:pPr eaLnBrk="1" hangingPunct="1"/>
            <a:r>
              <a:rPr lang="en-US" smtClean="0"/>
              <a:t>Creating a manual reserve transaction</a:t>
            </a:r>
          </a:p>
        </p:txBody>
      </p:sp>
      <p:sp>
        <p:nvSpPr>
          <p:cNvPr id="19460" name="Rectangle 7"/>
          <p:cNvSpPr>
            <a:spLocks noGrp="1" noChangeArrowheads="1"/>
          </p:cNvSpPr>
          <p:nvPr>
            <p:ph idx="1"/>
          </p:nvPr>
        </p:nvSpPr>
        <p:spPr>
          <a:xfrm>
            <a:off x="4833938" y="895350"/>
            <a:ext cx="3979862" cy="1965325"/>
          </a:xfrm>
          <a:solidFill>
            <a:schemeClr val="tx1"/>
          </a:solidFill>
        </p:spPr>
        <p:txBody>
          <a:bodyPr/>
          <a:lstStyle/>
          <a:p>
            <a:pPr>
              <a:buFont typeface="Arial" charset="0"/>
              <a:buChar char="•"/>
            </a:pPr>
            <a:r>
              <a:rPr lang="en-US" smtClean="0"/>
              <a:t>Reserve transactions can be created manually through the New Transaction menu</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29" y="688124"/>
            <a:ext cx="1127666" cy="228899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62" name="AutoShape 5"/>
          <p:cNvSpPr>
            <a:spLocks noChangeArrowheads="1"/>
          </p:cNvSpPr>
          <p:nvPr/>
        </p:nvSpPr>
        <p:spPr bwMode="auto">
          <a:xfrm>
            <a:off x="387429" y="2438068"/>
            <a:ext cx="1127666" cy="1922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691" y="2863808"/>
            <a:ext cx="8751887" cy="35052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63" name="Line 6"/>
          <p:cNvSpPr>
            <a:spLocks noChangeShapeType="1"/>
          </p:cNvSpPr>
          <p:nvPr/>
        </p:nvSpPr>
        <p:spPr bwMode="auto">
          <a:xfrm>
            <a:off x="1068527" y="2630331"/>
            <a:ext cx="930393" cy="33345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AutoShape 5"/>
          <p:cNvSpPr>
            <a:spLocks noChangeArrowheads="1"/>
          </p:cNvSpPr>
          <p:nvPr/>
        </p:nvSpPr>
        <p:spPr bwMode="auto">
          <a:xfrm>
            <a:off x="709949" y="5847467"/>
            <a:ext cx="8251171" cy="28298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11" y="712766"/>
            <a:ext cx="8666903" cy="350297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2" name="Rectangle 2"/>
          <p:cNvSpPr>
            <a:spLocks noGrp="1" noChangeArrowheads="1"/>
          </p:cNvSpPr>
          <p:nvPr>
            <p:ph type="title"/>
          </p:nvPr>
        </p:nvSpPr>
        <p:spPr/>
        <p:txBody>
          <a:bodyPr/>
          <a:lstStyle/>
          <a:p>
            <a:pPr eaLnBrk="1" hangingPunct="1"/>
            <a:r>
              <a:rPr lang="en-US" smtClean="0"/>
              <a:t>Categorizing the reserve transaction</a:t>
            </a:r>
          </a:p>
        </p:txBody>
      </p:sp>
      <p:sp>
        <p:nvSpPr>
          <p:cNvPr id="20483" name="Rectangle 3"/>
          <p:cNvSpPr>
            <a:spLocks noGrp="1" noChangeArrowheads="1"/>
          </p:cNvSpPr>
          <p:nvPr>
            <p:ph idx="1"/>
          </p:nvPr>
        </p:nvSpPr>
        <p:spPr>
          <a:xfrm>
            <a:off x="499412" y="4336349"/>
            <a:ext cx="8318500" cy="1119188"/>
          </a:xfrm>
        </p:spPr>
        <p:txBody>
          <a:bodyPr/>
          <a:lstStyle/>
          <a:p>
            <a:pPr>
              <a:buFont typeface="Arial" charset="0"/>
              <a:buChar char="•"/>
            </a:pPr>
            <a:r>
              <a:rPr lang="en-US" dirty="0" smtClean="0"/>
              <a:t>Specify the related exposure, cost type, and cost category</a:t>
            </a:r>
          </a:p>
          <a:p>
            <a:pPr lvl="1"/>
            <a:r>
              <a:rPr lang="en-US" dirty="0" smtClean="0"/>
              <a:t>You cannot select an existing exposure/type/category combination</a:t>
            </a:r>
          </a:p>
        </p:txBody>
      </p:sp>
      <p:sp>
        <p:nvSpPr>
          <p:cNvPr id="20486" name="AutoShape 5"/>
          <p:cNvSpPr>
            <a:spLocks noChangeArrowheads="1"/>
          </p:cNvSpPr>
          <p:nvPr/>
        </p:nvSpPr>
        <p:spPr bwMode="auto">
          <a:xfrm>
            <a:off x="783771" y="1828800"/>
            <a:ext cx="7885217" cy="24045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5"/>
          <p:cNvSpPr>
            <a:spLocks noChangeArrowheads="1"/>
          </p:cNvSpPr>
          <p:nvPr/>
        </p:nvSpPr>
        <p:spPr bwMode="auto">
          <a:xfrm>
            <a:off x="783770" y="2344024"/>
            <a:ext cx="7885217" cy="24045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 name="AutoShape 5"/>
          <p:cNvSpPr>
            <a:spLocks noChangeArrowheads="1"/>
          </p:cNvSpPr>
          <p:nvPr/>
        </p:nvSpPr>
        <p:spPr bwMode="auto">
          <a:xfrm>
            <a:off x="7642746" y="3268639"/>
            <a:ext cx="1349368" cy="9468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290" y="1332696"/>
            <a:ext cx="8393625" cy="36752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7" name="Rectangle 2"/>
          <p:cNvSpPr>
            <a:spLocks noGrp="1" noChangeArrowheads="1"/>
          </p:cNvSpPr>
          <p:nvPr>
            <p:ph type="title"/>
          </p:nvPr>
        </p:nvSpPr>
        <p:spPr/>
        <p:txBody>
          <a:bodyPr/>
          <a:lstStyle/>
          <a:p>
            <a:pPr eaLnBrk="1" hangingPunct="1"/>
            <a:r>
              <a:rPr lang="en-US" smtClean="0"/>
              <a:t>Specifying the amount</a:t>
            </a:r>
          </a:p>
        </p:txBody>
      </p:sp>
      <p:sp>
        <p:nvSpPr>
          <p:cNvPr id="21508" name="Rectangle 3"/>
          <p:cNvSpPr>
            <a:spLocks noGrp="1" noChangeArrowheads="1"/>
          </p:cNvSpPr>
          <p:nvPr>
            <p:ph idx="1"/>
          </p:nvPr>
        </p:nvSpPr>
        <p:spPr>
          <a:xfrm>
            <a:off x="519113" y="5205413"/>
            <a:ext cx="8318500" cy="1184275"/>
          </a:xfrm>
        </p:spPr>
        <p:txBody>
          <a:bodyPr/>
          <a:lstStyle/>
          <a:p>
            <a:pPr>
              <a:buFont typeface="Arial" charset="0"/>
              <a:buChar char="•"/>
            </a:pPr>
            <a:r>
              <a:rPr lang="en-US" smtClean="0"/>
              <a:t>In addition to categorizing the reserve line, you must specify the amount of money to be added to it by the initial reserve transaction</a:t>
            </a:r>
          </a:p>
        </p:txBody>
      </p:sp>
      <p:sp>
        <p:nvSpPr>
          <p:cNvPr id="21509" name="AutoShape 8"/>
          <p:cNvSpPr>
            <a:spLocks noChangeArrowheads="1"/>
          </p:cNvSpPr>
          <p:nvPr/>
        </p:nvSpPr>
        <p:spPr bwMode="auto">
          <a:xfrm>
            <a:off x="6961500" y="4449825"/>
            <a:ext cx="1791415" cy="3079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187" y="580159"/>
            <a:ext cx="8525758" cy="296790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1" name="Rectangle 2"/>
          <p:cNvSpPr>
            <a:spLocks noGrp="1" noChangeArrowheads="1"/>
          </p:cNvSpPr>
          <p:nvPr>
            <p:ph type="title"/>
          </p:nvPr>
        </p:nvSpPr>
        <p:spPr/>
        <p:txBody>
          <a:bodyPr/>
          <a:lstStyle/>
          <a:p>
            <a:pPr eaLnBrk="1" hangingPunct="1"/>
            <a:r>
              <a:rPr lang="en-US" smtClean="0"/>
              <a:t>The completed reserve transaction</a:t>
            </a:r>
          </a:p>
        </p:txBody>
      </p:sp>
      <p:sp>
        <p:nvSpPr>
          <p:cNvPr id="22532" name="Rectangle 3"/>
          <p:cNvSpPr>
            <a:spLocks noGrp="1" noChangeArrowheads="1"/>
          </p:cNvSpPr>
          <p:nvPr>
            <p:ph idx="1"/>
          </p:nvPr>
        </p:nvSpPr>
        <p:spPr>
          <a:xfrm>
            <a:off x="533400" y="3848100"/>
            <a:ext cx="3833813" cy="2085975"/>
          </a:xfrm>
        </p:spPr>
        <p:txBody>
          <a:bodyPr/>
          <a:lstStyle/>
          <a:p>
            <a:pPr>
              <a:buFont typeface="Arial" charset="0"/>
              <a:buChar char="•"/>
            </a:pPr>
            <a:r>
              <a:rPr lang="en-US" sz="2000" smtClean="0"/>
              <a:t>The reserve transaction can be seen from the Financials - Transactions list</a:t>
            </a:r>
          </a:p>
          <a:p>
            <a:pPr lvl="1"/>
            <a:r>
              <a:rPr lang="en-US" sz="2000" smtClean="0"/>
              <a:t>Note that this is a list of reserve transactions, not a list of reserve lines</a:t>
            </a:r>
          </a:p>
        </p:txBody>
      </p:sp>
      <p:sp>
        <p:nvSpPr>
          <p:cNvPr id="22533" name="AutoShape 5"/>
          <p:cNvSpPr>
            <a:spLocks noChangeArrowheads="1"/>
          </p:cNvSpPr>
          <p:nvPr/>
        </p:nvSpPr>
        <p:spPr bwMode="auto">
          <a:xfrm>
            <a:off x="1840675" y="2686843"/>
            <a:ext cx="7013269" cy="2206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grpSp>
        <p:nvGrpSpPr>
          <p:cNvPr id="22534" name="Group 6"/>
          <p:cNvGrpSpPr>
            <a:grpSpLocks/>
          </p:cNvGrpSpPr>
          <p:nvPr/>
        </p:nvGrpSpPr>
        <p:grpSpPr bwMode="auto">
          <a:xfrm>
            <a:off x="6035675" y="3548063"/>
            <a:ext cx="2363788" cy="2136775"/>
            <a:chOff x="4334" y="2464"/>
            <a:chExt cx="780" cy="705"/>
          </a:xfrm>
        </p:grpSpPr>
        <p:sp>
          <p:nvSpPr>
            <p:cNvPr id="22538" name="Line 7"/>
            <p:cNvSpPr>
              <a:spLocks noChangeShapeType="1"/>
            </p:cNvSpPr>
            <p:nvPr/>
          </p:nvSpPr>
          <p:spPr bwMode="auto">
            <a:xfrm>
              <a:off x="4527" y="3013"/>
              <a:ext cx="3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9" name="Line 8"/>
            <p:cNvSpPr>
              <a:spLocks noChangeShapeType="1"/>
            </p:cNvSpPr>
            <p:nvPr/>
          </p:nvSpPr>
          <p:spPr bwMode="auto">
            <a:xfrm flipV="1">
              <a:off x="4531" y="2736"/>
              <a:ext cx="0" cy="276"/>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2540" name="Group 9"/>
            <p:cNvGrpSpPr>
              <a:grpSpLocks/>
            </p:cNvGrpSpPr>
            <p:nvPr/>
          </p:nvGrpSpPr>
          <p:grpSpPr bwMode="auto">
            <a:xfrm>
              <a:off x="4334" y="2464"/>
              <a:ext cx="410" cy="407"/>
              <a:chOff x="3360" y="800"/>
              <a:chExt cx="620" cy="616"/>
            </a:xfrm>
          </p:grpSpPr>
          <p:sp>
            <p:nvSpPr>
              <p:cNvPr id="22559" name="AutoShape 1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60" name="Freeform 11"/>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2561" name="Group 12"/>
              <p:cNvGrpSpPr>
                <a:grpSpLocks/>
              </p:cNvGrpSpPr>
              <p:nvPr/>
            </p:nvGrpSpPr>
            <p:grpSpPr bwMode="auto">
              <a:xfrm flipH="1">
                <a:off x="3749" y="1171"/>
                <a:ext cx="212" cy="213"/>
                <a:chOff x="1350" y="686"/>
                <a:chExt cx="1132" cy="1132"/>
              </a:xfrm>
            </p:grpSpPr>
            <p:sp>
              <p:nvSpPr>
                <p:cNvPr id="22563" name="AutoShape 1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64" name="Picture 14"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62" name="Picture 15"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541" name="Group 16"/>
            <p:cNvGrpSpPr>
              <a:grpSpLocks/>
            </p:cNvGrpSpPr>
            <p:nvPr/>
          </p:nvGrpSpPr>
          <p:grpSpPr bwMode="auto">
            <a:xfrm>
              <a:off x="4772" y="2741"/>
              <a:ext cx="342" cy="428"/>
              <a:chOff x="4174" y="933"/>
              <a:chExt cx="921" cy="1151"/>
            </a:xfrm>
          </p:grpSpPr>
          <p:sp>
            <p:nvSpPr>
              <p:cNvPr id="22542" name="Rectangle 17"/>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2543" name="AutoShape 18"/>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544" name="AutoShape 19"/>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545" name="AutoShape 20"/>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2546" name="Freeform 21"/>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47" name="Freeform 22"/>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48" name="Freeform 23"/>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49" name="Freeform 24"/>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50" name="Freeform 25"/>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51" name="Freeform 26"/>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52" name="Freeform 27"/>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2553" name="Line 28"/>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4" name="Line 29"/>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5" name="Line 30"/>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6" name="Line 31"/>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7" name="Line 32"/>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8" name="Line 33"/>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22535" name="AutoShape 34"/>
          <p:cNvSpPr>
            <a:spLocks noChangeArrowheads="1"/>
          </p:cNvSpPr>
          <p:nvPr/>
        </p:nvSpPr>
        <p:spPr bwMode="auto">
          <a:xfrm>
            <a:off x="6091238" y="5222875"/>
            <a:ext cx="1236662" cy="674688"/>
          </a:xfrm>
          <a:prstGeom prst="rightArrow">
            <a:avLst>
              <a:gd name="adj1" fmla="val 50000"/>
              <a:gd name="adj2" fmla="val 4582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2536" name="Line 35"/>
          <p:cNvSpPr>
            <a:spLocks noChangeShapeType="1"/>
          </p:cNvSpPr>
          <p:nvPr/>
        </p:nvSpPr>
        <p:spPr bwMode="auto">
          <a:xfrm>
            <a:off x="4298868" y="2907506"/>
            <a:ext cx="589045" cy="265826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537" name="Line 36"/>
          <p:cNvSpPr>
            <a:spLocks noChangeShapeType="1"/>
          </p:cNvSpPr>
          <p:nvPr/>
        </p:nvSpPr>
        <p:spPr bwMode="auto">
          <a:xfrm>
            <a:off x="4887913" y="5580063"/>
            <a:ext cx="119697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extLst>
      <p:ext uri="{BB962C8B-B14F-4D97-AF65-F5344CB8AC3E}">
        <p14:creationId xmlns:p14="http://schemas.microsoft.com/office/powerpoint/2010/main" val="19896541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013" y="1150937"/>
            <a:ext cx="8616027" cy="400295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5" name="Rectangle 3"/>
          <p:cNvSpPr>
            <a:spLocks noGrp="1" noChangeArrowheads="1"/>
          </p:cNvSpPr>
          <p:nvPr>
            <p:ph type="title"/>
          </p:nvPr>
        </p:nvSpPr>
        <p:spPr/>
        <p:txBody>
          <a:bodyPr/>
          <a:lstStyle/>
          <a:p>
            <a:pPr eaLnBrk="1" hangingPunct="1"/>
            <a:r>
              <a:rPr lang="en-US" smtClean="0"/>
              <a:t>Viewing existing reserve lines</a:t>
            </a:r>
          </a:p>
        </p:txBody>
      </p:sp>
      <p:sp>
        <p:nvSpPr>
          <p:cNvPr id="23556" name="Rectangle 4"/>
          <p:cNvSpPr>
            <a:spLocks noGrp="1" noChangeArrowheads="1"/>
          </p:cNvSpPr>
          <p:nvPr>
            <p:ph idx="1"/>
          </p:nvPr>
        </p:nvSpPr>
        <p:spPr>
          <a:xfrm>
            <a:off x="495300" y="5557838"/>
            <a:ext cx="8318500" cy="869950"/>
          </a:xfrm>
        </p:spPr>
        <p:txBody>
          <a:bodyPr/>
          <a:lstStyle/>
          <a:p>
            <a:pPr>
              <a:buFont typeface="Arial" charset="0"/>
              <a:buChar char="•"/>
            </a:pPr>
            <a:r>
              <a:rPr lang="en-US" dirty="0" smtClean="0"/>
              <a:t>The Summary menu link lists reserve lines for the claim</a:t>
            </a:r>
          </a:p>
          <a:p>
            <a:pPr lvl="1"/>
            <a:r>
              <a:rPr lang="en-US" dirty="0" smtClean="0"/>
              <a:t>Each reserve line has its own context menu (      )</a:t>
            </a:r>
          </a:p>
        </p:txBody>
      </p:sp>
      <p:sp>
        <p:nvSpPr>
          <p:cNvPr id="23557" name="Text Box 5"/>
          <p:cNvSpPr txBox="1">
            <a:spLocks noChangeArrowheads="1"/>
          </p:cNvSpPr>
          <p:nvPr/>
        </p:nvSpPr>
        <p:spPr bwMode="auto">
          <a:xfrm>
            <a:off x="354013" y="788988"/>
            <a:ext cx="2097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View dropdown</a:t>
            </a:r>
          </a:p>
        </p:txBody>
      </p:sp>
      <p:sp>
        <p:nvSpPr>
          <p:cNvPr id="23558" name="Line 6"/>
          <p:cNvSpPr>
            <a:spLocks noChangeShapeType="1"/>
          </p:cNvSpPr>
          <p:nvPr/>
        </p:nvSpPr>
        <p:spPr bwMode="auto">
          <a:xfrm>
            <a:off x="1412947" y="1093788"/>
            <a:ext cx="0" cy="5318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59" name="Text Box 7"/>
          <p:cNvSpPr txBox="1">
            <a:spLocks noChangeArrowheads="1"/>
          </p:cNvSpPr>
          <p:nvPr/>
        </p:nvSpPr>
        <p:spPr bwMode="auto">
          <a:xfrm>
            <a:off x="1384300" y="1873250"/>
            <a:ext cx="2232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Reserve lines</a:t>
            </a:r>
          </a:p>
        </p:txBody>
      </p:sp>
      <p:sp>
        <p:nvSpPr>
          <p:cNvPr id="23560" name="Line 8"/>
          <p:cNvSpPr>
            <a:spLocks noChangeShapeType="1"/>
          </p:cNvSpPr>
          <p:nvPr/>
        </p:nvSpPr>
        <p:spPr bwMode="auto">
          <a:xfrm flipH="1">
            <a:off x="1401072" y="2822450"/>
            <a:ext cx="151916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3" name="Line 11"/>
          <p:cNvSpPr>
            <a:spLocks noChangeShapeType="1"/>
          </p:cNvSpPr>
          <p:nvPr/>
        </p:nvSpPr>
        <p:spPr bwMode="auto">
          <a:xfrm flipV="1">
            <a:off x="2920238" y="2810389"/>
            <a:ext cx="11875" cy="189298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4" name="Line 12"/>
          <p:cNvSpPr>
            <a:spLocks noChangeShapeType="1"/>
          </p:cNvSpPr>
          <p:nvPr/>
        </p:nvSpPr>
        <p:spPr bwMode="auto">
          <a:xfrm>
            <a:off x="2932113" y="2986088"/>
            <a:ext cx="2746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5" name="AutoShape 13"/>
          <p:cNvSpPr>
            <a:spLocks noChangeArrowheads="1"/>
          </p:cNvSpPr>
          <p:nvPr/>
        </p:nvSpPr>
        <p:spPr bwMode="auto">
          <a:xfrm>
            <a:off x="3788229" y="2178050"/>
            <a:ext cx="1413164" cy="297583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3566" name="Text Box 14"/>
          <p:cNvSpPr txBox="1">
            <a:spLocks noChangeArrowheads="1"/>
          </p:cNvSpPr>
          <p:nvPr/>
        </p:nvSpPr>
        <p:spPr bwMode="auto">
          <a:xfrm>
            <a:off x="6174088" y="3438975"/>
            <a:ext cx="19319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solidFill>
                  <a:srgbClr val="FF0000"/>
                </a:solidFill>
              </a:rPr>
              <a:t>Status of each reserve line</a:t>
            </a:r>
          </a:p>
        </p:txBody>
      </p:sp>
      <p:sp>
        <p:nvSpPr>
          <p:cNvPr id="23567" name="Line 15"/>
          <p:cNvSpPr>
            <a:spLocks noChangeShapeType="1"/>
          </p:cNvSpPr>
          <p:nvPr/>
        </p:nvSpPr>
        <p:spPr bwMode="auto">
          <a:xfrm flipH="1" flipV="1">
            <a:off x="5011738" y="2989263"/>
            <a:ext cx="1162350" cy="7545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8" name="Line 17"/>
          <p:cNvSpPr>
            <a:spLocks noChangeShapeType="1"/>
          </p:cNvSpPr>
          <p:nvPr/>
        </p:nvSpPr>
        <p:spPr bwMode="auto">
          <a:xfrm flipH="1">
            <a:off x="1192695" y="4184604"/>
            <a:ext cx="173941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9" name="Line 18"/>
          <p:cNvSpPr>
            <a:spLocks noChangeShapeType="1"/>
          </p:cNvSpPr>
          <p:nvPr/>
        </p:nvSpPr>
        <p:spPr bwMode="auto">
          <a:xfrm flipH="1">
            <a:off x="1192695" y="4703375"/>
            <a:ext cx="173941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70" name="Line 20"/>
          <p:cNvSpPr>
            <a:spLocks noChangeShapeType="1"/>
          </p:cNvSpPr>
          <p:nvPr/>
        </p:nvSpPr>
        <p:spPr bwMode="auto">
          <a:xfrm>
            <a:off x="3197225" y="2146300"/>
            <a:ext cx="4763" cy="8429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367" y="5999162"/>
            <a:ext cx="392715" cy="355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788" y="311944"/>
            <a:ext cx="1936878" cy="133429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 name="Line 8"/>
          <p:cNvSpPr>
            <a:spLocks noChangeShapeType="1"/>
          </p:cNvSpPr>
          <p:nvPr/>
        </p:nvSpPr>
        <p:spPr bwMode="auto">
          <a:xfrm flipH="1">
            <a:off x="1956021" y="3366519"/>
            <a:ext cx="97609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013" y="1150937"/>
            <a:ext cx="8616027" cy="400295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79" name="Rectangle 3"/>
          <p:cNvSpPr>
            <a:spLocks noGrp="1" noChangeArrowheads="1"/>
          </p:cNvSpPr>
          <p:nvPr>
            <p:ph type="title"/>
          </p:nvPr>
        </p:nvSpPr>
        <p:spPr/>
        <p:txBody>
          <a:bodyPr/>
          <a:lstStyle/>
          <a:p>
            <a:pPr eaLnBrk="1" hangingPunct="1"/>
            <a:r>
              <a:rPr lang="en-US" smtClean="0"/>
              <a:t>Summary screen views - exposure</a:t>
            </a:r>
          </a:p>
        </p:txBody>
      </p:sp>
      <p:sp>
        <p:nvSpPr>
          <p:cNvPr id="24580" name="Rectangle 4"/>
          <p:cNvSpPr>
            <a:spLocks noGrp="1" noChangeArrowheads="1"/>
          </p:cNvSpPr>
          <p:nvPr>
            <p:ph type="body" sz="half" idx="2"/>
          </p:nvPr>
        </p:nvSpPr>
        <p:spPr>
          <a:xfrm>
            <a:off x="5107374" y="4581210"/>
            <a:ext cx="3446011" cy="1554162"/>
          </a:xfrm>
          <a:solidFill>
            <a:schemeClr val="tx1"/>
          </a:solidFill>
        </p:spPr>
        <p:txBody>
          <a:bodyPr/>
          <a:lstStyle/>
          <a:p>
            <a:r>
              <a:rPr lang="en-US" sz="2200" dirty="0" smtClean="0"/>
              <a:t>Exposure view contains 3 levels:</a:t>
            </a:r>
          </a:p>
          <a:p>
            <a:pPr marL="400050" lvl="1" indent="0">
              <a:buNone/>
            </a:pPr>
            <a:r>
              <a:rPr lang="en-US" sz="2000" dirty="0" smtClean="0"/>
              <a:t>1</a:t>
            </a:r>
            <a:r>
              <a:rPr lang="en-US" sz="2000" baseline="30000" dirty="0" smtClean="0"/>
              <a:t>st</a:t>
            </a:r>
            <a:r>
              <a:rPr lang="en-US" sz="2000" dirty="0" smtClean="0"/>
              <a:t> level – exposure</a:t>
            </a:r>
          </a:p>
          <a:p>
            <a:pPr marL="400050" lvl="1" indent="0">
              <a:buNone/>
            </a:pPr>
            <a:r>
              <a:rPr lang="en-US" sz="2000" dirty="0" smtClean="0"/>
              <a:t>2</a:t>
            </a:r>
            <a:r>
              <a:rPr lang="en-US" sz="2000" baseline="30000" dirty="0" smtClean="0"/>
              <a:t>nd</a:t>
            </a:r>
            <a:r>
              <a:rPr lang="en-US" sz="2000" dirty="0" smtClean="0"/>
              <a:t> level – cost type</a:t>
            </a:r>
          </a:p>
          <a:p>
            <a:pPr marL="400050" lvl="1" indent="0">
              <a:buNone/>
            </a:pPr>
            <a:r>
              <a:rPr lang="en-US" sz="2000" dirty="0" smtClean="0"/>
              <a:t>3</a:t>
            </a:r>
            <a:r>
              <a:rPr lang="en-US" sz="2000" baseline="30000" dirty="0" smtClean="0"/>
              <a:t>rd</a:t>
            </a:r>
            <a:r>
              <a:rPr lang="en-US" sz="2000" dirty="0" smtClean="0"/>
              <a:t> level – cost category </a:t>
            </a:r>
          </a:p>
        </p:txBody>
      </p:sp>
      <p:sp>
        <p:nvSpPr>
          <p:cNvPr id="24581" name="AutoShape 7"/>
          <p:cNvSpPr>
            <a:spLocks noChangeArrowheads="1"/>
          </p:cNvSpPr>
          <p:nvPr/>
        </p:nvSpPr>
        <p:spPr bwMode="auto">
          <a:xfrm>
            <a:off x="847912" y="1482912"/>
            <a:ext cx="1766887" cy="3175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5350" y="854075"/>
            <a:ext cx="2447406" cy="1717675"/>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
        <p:nvSpPr>
          <p:cNvPr id="8" name="Line 15"/>
          <p:cNvSpPr>
            <a:spLocks noChangeShapeType="1"/>
          </p:cNvSpPr>
          <p:nvPr/>
        </p:nvSpPr>
        <p:spPr bwMode="auto">
          <a:xfrm flipH="1" flipV="1">
            <a:off x="1947553" y="3728852"/>
            <a:ext cx="3584915" cy="176215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Line 15"/>
          <p:cNvSpPr>
            <a:spLocks noChangeShapeType="1"/>
          </p:cNvSpPr>
          <p:nvPr/>
        </p:nvSpPr>
        <p:spPr bwMode="auto">
          <a:xfrm flipH="1" flipV="1">
            <a:off x="1392331" y="4405496"/>
            <a:ext cx="4140137" cy="142528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Line 15"/>
          <p:cNvSpPr>
            <a:spLocks noChangeShapeType="1"/>
          </p:cNvSpPr>
          <p:nvPr/>
        </p:nvSpPr>
        <p:spPr bwMode="auto">
          <a:xfrm flipH="1" flipV="1">
            <a:off x="1056904" y="4773880"/>
            <a:ext cx="4475564" cy="143425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Line 15"/>
          <p:cNvSpPr>
            <a:spLocks noChangeShapeType="1"/>
          </p:cNvSpPr>
          <p:nvPr/>
        </p:nvSpPr>
        <p:spPr bwMode="auto">
          <a:xfrm flipV="1">
            <a:off x="2614800" y="854075"/>
            <a:ext cx="3360550" cy="73172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935" y="2755371"/>
            <a:ext cx="7951787" cy="32385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2"/>
          <p:cNvSpPr>
            <a:spLocks noGrp="1" noChangeArrowheads="1"/>
          </p:cNvSpPr>
          <p:nvPr>
            <p:ph type="title"/>
          </p:nvPr>
        </p:nvSpPr>
        <p:spPr/>
        <p:txBody>
          <a:bodyPr/>
          <a:lstStyle/>
          <a:p>
            <a:pPr eaLnBrk="1" hangingPunct="1"/>
            <a:r>
              <a:rPr lang="en-US" smtClean="0"/>
              <a:t>Summary screen views - claimant</a:t>
            </a:r>
          </a:p>
        </p:txBody>
      </p:sp>
      <p:sp>
        <p:nvSpPr>
          <p:cNvPr id="9" name="Rectangle 12"/>
          <p:cNvSpPr txBox="1">
            <a:spLocks noChangeArrowheads="1"/>
          </p:cNvSpPr>
          <p:nvPr/>
        </p:nvSpPr>
        <p:spPr bwMode="auto">
          <a:xfrm>
            <a:off x="4588549" y="902885"/>
            <a:ext cx="4271962" cy="165576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r>
              <a:rPr lang="en-US" sz="2200" kern="0" dirty="0" smtClean="0"/>
              <a:t>Claimant view contains 3 levels:</a:t>
            </a:r>
          </a:p>
          <a:p>
            <a:pPr marL="400050" lvl="1" indent="0">
              <a:buNone/>
            </a:pPr>
            <a:r>
              <a:rPr lang="en-US" sz="2000" kern="0" dirty="0" smtClean="0"/>
              <a:t>1</a:t>
            </a:r>
            <a:r>
              <a:rPr lang="en-US" sz="2000" kern="0" baseline="30000" dirty="0" smtClean="0"/>
              <a:t>st</a:t>
            </a:r>
            <a:r>
              <a:rPr lang="en-US" sz="2000" kern="0" dirty="0" smtClean="0"/>
              <a:t> level – claimant</a:t>
            </a:r>
          </a:p>
          <a:p>
            <a:pPr marL="400050" lvl="1" indent="0">
              <a:buNone/>
            </a:pPr>
            <a:r>
              <a:rPr lang="en-US" sz="2000" kern="0" dirty="0" smtClean="0"/>
              <a:t>2</a:t>
            </a:r>
            <a:r>
              <a:rPr lang="en-US" sz="2000" kern="0" baseline="30000" dirty="0" smtClean="0"/>
              <a:t>nd</a:t>
            </a:r>
            <a:r>
              <a:rPr lang="en-US" sz="2000" kern="0" dirty="0" smtClean="0"/>
              <a:t> level – exposure</a:t>
            </a:r>
          </a:p>
          <a:p>
            <a:pPr marL="400050" lvl="1" indent="0">
              <a:buNone/>
            </a:pPr>
            <a:r>
              <a:rPr lang="en-US" sz="2000" kern="0" dirty="0" smtClean="0"/>
              <a:t>3</a:t>
            </a:r>
            <a:r>
              <a:rPr lang="en-US" sz="2000" kern="0" baseline="30000" dirty="0" smtClean="0"/>
              <a:t>rd</a:t>
            </a:r>
            <a:r>
              <a:rPr lang="en-US" sz="2000" kern="0" dirty="0" smtClean="0"/>
              <a:t> level – cost type &amp; category</a:t>
            </a:r>
            <a:r>
              <a:rPr lang="en-US" kern="0" dirty="0" smtClean="0"/>
              <a:t> </a:t>
            </a:r>
          </a:p>
        </p:txBody>
      </p:sp>
      <p:sp>
        <p:nvSpPr>
          <p:cNvPr id="10" name="Line 15"/>
          <p:cNvSpPr>
            <a:spLocks noChangeShapeType="1"/>
          </p:cNvSpPr>
          <p:nvPr/>
        </p:nvSpPr>
        <p:spPr bwMode="auto">
          <a:xfrm flipH="1">
            <a:off x="1552352" y="1381535"/>
            <a:ext cx="3362548" cy="254407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Line 15"/>
          <p:cNvSpPr>
            <a:spLocks noChangeShapeType="1"/>
          </p:cNvSpPr>
          <p:nvPr/>
        </p:nvSpPr>
        <p:spPr bwMode="auto">
          <a:xfrm flipH="1">
            <a:off x="2144109" y="1730766"/>
            <a:ext cx="2770790" cy="244709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Line 15"/>
          <p:cNvSpPr>
            <a:spLocks noChangeShapeType="1"/>
          </p:cNvSpPr>
          <p:nvPr/>
        </p:nvSpPr>
        <p:spPr bwMode="auto">
          <a:xfrm flipH="1">
            <a:off x="2654952" y="2351314"/>
            <a:ext cx="2439562" cy="21056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5605" name="AutoShape 13"/>
          <p:cNvSpPr>
            <a:spLocks noChangeArrowheads="1"/>
          </p:cNvSpPr>
          <p:nvPr/>
        </p:nvSpPr>
        <p:spPr bwMode="auto">
          <a:xfrm>
            <a:off x="778696" y="3104110"/>
            <a:ext cx="1791083" cy="3016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AutoShape 22"/>
          <p:cNvSpPr>
            <a:spLocks/>
          </p:cNvSpPr>
          <p:nvPr/>
        </p:nvSpPr>
        <p:spPr bwMode="auto">
          <a:xfrm>
            <a:off x="2482031" y="4225073"/>
            <a:ext cx="175495" cy="512929"/>
          </a:xfrm>
          <a:prstGeom prst="rightBrace">
            <a:avLst>
              <a:gd name="adj1" fmla="val 32231"/>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962" y="2735141"/>
            <a:ext cx="7932737" cy="32289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7" name="Rectangle 2"/>
          <p:cNvSpPr>
            <a:spLocks noGrp="1" noChangeArrowheads="1"/>
          </p:cNvSpPr>
          <p:nvPr>
            <p:ph type="title"/>
          </p:nvPr>
        </p:nvSpPr>
        <p:spPr/>
        <p:txBody>
          <a:bodyPr/>
          <a:lstStyle/>
          <a:p>
            <a:pPr eaLnBrk="1" hangingPunct="1"/>
            <a:r>
              <a:rPr lang="en-US" smtClean="0"/>
              <a:t>Summary screen views - coverage</a:t>
            </a:r>
          </a:p>
        </p:txBody>
      </p:sp>
      <p:sp>
        <p:nvSpPr>
          <p:cNvPr id="26629" name="AutoShape 13"/>
          <p:cNvSpPr>
            <a:spLocks noChangeArrowheads="1"/>
          </p:cNvSpPr>
          <p:nvPr/>
        </p:nvSpPr>
        <p:spPr bwMode="auto">
          <a:xfrm>
            <a:off x="353083" y="3101974"/>
            <a:ext cx="2057609" cy="2460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 name="Rectangle 12"/>
          <p:cNvSpPr>
            <a:spLocks noGrp="1" noChangeArrowheads="1"/>
          </p:cNvSpPr>
          <p:nvPr>
            <p:ph type="body" sz="half" idx="2"/>
          </p:nvPr>
        </p:nvSpPr>
        <p:spPr>
          <a:xfrm>
            <a:off x="4588549" y="902885"/>
            <a:ext cx="4359275" cy="1655762"/>
          </a:xfrm>
          <a:solidFill>
            <a:schemeClr val="tx1"/>
          </a:solidFill>
        </p:spPr>
        <p:txBody>
          <a:bodyPr/>
          <a:lstStyle/>
          <a:p>
            <a:r>
              <a:rPr lang="en-US" sz="2200" dirty="0" smtClean="0"/>
              <a:t>Coverage view contains 3 levels</a:t>
            </a:r>
          </a:p>
          <a:p>
            <a:pPr marL="400050" lvl="1" indent="0">
              <a:buNone/>
            </a:pPr>
            <a:r>
              <a:rPr lang="en-US" sz="2000" dirty="0" smtClean="0"/>
              <a:t>1</a:t>
            </a:r>
            <a:r>
              <a:rPr lang="en-US" sz="2000" baseline="30000" dirty="0" smtClean="0"/>
              <a:t>st</a:t>
            </a:r>
            <a:r>
              <a:rPr lang="en-US" sz="2000" dirty="0" smtClean="0"/>
              <a:t> level – coverage</a:t>
            </a:r>
          </a:p>
          <a:p>
            <a:pPr marL="400050" lvl="1" indent="0">
              <a:buNone/>
            </a:pPr>
            <a:r>
              <a:rPr lang="en-US" sz="2000" dirty="0" smtClean="0"/>
              <a:t>2</a:t>
            </a:r>
            <a:r>
              <a:rPr lang="en-US" sz="2000" baseline="30000" dirty="0" smtClean="0"/>
              <a:t>nd</a:t>
            </a:r>
            <a:r>
              <a:rPr lang="en-US" sz="2000" dirty="0" smtClean="0"/>
              <a:t> level – exposure</a:t>
            </a:r>
          </a:p>
          <a:p>
            <a:pPr marL="400050" lvl="1" indent="0">
              <a:buNone/>
            </a:pPr>
            <a:r>
              <a:rPr lang="en-US" sz="2000" dirty="0" smtClean="0"/>
              <a:t>3</a:t>
            </a:r>
            <a:r>
              <a:rPr lang="en-US" sz="2000" baseline="30000" dirty="0" smtClean="0"/>
              <a:t>rd</a:t>
            </a:r>
            <a:r>
              <a:rPr lang="en-US" sz="2000" dirty="0" smtClean="0"/>
              <a:t> level – cost type &amp; category</a:t>
            </a:r>
            <a:r>
              <a:rPr lang="en-US" dirty="0" smtClean="0"/>
              <a:t> </a:t>
            </a:r>
          </a:p>
        </p:txBody>
      </p:sp>
      <p:sp>
        <p:nvSpPr>
          <p:cNvPr id="13" name="Line 15"/>
          <p:cNvSpPr>
            <a:spLocks noChangeShapeType="1"/>
          </p:cNvSpPr>
          <p:nvPr/>
        </p:nvSpPr>
        <p:spPr bwMode="auto">
          <a:xfrm flipH="1">
            <a:off x="1381887" y="1381535"/>
            <a:ext cx="3533013" cy="240669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Line 15"/>
          <p:cNvSpPr>
            <a:spLocks noChangeShapeType="1"/>
          </p:cNvSpPr>
          <p:nvPr/>
        </p:nvSpPr>
        <p:spPr bwMode="auto">
          <a:xfrm flipH="1">
            <a:off x="2173184" y="1730766"/>
            <a:ext cx="2741715" cy="21948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5" name="Line 15"/>
          <p:cNvSpPr>
            <a:spLocks noChangeShapeType="1"/>
          </p:cNvSpPr>
          <p:nvPr/>
        </p:nvSpPr>
        <p:spPr bwMode="auto">
          <a:xfrm flipH="1">
            <a:off x="2665516" y="2191407"/>
            <a:ext cx="2306533" cy="224267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AutoShape 22"/>
          <p:cNvSpPr>
            <a:spLocks/>
          </p:cNvSpPr>
          <p:nvPr/>
        </p:nvSpPr>
        <p:spPr bwMode="auto">
          <a:xfrm>
            <a:off x="2551216" y="4219001"/>
            <a:ext cx="114300" cy="430162"/>
          </a:xfrm>
          <a:prstGeom prst="rightBrace">
            <a:avLst>
              <a:gd name="adj1" fmla="val 32231"/>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 y="1769477"/>
            <a:ext cx="4124325" cy="21717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2" name="Rectangle 2"/>
          <p:cNvSpPr>
            <a:spLocks noGrp="1" noChangeArrowheads="1"/>
          </p:cNvSpPr>
          <p:nvPr>
            <p:ph type="title"/>
          </p:nvPr>
        </p:nvSpPr>
        <p:spPr/>
        <p:txBody>
          <a:bodyPr/>
          <a:lstStyle/>
          <a:p>
            <a:pPr eaLnBrk="1" hangingPunct="1"/>
            <a:r>
              <a:rPr lang="en-US" smtClean="0"/>
              <a:t>Modifying an existing reserve line amount</a:t>
            </a:r>
          </a:p>
        </p:txBody>
      </p:sp>
      <p:sp>
        <p:nvSpPr>
          <p:cNvPr id="27653" name="Rectangle 3"/>
          <p:cNvSpPr>
            <a:spLocks noGrp="1" noChangeArrowheads="1"/>
          </p:cNvSpPr>
          <p:nvPr>
            <p:ph idx="1"/>
          </p:nvPr>
        </p:nvSpPr>
        <p:spPr>
          <a:xfrm>
            <a:off x="519112" y="5137382"/>
            <a:ext cx="8518793" cy="1627188"/>
          </a:xfrm>
        </p:spPr>
        <p:txBody>
          <a:bodyPr/>
          <a:lstStyle/>
          <a:p>
            <a:pPr>
              <a:buFont typeface="Arial" charset="0"/>
              <a:buChar char="•"/>
            </a:pPr>
            <a:r>
              <a:rPr lang="en-US" dirty="0" smtClean="0"/>
              <a:t>To add money to an existing reserve line, enter the new reserve line amount in the New Available Reserves column</a:t>
            </a:r>
          </a:p>
          <a:p>
            <a:pPr lvl="1"/>
            <a:r>
              <a:rPr lang="en-US" dirty="0" smtClean="0"/>
              <a:t>ClaimCenter automatically calculates the amount that the transaction needs to be to affect the change</a:t>
            </a:r>
          </a:p>
        </p:txBody>
      </p:sp>
      <p:grpSp>
        <p:nvGrpSpPr>
          <p:cNvPr id="27654" name="Group 4"/>
          <p:cNvGrpSpPr>
            <a:grpSpLocks/>
          </p:cNvGrpSpPr>
          <p:nvPr/>
        </p:nvGrpSpPr>
        <p:grpSpPr bwMode="auto">
          <a:xfrm>
            <a:off x="2492375" y="4042832"/>
            <a:ext cx="598488" cy="749300"/>
            <a:chOff x="4174" y="933"/>
            <a:chExt cx="921" cy="1151"/>
          </a:xfrm>
        </p:grpSpPr>
        <p:sp>
          <p:nvSpPr>
            <p:cNvPr id="27697"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698"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9"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00"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01"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2"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3"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4"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5"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6"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7"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8"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9"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10"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11"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12"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13"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55" name="AutoShape 22"/>
          <p:cNvSpPr>
            <a:spLocks noChangeArrowheads="1"/>
          </p:cNvSpPr>
          <p:nvPr/>
        </p:nvSpPr>
        <p:spPr bwMode="auto">
          <a:xfrm>
            <a:off x="1341438" y="4222219"/>
            <a:ext cx="714375" cy="390525"/>
          </a:xfrm>
          <a:prstGeom prst="rightArrow">
            <a:avLst>
              <a:gd name="adj1" fmla="val 50000"/>
              <a:gd name="adj2" fmla="val 45732"/>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7656" name="Text Box 23"/>
          <p:cNvSpPr txBox="1">
            <a:spLocks noChangeArrowheads="1"/>
          </p:cNvSpPr>
          <p:nvPr/>
        </p:nvSpPr>
        <p:spPr bwMode="auto">
          <a:xfrm>
            <a:off x="863600" y="4531782"/>
            <a:ext cx="10191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+$500</a:t>
            </a:r>
          </a:p>
        </p:txBody>
      </p:sp>
      <p:sp>
        <p:nvSpPr>
          <p:cNvPr id="27657" name="Text Box 24"/>
          <p:cNvSpPr txBox="1">
            <a:spLocks noChangeArrowheads="1"/>
          </p:cNvSpPr>
          <p:nvPr/>
        </p:nvSpPr>
        <p:spPr bwMode="auto">
          <a:xfrm>
            <a:off x="2246313" y="4846107"/>
            <a:ext cx="1071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$2500</a:t>
            </a:r>
          </a:p>
        </p:txBody>
      </p:sp>
      <p:sp>
        <p:nvSpPr>
          <p:cNvPr id="27659" name="AutoShape 27"/>
          <p:cNvSpPr>
            <a:spLocks noChangeArrowheads="1"/>
          </p:cNvSpPr>
          <p:nvPr/>
        </p:nvSpPr>
        <p:spPr bwMode="auto">
          <a:xfrm>
            <a:off x="3529013" y="4182532"/>
            <a:ext cx="1271587" cy="469900"/>
          </a:xfrm>
          <a:custGeom>
            <a:avLst/>
            <a:gdLst>
              <a:gd name="T0" fmla="*/ 2147483647 w 21600"/>
              <a:gd name="T1" fmla="*/ 0 h 21600"/>
              <a:gd name="T2" fmla="*/ 0 w 21600"/>
              <a:gd name="T3" fmla="*/ 111193310 h 21600"/>
              <a:gd name="T4" fmla="*/ 2147483647 w 21600"/>
              <a:gd name="T5" fmla="*/ 222386621 h 21600"/>
              <a:gd name="T6" fmla="*/ 2147483647 w 21600"/>
              <a:gd name="T7" fmla="*/ 11119331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nvGrpSpPr>
          <p:cNvPr id="27660" name="Group 28"/>
          <p:cNvGrpSpPr>
            <a:grpSpLocks/>
          </p:cNvGrpSpPr>
          <p:nvPr/>
        </p:nvGrpSpPr>
        <p:grpSpPr bwMode="auto">
          <a:xfrm>
            <a:off x="5238750" y="4042832"/>
            <a:ext cx="598488" cy="749300"/>
            <a:chOff x="4174" y="933"/>
            <a:chExt cx="921" cy="1151"/>
          </a:xfrm>
        </p:grpSpPr>
        <p:sp>
          <p:nvSpPr>
            <p:cNvPr id="27680" name="Rectangle 29"/>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681" name="AutoShape 30"/>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82" name="AutoShape 31"/>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83" name="AutoShape 32"/>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84" name="Freeform 33"/>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85" name="Freeform 34"/>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86" name="Freeform 35"/>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87" name="Freeform 36"/>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88" name="Freeform 37"/>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89" name="Freeform 38"/>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90" name="Freeform 39"/>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91" name="Line 40"/>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92" name="Line 41"/>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93" name="Line 42"/>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94" name="Line 43"/>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95" name="Line 44"/>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96" name="Line 45"/>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61" name="Text Box 46"/>
          <p:cNvSpPr txBox="1">
            <a:spLocks noChangeArrowheads="1"/>
          </p:cNvSpPr>
          <p:nvPr/>
        </p:nvSpPr>
        <p:spPr bwMode="auto">
          <a:xfrm>
            <a:off x="4956175" y="4871507"/>
            <a:ext cx="10715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$3000</a:t>
            </a:r>
          </a:p>
        </p:txBody>
      </p:sp>
      <p:grpSp>
        <p:nvGrpSpPr>
          <p:cNvPr id="27662" name="Group 47"/>
          <p:cNvGrpSpPr>
            <a:grpSpLocks/>
          </p:cNvGrpSpPr>
          <p:nvPr/>
        </p:nvGrpSpPr>
        <p:grpSpPr bwMode="auto">
          <a:xfrm>
            <a:off x="6881813" y="4120619"/>
            <a:ext cx="1016000" cy="684213"/>
            <a:chOff x="2984" y="3331"/>
            <a:chExt cx="845" cy="569"/>
          </a:xfrm>
        </p:grpSpPr>
        <p:sp>
          <p:nvSpPr>
            <p:cNvPr id="27667" name="AutoShape 4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7668" name="Group 49"/>
            <p:cNvGrpSpPr>
              <a:grpSpLocks/>
            </p:cNvGrpSpPr>
            <p:nvPr/>
          </p:nvGrpSpPr>
          <p:grpSpPr bwMode="auto">
            <a:xfrm>
              <a:off x="3386" y="3487"/>
              <a:ext cx="443" cy="398"/>
              <a:chOff x="4838" y="2218"/>
              <a:chExt cx="395" cy="355"/>
            </a:xfrm>
          </p:grpSpPr>
          <p:sp>
            <p:nvSpPr>
              <p:cNvPr id="27669" name="Freeform 50"/>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0" name="Freeform 51"/>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1" name="Freeform 52"/>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2" name="Freeform 53"/>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3" name="Freeform 54"/>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Freeform 55"/>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Freeform 56"/>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Rectangle 5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677" name="Rectangle 5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678" name="Freeform 59"/>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Rectangle 6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7664" name="Line 62"/>
          <p:cNvSpPr>
            <a:spLocks noChangeShapeType="1"/>
          </p:cNvSpPr>
          <p:nvPr/>
        </p:nvSpPr>
        <p:spPr bwMode="auto">
          <a:xfrm flipH="1">
            <a:off x="6459538" y="4471457"/>
            <a:ext cx="39052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65" name="AutoShape 65"/>
          <p:cNvSpPr>
            <a:spLocks noChangeArrowheads="1"/>
          </p:cNvSpPr>
          <p:nvPr/>
        </p:nvSpPr>
        <p:spPr bwMode="auto">
          <a:xfrm>
            <a:off x="2837786" y="3152929"/>
            <a:ext cx="190500" cy="1905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868" y="590623"/>
            <a:ext cx="8357038" cy="200642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66" name="Line 66"/>
          <p:cNvSpPr>
            <a:spLocks noChangeShapeType="1"/>
          </p:cNvSpPr>
          <p:nvPr/>
        </p:nvSpPr>
        <p:spPr bwMode="auto">
          <a:xfrm flipV="1">
            <a:off x="2995988" y="2597051"/>
            <a:ext cx="649737" cy="5868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658" name="AutoShape 26"/>
          <p:cNvSpPr>
            <a:spLocks noChangeArrowheads="1"/>
          </p:cNvSpPr>
          <p:nvPr/>
        </p:nvSpPr>
        <p:spPr bwMode="auto">
          <a:xfrm>
            <a:off x="7058156" y="2137934"/>
            <a:ext cx="1979750" cy="24016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63" name="Line 61"/>
          <p:cNvSpPr>
            <a:spLocks noChangeShapeType="1"/>
          </p:cNvSpPr>
          <p:nvPr/>
        </p:nvSpPr>
        <p:spPr bwMode="auto">
          <a:xfrm flipV="1">
            <a:off x="7339013" y="2405391"/>
            <a:ext cx="456316" cy="167712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9" name="AutoShape 26"/>
          <p:cNvSpPr>
            <a:spLocks noChangeArrowheads="1"/>
          </p:cNvSpPr>
          <p:nvPr/>
        </p:nvSpPr>
        <p:spPr bwMode="auto">
          <a:xfrm>
            <a:off x="2838732" y="3331554"/>
            <a:ext cx="1149224" cy="24016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28674" name="Rectangle 2"/>
          <p:cNvSpPr>
            <a:spLocks noGrp="1" noChangeArrowheads="1"/>
          </p:cNvSpPr>
          <p:nvPr>
            <p:ph type="title"/>
          </p:nvPr>
        </p:nvSpPr>
        <p:spPr/>
        <p:txBody>
          <a:bodyPr/>
          <a:lstStyle/>
          <a:p>
            <a:pPr eaLnBrk="1" hangingPunct="1"/>
            <a:r>
              <a:rPr lang="en-US" smtClean="0"/>
              <a:t>Lesson objectives review</a:t>
            </a:r>
          </a:p>
        </p:txBody>
      </p:sp>
      <p:sp>
        <p:nvSpPr>
          <p:cNvPr id="28675"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Define financial terms used by ClaimCenter for managing reserves</a:t>
            </a:r>
          </a:p>
          <a:p>
            <a:pPr lvl="1"/>
            <a:r>
              <a:rPr lang="en-US" smtClean="0"/>
              <a:t>Create reserve lines</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sp>
        <p:nvSpPr>
          <p:cNvPr id="29698" name="Rectangle 2"/>
          <p:cNvSpPr>
            <a:spLocks noGrp="1" noChangeArrowheads="1"/>
          </p:cNvSpPr>
          <p:nvPr>
            <p:ph type="title"/>
          </p:nvPr>
        </p:nvSpPr>
        <p:spPr/>
        <p:txBody>
          <a:bodyPr/>
          <a:lstStyle/>
          <a:p>
            <a:pPr eaLnBrk="1" hangingPunct="1"/>
            <a:r>
              <a:rPr lang="en-US" smtClean="0"/>
              <a:t>Review questions</a:t>
            </a:r>
          </a:p>
        </p:txBody>
      </p:sp>
      <p:sp>
        <p:nvSpPr>
          <p:cNvPr id="29699" name="Rectangle 3"/>
          <p:cNvSpPr>
            <a:spLocks noGrp="1" noChangeArrowheads="1"/>
          </p:cNvSpPr>
          <p:nvPr>
            <p:ph idx="1"/>
          </p:nvPr>
        </p:nvSpPr>
        <p:spPr/>
        <p:txBody>
          <a:bodyPr/>
          <a:lstStyle/>
          <a:p>
            <a:pPr marL="457200" indent="-457200">
              <a:buFont typeface="Webdings" pitchFamily="18" charset="2"/>
              <a:buAutoNum type="arabicPeriod"/>
            </a:pPr>
            <a:r>
              <a:rPr lang="en-US" dirty="0" smtClean="0"/>
              <a:t>A reserve line is defined uniquely by what three values?</a:t>
            </a:r>
          </a:p>
          <a:p>
            <a:pPr marL="457200" indent="-457200">
              <a:buFont typeface="Webdings" pitchFamily="18" charset="2"/>
              <a:buAutoNum type="arabicPeriod"/>
            </a:pPr>
            <a:r>
              <a:rPr lang="en-US" dirty="0" smtClean="0"/>
              <a:t>What are the two most common (or most fundamental) cost types?</a:t>
            </a:r>
          </a:p>
          <a:p>
            <a:pPr marL="457200" indent="-457200">
              <a:buFont typeface="Webdings" pitchFamily="18" charset="2"/>
              <a:buAutoNum type="arabicPeriod"/>
            </a:pPr>
            <a:r>
              <a:rPr lang="en-US" dirty="0" smtClean="0"/>
              <a:t>What is the difference between a reserve line and a reserve transaction?</a:t>
            </a:r>
          </a:p>
          <a:p>
            <a:pPr marL="457200" indent="-457200">
              <a:buFont typeface="Webdings" pitchFamily="18" charset="2"/>
              <a:buAutoNum type="arabicPeriod"/>
            </a:pPr>
            <a:r>
              <a:rPr lang="en-US" dirty="0" smtClean="0"/>
              <a:t>Can you create more than one reserve line against the same </a:t>
            </a:r>
            <a:r>
              <a:rPr lang="en-US" dirty="0"/>
              <a:t>cost </a:t>
            </a:r>
            <a:r>
              <a:rPr lang="en-US" dirty="0" smtClean="0"/>
              <a:t>type / cost category combination</a:t>
            </a:r>
            <a:r>
              <a:rPr lang="en-US" dirty="0"/>
              <a:t> </a:t>
            </a:r>
            <a:r>
              <a:rPr lang="en-US" dirty="0" smtClean="0"/>
              <a:t>(assuming Multicurrency Reserving is disabled)?</a:t>
            </a:r>
          </a:p>
        </p:txBody>
      </p:sp>
    </p:spTree>
    <p:extLst>
      <p:ext uri="{BB962C8B-B14F-4D97-AF65-F5344CB8AC3E}">
        <p14:creationId xmlns:p14="http://schemas.microsoft.com/office/powerpoint/2010/main" val="57464357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 2001-2014 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a:t>
            </a:r>
            <a:r>
              <a:rPr lang="en-US" sz="1600" dirty="0" smtClean="0"/>
              <a:t>Claim </a:t>
            </a:r>
            <a:r>
              <a:rPr lang="en-US" sz="1600" dirty="0"/>
              <a:t>Portal, Guidewire Policyholder Portal, ClaimCenter, BillingCenter, PolicyCenter, InsuranceSuite, Gosu, </a:t>
            </a:r>
            <a:r>
              <a:rPr lang="en-US" sz="1600" dirty="0" smtClean="0"/>
              <a:t>Deliver </a:t>
            </a:r>
            <a:r>
              <a:rPr lang="en-US" sz="1600" dirty="0"/>
              <a:t>Insurance Your Way, and the Guidewire logo are trademarks, service marks, or registered trademarks of Guidewire Software, Inc. in the United States and/or other countries.</a:t>
            </a:r>
          </a:p>
          <a:p>
            <a:pPr marL="0" indent="0">
              <a:buNone/>
            </a:pPr>
            <a:r>
              <a:rPr lang="en-US" sz="1600" dirty="0"/>
              <a:t>All other trademarks are the property of their respective owners.</a:t>
            </a:r>
          </a:p>
          <a:p>
            <a:pPr marL="0" indent="0">
              <a:buNone/>
            </a:pPr>
            <a:r>
              <a:rPr lang="en-US" sz="1600" b="1" dirty="0"/>
              <a:t>This material is confidential and proprietary to Guidewire and subject to the confidentiality terms in the applicable license agreement and/or separate nondisclosure agreement.</a:t>
            </a:r>
          </a:p>
          <a:p>
            <a:pPr marL="0" indent="0">
              <a:buNone/>
            </a:pPr>
            <a:r>
              <a:rPr lang="en-US" sz="1600" dirty="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dirty="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33CB91B-D54D-4760-A407-A8E584A5D1C9}"/>
</file>

<file path=customXml/itemProps2.xml><?xml version="1.0" encoding="utf-8"?>
<ds:datastoreItem xmlns:ds="http://schemas.openxmlformats.org/officeDocument/2006/customXml" ds:itemID="{67B68D19-76CE-4A05-8B5B-F4DC8E5B1DFC}"/>
</file>

<file path=customXml/itemProps3.xml><?xml version="1.0" encoding="utf-8"?>
<ds:datastoreItem xmlns:ds="http://schemas.openxmlformats.org/officeDocument/2006/customXml" ds:itemID="{A48EDF92-94A5-41CF-8B87-E041E2513F76}"/>
</file>

<file path=docProps/app.xml><?xml version="1.0" encoding="utf-8"?>
<Properties xmlns="http://schemas.openxmlformats.org/officeDocument/2006/extended-properties" xmlns:vt="http://schemas.openxmlformats.org/officeDocument/2006/docPropsVTypes">
  <Template/>
  <TotalTime>10050</TotalTime>
  <Words>4149</Words>
  <Application>Microsoft Office PowerPoint</Application>
  <PresentationFormat>On-screen Show (4:3)</PresentationFormat>
  <Paragraphs>358</Paragraphs>
  <Slides>28</Slides>
  <Notes>28</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1_test-template</vt:lpstr>
      <vt:lpstr>Reserves</vt:lpstr>
      <vt:lpstr>Lesson objectives</vt:lpstr>
      <vt:lpstr>Lesson outline</vt:lpstr>
      <vt:lpstr>Financials</vt:lpstr>
      <vt:lpstr>Reserve lines</vt:lpstr>
      <vt:lpstr>Cost types</vt:lpstr>
      <vt:lpstr>Cost categories</vt:lpstr>
      <vt:lpstr>Reserve lines are unique</vt:lpstr>
      <vt:lpstr>Basic transactions</vt:lpstr>
      <vt:lpstr>Multicurrency: background</vt:lpstr>
      <vt:lpstr>Example: Multicurrency transactions</vt:lpstr>
      <vt:lpstr>Recovery transactions</vt:lpstr>
      <vt:lpstr>Financials approval</vt:lpstr>
      <vt:lpstr>Lesson outline</vt:lpstr>
      <vt:lpstr>Who creates reserve transactions?</vt:lpstr>
      <vt:lpstr>Automatic reserves: example</vt:lpstr>
      <vt:lpstr>Creating a manual reserve transaction</vt:lpstr>
      <vt:lpstr>Categorizing the reserve transaction</vt:lpstr>
      <vt:lpstr>Specifying the amount</vt:lpstr>
      <vt:lpstr>The completed reserve transaction</vt:lpstr>
      <vt:lpstr>Viewing existing reserve lines</vt:lpstr>
      <vt:lpstr>Summary screen views - exposure</vt:lpstr>
      <vt:lpstr>Summary screen views - claimant</vt:lpstr>
      <vt:lpstr>Summary screen views - coverage</vt:lpstr>
      <vt:lpstr>Modifying an existing reserve line amount</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Reserves</dc:title>
  <dc:creator>Tom Rhoades</dc:creator>
  <dc:description>1130</dc:description>
  <cp:lastModifiedBy>Guidewire Education</cp:lastModifiedBy>
  <cp:revision>1780</cp:revision>
  <dcterms:created xsi:type="dcterms:W3CDTF">2007-08-02T20:13:16Z</dcterms:created>
  <dcterms:modified xsi:type="dcterms:W3CDTF">2015-01-12T23:29:13Z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70600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y fmtid="{D5CDD505-2E9C-101B-9397-08002B2CF9AE}" pid="15" name="MediaServiceImageTags">
    <vt:lpwstr/>
  </property>
</Properties>
</file>