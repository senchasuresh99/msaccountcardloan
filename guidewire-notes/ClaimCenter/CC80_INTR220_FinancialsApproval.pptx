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8.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26.xml" ContentType="application/vnd.openxmlformats-officedocument.presentationml.slide+xml"/>
  <Override PartName="/ppt/slides/slide19.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6.xml" ContentType="application/vnd.openxmlformats-officedocument.presentationml.notesSlide+xml"/>
  <Override PartName="/ppt/notesSlides/notesSlide21.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slideMasters/slideMaster2.xml" ContentType="application/vnd.openxmlformats-officedocument.presentationml.slideMaster+xml"/>
  <Override PartName="/ppt/notesSlides/notesSlide14.xml" ContentType="application/vnd.openxmlformats-officedocument.presentationml.notesSlide+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handoutMasters/handoutMaster1.xml" ContentType="application/vnd.openxmlformats-officedocument.presentationml.handoutMaster+xml"/>
  <Override PartName="/ppt/theme/theme4.xml" ContentType="application/vnd.openxmlformats-officedocument.theme+xml"/>
  <Override PartName="/ppt/theme/theme3.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699" r:id="rId2"/>
  </p:sldMasterIdLst>
  <p:notesMasterIdLst>
    <p:notesMasterId r:id="rId29"/>
  </p:notesMasterIdLst>
  <p:handoutMasterIdLst>
    <p:handoutMasterId r:id="rId30"/>
  </p:handoutMasterIdLst>
  <p:sldIdLst>
    <p:sldId id="1192" r:id="rId3"/>
    <p:sldId id="1267" r:id="rId4"/>
    <p:sldId id="1293" r:id="rId5"/>
    <p:sldId id="1329" r:id="rId6"/>
    <p:sldId id="1330" r:id="rId7"/>
    <p:sldId id="1342" r:id="rId8"/>
    <p:sldId id="1332" r:id="rId9"/>
    <p:sldId id="1333" r:id="rId10"/>
    <p:sldId id="1346" r:id="rId11"/>
    <p:sldId id="1347" r:id="rId12"/>
    <p:sldId id="1335" r:id="rId13"/>
    <p:sldId id="1336" r:id="rId14"/>
    <p:sldId id="1348" r:id="rId15"/>
    <p:sldId id="1350" r:id="rId16"/>
    <p:sldId id="1337" r:id="rId17"/>
    <p:sldId id="1338" r:id="rId18"/>
    <p:sldId id="1339" r:id="rId19"/>
    <p:sldId id="1340" r:id="rId20"/>
    <p:sldId id="1310" r:id="rId21"/>
    <p:sldId id="1323" r:id="rId22"/>
    <p:sldId id="1324" r:id="rId23"/>
    <p:sldId id="1325" r:id="rId24"/>
    <p:sldId id="1326" r:id="rId25"/>
    <p:sldId id="1327" r:id="rId26"/>
    <p:sldId id="1328" r:id="rId27"/>
    <p:sldId id="1349" r:id="rId28"/>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000099"/>
    <a:srgbClr val="000066"/>
    <a:srgbClr val="993300"/>
    <a:srgbClr val="003399"/>
    <a:srgbClr val="FF6600"/>
    <a:srgbClr val="777777"/>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21" autoAdjust="0"/>
    <p:restoredTop sz="80432" autoAdjust="0"/>
  </p:normalViewPr>
  <p:slideViewPr>
    <p:cSldViewPr snapToGrid="0">
      <p:cViewPr>
        <p:scale>
          <a:sx n="76" d="100"/>
          <a:sy n="76" d="100"/>
        </p:scale>
        <p:origin x="-2106" y="-768"/>
      </p:cViewPr>
      <p:guideLst>
        <p:guide orient="horz" pos="2160"/>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1" d="100"/>
          <a:sy n="81" d="100"/>
        </p:scale>
        <p:origin x="-3156" y="-9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customXml" Target="../customXml/item2.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35" Type="http://schemas.openxmlformats.org/officeDocument/2006/relationships/customXml" Target="../customXml/item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D263C609-E8BA-4EA2-A5A0-1E7FE8350300}" type="slidenum">
              <a:rPr lang="en-US" altLang="en-US"/>
              <a:pPr>
                <a:defRPr/>
              </a:pPr>
              <a:t>‹#›</a:t>
            </a:fld>
            <a:endParaRPr lang="en-US" altLang="en-US"/>
          </a:p>
        </p:txBody>
      </p:sp>
    </p:spTree>
    <p:extLst>
      <p:ext uri="{BB962C8B-B14F-4D97-AF65-F5344CB8AC3E}">
        <p14:creationId xmlns:p14="http://schemas.microsoft.com/office/powerpoint/2010/main" val="41029230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latin typeface="Arial" charset="0"/>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b="0" i="1">
                <a:solidFill>
                  <a:srgbClr val="000000"/>
                </a:solidFill>
                <a:latin typeface="Times New Roman" pitchFamily="18" charset="0"/>
                <a:cs typeface="Times New Roman" pitchFamily="18" charset="0"/>
              </a:rPr>
              <a:t>Introduction, 2.</a:t>
            </a:r>
            <a:fld id="{2521A831-64CC-43B0-BC2B-8E762C3C8040}"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b="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latin typeface="Arial" charset="0"/>
              </a:defRPr>
            </a:lvl1pPr>
          </a:lstStyle>
          <a:p>
            <a:pPr>
              <a:defRPr/>
            </a:pPr>
            <a:r>
              <a:rPr lang="en-US" altLang="en-US"/>
              <a:t>	Financials Approval - </a:t>
            </a:r>
            <a:fld id="{4D058736-FE95-4E7E-908D-82A3397AAED4}" type="slidenum">
              <a:rPr lang="en-US" altLang="en-US"/>
              <a:pPr>
                <a:defRPr/>
              </a:pPr>
              <a:t>‹#›</a:t>
            </a:fld>
            <a:endParaRPr lang="en-US" altLang="en-US"/>
          </a:p>
        </p:txBody>
      </p:sp>
    </p:spTree>
    <p:extLst>
      <p:ext uri="{BB962C8B-B14F-4D97-AF65-F5344CB8AC3E}">
        <p14:creationId xmlns:p14="http://schemas.microsoft.com/office/powerpoint/2010/main" val="2533962731"/>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|EON~001|</a:t>
            </a:r>
            <a:endParaRPr lang="en-US" sz="100">
              <a:solidFill>
                <a:srgbClr val="FFFFFF"/>
              </a:solidFill>
              <a:latin typeface="Arial"/>
            </a:endParaRPr>
          </a:p>
        </p:txBody>
      </p:sp>
      <p:sp>
        <p:nvSpPr>
          <p:cNvPr id="307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07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5406DFB7-7EDD-4497-8BE7-81A4F1783FEE}" type="slidenum">
              <a:rPr lang="en-US" altLang="en-US" sz="1200" b="0" smtClean="0">
                <a:solidFill>
                  <a:schemeClr val="tx1"/>
                </a:solidFill>
              </a:rPr>
              <a:pPr eaLnBrk="1" hangingPunct="1"/>
              <a:t>1</a:t>
            </a:fld>
            <a:endParaRPr lang="en-US" altLang="en-US" sz="1200" b="0" smtClean="0">
              <a:solidFill>
                <a:schemeClr val="tx1"/>
              </a:solidFill>
            </a:endParaRPr>
          </a:p>
        </p:txBody>
      </p:sp>
      <p:sp>
        <p:nvSpPr>
          <p:cNvPr id="30724" name="Rectangle 2"/>
          <p:cNvSpPr>
            <a:spLocks noGrp="1" noRot="1" noChangeAspect="1" noChangeArrowheads="1" noTextEdit="1"/>
          </p:cNvSpPr>
          <p:nvPr>
            <p:ph type="sldImg"/>
          </p:nvPr>
        </p:nvSpPr>
        <p:spPr>
          <a:xfrm>
            <a:off x="715963" y="630238"/>
            <a:ext cx="5430837" cy="4073525"/>
          </a:xfrm>
          <a:ln/>
        </p:spPr>
      </p:sp>
      <p:sp>
        <p:nvSpPr>
          <p:cNvPr id="307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|EON~002|</a:t>
            </a:r>
            <a:endParaRPr lang="en-US" sz="100">
              <a:solidFill>
                <a:srgbClr val="FFFFFF"/>
              </a:solidFill>
              <a:latin typeface="Arial"/>
            </a:endParaRPr>
          </a:p>
        </p:txBody>
      </p:sp>
      <p:sp>
        <p:nvSpPr>
          <p:cNvPr id="317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17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34FA0014-715B-4524-A174-EB890AC0CF9F}" type="slidenum">
              <a:rPr lang="en-US" altLang="en-US" sz="1200" b="0" smtClean="0">
                <a:solidFill>
                  <a:schemeClr val="tx1"/>
                </a:solidFill>
              </a:rPr>
              <a:pPr eaLnBrk="1" hangingPunct="1"/>
              <a:t>2</a:t>
            </a:fld>
            <a:endParaRPr lang="en-US" altLang="en-US" sz="1200" b="0" smtClean="0">
              <a:solidFill>
                <a:schemeClr val="tx1"/>
              </a:solidFill>
            </a:endParaRPr>
          </a:p>
        </p:txBody>
      </p:sp>
      <p:sp>
        <p:nvSpPr>
          <p:cNvPr id="31748" name="Rectangle 2"/>
          <p:cNvSpPr>
            <a:spLocks noGrp="1" noRot="1" noChangeAspect="1" noChangeArrowheads="1" noTextEdit="1"/>
          </p:cNvSpPr>
          <p:nvPr>
            <p:ph type="sldImg"/>
          </p:nvPr>
        </p:nvSpPr>
        <p:spPr>
          <a:xfrm>
            <a:off x="715963" y="630238"/>
            <a:ext cx="5432425" cy="4073525"/>
          </a:xfrm>
          <a:ln/>
        </p:spPr>
      </p:sp>
      <p:sp>
        <p:nvSpPr>
          <p:cNvPr id="317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|EON~003|</a:t>
            </a:r>
            <a:endParaRPr lang="en-US" sz="100">
              <a:solidFill>
                <a:srgbClr val="FFFFFF"/>
              </a:solidFill>
              <a:latin typeface="Arial"/>
            </a:endParaRPr>
          </a:p>
        </p:txBody>
      </p:sp>
      <p:sp>
        <p:nvSpPr>
          <p:cNvPr id="327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27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651B18DD-C6D0-49FF-B6D9-13C3F1BF7728}" type="slidenum">
              <a:rPr lang="en-US" altLang="en-US" sz="1200" b="0" smtClean="0">
                <a:solidFill>
                  <a:schemeClr val="tx1"/>
                </a:solidFill>
              </a:rPr>
              <a:pPr eaLnBrk="1" hangingPunct="1"/>
              <a:t>3</a:t>
            </a:fld>
            <a:endParaRPr lang="en-US" altLang="en-US" sz="1200" b="0" smtClean="0">
              <a:solidFill>
                <a:schemeClr val="tx1"/>
              </a:solidFill>
            </a:endParaRPr>
          </a:p>
        </p:txBody>
      </p:sp>
      <p:sp>
        <p:nvSpPr>
          <p:cNvPr id="32772" name="Rectangle 4"/>
          <p:cNvSpPr>
            <a:spLocks noGrp="1" noRot="1" noChangeAspect="1" noChangeArrowheads="1" noTextEdit="1"/>
          </p:cNvSpPr>
          <p:nvPr>
            <p:ph type="sldImg"/>
          </p:nvPr>
        </p:nvSpPr>
        <p:spPr>
          <a:ln/>
        </p:spPr>
      </p:sp>
      <p:sp>
        <p:nvSpPr>
          <p:cNvPr id="32773" name="Rectangle 5"/>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|EON~004|</a:t>
            </a:r>
            <a:endParaRPr lang="en-US" sz="100">
              <a:solidFill>
                <a:srgbClr val="FFFFFF"/>
              </a:solidFill>
              <a:latin typeface="Arial"/>
            </a:endParaRPr>
          </a:p>
        </p:txBody>
      </p:sp>
      <p:sp>
        <p:nvSpPr>
          <p:cNvPr id="337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37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5BB88EFE-EDE2-4AA7-9219-87C1EA1DD807}" type="slidenum">
              <a:rPr lang="en-US" altLang="en-US" sz="1200" b="0" smtClean="0">
                <a:solidFill>
                  <a:schemeClr val="tx1"/>
                </a:solidFill>
              </a:rPr>
              <a:pPr eaLnBrk="1" hangingPunct="1"/>
              <a:t>4</a:t>
            </a:fld>
            <a:endParaRPr lang="en-US" altLang="en-US" sz="1200" b="0" smtClean="0">
              <a:solidFill>
                <a:schemeClr val="tx1"/>
              </a:solidFill>
            </a:endParaRPr>
          </a:p>
        </p:txBody>
      </p:sp>
      <p:sp>
        <p:nvSpPr>
          <p:cNvPr id="33796" name="Rectangle 2"/>
          <p:cNvSpPr>
            <a:spLocks noGrp="1" noRot="1" noChangeAspect="1" noChangeArrowheads="1" noTextEdit="1"/>
          </p:cNvSpPr>
          <p:nvPr>
            <p:ph type="sldImg"/>
          </p:nvPr>
        </p:nvSpPr>
        <p:spPr>
          <a:ln/>
        </p:spPr>
      </p:sp>
      <p:sp>
        <p:nvSpPr>
          <p:cNvPr id="337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An exposure is a set of data used to track a potential payment from one coverage to one claimant.</a:t>
            </a:r>
          </a:p>
          <a:p>
            <a:pPr eaLnBrk="1" hangingPunct="1"/>
            <a:r>
              <a:rPr lang="en-US" smtClean="0"/>
              <a:t>A reserve line is an amount of money set aside for expected payments related to a given exposure. Every exposure ultimately has one or more reserve lines. Transactions modify the amount of money in a reserve line.</a:t>
            </a:r>
          </a:p>
          <a:p>
            <a:pPr eaLnBrk="1" hangingPunct="1"/>
            <a:r>
              <a:rPr lang="en-US" smtClean="0"/>
              <a:t>A reserve transaction modifies the amount of money set aside for the reserve line.</a:t>
            </a:r>
          </a:p>
          <a:p>
            <a:pPr eaLnBrk="1" hangingPunct="1"/>
            <a:r>
              <a:rPr lang="en-US" smtClean="0"/>
              <a:t>A payment transaction moves money from a reserve line to a payment to a claimant or other party.</a:t>
            </a:r>
          </a:p>
          <a:p>
            <a:pPr eaLnBrk="1" hangingPunct="1"/>
            <a:r>
              <a:rPr lang="en-US" smtClean="0"/>
              <a:t>A check is a single transfer of money from one or more reserve lines to one or more individuals or organizations.</a:t>
            </a:r>
          </a:p>
          <a:p>
            <a:pPr eaLnBrk="1" hangingPunct="1"/>
            <a:r>
              <a:rPr lang="en-US" smtClean="0"/>
              <a:t>A payee is a person to whom a check is made payable. Payees include both claimants and people who provided services for the claim (such as inspectors).</a:t>
            </a:r>
          </a:p>
          <a:p>
            <a:pPr eaLnBrk="1" hangingPunct="1"/>
            <a:endParaRPr lang="en-US" smtClean="0"/>
          </a:p>
          <a:p>
            <a:pPr eaLnBrk="1" hangingPunct="1"/>
            <a:endParaRPr lang="en-US" smtClean="0"/>
          </a:p>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|EON~005|</a:t>
            </a:r>
            <a:endParaRPr lang="en-US" sz="100">
              <a:solidFill>
                <a:srgbClr val="FFFFFF"/>
              </a:solidFill>
              <a:latin typeface="Arial"/>
            </a:endParaRPr>
          </a:p>
        </p:txBody>
      </p:sp>
      <p:sp>
        <p:nvSpPr>
          <p:cNvPr id="348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48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FFD3E5E1-AABC-402C-9BDF-355EA935ACC5}" type="slidenum">
              <a:rPr lang="en-US" altLang="en-US" sz="1200" b="0" smtClean="0">
                <a:solidFill>
                  <a:schemeClr val="tx1"/>
                </a:solidFill>
              </a:rPr>
              <a:pPr eaLnBrk="1" hangingPunct="1"/>
              <a:t>5</a:t>
            </a:fld>
            <a:endParaRPr lang="en-US" altLang="en-US" sz="1200" b="0" smtClean="0">
              <a:solidFill>
                <a:schemeClr val="tx1"/>
              </a:solidFill>
            </a:endParaRPr>
          </a:p>
        </p:txBody>
      </p:sp>
      <p:sp>
        <p:nvSpPr>
          <p:cNvPr id="34820" name="Rectangle 2"/>
          <p:cNvSpPr>
            <a:spLocks noGrp="1" noRot="1" noChangeAspect="1" noChangeArrowheads="1" noTextEdit="1"/>
          </p:cNvSpPr>
          <p:nvPr>
            <p:ph type="sldImg"/>
          </p:nvPr>
        </p:nvSpPr>
        <p:spPr>
          <a:ln/>
        </p:spPr>
      </p:sp>
      <p:sp>
        <p:nvSpPr>
          <p:cNvPr id="348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If a transaction does not require approval, it is acted on immediately. (For reserve transactions, the reserve line is immediately modified as stated by the transaction. For payment transactions, the payment is moved to "Awaiting Submission".)</a:t>
            </a:r>
          </a:p>
          <a:p>
            <a:pPr eaLnBrk="1" hangingPunct="1"/>
            <a:r>
              <a:rPr lang="en-US" smtClean="0"/>
              <a:t>If a transactions does require approval, it is put in a "pending approval" state.</a:t>
            </a:r>
          </a:p>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|EON~006|</a:t>
            </a:r>
            <a:endParaRPr lang="en-US" sz="100">
              <a:solidFill>
                <a:srgbClr val="FFFFFF"/>
              </a:solidFill>
              <a:latin typeface="Arial"/>
            </a:endParaRPr>
          </a:p>
        </p:txBody>
      </p:sp>
      <p:sp>
        <p:nvSpPr>
          <p:cNvPr id="358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58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5771BEFE-ED3D-43B8-9EFE-2D65717D636F}" type="slidenum">
              <a:rPr lang="en-US" altLang="en-US" sz="1200" b="0" smtClean="0">
                <a:solidFill>
                  <a:schemeClr val="tx1"/>
                </a:solidFill>
              </a:rPr>
              <a:pPr eaLnBrk="1" hangingPunct="1"/>
              <a:t>6</a:t>
            </a:fld>
            <a:endParaRPr lang="en-US" altLang="en-US" sz="1200" b="0" smtClean="0">
              <a:solidFill>
                <a:schemeClr val="tx1"/>
              </a:solidFill>
            </a:endParaRPr>
          </a:p>
        </p:txBody>
      </p:sp>
      <p:sp>
        <p:nvSpPr>
          <p:cNvPr id="35844" name="Rectangle 2"/>
          <p:cNvSpPr>
            <a:spLocks noGrp="1" noRot="1" noChangeAspect="1" noChangeArrowheads="1" noTextEdit="1"/>
          </p:cNvSpPr>
          <p:nvPr>
            <p:ph type="sldImg"/>
          </p:nvPr>
        </p:nvSpPr>
        <p:spPr>
          <a:xfrm>
            <a:off x="715963" y="630238"/>
            <a:ext cx="5432425" cy="4073525"/>
          </a:xfrm>
          <a:ln/>
        </p:spPr>
      </p:sp>
      <p:sp>
        <p:nvSpPr>
          <p:cNvPr id="358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An authority limit is associated to a user through an authority limit profile. This is discussed in an upcoming slide.</a:t>
            </a:r>
          </a:p>
          <a:p>
            <a:pPr eaLnBrk="1" hangingPunct="1"/>
            <a:r>
              <a:rPr lang="en-US" smtClean="0"/>
              <a:t>If an adjuster creates a transaction which meets the criteria of an associated authority limit, and the authority limit threshold is exceeded, then the transaction is immediately placed in a state of "pending approval" and an activity is generated and (typically) assigned to the supervisor of the group to approve or reject the transaction.</a:t>
            </a:r>
          </a:p>
          <a:p>
            <a:pPr eaLnBrk="1" hangingPunct="1"/>
            <a:r>
              <a:rPr lang="en-US" smtClean="0"/>
              <a:t>Authority limits can be tied to any type of transaction. They can be tied to a single exposure, a single payment, the entire claim, or a change in the size of the reserve line. They can be associated to a specific coverage. They can be associated to a specific cost type.</a:t>
            </a:r>
          </a:p>
          <a:p>
            <a:pPr eaLnBrk="1" hangingPunct="1"/>
            <a:endParaRPr lang="en-US" smtClean="0"/>
          </a:p>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|EON~007|</a:t>
            </a:r>
            <a:endParaRPr lang="en-US" sz="100">
              <a:solidFill>
                <a:srgbClr val="FFFFFF"/>
              </a:solidFill>
              <a:latin typeface="Arial"/>
            </a:endParaRPr>
          </a:p>
        </p:txBody>
      </p:sp>
      <p:sp>
        <p:nvSpPr>
          <p:cNvPr id="368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68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EE4CD784-C5D3-4E65-A080-F4FE85EEFBEC}" type="slidenum">
              <a:rPr lang="en-US" altLang="en-US" sz="1200" b="0" smtClean="0">
                <a:solidFill>
                  <a:schemeClr val="tx1"/>
                </a:solidFill>
              </a:rPr>
              <a:pPr eaLnBrk="1" hangingPunct="1"/>
              <a:t>7</a:t>
            </a:fld>
            <a:endParaRPr lang="en-US" altLang="en-US" sz="1200" b="0" smtClean="0">
              <a:solidFill>
                <a:schemeClr val="tx1"/>
              </a:solidFill>
            </a:endParaRPr>
          </a:p>
        </p:txBody>
      </p:sp>
      <p:sp>
        <p:nvSpPr>
          <p:cNvPr id="36868" name="Rectangle 2"/>
          <p:cNvSpPr>
            <a:spLocks noGrp="1" noRot="1" noChangeAspect="1" noChangeArrowheads="1" noTextEdit="1"/>
          </p:cNvSpPr>
          <p:nvPr>
            <p:ph type="sldImg"/>
          </p:nvPr>
        </p:nvSpPr>
        <p:spPr>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options available in the Limit Type list cannot be modified: it maps to the </a:t>
            </a:r>
            <a:r>
              <a:rPr lang="en-US" dirty="0" err="1" smtClean="0"/>
              <a:t>AuthorityLimitType</a:t>
            </a:r>
            <a:r>
              <a:rPr lang="en-US" dirty="0" smtClean="0"/>
              <a:t> </a:t>
            </a:r>
            <a:r>
              <a:rPr lang="en-US" dirty="0" err="1" smtClean="0"/>
              <a:t>typelist</a:t>
            </a:r>
            <a:r>
              <a:rPr lang="en-US" dirty="0" smtClean="0"/>
              <a:t>, which is an internal (and therefore </a:t>
            </a:r>
            <a:r>
              <a:rPr lang="en-US" dirty="0" err="1" smtClean="0"/>
              <a:t>unmodifiable</a:t>
            </a:r>
            <a:r>
              <a:rPr lang="en-US" dirty="0" smtClean="0"/>
              <a:t>) </a:t>
            </a:r>
            <a:r>
              <a:rPr lang="en-US" dirty="0" err="1" smtClean="0"/>
              <a:t>typelist</a:t>
            </a:r>
            <a:r>
              <a:rPr lang="en-US" dirty="0" smtClean="0"/>
              <a:t>.</a:t>
            </a:r>
          </a:p>
          <a:p>
            <a:pPr eaLnBrk="1" hangingPunct="1"/>
            <a:r>
              <a:rPr lang="en-US" dirty="0" smtClean="0"/>
              <a:t>The Coverage and Cost Type lists can be modified. </a:t>
            </a:r>
          </a:p>
          <a:p>
            <a:pPr eaLnBrk="1" hangingPunct="1"/>
            <a:endParaRPr lang="en-US" dirty="0" smtClean="0"/>
          </a:p>
          <a:p>
            <a:pPr marL="0" marR="0" indent="0" algn="l" defTabSz="914400" rtl="0" eaLnBrk="1" fontAlgn="base" latinLnBrk="0" hangingPunct="1">
              <a:lnSpc>
                <a:spcPct val="100000"/>
              </a:lnSpc>
              <a:spcBef>
                <a:spcPct val="10000"/>
              </a:spcBef>
              <a:spcAft>
                <a:spcPct val="0"/>
              </a:spcAft>
              <a:buClrTx/>
              <a:buSzTx/>
              <a:buFontTx/>
              <a:buNone/>
              <a:tabLst/>
              <a:defRPr/>
            </a:pPr>
            <a:r>
              <a:rPr lang="en-US" dirty="0" smtClean="0"/>
              <a:t>The</a:t>
            </a:r>
            <a:r>
              <a:rPr lang="en-US" baseline="0" dirty="0" smtClean="0"/>
              <a:t> authority limit changes shown in the screenshot </a:t>
            </a:r>
            <a:r>
              <a:rPr lang="en-US" dirty="0" smtClean="0"/>
              <a:t>are made</a:t>
            </a:r>
            <a:r>
              <a:rPr lang="en-US" baseline="0" dirty="0" smtClean="0"/>
              <a:t> by a supervisor using the Administration screen &gt; Users and Security &gt; Authority Limit Profile.</a:t>
            </a:r>
            <a:br>
              <a:rPr lang="en-US" baseline="0" dirty="0" smtClean="0"/>
            </a:br>
            <a:r>
              <a:rPr lang="en-US" baseline="0" dirty="0" smtClean="0"/>
              <a:t/>
            </a:r>
            <a:br>
              <a:rPr lang="en-US" baseline="0" dirty="0" smtClean="0"/>
            </a:br>
            <a:r>
              <a:rPr lang="en-US" baseline="0" dirty="0" smtClean="0"/>
              <a:t>Note that the authority limit of $20,000 (third row in the screenshot) is limiting </a:t>
            </a:r>
            <a:r>
              <a:rPr lang="en-US" b="1" baseline="0" dirty="0" smtClean="0"/>
              <a:t>all </a:t>
            </a:r>
            <a:r>
              <a:rPr lang="en-US" baseline="0" dirty="0" smtClean="0"/>
              <a:t>exposure total reserves at a very granular level. Any other exposure reserves will be prevented, for example, an exposure total reserve of $10 on an “Unspecified” cost type.</a:t>
            </a:r>
            <a:endParaRPr lang="en-US" dirty="0" smtClean="0"/>
          </a:p>
          <a:p>
            <a:pPr eaLnBrk="1" hangingPunct="1"/>
            <a:endParaRPr 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|EON~008|</a:t>
            </a:r>
            <a:endParaRPr lang="en-US" sz="100">
              <a:solidFill>
                <a:srgbClr val="FFFFFF"/>
              </a:solidFill>
              <a:latin typeface="Arial"/>
            </a:endParaRPr>
          </a:p>
        </p:txBody>
      </p:sp>
      <p:sp>
        <p:nvSpPr>
          <p:cNvPr id="378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78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11C70791-2AC3-44E3-8B65-271998DB02ED}" type="slidenum">
              <a:rPr lang="en-US" altLang="en-US" sz="1200" b="0" smtClean="0">
                <a:solidFill>
                  <a:schemeClr val="tx1"/>
                </a:solidFill>
              </a:rPr>
              <a:pPr eaLnBrk="1" hangingPunct="1"/>
              <a:t>8</a:t>
            </a:fld>
            <a:endParaRPr lang="en-US" altLang="en-US" sz="1200" b="0" smtClean="0">
              <a:solidFill>
                <a:schemeClr val="tx1"/>
              </a:solidFill>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When a transaction exceeds an authority limit, the transaction is saved, but the status is set to "Pending approval". From a financials standpoint, no further action is taken on the transaction until it is approved.</a:t>
            </a:r>
          </a:p>
          <a:p>
            <a:pPr eaLnBrk="1" hangingPunct="1"/>
            <a:endParaRPr lang="en-US" dirty="0" smtClean="0"/>
          </a:p>
          <a:p>
            <a:pPr eaLnBrk="1" hangingPunct="1"/>
            <a:r>
              <a:rPr lang="en-US" dirty="0" smtClean="0"/>
              <a:t>If the user enters a</a:t>
            </a:r>
            <a:r>
              <a:rPr lang="en-US" baseline="0" dirty="0" smtClean="0"/>
              <a:t> reserve</a:t>
            </a:r>
            <a:r>
              <a:rPr lang="en-US" dirty="0" smtClean="0"/>
              <a:t> amount (like shown) that</a:t>
            </a:r>
            <a:r>
              <a:rPr lang="en-US" baseline="0" dirty="0" smtClean="0"/>
              <a:t> exceeds a limit in error, the user can edit the reserve by clicking on the amount and then re-enter the correct amount. The approval is discarded.</a:t>
            </a:r>
            <a:endParaRPr 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|EON~009|</a:t>
            </a:r>
            <a:endParaRPr lang="en-US" sz="100">
              <a:solidFill>
                <a:srgbClr val="FFFFFF"/>
              </a:solidFill>
              <a:latin typeface="Arial"/>
            </a:endParaRPr>
          </a:p>
        </p:txBody>
      </p:sp>
      <p:sp>
        <p:nvSpPr>
          <p:cNvPr id="389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89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6C8884E6-BF2D-421F-8ABE-846056105A05}" type="slidenum">
              <a:rPr lang="en-US" altLang="en-US" sz="1200" b="0" smtClean="0">
                <a:solidFill>
                  <a:schemeClr val="tx1"/>
                </a:solidFill>
              </a:rPr>
              <a:pPr eaLnBrk="1" hangingPunct="1"/>
              <a:t>9</a:t>
            </a:fld>
            <a:endParaRPr lang="en-US" altLang="en-US" sz="1200" b="0" smtClean="0">
              <a:solidFill>
                <a:schemeClr val="tx1"/>
              </a:solidFill>
            </a:endParaRPr>
          </a:p>
        </p:txBody>
      </p:sp>
      <p:sp>
        <p:nvSpPr>
          <p:cNvPr id="38916" name="Rectangle 2"/>
          <p:cNvSpPr>
            <a:spLocks noGrp="1" noRot="1" noChangeAspect="1" noChangeArrowheads="1" noTextEdit="1"/>
          </p:cNvSpPr>
          <p:nvPr>
            <p:ph type="sldImg"/>
          </p:nvPr>
        </p:nvSpPr>
        <p:spPr>
          <a:ln/>
        </p:spPr>
      </p:sp>
      <p:sp>
        <p:nvSpPr>
          <p:cNvPr id="389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You can view information about any transaction by clicking the Amount cell on the Transactions screen. The Transaction Detail screen identifies the status. If the status is pending approval, then the Issue column in the Approval History list provides further details</a:t>
            </a:r>
            <a:r>
              <a:rPr lang="en-US" baseline="0" dirty="0" smtClean="0"/>
              <a:t> about each issue.</a:t>
            </a:r>
            <a:endParaRPr 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|EON~010|</a:t>
            </a:r>
            <a:endParaRPr lang="en-US" sz="100">
              <a:solidFill>
                <a:srgbClr val="FFFFFF"/>
              </a:solidFill>
              <a:latin typeface="Arial"/>
            </a:endParaRPr>
          </a:p>
        </p:txBody>
      </p:sp>
      <p:sp>
        <p:nvSpPr>
          <p:cNvPr id="399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399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5BECEB79-3899-448C-B4A7-4C6A8062793C}" type="slidenum">
              <a:rPr lang="en-US" altLang="en-US" sz="1200" b="0" smtClean="0">
                <a:solidFill>
                  <a:schemeClr val="tx1"/>
                </a:solidFill>
              </a:rPr>
              <a:pPr eaLnBrk="1" hangingPunct="1"/>
              <a:t>10</a:t>
            </a:fld>
            <a:endParaRPr lang="en-US" altLang="en-US" sz="1200" b="0" smtClean="0">
              <a:solidFill>
                <a:schemeClr val="tx1"/>
              </a:solidFill>
            </a:endParaRPr>
          </a:p>
        </p:txBody>
      </p:sp>
      <p:sp>
        <p:nvSpPr>
          <p:cNvPr id="39940" name="Rectangle 2"/>
          <p:cNvSpPr>
            <a:spLocks noGrp="1" noRot="1" noChangeAspect="1" noChangeArrowheads="1" noTextEdit="1"/>
          </p:cNvSpPr>
          <p:nvPr>
            <p:ph type="sldImg"/>
          </p:nvPr>
        </p:nvSpPr>
        <p:spPr>
          <a:xfrm>
            <a:off x="715963" y="630238"/>
            <a:ext cx="5432425" cy="4073525"/>
          </a:xfrm>
          <a:ln/>
        </p:spPr>
      </p:sp>
      <p:sp>
        <p:nvSpPr>
          <p:cNvPr id="399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An authority limit profile is a set of limits that specify threshold amounts for one or more types of transactions. When an authority limit profile is associated to a given user, if that user creates a transaction of a type listed in the profile which is at or exceeds the threshold amount, then the transaction is marked as requiring supervisor approval.</a:t>
            </a:r>
          </a:p>
          <a:p>
            <a:pPr eaLnBrk="1" hangingPunct="1"/>
            <a:r>
              <a:rPr lang="en-US" smtClean="0"/>
              <a:t>In the example above, if either Dana Evans or Peter Beebe creates a reserve transaction for an exposure tied to collision coverage and the total exposure reserves amount is now over $10,000, then the transaction will require approval. Also, if either Dana Evans or Peter Beebe creates any type of reserve transaction that causes the total payments for the claim to exceed $15,000, then the transaction will require approval.</a:t>
            </a:r>
          </a:p>
          <a:p>
            <a:pPr eaLnBrk="1" hangingPunct="1"/>
            <a:r>
              <a:rPr lang="en-US" smtClean="0"/>
              <a:t>Technically speaking, there is an entity used by ClaimCenter for financials processing known as a transaction set. Every transaction belongs to a transaction set. Transaction sets can have one or multiple transactions in them. Approval occurs at the transaction set level. If one transaction in the set requires approval, then the entire set requires approval. If the supervisor accepts the transaction, then the entire transaction set is accepted. If the supervisor rejects the transaction, then the entire transaction set is rejected. In practice, this level is typically transparent to an end user and is not discussed in detail here.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|EON~011|</a:t>
            </a:r>
            <a:endParaRPr lang="en-US" sz="100">
              <a:solidFill>
                <a:srgbClr val="FFFFFF"/>
              </a:solidFill>
              <a:latin typeface="Arial"/>
            </a:endParaRPr>
          </a:p>
        </p:txBody>
      </p:sp>
      <p:sp>
        <p:nvSpPr>
          <p:cNvPr id="409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409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7E0DB0DA-176A-44E7-8D78-D5821F905B30}" type="slidenum">
              <a:rPr lang="en-US" altLang="en-US" sz="1200" b="0" smtClean="0">
                <a:solidFill>
                  <a:schemeClr val="tx1"/>
                </a:solidFill>
              </a:rPr>
              <a:pPr eaLnBrk="1" hangingPunct="1"/>
              <a:t>11</a:t>
            </a:fld>
            <a:endParaRPr lang="en-US" altLang="en-US" sz="1200" b="0" smtClean="0">
              <a:solidFill>
                <a:schemeClr val="tx1"/>
              </a:solidFill>
            </a:endParaRPr>
          </a:p>
        </p:txBody>
      </p:sp>
      <p:sp>
        <p:nvSpPr>
          <p:cNvPr id="40964" name="Rectangle 2"/>
          <p:cNvSpPr>
            <a:spLocks noGrp="1" noRot="1" noChangeAspect="1" noChangeArrowheads="1" noTextEdit="1"/>
          </p:cNvSpPr>
          <p:nvPr>
            <p:ph type="sldImg"/>
          </p:nvPr>
        </p:nvSpPr>
        <p:spPr>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Pre-defined authority profile limits can be shared across multiple users. They are created and configured from the Administration tab's Authority Limit Profiles screen.</a:t>
            </a:r>
          </a:p>
          <a:p>
            <a:pPr eaLnBrk="1" hangingPunct="1"/>
            <a:r>
              <a:rPr lang="en-US" dirty="0" smtClean="0"/>
              <a:t>To configure an existing profile, click the profile name, click the Edit button, and add, remove, or modify limits as needed.</a:t>
            </a:r>
          </a:p>
          <a:p>
            <a:pPr marL="0" marR="0" indent="0" algn="l" defTabSz="914400" rtl="0" eaLnBrk="1" fontAlgn="base" latinLnBrk="0" hangingPunct="1">
              <a:lnSpc>
                <a:spcPct val="100000"/>
              </a:lnSpc>
              <a:spcBef>
                <a:spcPct val="10000"/>
              </a:spcBef>
              <a:spcAft>
                <a:spcPct val="0"/>
              </a:spcAft>
              <a:buClrTx/>
              <a:buSzTx/>
              <a:buFontTx/>
              <a:buNone/>
              <a:tabLst/>
              <a:defRPr/>
            </a:pPr>
            <a:r>
              <a:rPr lang="en-US" dirty="0" smtClean="0"/>
              <a:t>To create a new profile, click the Add Authority Limit Profile button. Then add limits as needed.</a:t>
            </a:r>
            <a:br>
              <a:rPr lang="en-US" dirty="0" smtClean="0"/>
            </a:br>
            <a:r>
              <a:rPr lang="en-US" dirty="0" smtClean="0"/>
              <a:t/>
            </a:r>
            <a:br>
              <a:rPr lang="en-US" dirty="0" smtClean="0"/>
            </a:br>
            <a:r>
              <a:rPr lang="en-US" dirty="0" smtClean="0"/>
              <a:t>The limits</a:t>
            </a:r>
            <a:r>
              <a:rPr lang="en-US" baseline="0" dirty="0" smtClean="0"/>
              <a:t> shown in the bottom screenshot (Adjuster) reflect the base application’s authority limits for any </a:t>
            </a:r>
            <a:r>
              <a:rPr lang="en-US" b="1" baseline="0" dirty="0" smtClean="0"/>
              <a:t>adjuster user. In a nutshell, total payments or reserves exceeding USD $15,000 require approval. </a:t>
            </a:r>
            <a:r>
              <a:rPr lang="en-US" b="0" baseline="0" dirty="0" smtClean="0"/>
              <a:t>Coverages and cost types are ignored.</a:t>
            </a:r>
            <a:endParaRPr lang="en-US" dirty="0" smtClean="0"/>
          </a:p>
          <a:p>
            <a:pPr eaLnBrk="1" hangingPunct="1"/>
            <a:endParaRPr lang="en-US"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|EON~012|</a:t>
            </a:r>
            <a:endParaRPr lang="en-US" sz="100">
              <a:solidFill>
                <a:srgbClr val="FFFFFF"/>
              </a:solidFill>
              <a:latin typeface="Arial"/>
            </a:endParaRPr>
          </a:p>
        </p:txBody>
      </p:sp>
      <p:sp>
        <p:nvSpPr>
          <p:cNvPr id="419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419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2EF8591D-59F2-4558-ABC5-6C1148D7DA30}" type="slidenum">
              <a:rPr lang="en-US" altLang="en-US" sz="1200" b="0" smtClean="0">
                <a:solidFill>
                  <a:schemeClr val="tx1"/>
                </a:solidFill>
              </a:rPr>
              <a:pPr eaLnBrk="1" hangingPunct="1"/>
              <a:t>12</a:t>
            </a:fld>
            <a:endParaRPr lang="en-US" altLang="en-US" sz="1200" b="0" smtClean="0">
              <a:solidFill>
                <a:schemeClr val="tx1"/>
              </a:solidFill>
            </a:endParaRPr>
          </a:p>
        </p:txBody>
      </p:sp>
      <p:sp>
        <p:nvSpPr>
          <p:cNvPr id="41988" name="Rectangle 2"/>
          <p:cNvSpPr>
            <a:spLocks noGrp="1" noRot="1" noChangeAspect="1" noChangeArrowheads="1" noTextEdit="1"/>
          </p:cNvSpPr>
          <p:nvPr>
            <p:ph type="sldImg"/>
          </p:nvPr>
        </p:nvSpPr>
        <p:spPr>
          <a:ln/>
        </p:spPr>
      </p:sp>
      <p:sp>
        <p:nvSpPr>
          <p:cNvPr id="419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To assign a pre-defined profile to a user, select the profile from the Authority Limit Profile dropdown. Note that when you choose a profile, the limits of the profile appear but are read-only. You cannot modify a pre-defined profile at the user level. You can modify it only at the profile level (which means the change you make will affect all users associated to that profile).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|EON~013|</a:t>
            </a:r>
            <a:endParaRPr lang="en-US" sz="100">
              <a:solidFill>
                <a:srgbClr val="FFFFFF"/>
              </a:solidFill>
              <a:latin typeface="Arial"/>
            </a:endParaRPr>
          </a:p>
        </p:txBody>
      </p:sp>
      <p:sp>
        <p:nvSpPr>
          <p:cNvPr id="430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430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DE9EA562-A3A3-4CD5-896A-3DF771F25251}" type="slidenum">
              <a:rPr lang="en-US" altLang="en-US" sz="1200" b="0" smtClean="0">
                <a:solidFill>
                  <a:schemeClr val="tx1"/>
                </a:solidFill>
              </a:rPr>
              <a:pPr eaLnBrk="1" hangingPunct="1"/>
              <a:t>13</a:t>
            </a:fld>
            <a:endParaRPr lang="en-US" altLang="en-US" sz="1200" b="0" smtClean="0">
              <a:solidFill>
                <a:schemeClr val="tx1"/>
              </a:solidFill>
            </a:endParaRPr>
          </a:p>
        </p:txBody>
      </p:sp>
      <p:sp>
        <p:nvSpPr>
          <p:cNvPr id="43012" name="Rectangle 2"/>
          <p:cNvSpPr>
            <a:spLocks noGrp="1" noRot="1" noChangeAspect="1" noChangeArrowheads="1" noTextEdit="1"/>
          </p:cNvSpPr>
          <p:nvPr>
            <p:ph type="sldImg"/>
          </p:nvPr>
        </p:nvSpPr>
        <p:spPr>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You can create a custom profile by selecting Custom from the Authority Limit Profile dropdown. Once you select Custom, the Authority Limit list becomes editable. Any custom profile created for a user is unique for that user. It cannot be applied to other users (unless you manually recreate it for the next user), and any changes to a given custom profile have no affects on any other profile.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|EON~014|</a:t>
            </a:r>
            <a:endParaRPr lang="en-US" sz="100">
              <a:solidFill>
                <a:srgbClr val="FFFFFF"/>
              </a:solidFill>
              <a:latin typeface="Arial"/>
            </a:endParaRPr>
          </a:p>
        </p:txBody>
      </p:sp>
      <p:sp>
        <p:nvSpPr>
          <p:cNvPr id="430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pPr>
              <a:buClr>
                <a:prstClr val="black"/>
              </a:buClr>
            </a:pPr>
            <a:r>
              <a:rPr lang="en-US" altLang="en-US" sz="1200" b="0" smtClean="0">
                <a:solidFill>
                  <a:prstClr val="black"/>
                </a:solidFill>
              </a:rPr>
              <a:t>	</a:t>
            </a:r>
            <a:endParaRPr lang="en-US" sz="1200" b="0" smtClean="0">
              <a:solidFill>
                <a:prstClr val="black"/>
              </a:solidFill>
            </a:endParaRPr>
          </a:p>
        </p:txBody>
      </p:sp>
      <p:sp>
        <p:nvSpPr>
          <p:cNvPr id="430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buClr>
                <a:prstClr val="black"/>
              </a:buClr>
            </a:pPr>
            <a:r>
              <a:rPr lang="en-US" altLang="en-US" sz="1200" b="0" dirty="0" smtClean="0">
                <a:solidFill>
                  <a:prstClr val="black"/>
                </a:solidFill>
              </a:rPr>
              <a:t>	Financials Approval - </a:t>
            </a:r>
            <a:fld id="{DE9EA562-A3A3-4CD5-896A-3DF771F25251}" type="slidenum">
              <a:rPr lang="en-US" altLang="en-US" sz="1200" b="0" smtClean="0">
                <a:solidFill>
                  <a:prstClr val="black"/>
                </a:solidFill>
              </a:rPr>
              <a:pPr eaLnBrk="1" hangingPunct="1">
                <a:buClr>
                  <a:prstClr val="black"/>
                </a:buClr>
              </a:pPr>
              <a:t>14</a:t>
            </a:fld>
            <a:endParaRPr lang="en-US" altLang="en-US" sz="1200" b="0" dirty="0" smtClean="0">
              <a:solidFill>
                <a:prstClr val="black"/>
              </a:solidFill>
            </a:endParaRPr>
          </a:p>
        </p:txBody>
      </p:sp>
      <p:sp>
        <p:nvSpPr>
          <p:cNvPr id="43012" name="Rectangle 2"/>
          <p:cNvSpPr>
            <a:spLocks noGrp="1" noRot="1" noChangeAspect="1" noChangeArrowheads="1" noTextEdit="1"/>
          </p:cNvSpPr>
          <p:nvPr>
            <p:ph type="sldImg"/>
          </p:nvPr>
        </p:nvSpPr>
        <p:spPr>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In the example shown, “Andy Applegate” may only create </a:t>
            </a:r>
            <a:r>
              <a:rPr lang="en-US" b="1" dirty="0" smtClean="0"/>
              <a:t>collision</a:t>
            </a:r>
            <a:r>
              <a:rPr lang="en-US" dirty="0" smtClean="0"/>
              <a:t> reserves up to USD</a:t>
            </a:r>
            <a:r>
              <a:rPr lang="en-US" baseline="0" dirty="0" smtClean="0"/>
              <a:t> </a:t>
            </a:r>
            <a:r>
              <a:rPr lang="en-US" dirty="0" smtClean="0"/>
              <a:t>$20,000</a:t>
            </a:r>
            <a:r>
              <a:rPr lang="en-US" baseline="0" dirty="0" smtClean="0"/>
              <a:t> without approval. Collision reserves exceeding USD $20,000 are sent for approval. </a:t>
            </a:r>
          </a:p>
          <a:p>
            <a:pPr eaLnBrk="1" hangingPunct="1"/>
            <a:endParaRPr lang="en-US" baseline="0" dirty="0" smtClean="0"/>
          </a:p>
          <a:p>
            <a:pPr eaLnBrk="1" hangingPunct="1"/>
            <a:r>
              <a:rPr lang="en-US" baseline="0" dirty="0" smtClean="0"/>
              <a:t>If he were to attempt creating a “Baggage” or “Comprehensive”, or reserve of any amount without Collision Coverage, it would be prevented with an error.</a:t>
            </a:r>
          </a:p>
          <a:p>
            <a:pPr eaLnBrk="1" hangingPunct="1"/>
            <a:endParaRPr lang="en-US" baseline="0" dirty="0" smtClean="0"/>
          </a:p>
          <a:p>
            <a:pPr eaLnBrk="1" hangingPunct="1"/>
            <a:r>
              <a:rPr lang="en-US" baseline="0" dirty="0" smtClean="0"/>
              <a:t>The example shows a </a:t>
            </a:r>
            <a:r>
              <a:rPr lang="en-US" b="1" baseline="0" dirty="0" smtClean="0"/>
              <a:t>claim-level</a:t>
            </a:r>
            <a:r>
              <a:rPr lang="en-US" b="0" baseline="0" dirty="0" smtClean="0"/>
              <a:t> reserve being prevented because the coverage is </a:t>
            </a:r>
            <a:r>
              <a:rPr lang="en-US" b="1" baseline="0" dirty="0" smtClean="0"/>
              <a:t>not Collision</a:t>
            </a:r>
            <a:r>
              <a:rPr lang="en-US" b="0" baseline="0" dirty="0" smtClean="0"/>
              <a:t>, even though the transaction is only $1. So, any other coverage value, or a blank coverage value, will be prevented. </a:t>
            </a:r>
          </a:p>
          <a:p>
            <a:pPr eaLnBrk="1" hangingPunct="1"/>
            <a:endParaRPr lang="en-US" b="0" baseline="0" dirty="0" smtClean="0"/>
          </a:p>
          <a:p>
            <a:pPr eaLnBrk="1" hangingPunct="1"/>
            <a:r>
              <a:rPr lang="en-US" b="0" baseline="0" dirty="0" smtClean="0"/>
              <a:t>Therefore, limit authority limits by coverage and/or cost type with caution. It may be best to set these kinds of granular limits on a user by user basis, or create a new profile with these limits and apply that profile only to select users that would never need (or be allowed to) create certain transactions. </a:t>
            </a:r>
            <a:endParaRPr lang="en-US" baseline="0"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|EON~015|</a:t>
            </a:r>
            <a:endParaRPr lang="en-US" sz="100">
              <a:solidFill>
                <a:srgbClr val="FFFFFF"/>
              </a:solidFill>
              <a:latin typeface="Arial"/>
            </a:endParaRPr>
          </a:p>
        </p:txBody>
      </p:sp>
      <p:sp>
        <p:nvSpPr>
          <p:cNvPr id="440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440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14529E3B-3617-46A3-A9CB-E4ED203211F0}" type="slidenum">
              <a:rPr lang="en-US" altLang="en-US" sz="1200" b="0" smtClean="0">
                <a:solidFill>
                  <a:schemeClr val="tx1"/>
                </a:solidFill>
              </a:rPr>
              <a:pPr eaLnBrk="1" hangingPunct="1"/>
              <a:t>15</a:t>
            </a:fld>
            <a:endParaRPr lang="en-US" altLang="en-US" sz="1200" b="0" smtClean="0">
              <a:solidFill>
                <a:schemeClr val="tx1"/>
              </a:solidFill>
            </a:endParaRPr>
          </a:p>
        </p:txBody>
      </p:sp>
      <p:sp>
        <p:nvSpPr>
          <p:cNvPr id="44036" name="Rectangle 2"/>
          <p:cNvSpPr>
            <a:spLocks noGrp="1" noRot="1" noChangeAspect="1" noChangeArrowheads="1" noTextEdit="1"/>
          </p:cNvSpPr>
          <p:nvPr>
            <p:ph type="sldImg"/>
          </p:nvPr>
        </p:nvSpPr>
        <p:spPr>
          <a:xfrm>
            <a:off x="715963" y="630238"/>
            <a:ext cx="5432425" cy="4073525"/>
          </a:xfrm>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|EON~016|</a:t>
            </a:r>
            <a:endParaRPr lang="en-US" sz="100">
              <a:solidFill>
                <a:srgbClr val="FFFFFF"/>
              </a:solidFill>
              <a:latin typeface="Arial"/>
            </a:endParaRPr>
          </a:p>
        </p:txBody>
      </p:sp>
      <p:sp>
        <p:nvSpPr>
          <p:cNvPr id="450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450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71133042-5988-4B28-9B6A-A348DB12C21F}" type="slidenum">
              <a:rPr lang="en-US" altLang="en-US" sz="1200" b="0" smtClean="0">
                <a:solidFill>
                  <a:schemeClr val="tx1"/>
                </a:solidFill>
              </a:rPr>
              <a:pPr eaLnBrk="1" hangingPunct="1"/>
              <a:t>16</a:t>
            </a:fld>
            <a:endParaRPr lang="en-US" altLang="en-US" sz="1200" b="0" smtClean="0">
              <a:solidFill>
                <a:schemeClr val="tx1"/>
              </a:solidFill>
            </a:endParaRPr>
          </a:p>
        </p:txBody>
      </p:sp>
      <p:sp>
        <p:nvSpPr>
          <p:cNvPr id="45060" name="Rectangle 2"/>
          <p:cNvSpPr>
            <a:spLocks noGrp="1" noRot="1" noChangeAspect="1" noChangeArrowheads="1" noTextEdit="1"/>
          </p:cNvSpPr>
          <p:nvPr>
            <p:ph type="sldImg"/>
          </p:nvPr>
        </p:nvSpPr>
        <p:spPr>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|EON~017|</a:t>
            </a:r>
            <a:endParaRPr lang="en-US" sz="100">
              <a:solidFill>
                <a:srgbClr val="FFFFFF"/>
              </a:solidFill>
              <a:latin typeface="Arial"/>
            </a:endParaRPr>
          </a:p>
        </p:txBody>
      </p:sp>
      <p:sp>
        <p:nvSpPr>
          <p:cNvPr id="460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460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A9AFE4B1-DF84-49D6-8D7B-7591A753A08F}" type="slidenum">
              <a:rPr lang="en-US" altLang="en-US" sz="1200" b="0" smtClean="0">
                <a:solidFill>
                  <a:schemeClr val="tx1"/>
                </a:solidFill>
              </a:rPr>
              <a:pPr eaLnBrk="1" hangingPunct="1"/>
              <a:t>17</a:t>
            </a:fld>
            <a:endParaRPr lang="en-US" altLang="en-US" sz="1200" b="0" smtClean="0">
              <a:solidFill>
                <a:schemeClr val="tx1"/>
              </a:solidFill>
            </a:endParaRPr>
          </a:p>
        </p:txBody>
      </p:sp>
      <p:sp>
        <p:nvSpPr>
          <p:cNvPr id="46084" name="Rectangle 2"/>
          <p:cNvSpPr>
            <a:spLocks noGrp="1" noRot="1" noChangeAspect="1" noChangeArrowheads="1" noTextEdit="1"/>
          </p:cNvSpPr>
          <p:nvPr>
            <p:ph type="sldImg"/>
          </p:nvPr>
        </p:nvSpPr>
        <p:spPr>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|EON~018|</a:t>
            </a:r>
            <a:endParaRPr lang="en-US" sz="100">
              <a:solidFill>
                <a:srgbClr val="FFFFFF"/>
              </a:solidFill>
              <a:latin typeface="Arial"/>
            </a:endParaRPr>
          </a:p>
        </p:txBody>
      </p:sp>
      <p:sp>
        <p:nvSpPr>
          <p:cNvPr id="471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471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F6731348-BDF9-48A6-BC9A-CA15835312C0}" type="slidenum">
              <a:rPr lang="en-US" altLang="en-US" sz="1200" b="0" smtClean="0">
                <a:solidFill>
                  <a:schemeClr val="tx1"/>
                </a:solidFill>
              </a:rPr>
              <a:pPr eaLnBrk="1" hangingPunct="1"/>
              <a:t>18</a:t>
            </a:fld>
            <a:endParaRPr lang="en-US" altLang="en-US" sz="1200" b="0" smtClean="0">
              <a:solidFill>
                <a:schemeClr val="tx1"/>
              </a:solidFill>
            </a:endParaRPr>
          </a:p>
        </p:txBody>
      </p:sp>
      <p:sp>
        <p:nvSpPr>
          <p:cNvPr id="47108" name="Rectangle 2"/>
          <p:cNvSpPr>
            <a:spLocks noGrp="1" noRot="1" noChangeAspect="1" noChangeArrowheads="1" noTextEdit="1"/>
          </p:cNvSpPr>
          <p:nvPr>
            <p:ph type="sldImg"/>
          </p:nvPr>
        </p:nvSpPr>
        <p:spPr>
          <a:xfrm>
            <a:off x="715963" y="630238"/>
            <a:ext cx="5432425" cy="4073525"/>
          </a:xfrm>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|EON~019|</a:t>
            </a:r>
            <a:endParaRPr lang="en-US" sz="100">
              <a:solidFill>
                <a:srgbClr val="FFFFFF"/>
              </a:solidFill>
              <a:latin typeface="Arial"/>
            </a:endParaRPr>
          </a:p>
        </p:txBody>
      </p:sp>
      <p:sp>
        <p:nvSpPr>
          <p:cNvPr id="481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481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4348FB29-DDEA-4882-822A-77E72FB241DD}" type="slidenum">
              <a:rPr lang="en-US" altLang="en-US" sz="1200" b="0" smtClean="0">
                <a:solidFill>
                  <a:schemeClr val="tx1"/>
                </a:solidFill>
              </a:rPr>
              <a:pPr eaLnBrk="1" hangingPunct="1"/>
              <a:t>19</a:t>
            </a:fld>
            <a:endParaRPr lang="en-US" altLang="en-US" sz="1200" b="0" smtClean="0">
              <a:solidFill>
                <a:schemeClr val="tx1"/>
              </a:solidFill>
            </a:endParaRPr>
          </a:p>
        </p:txBody>
      </p:sp>
      <p:sp>
        <p:nvSpPr>
          <p:cNvPr id="48132" name="Rectangle 2"/>
          <p:cNvSpPr>
            <a:spLocks noGrp="1" noRot="1" noChangeAspect="1" noChangeArrowheads="1" noTextEdit="1"/>
          </p:cNvSpPr>
          <p:nvPr>
            <p:ph type="sldImg"/>
          </p:nvPr>
        </p:nvSpPr>
        <p:spPr>
          <a:xfrm>
            <a:off x="715963" y="630238"/>
            <a:ext cx="5432425" cy="4073525"/>
          </a:xfrm>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There are three types of objects which require attention: claims, activities, and transactions. However, the business reasons behind why they need attention and what is done in response to them needing attention varies from object type to object type. Therefore, this lesson uses the vague term "needing attention" when discussing all three object types simultaneously.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|EON~020|</a:t>
            </a:r>
            <a:endParaRPr lang="en-US" sz="100">
              <a:solidFill>
                <a:srgbClr val="FFFFFF"/>
              </a:solidFill>
              <a:latin typeface="Arial"/>
            </a:endParaRPr>
          </a:p>
        </p:txBody>
      </p:sp>
      <p:sp>
        <p:nvSpPr>
          <p:cNvPr id="491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491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E94E5359-3F27-4C14-B6D2-610F605D0C45}" type="slidenum">
              <a:rPr lang="en-US" altLang="en-US" sz="1200" b="0" smtClean="0">
                <a:solidFill>
                  <a:schemeClr val="tx1"/>
                </a:solidFill>
              </a:rPr>
              <a:pPr eaLnBrk="1" hangingPunct="1"/>
              <a:t>20</a:t>
            </a:fld>
            <a:endParaRPr lang="en-US" altLang="en-US" sz="1200" b="0" smtClean="0">
              <a:solidFill>
                <a:schemeClr val="tx1"/>
              </a:solidFill>
            </a:endParaRPr>
          </a:p>
        </p:txBody>
      </p:sp>
      <p:sp>
        <p:nvSpPr>
          <p:cNvPr id="49156" name="Rectangle 2"/>
          <p:cNvSpPr>
            <a:spLocks noGrp="1" noRot="1" noChangeAspect="1" noChangeArrowheads="1" noTextEdit="1"/>
          </p:cNvSpPr>
          <p:nvPr>
            <p:ph type="sldImg"/>
          </p:nvPr>
        </p:nvSpPr>
        <p:spPr>
          <a:xfrm>
            <a:off x="715963" y="630238"/>
            <a:ext cx="5432425" cy="4073525"/>
          </a:xfrm>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|EON~021|</a:t>
            </a:r>
            <a:endParaRPr lang="en-US" sz="100">
              <a:solidFill>
                <a:srgbClr val="FFFFFF"/>
              </a:solidFill>
              <a:latin typeface="Arial"/>
            </a:endParaRPr>
          </a:p>
        </p:txBody>
      </p:sp>
      <p:sp>
        <p:nvSpPr>
          <p:cNvPr id="501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01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D8EEC631-923C-465D-B455-0D8CAF4BA545}" type="slidenum">
              <a:rPr lang="en-US" altLang="en-US" sz="1200" b="0" smtClean="0">
                <a:solidFill>
                  <a:schemeClr val="tx1"/>
                </a:solidFill>
              </a:rPr>
              <a:pPr eaLnBrk="1" hangingPunct="1"/>
              <a:t>21</a:t>
            </a:fld>
            <a:endParaRPr lang="en-US" altLang="en-US" sz="1200" b="0" smtClean="0">
              <a:solidFill>
                <a:schemeClr val="tx1"/>
              </a:solidFill>
            </a:endParaRPr>
          </a:p>
        </p:txBody>
      </p:sp>
      <p:sp>
        <p:nvSpPr>
          <p:cNvPr id="50180" name="Rectangle 2"/>
          <p:cNvSpPr>
            <a:spLocks noGrp="1" noRot="1" noChangeAspect="1" noChangeArrowheads="1" noTextEdit="1"/>
          </p:cNvSpPr>
          <p:nvPr>
            <p:ph type="sldImg"/>
          </p:nvPr>
        </p:nvSpPr>
        <p:spPr>
          <a:xfrm>
            <a:off x="715963" y="630238"/>
            <a:ext cx="5432425" cy="4073525"/>
          </a:xfrm>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When a transaction is classified as requiring approval:</a:t>
            </a:r>
          </a:p>
          <a:p>
            <a:pPr lvl="1" eaLnBrk="1" hangingPunct="1"/>
            <a:r>
              <a:rPr lang="en-US" smtClean="0"/>
              <a:t>The status of the transaction is set to "Pending approval".</a:t>
            </a:r>
          </a:p>
          <a:p>
            <a:pPr lvl="1" eaLnBrk="1" hangingPunct="1"/>
            <a:r>
              <a:rPr lang="en-US" smtClean="0"/>
              <a:t>An approval activity is created and routed to the appropriate individual (typically the supervisor of the group).</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|EON~022|</a:t>
            </a:r>
            <a:endParaRPr lang="en-US" sz="100">
              <a:solidFill>
                <a:srgbClr val="FFFFFF"/>
              </a:solidFill>
              <a:latin typeface="Arial"/>
            </a:endParaRPr>
          </a:p>
        </p:txBody>
      </p:sp>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8694EE73-9F85-4672-AE7A-22E960A27F12}" type="slidenum">
              <a:rPr lang="en-US" altLang="en-US" sz="1200" b="0" smtClean="0">
                <a:solidFill>
                  <a:schemeClr val="tx1"/>
                </a:solidFill>
              </a:rPr>
              <a:pPr eaLnBrk="1" hangingPunct="1"/>
              <a:t>22</a:t>
            </a:fld>
            <a:endParaRPr lang="en-US" altLang="en-US" sz="1200" b="0" smtClean="0">
              <a:solidFill>
                <a:schemeClr val="tx1"/>
              </a:solidFill>
            </a:endParaRPr>
          </a:p>
        </p:txBody>
      </p:sp>
      <p:sp>
        <p:nvSpPr>
          <p:cNvPr id="51204" name="Rectangle 2"/>
          <p:cNvSpPr>
            <a:spLocks noGrp="1" noRot="1" noChangeAspect="1" noChangeArrowheads="1" noTextEdit="1"/>
          </p:cNvSpPr>
          <p:nvPr>
            <p:ph type="sldImg"/>
          </p:nvPr>
        </p:nvSpPr>
        <p:spPr>
          <a:xfrm>
            <a:off x="715963" y="630238"/>
            <a:ext cx="5432425" cy="4073525"/>
          </a:xfrm>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Most activities are closed by clicking either the "Complete" or "Skip" buttons. Approval activities do not have these buttons. Instead, they have "Approve" and "Reject" buttons. Either button closes the activity. Approving the activity advances the transaction to the next status (such as "Approved"). Rejecting the activity moves the transaction to the "Rejected" status.</a:t>
            </a:r>
          </a:p>
          <a:p>
            <a:pPr eaLnBrk="1" hangingPunct="1"/>
            <a:r>
              <a:rPr lang="en-US" smtClean="0"/>
              <a:t>In the base application, there is no additional behavior when a transaction is rejected. It may be appropriate for the supervisor to take additional action (such as discussing the claim with the adjuster). It may also be appropriate to configure ClaimCenter to execute a behavior automatically (such as adding a note to the claim identifying that a pending transaction was rejected). One common scenario is that the payment comes in on a bill in error, so the payment will not be issued until the bill is corrected. </a:t>
            </a:r>
          </a:p>
          <a:p>
            <a:pPr eaLnBrk="1" hangingPunct="1"/>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|EON~023|</a:t>
            </a:r>
            <a:endParaRPr lang="en-US" sz="100">
              <a:solidFill>
                <a:srgbClr val="FFFFFF"/>
              </a:solidFill>
              <a:latin typeface="Arial"/>
            </a:endParaRPr>
          </a:p>
        </p:txBody>
      </p:sp>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333DF696-89F6-44C1-B17B-540809024FE8}" type="slidenum">
              <a:rPr lang="en-US" altLang="en-US" sz="1200" b="0" smtClean="0">
                <a:solidFill>
                  <a:schemeClr val="tx1"/>
                </a:solidFill>
              </a:rPr>
              <a:pPr eaLnBrk="1" hangingPunct="1"/>
              <a:t>23</a:t>
            </a:fld>
            <a:endParaRPr lang="en-US" altLang="en-US" sz="1200" b="0" smtClean="0">
              <a:solidFill>
                <a:schemeClr val="tx1"/>
              </a:solidFill>
            </a:endParaRPr>
          </a:p>
        </p:txBody>
      </p:sp>
      <p:sp>
        <p:nvSpPr>
          <p:cNvPr id="52228" name="Rectangle 2"/>
          <p:cNvSpPr>
            <a:spLocks noGrp="1" noRot="1" noChangeAspect="1" noChangeArrowheads="1" noTextEdit="1"/>
          </p:cNvSpPr>
          <p:nvPr>
            <p:ph type="sldImg"/>
          </p:nvPr>
        </p:nvSpPr>
        <p:spPr>
          <a:xfrm>
            <a:off x="715963" y="630238"/>
            <a:ext cx="5432425" cy="4073525"/>
          </a:xfrm>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|EON~024|</a:t>
            </a:r>
            <a:endParaRPr lang="en-US" sz="100">
              <a:solidFill>
                <a:srgbClr val="FFFFFF"/>
              </a:solidFill>
              <a:latin typeface="Arial"/>
            </a:endParaRPr>
          </a:p>
        </p:txBody>
      </p:sp>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292D7940-D973-42FF-A3AF-116622003BAE}" type="slidenum">
              <a:rPr lang="en-US" altLang="en-US" sz="1200" b="0" smtClean="0">
                <a:solidFill>
                  <a:schemeClr val="tx1"/>
                </a:solidFill>
              </a:rPr>
              <a:pPr eaLnBrk="1" hangingPunct="1"/>
              <a:t>24</a:t>
            </a:fld>
            <a:endParaRPr lang="en-US" altLang="en-US" sz="1200" b="0" smtClean="0">
              <a:solidFill>
                <a:schemeClr val="tx1"/>
              </a:solidFill>
            </a:endParaRPr>
          </a:p>
        </p:txBody>
      </p:sp>
      <p:sp>
        <p:nvSpPr>
          <p:cNvPr id="53252" name="Rectangle 2"/>
          <p:cNvSpPr>
            <a:spLocks noGrp="1" noRot="1" noChangeAspect="1" noChangeArrowheads="1" noTextEdit="1"/>
          </p:cNvSpPr>
          <p:nvPr>
            <p:ph type="sldImg"/>
          </p:nvPr>
        </p:nvSpPr>
        <p:spPr>
          <a:xfrm>
            <a:off x="715963" y="630238"/>
            <a:ext cx="5432425" cy="4073525"/>
          </a:xfrm>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|EON~025|</a:t>
            </a:r>
            <a:endParaRPr lang="en-US" sz="100">
              <a:solidFill>
                <a:srgbClr val="FFFFFF"/>
              </a:solidFill>
              <a:latin typeface="Arial"/>
            </a:endParaRPr>
          </a:p>
        </p:txBody>
      </p:sp>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Financials Approval - </a:t>
            </a:r>
            <a:fld id="{27682BA5-854D-4FD9-A91D-BFA0E0F76BC0}" type="slidenum">
              <a:rPr lang="en-US" altLang="en-US" sz="1200" b="0" smtClean="0">
                <a:solidFill>
                  <a:schemeClr val="tx1"/>
                </a:solidFill>
              </a:rPr>
              <a:pPr eaLnBrk="1" hangingPunct="1"/>
              <a:t>25</a:t>
            </a:fld>
            <a:endParaRPr lang="en-US" altLang="en-US" sz="1200" b="0" smtClean="0">
              <a:solidFill>
                <a:schemeClr val="tx1"/>
              </a:solidFill>
            </a:endParaRPr>
          </a:p>
        </p:txBody>
      </p:sp>
      <p:sp>
        <p:nvSpPr>
          <p:cNvPr id="54276" name="Rectangle 2"/>
          <p:cNvSpPr>
            <a:spLocks noGrp="1" noRot="1" noChangeAspect="1" noChangeArrowheads="1" noTextEdit="1"/>
          </p:cNvSpPr>
          <p:nvPr>
            <p:ph type="sldImg"/>
          </p:nvPr>
        </p:nvSpPr>
        <p:spPr>
          <a:xfrm>
            <a:off x="715963" y="630238"/>
            <a:ext cx="5432425" cy="4073525"/>
          </a:xfrm>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b="1" smtClean="0"/>
              <a:t>Answers</a:t>
            </a:r>
          </a:p>
          <a:p>
            <a:pPr marL="209550" indent="-209550" eaLnBrk="1" hangingPunct="1"/>
            <a:r>
              <a:rPr lang="en-US" smtClean="0"/>
              <a:t>1. The answer for all three is the same. The transaction requires approval in all three cases.</a:t>
            </a:r>
          </a:p>
          <a:p>
            <a:pPr marL="209550" indent="-209550" eaLnBrk="1" hangingPunct="1"/>
            <a:r>
              <a:rPr lang="en-US" smtClean="0"/>
              <a:t>2. Limit type, coverage, and cost type.</a:t>
            </a:r>
          </a:p>
          <a:p>
            <a:pPr marL="209550" indent="-209550" eaLnBrk="1" hangingPunct="1"/>
            <a:r>
              <a:rPr lang="en-US" smtClean="0"/>
              <a:t>3. It sets the transaction status to "pending approval" and it creates an approval activity (which is typically routed to a supervisor).</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|EON~026|</a:t>
            </a:r>
            <a:endParaRPr lang="en-US" sz="100">
              <a:solidFill>
                <a:srgbClr val="FFFFFF"/>
              </a:solidFill>
              <a:latin typeface="Arial"/>
            </a:endParaRPr>
          </a:p>
        </p:txBody>
      </p:sp>
      <p:sp>
        <p:nvSpPr>
          <p:cNvPr id="100354" name="Copyright"/>
          <p:cNvSpPr>
            <a:spLocks noGrp="1" noChangeArrowheads="1"/>
          </p:cNvSpPr>
          <p:nvPr>
            <p:ph type="sldNum" sz="quarter" idx="5"/>
          </p:nvPr>
        </p:nvSpPr>
        <p:spPr/>
        <p:txBody>
          <a:bodyPr/>
          <a:lstStyle/>
          <a:p>
            <a:pPr>
              <a:defRPr/>
            </a:pPr>
            <a:r>
              <a:rPr lang="en-US" altLang="en-US" dirty="0" smtClean="0"/>
              <a:t>	Financials Approval - </a:t>
            </a:r>
            <a:fld id="{211C349A-83C9-44D0-A356-DBEB3FC715FC}" type="slidenum">
              <a:rPr lang="en-US" altLang="en-US" smtClean="0"/>
              <a:pPr>
                <a:defRPr/>
              </a:pPr>
              <a:t>26</a:t>
            </a:fld>
            <a:endParaRPr lang="en-US" altLang="en-US" dirty="0" smtClean="0"/>
          </a:p>
        </p:txBody>
      </p:sp>
      <p:sp>
        <p:nvSpPr>
          <p:cNvPr id="100355"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smtClean="0"/>
              <a:t>Click to edit Master text styles</a:t>
            </a:r>
          </a:p>
        </p:txBody>
      </p:sp>
    </p:spTree>
    <p:extLst>
      <p:ext uri="{BB962C8B-B14F-4D97-AF65-F5344CB8AC3E}">
        <p14:creationId xmlns:p14="http://schemas.microsoft.com/office/powerpoint/2010/main" val="354668103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330480801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19536623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Tree>
    <p:extLst>
      <p:ext uri="{BB962C8B-B14F-4D97-AF65-F5344CB8AC3E}">
        <p14:creationId xmlns:p14="http://schemas.microsoft.com/office/powerpoint/2010/main" val="98896292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06660154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225374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152817267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116247912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18215910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62711893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smtClean="0"/>
              <a:t>Click to edit Master title style</a:t>
            </a:r>
            <a:endParaRPr lang="en-US" dirty="0"/>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351341041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4028834805"/>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smtClean="0"/>
              <a:t>Click to edit Master text styles</a:t>
            </a:r>
          </a:p>
        </p:txBody>
      </p:sp>
    </p:spTree>
    <p:extLst>
      <p:ext uri="{BB962C8B-B14F-4D97-AF65-F5344CB8AC3E}">
        <p14:creationId xmlns:p14="http://schemas.microsoft.com/office/powerpoint/2010/main" val="207956880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35737963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34632671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Tree>
    <p:extLst>
      <p:ext uri="{BB962C8B-B14F-4D97-AF65-F5344CB8AC3E}">
        <p14:creationId xmlns:p14="http://schemas.microsoft.com/office/powerpoint/2010/main" val="302483232"/>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089175219"/>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6599810"/>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509248651"/>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294617278"/>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4032033277"/>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4030874171"/>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smtClean="0"/>
              <a:t>Click to edit Master title style</a:t>
            </a:r>
            <a:endParaRPr lang="en-US" dirty="0"/>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3345809101"/>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264781566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b="0">
                <a:solidFill>
                  <a:srgbClr val="000000"/>
                </a:solidFill>
                <a:latin typeface="Arial" pitchFamily="34" charset="0"/>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latin typeface="Arial" pitchFamily="34" charset="0"/>
              </a:endParaRPr>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 </a:t>
            </a:r>
          </a:p>
          <a:p>
            <a:pPr lvl="1"/>
            <a:r>
              <a:rPr lang="en-US" altLang="en-US" smtClean="0"/>
              <a:t>Second level</a:t>
            </a:r>
          </a:p>
          <a:p>
            <a:pPr lvl="2"/>
            <a:r>
              <a:rPr lang="en-US" altLang="en-US" smtClean="0"/>
              <a:t>Third level</a:t>
            </a:r>
          </a:p>
          <a:p>
            <a:pPr lvl="3"/>
            <a:r>
              <a:rPr lang="en-US" altLang="en-US" smtClean="0"/>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43CB8061-1DEF-481A-AB94-03A915252745}"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dirty="0">
                <a:solidFill>
                  <a:srgbClr val="B2B2B2"/>
                </a:solidFill>
                <a:latin typeface="Arial" pitchFamily="34" charset="0"/>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dirty="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697"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8"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033" name="Rectangle 107"/>
            <p:cNvSpPr>
              <a:spLocks noChangeArrowheads="1"/>
            </p:cNvSpPr>
            <p:nvPr userDrawn="1"/>
          </p:nvSpPr>
          <p:spPr bwMode="auto">
            <a:xfrm>
              <a:off x="80" y="80"/>
              <a:ext cx="5597" cy="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wrap="none" lIns="91418" tIns="45709" rIns="91418" bIns="45709" anchor="ctr"/>
            <a:lstStyle/>
            <a:p>
              <a:pPr eaLnBrk="0" hangingPunct="0">
                <a:buClr>
                  <a:srgbClr val="FFFFFF"/>
                </a:buClr>
              </a:pPr>
              <a:endParaRPr lang="en-US" sz="1600" b="0">
                <a:solidFill>
                  <a:srgbClr val="000000"/>
                </a:solidFill>
              </a:endParaRPr>
            </a:p>
          </p:txBody>
        </p:sp>
        <p:sp>
          <p:nvSpPr>
            <p:cNvPr id="1034" name="Line 108"/>
            <p:cNvSpPr>
              <a:spLocks noChangeShapeType="1"/>
            </p:cNvSpPr>
            <p:nvPr userDrawn="1"/>
          </p:nvSpPr>
          <p:spPr bwMode="auto">
            <a:xfrm>
              <a:off x="29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175">
                  <a:solidFill>
                    <a:srgbClr val="000000"/>
                  </a:solidFill>
                  <a:round/>
                  <a:headEnd/>
                  <a:tailEnd/>
                </a14:hiddenLine>
              </a:ext>
            </a:extLst>
          </p:spPr>
          <p:txBody>
            <a:bodyPr wrap="none" lIns="0" tIns="0" rIns="0" bIns="0" anchor="ctr">
              <a:spAutoFit/>
            </a:bodyPr>
            <a:lstStyle/>
            <a:p>
              <a:pPr>
                <a:buClr>
                  <a:srgbClr val="FFFFFF"/>
                </a:buCl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 </a:t>
            </a:r>
          </a:p>
          <a:p>
            <a:pPr lvl="1"/>
            <a:r>
              <a:rPr lang="en-US" altLang="en-US" smtClean="0"/>
              <a:t>Second level</a:t>
            </a:r>
          </a:p>
          <a:p>
            <a:pPr lvl="2"/>
            <a:r>
              <a:rPr lang="en-US" altLang="en-US" smtClean="0"/>
              <a:t>Third level</a:t>
            </a:r>
          </a:p>
          <a:p>
            <a:pPr lvl="3"/>
            <a:r>
              <a:rPr lang="en-US" altLang="en-US" smtClean="0"/>
              <a:t>Fourth level</a:t>
            </a:r>
          </a:p>
        </p:txBody>
      </p:sp>
      <p:sp>
        <p:nvSpPr>
          <p:cNvPr id="1029" name="PageNumberBox"/>
          <p:cNvSpPr txBox="1">
            <a:spLocks noChangeArrowheads="1"/>
          </p:cNvSpPr>
          <p:nvPr/>
        </p:nvSpPr>
        <p:spPr bwMode="auto">
          <a:xfrm>
            <a:off x="4327525" y="6518275"/>
            <a:ext cx="519113" cy="227013"/>
          </a:xfrm>
          <a:prstGeom prst="rect">
            <a:avLst/>
          </a:prstGeom>
          <a:noFill/>
          <a:ln>
            <a:noFill/>
          </a:ln>
          <a:extLst/>
        </p:spPr>
        <p:txBody>
          <a:bodyPr lIns="0" tIns="0" rIns="0" bIns="0"/>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nSpc>
                <a:spcPts val="1800"/>
              </a:lnSpc>
              <a:spcBef>
                <a:spcPts val="600"/>
              </a:spcBef>
              <a:buClr>
                <a:srgbClr val="FFFFFF"/>
              </a:buClr>
              <a:buFont typeface="Wingdings" pitchFamily="2" charset="2"/>
              <a:buNone/>
              <a:defRPr/>
            </a:pPr>
            <a:fld id="{145A814A-7A20-4671-A61A-7FEE06EED8FA}" type="slidenum">
              <a:rPr lang="en-US" sz="1200" smtClean="0">
                <a:solidFill>
                  <a:srgbClr val="B2B2B2"/>
                </a:solidFill>
                <a:latin typeface="Calibri" pitchFamily="34" charset="0"/>
                <a:cs typeface="Calibri" pitchFamily="34" charset="0"/>
              </a:rPr>
              <a:pPr>
                <a:lnSpc>
                  <a:spcPts val="1800"/>
                </a:lnSpc>
                <a:spcBef>
                  <a:spcPts val="600"/>
                </a:spcBef>
                <a:buClr>
                  <a:srgbClr val="FFFFFF"/>
                </a:buClr>
                <a:buFont typeface="Wingdings" pitchFamily="2" charset="2"/>
                <a:buNone/>
                <a:defRPr/>
              </a:pPr>
              <a:t>‹#›</a:t>
            </a:fld>
            <a:r>
              <a:rPr lang="en-US" sz="1800" i="1" smtClean="0">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TextBox 12"/>
          <p:cNvSpPr txBox="1">
            <a:spLocks noChangeArrowheads="1"/>
          </p:cNvSpPr>
          <p:nvPr userDrawn="1"/>
        </p:nvSpPr>
        <p:spPr bwMode="auto">
          <a:xfrm>
            <a:off x="560388" y="6570663"/>
            <a:ext cx="2647950" cy="93662"/>
          </a:xfrm>
          <a:prstGeom prst="rect">
            <a:avLst/>
          </a:prstGeom>
          <a:noFill/>
          <a:ln>
            <a:noFill/>
          </a:ln>
          <a:extLst/>
        </p:spPr>
        <p:txBody>
          <a:bodyPr wrap="non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spcBef>
                <a:spcPts val="600"/>
              </a:spcBef>
              <a:buClr>
                <a:srgbClr val="DADAB3"/>
              </a:buClr>
              <a:buFont typeface="Arial" charset="0"/>
              <a:buNone/>
              <a:defRPr/>
            </a:pPr>
            <a:r>
              <a:rPr lang="en-US" sz="600" smtClean="0">
                <a:solidFill>
                  <a:srgbClr val="B2B2B2"/>
                </a:solidFill>
              </a:rPr>
              <a:t>© Guidewire Software, Inc. All rights reserved. Do not distribute without permission.</a:t>
            </a:r>
          </a:p>
        </p:txBody>
      </p:sp>
    </p:spTree>
    <p:extLst>
      <p:ext uri="{BB962C8B-B14F-4D97-AF65-F5344CB8AC3E}">
        <p14:creationId xmlns:p14="http://schemas.microsoft.com/office/powerpoint/2010/main" val="203995874"/>
      </p:ext>
    </p:extLst>
  </p:cSld>
  <p:clrMap bg1="dk2" tx1="lt1" bg2="dk1" tx2="lt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|EOS~001|</a:t>
            </a:r>
            <a:endParaRPr lang="en-US" sz="100" dirty="0" err="1" smtClean="0">
              <a:solidFill>
                <a:srgbClr val="FFFFFF"/>
              </a:solidFill>
              <a:latin typeface="Arial"/>
              <a:cs typeface="Calibri" pitchFamily="34" charset="0"/>
            </a:endParaRPr>
          </a:p>
        </p:txBody>
      </p:sp>
      <p:sp>
        <p:nvSpPr>
          <p:cNvPr id="4098" name="Rectangle 2"/>
          <p:cNvSpPr>
            <a:spLocks noGrp="1" noChangeArrowheads="1"/>
          </p:cNvSpPr>
          <p:nvPr>
            <p:ph type="ctrTitle"/>
          </p:nvPr>
        </p:nvSpPr>
        <p:spPr>
          <a:xfrm>
            <a:off x="458788" y="2957513"/>
            <a:ext cx="8348662" cy="457200"/>
          </a:xfrm>
        </p:spPr>
        <p:txBody>
          <a:bodyPr/>
          <a:lstStyle/>
          <a:p>
            <a:pPr eaLnBrk="1" hangingPunct="1"/>
            <a:r>
              <a:rPr lang="en-US" smtClean="0"/>
              <a:t>Financials Approval</a:t>
            </a:r>
          </a:p>
        </p:txBody>
      </p:sp>
      <p:sp>
        <p:nvSpPr>
          <p:cNvPr id="4099" name="Text Placeholder 4"/>
          <p:cNvSpPr>
            <a:spLocks noGrp="1"/>
          </p:cNvSpPr>
          <p:nvPr>
            <p:ph type="body" sz="quarter" idx="10"/>
          </p:nvPr>
        </p:nvSpPr>
        <p:spPr>
          <a:xfrm>
            <a:off x="5718175" y="6167438"/>
            <a:ext cx="3089275" cy="273050"/>
          </a:xfrm>
        </p:spPr>
        <p:txBody>
          <a:bodyPr/>
          <a:lstStyle/>
          <a:p>
            <a:r>
              <a:rPr lang="en-US" dirty="0"/>
              <a:t>7</a:t>
            </a:r>
            <a:r>
              <a:rPr lang="en-US" dirty="0" smtClean="0"/>
              <a:t> October 2014</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|EOS~002|</a:t>
            </a:r>
            <a:endParaRPr lang="en-US" sz="100" dirty="0" err="1" smtClean="0">
              <a:solidFill>
                <a:srgbClr val="FFFFFF"/>
              </a:solidFill>
              <a:latin typeface="Arial"/>
              <a:cs typeface="Calibri" pitchFamily="34" charset="0"/>
            </a:endParaRPr>
          </a:p>
        </p:txBody>
      </p:sp>
      <p:sp>
        <p:nvSpPr>
          <p:cNvPr id="5122" name="Rectangle 2"/>
          <p:cNvSpPr>
            <a:spLocks noGrp="1" noChangeArrowheads="1"/>
          </p:cNvSpPr>
          <p:nvPr>
            <p:ph type="title"/>
          </p:nvPr>
        </p:nvSpPr>
        <p:spPr/>
        <p:txBody>
          <a:bodyPr/>
          <a:lstStyle/>
          <a:p>
            <a:pPr eaLnBrk="1" hangingPunct="1"/>
            <a:r>
              <a:rPr lang="en-US" smtClean="0"/>
              <a:t>Lesson objectives</a:t>
            </a:r>
          </a:p>
        </p:txBody>
      </p:sp>
      <p:sp>
        <p:nvSpPr>
          <p:cNvPr id="5123" name="Rectangle 3"/>
          <p:cNvSpPr>
            <a:spLocks noGrp="1" noChangeArrowheads="1"/>
          </p:cNvSpPr>
          <p:nvPr>
            <p:ph idx="1"/>
          </p:nvPr>
        </p:nvSpPr>
        <p:spPr/>
        <p:txBody>
          <a:bodyPr/>
          <a:lstStyle/>
          <a:p>
            <a:pPr>
              <a:buFont typeface="Wingdings 3" pitchFamily="18" charset="2"/>
              <a:buNone/>
            </a:pPr>
            <a:r>
              <a:rPr lang="en-US" smtClean="0"/>
              <a:t>By the end of this lesson, you should be able to:</a:t>
            </a:r>
          </a:p>
          <a:p>
            <a:pPr lvl="1"/>
            <a:r>
              <a:rPr lang="en-US" smtClean="0"/>
              <a:t>Describe the functionality of authority limits</a:t>
            </a:r>
          </a:p>
          <a:p>
            <a:pPr lvl="1"/>
            <a:r>
              <a:rPr lang="en-US" smtClean="0"/>
              <a:t>Describe the purpose of transaction approval rules</a:t>
            </a:r>
          </a:p>
          <a:p>
            <a:pPr lvl="1"/>
            <a:r>
              <a:rPr lang="en-US" smtClean="0"/>
              <a:t>Describe how supervisors approve transactions</a:t>
            </a:r>
          </a:p>
          <a:p>
            <a:pPr lvl="1"/>
            <a:endParaRPr lang="en-US" smtClean="0"/>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dirty="0">
                <a:solidFill>
                  <a:srgbClr val="AA3704"/>
                </a:solidFill>
              </a:rPr>
              <a:t>This lesson uses the notes section for additional explanation and information.</a:t>
            </a:r>
            <a:br>
              <a:rPr lang="en-US" sz="1400" b="0" dirty="0">
                <a:solidFill>
                  <a:srgbClr val="AA3704"/>
                </a:solidFill>
              </a:rPr>
            </a:br>
            <a:r>
              <a:rPr lang="en-US" sz="1400" b="0" dirty="0">
                <a:solidFill>
                  <a:srgbClr val="AA3704"/>
                </a:solidFill>
              </a:rPr>
              <a:t>To view the notes in PowerPoint, choose </a:t>
            </a:r>
            <a:r>
              <a:rPr lang="en-US" sz="1400" b="0" dirty="0" err="1">
                <a:solidFill>
                  <a:srgbClr val="AA3704"/>
                </a:solidFill>
              </a:rPr>
              <a:t>View</a:t>
            </a:r>
            <a:r>
              <a:rPr lang="en-US" sz="1400" b="0" dirty="0" err="1">
                <a:solidFill>
                  <a:srgbClr val="AA3704"/>
                </a:solidFill>
                <a:sym typeface="Wingdings" pitchFamily="2" charset="2"/>
              </a:rPr>
              <a:t>Normal</a:t>
            </a:r>
            <a:r>
              <a:rPr lang="en-US" sz="1400" b="0" dirty="0">
                <a:solidFill>
                  <a:srgbClr val="AA3704"/>
                </a:solidFill>
                <a:sym typeface="Wingdings" pitchFamily="2" charset="2"/>
              </a:rPr>
              <a:t> or </a:t>
            </a:r>
            <a:r>
              <a:rPr lang="en-US" sz="1400" b="0" dirty="0" err="1">
                <a:solidFill>
                  <a:srgbClr val="AA3704"/>
                </a:solidFill>
              </a:rPr>
              <a:t>View</a:t>
            </a:r>
            <a:r>
              <a:rPr lang="en-US" sz="1400" b="0" dirty="0" err="1">
                <a:solidFill>
                  <a:srgbClr val="AA3704"/>
                </a:solidFill>
                <a:sym typeface="Wingdings" pitchFamily="2" charset="2"/>
              </a:rPr>
              <a:t></a:t>
            </a:r>
            <a:r>
              <a:rPr lang="en-US" sz="1400" b="0" dirty="0" err="1">
                <a:solidFill>
                  <a:srgbClr val="AA3704"/>
                </a:solidFill>
              </a:rPr>
              <a:t>Notes</a:t>
            </a:r>
            <a:r>
              <a:rPr lang="en-US" sz="1400" b="0" dirty="0">
                <a:solidFill>
                  <a:srgbClr val="AA3704"/>
                </a:solidFill>
              </a:rPr>
              <a:t> Page.</a:t>
            </a:r>
            <a:br>
              <a:rPr lang="en-US" sz="1400" b="0" dirty="0">
                <a:solidFill>
                  <a:srgbClr val="AA3704"/>
                </a:solidFill>
              </a:rPr>
            </a:br>
            <a:r>
              <a:rPr lang="en-US" sz="1400" b="0" dirty="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dirty="0">
              <a:solidFill>
                <a:srgbClr val="AA3704"/>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|EOS~003|</a:t>
            </a:r>
            <a:endParaRPr lang="en-US" sz="100" dirty="0" err="1" smtClean="0">
              <a:solidFill>
                <a:srgbClr val="FFFFFF"/>
              </a:solidFill>
              <a:latin typeface="Arial"/>
              <a:cs typeface="Calibri" pitchFamily="34" charset="0"/>
            </a:endParaRPr>
          </a:p>
        </p:txBody>
      </p:sp>
      <p:sp>
        <p:nvSpPr>
          <p:cNvPr id="6146" name="Rectangle 2"/>
          <p:cNvSpPr>
            <a:spLocks noGrp="1" noChangeArrowheads="1"/>
          </p:cNvSpPr>
          <p:nvPr>
            <p:ph type="title"/>
          </p:nvPr>
        </p:nvSpPr>
        <p:spPr/>
        <p:txBody>
          <a:bodyPr/>
          <a:lstStyle/>
          <a:p>
            <a:pPr eaLnBrk="1" hangingPunct="1"/>
            <a:r>
              <a:rPr lang="en-US" smtClean="0"/>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smtClean="0"/>
              <a:t>Authority limits</a:t>
            </a:r>
          </a:p>
          <a:p>
            <a:pPr>
              <a:lnSpc>
                <a:spcPct val="150000"/>
              </a:lnSpc>
              <a:buFont typeface="Arial" charset="0"/>
              <a:buChar char="•"/>
            </a:pPr>
            <a:r>
              <a:rPr lang="en-US" sz="2800" smtClean="0">
                <a:solidFill>
                  <a:srgbClr val="C0C0C0"/>
                </a:solidFill>
              </a:rPr>
              <a:t>Transaction approval rules</a:t>
            </a:r>
          </a:p>
          <a:p>
            <a:pPr>
              <a:lnSpc>
                <a:spcPct val="150000"/>
              </a:lnSpc>
              <a:buFont typeface="Arial" charset="0"/>
              <a:buChar char="•"/>
            </a:pPr>
            <a:r>
              <a:rPr lang="en-US" sz="2800" smtClean="0">
                <a:solidFill>
                  <a:srgbClr val="C0C0C0"/>
                </a:solidFill>
              </a:rPr>
              <a:t>Approving transactions</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|EOS~004|</a:t>
            </a:r>
            <a:endParaRPr lang="en-US" sz="100" dirty="0" err="1" smtClean="0">
              <a:solidFill>
                <a:srgbClr val="FFFFFF"/>
              </a:solidFill>
              <a:latin typeface="Arial"/>
              <a:cs typeface="Calibri" pitchFamily="34" charset="0"/>
            </a:endParaRPr>
          </a:p>
        </p:txBody>
      </p:sp>
      <p:sp>
        <p:nvSpPr>
          <p:cNvPr id="7170" name="Rectangle 2"/>
          <p:cNvSpPr>
            <a:spLocks noGrp="1" noChangeArrowheads="1"/>
          </p:cNvSpPr>
          <p:nvPr>
            <p:ph type="title"/>
          </p:nvPr>
        </p:nvSpPr>
        <p:spPr/>
        <p:txBody>
          <a:bodyPr/>
          <a:lstStyle/>
          <a:p>
            <a:pPr eaLnBrk="1" hangingPunct="1"/>
            <a:r>
              <a:rPr lang="en-US" smtClean="0"/>
              <a:t>Review: Objects that implement financials</a:t>
            </a:r>
          </a:p>
        </p:txBody>
      </p:sp>
      <p:sp>
        <p:nvSpPr>
          <p:cNvPr id="7171" name="Rectangle 3"/>
          <p:cNvSpPr>
            <a:spLocks noGrp="1" noChangeArrowheads="1"/>
          </p:cNvSpPr>
          <p:nvPr>
            <p:ph idx="1"/>
          </p:nvPr>
        </p:nvSpPr>
        <p:spPr>
          <a:xfrm>
            <a:off x="519113" y="4056063"/>
            <a:ext cx="8318500" cy="2333625"/>
          </a:xfrm>
        </p:spPr>
        <p:txBody>
          <a:bodyPr/>
          <a:lstStyle/>
          <a:p>
            <a:pPr>
              <a:buFont typeface="Arial" charset="0"/>
              <a:buChar char="•"/>
            </a:pPr>
            <a:r>
              <a:rPr lang="en-US" smtClean="0"/>
              <a:t>Exposure tracks payment from coverage to claimant</a:t>
            </a:r>
          </a:p>
          <a:p>
            <a:pPr>
              <a:buFont typeface="Arial" charset="0"/>
              <a:buChar char="•"/>
            </a:pPr>
            <a:r>
              <a:rPr lang="en-US" smtClean="0"/>
              <a:t>Reserve line is money set aside for exposure payments</a:t>
            </a:r>
          </a:p>
          <a:p>
            <a:pPr lvl="1"/>
            <a:r>
              <a:rPr lang="en-US" smtClean="0"/>
              <a:t>Reserve transactions typically add money to it</a:t>
            </a:r>
          </a:p>
          <a:p>
            <a:pPr lvl="1"/>
            <a:r>
              <a:rPr lang="en-US" smtClean="0"/>
              <a:t>Payment transactions move money to payments</a:t>
            </a:r>
          </a:p>
          <a:p>
            <a:pPr>
              <a:buFont typeface="Arial" charset="0"/>
              <a:buChar char="•"/>
            </a:pPr>
            <a:r>
              <a:rPr lang="en-US" smtClean="0"/>
              <a:t>Checks transfer money from carrier to payee</a:t>
            </a:r>
          </a:p>
        </p:txBody>
      </p:sp>
      <p:grpSp>
        <p:nvGrpSpPr>
          <p:cNvPr id="7172" name="Group 4"/>
          <p:cNvGrpSpPr>
            <a:grpSpLocks/>
          </p:cNvGrpSpPr>
          <p:nvPr/>
        </p:nvGrpSpPr>
        <p:grpSpPr bwMode="auto">
          <a:xfrm>
            <a:off x="476250" y="1846263"/>
            <a:ext cx="1220788" cy="1214437"/>
            <a:chOff x="3360" y="800"/>
            <a:chExt cx="620" cy="616"/>
          </a:xfrm>
        </p:grpSpPr>
        <p:sp>
          <p:nvSpPr>
            <p:cNvPr id="7211" name="AutoShape 5"/>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7212" name="Freeform 6"/>
            <p:cNvSpPr>
              <a:spLocks/>
            </p:cNvSpPr>
            <p:nvPr/>
          </p:nvSpPr>
          <p:spPr bwMode="auto">
            <a:xfrm>
              <a:off x="3403" y="830"/>
              <a:ext cx="212" cy="274"/>
            </a:xfrm>
            <a:custGeom>
              <a:avLst/>
              <a:gdLst>
                <a:gd name="T0" fmla="*/ 108 w 1052"/>
                <a:gd name="T1" fmla="*/ 274 h 1352"/>
                <a:gd name="T2" fmla="*/ 60 w 1052"/>
                <a:gd name="T3" fmla="*/ 237 h 1352"/>
                <a:gd name="T4" fmla="*/ 20 w 1052"/>
                <a:gd name="T5" fmla="*/ 181 h 1352"/>
                <a:gd name="T6" fmla="*/ 3 w 1052"/>
                <a:gd name="T7" fmla="*/ 123 h 1352"/>
                <a:gd name="T8" fmla="*/ 0 w 1052"/>
                <a:gd name="T9" fmla="*/ 62 h 1352"/>
                <a:gd name="T10" fmla="*/ 0 w 1052"/>
                <a:gd name="T11" fmla="*/ 17 h 1352"/>
                <a:gd name="T12" fmla="*/ 20 w 1052"/>
                <a:gd name="T13" fmla="*/ 24 h 1352"/>
                <a:gd name="T14" fmla="*/ 55 w 1052"/>
                <a:gd name="T15" fmla="*/ 24 h 1352"/>
                <a:gd name="T16" fmla="*/ 79 w 1052"/>
                <a:gd name="T17" fmla="*/ 18 h 1352"/>
                <a:gd name="T18" fmla="*/ 108 w 1052"/>
                <a:gd name="T19" fmla="*/ 0 h 1352"/>
                <a:gd name="T20" fmla="*/ 130 w 1052"/>
                <a:gd name="T21" fmla="*/ 13 h 1352"/>
                <a:gd name="T22" fmla="*/ 163 w 1052"/>
                <a:gd name="T23" fmla="*/ 25 h 1352"/>
                <a:gd name="T24" fmla="*/ 212 w 1052"/>
                <a:gd name="T25" fmla="*/ 18 h 1352"/>
                <a:gd name="T26" fmla="*/ 210 w 1052"/>
                <a:gd name="T27" fmla="*/ 115 h 1352"/>
                <a:gd name="T28" fmla="*/ 204 w 1052"/>
                <a:gd name="T29" fmla="*/ 154 h 1352"/>
                <a:gd name="T30" fmla="*/ 180 w 1052"/>
                <a:gd name="T31" fmla="*/ 205 h 1352"/>
                <a:gd name="T32" fmla="*/ 136 w 1052"/>
                <a:gd name="T33" fmla="*/ 252 h 1352"/>
                <a:gd name="T34" fmla="*/ 108 w 1052"/>
                <a:gd name="T35" fmla="*/ 274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7213" name="Group 7"/>
            <p:cNvGrpSpPr>
              <a:grpSpLocks/>
            </p:cNvGrpSpPr>
            <p:nvPr/>
          </p:nvGrpSpPr>
          <p:grpSpPr bwMode="auto">
            <a:xfrm flipH="1">
              <a:off x="3749" y="1171"/>
              <a:ext cx="212" cy="213"/>
              <a:chOff x="1350" y="686"/>
              <a:chExt cx="1132" cy="1132"/>
            </a:xfrm>
          </p:grpSpPr>
          <p:sp>
            <p:nvSpPr>
              <p:cNvPr id="7215" name="AutoShape 8"/>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7216" name="Picture 9"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214" name="Picture 10"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73" name="Group 11"/>
          <p:cNvGrpSpPr>
            <a:grpSpLocks/>
          </p:cNvGrpSpPr>
          <p:nvPr/>
        </p:nvGrpSpPr>
        <p:grpSpPr bwMode="auto">
          <a:xfrm>
            <a:off x="7964488" y="2181225"/>
            <a:ext cx="896937" cy="896938"/>
            <a:chOff x="1350" y="686"/>
            <a:chExt cx="1132" cy="1132"/>
          </a:xfrm>
        </p:grpSpPr>
        <p:sp>
          <p:nvSpPr>
            <p:cNvPr id="7209" name="AutoShape 1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7210" name="Picture 1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174" name="Text Box 14"/>
          <p:cNvSpPr txBox="1">
            <a:spLocks noChangeArrowheads="1"/>
          </p:cNvSpPr>
          <p:nvPr/>
        </p:nvSpPr>
        <p:spPr bwMode="auto">
          <a:xfrm>
            <a:off x="406400" y="984250"/>
            <a:ext cx="13192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Exposure</a:t>
            </a:r>
          </a:p>
        </p:txBody>
      </p:sp>
      <p:sp>
        <p:nvSpPr>
          <p:cNvPr id="7175" name="Text Box 15"/>
          <p:cNvSpPr txBox="1">
            <a:spLocks noChangeArrowheads="1"/>
          </p:cNvSpPr>
          <p:nvPr/>
        </p:nvSpPr>
        <p:spPr bwMode="auto">
          <a:xfrm>
            <a:off x="6381750" y="984250"/>
            <a:ext cx="9588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Check</a:t>
            </a:r>
          </a:p>
        </p:txBody>
      </p:sp>
      <p:sp>
        <p:nvSpPr>
          <p:cNvPr id="7176" name="Text Box 16"/>
          <p:cNvSpPr txBox="1">
            <a:spLocks noChangeArrowheads="1"/>
          </p:cNvSpPr>
          <p:nvPr/>
        </p:nvSpPr>
        <p:spPr bwMode="auto">
          <a:xfrm>
            <a:off x="7864475" y="984250"/>
            <a:ext cx="10255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Payee</a:t>
            </a:r>
          </a:p>
        </p:txBody>
      </p:sp>
      <p:grpSp>
        <p:nvGrpSpPr>
          <p:cNvPr id="7177" name="Group 20"/>
          <p:cNvGrpSpPr>
            <a:grpSpLocks/>
          </p:cNvGrpSpPr>
          <p:nvPr/>
        </p:nvGrpSpPr>
        <p:grpSpPr bwMode="auto">
          <a:xfrm>
            <a:off x="3467100" y="1624013"/>
            <a:ext cx="1201738" cy="1503362"/>
            <a:chOff x="4174" y="933"/>
            <a:chExt cx="921" cy="1151"/>
          </a:xfrm>
        </p:grpSpPr>
        <p:sp>
          <p:nvSpPr>
            <p:cNvPr id="7192" name="Rectangle 21"/>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7193" name="AutoShape 22"/>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7194" name="AutoShape 23"/>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7195" name="AutoShape 24"/>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7196" name="Freeform 25"/>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197" name="Freeform 26"/>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198" name="Freeform 27"/>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199" name="Freeform 28"/>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200" name="Freeform 29"/>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201" name="Freeform 30"/>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202" name="Freeform 31"/>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203" name="Line 32"/>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04" name="Line 33"/>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05" name="Line 34"/>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06" name="Line 35"/>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07" name="Line 36"/>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08" name="Line 37"/>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7178" name="Group 47"/>
          <p:cNvGrpSpPr>
            <a:grpSpLocks/>
          </p:cNvGrpSpPr>
          <p:nvPr/>
        </p:nvGrpSpPr>
        <p:grpSpPr bwMode="auto">
          <a:xfrm>
            <a:off x="2374900" y="1601788"/>
            <a:ext cx="1230313" cy="981075"/>
            <a:chOff x="1426" y="1049"/>
            <a:chExt cx="775" cy="618"/>
          </a:xfrm>
        </p:grpSpPr>
        <p:sp>
          <p:nvSpPr>
            <p:cNvPr id="7190" name="AutoShape 38"/>
            <p:cNvSpPr>
              <a:spLocks noChangeArrowheads="1"/>
            </p:cNvSpPr>
            <p:nvPr/>
          </p:nvSpPr>
          <p:spPr bwMode="auto">
            <a:xfrm>
              <a:off x="1426" y="1049"/>
              <a:ext cx="775" cy="618"/>
            </a:xfrm>
            <a:prstGeom prst="rightArrow">
              <a:avLst>
                <a:gd name="adj1" fmla="val 50000"/>
                <a:gd name="adj2" fmla="val 31351"/>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7191" name="Text Box 39"/>
            <p:cNvSpPr txBox="1">
              <a:spLocks noChangeArrowheads="1"/>
            </p:cNvSpPr>
            <p:nvPr/>
          </p:nvSpPr>
          <p:spPr bwMode="auto">
            <a:xfrm>
              <a:off x="1444" y="1272"/>
              <a:ext cx="61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+$3000</a:t>
              </a:r>
            </a:p>
          </p:txBody>
        </p:sp>
      </p:grpSp>
      <p:grpSp>
        <p:nvGrpSpPr>
          <p:cNvPr id="7179" name="Group 48"/>
          <p:cNvGrpSpPr>
            <a:grpSpLocks/>
          </p:cNvGrpSpPr>
          <p:nvPr/>
        </p:nvGrpSpPr>
        <p:grpSpPr bwMode="auto">
          <a:xfrm>
            <a:off x="4643438" y="2147888"/>
            <a:ext cx="1231900" cy="981075"/>
            <a:chOff x="2845" y="1513"/>
            <a:chExt cx="776" cy="618"/>
          </a:xfrm>
        </p:grpSpPr>
        <p:sp>
          <p:nvSpPr>
            <p:cNvPr id="7188" name="AutoShape 40"/>
            <p:cNvSpPr>
              <a:spLocks noChangeArrowheads="1"/>
            </p:cNvSpPr>
            <p:nvPr/>
          </p:nvSpPr>
          <p:spPr bwMode="auto">
            <a:xfrm>
              <a:off x="2845" y="1513"/>
              <a:ext cx="776" cy="618"/>
            </a:xfrm>
            <a:prstGeom prst="rightArrow">
              <a:avLst>
                <a:gd name="adj1" fmla="val 50000"/>
                <a:gd name="adj2" fmla="val 31392"/>
              </a:avLst>
            </a:prstGeom>
            <a:gradFill rotWithShape="1">
              <a:gsLst>
                <a:gs pos="0">
                  <a:srgbClr val="FF8989"/>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7189" name="Text Box 41"/>
            <p:cNvSpPr txBox="1">
              <a:spLocks noChangeArrowheads="1"/>
            </p:cNvSpPr>
            <p:nvPr/>
          </p:nvSpPr>
          <p:spPr bwMode="auto">
            <a:xfrm>
              <a:off x="2906" y="1746"/>
              <a:ext cx="6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t>-$3000</a:t>
              </a:r>
            </a:p>
          </p:txBody>
        </p:sp>
      </p:grpSp>
      <p:sp>
        <p:nvSpPr>
          <p:cNvPr id="7180" name="Line 42"/>
          <p:cNvSpPr>
            <a:spLocks noChangeShapeType="1"/>
          </p:cNvSpPr>
          <p:nvPr/>
        </p:nvSpPr>
        <p:spPr bwMode="auto">
          <a:xfrm>
            <a:off x="1711325" y="2459038"/>
            <a:ext cx="18637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81" name="Line 43"/>
          <p:cNvSpPr>
            <a:spLocks noChangeShapeType="1"/>
          </p:cNvSpPr>
          <p:nvPr/>
        </p:nvSpPr>
        <p:spPr bwMode="auto">
          <a:xfrm>
            <a:off x="5838825" y="2630488"/>
            <a:ext cx="2141538"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82" name="Text Box 44"/>
          <p:cNvSpPr txBox="1">
            <a:spLocks noChangeArrowheads="1"/>
          </p:cNvSpPr>
          <p:nvPr/>
        </p:nvSpPr>
        <p:spPr bwMode="auto">
          <a:xfrm>
            <a:off x="3521075" y="984250"/>
            <a:ext cx="13192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Reserve</a:t>
            </a:r>
            <a:br>
              <a:rPr lang="en-US" sz="1800">
                <a:solidFill>
                  <a:schemeClr val="bg1"/>
                </a:solidFill>
              </a:rPr>
            </a:br>
            <a:r>
              <a:rPr lang="en-US" sz="1800">
                <a:solidFill>
                  <a:schemeClr val="bg1"/>
                </a:solidFill>
              </a:rPr>
              <a:t>Line</a:t>
            </a:r>
          </a:p>
        </p:txBody>
      </p:sp>
      <p:sp>
        <p:nvSpPr>
          <p:cNvPr id="7183" name="Text Box 45"/>
          <p:cNvSpPr txBox="1">
            <a:spLocks noChangeArrowheads="1"/>
          </p:cNvSpPr>
          <p:nvPr/>
        </p:nvSpPr>
        <p:spPr bwMode="auto">
          <a:xfrm>
            <a:off x="2238375" y="3055938"/>
            <a:ext cx="13192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Reserve Transaction</a:t>
            </a:r>
          </a:p>
        </p:txBody>
      </p:sp>
      <p:sp>
        <p:nvSpPr>
          <p:cNvPr id="7184" name="Text Box 46"/>
          <p:cNvSpPr txBox="1">
            <a:spLocks noChangeArrowheads="1"/>
          </p:cNvSpPr>
          <p:nvPr/>
        </p:nvSpPr>
        <p:spPr bwMode="auto">
          <a:xfrm>
            <a:off x="4524375" y="3055938"/>
            <a:ext cx="13192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Payment Transaction</a:t>
            </a:r>
          </a:p>
        </p:txBody>
      </p:sp>
      <p:grpSp>
        <p:nvGrpSpPr>
          <p:cNvPr id="7185" name="Group 17"/>
          <p:cNvGrpSpPr>
            <a:grpSpLocks/>
          </p:cNvGrpSpPr>
          <p:nvPr/>
        </p:nvGrpSpPr>
        <p:grpSpPr bwMode="auto">
          <a:xfrm>
            <a:off x="6492875" y="2349500"/>
            <a:ext cx="817563" cy="568325"/>
            <a:chOff x="3153" y="1049"/>
            <a:chExt cx="752" cy="523"/>
          </a:xfrm>
        </p:grpSpPr>
        <p:sp>
          <p:nvSpPr>
            <p:cNvPr id="7186" name="Rectangle 18"/>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7187" name="Picture 19"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|EOS~005|</a:t>
            </a:r>
            <a:endParaRPr lang="en-US" sz="100" dirty="0" err="1" smtClean="0">
              <a:solidFill>
                <a:srgbClr val="FFFFFF"/>
              </a:solidFill>
              <a:latin typeface="Arial"/>
              <a:cs typeface="Calibri" pitchFamily="34" charset="0"/>
            </a:endParaRPr>
          </a:p>
        </p:txBody>
      </p:sp>
      <p:pic>
        <p:nvPicPr>
          <p:cNvPr id="8194" name="Picture 66" descr="claimcent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4525" y="1081088"/>
            <a:ext cx="1185863" cy="118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Rectangle 2"/>
          <p:cNvSpPr>
            <a:spLocks noGrp="1" noChangeArrowheads="1"/>
          </p:cNvSpPr>
          <p:nvPr>
            <p:ph type="title"/>
          </p:nvPr>
        </p:nvSpPr>
        <p:spPr/>
        <p:txBody>
          <a:bodyPr/>
          <a:lstStyle/>
          <a:p>
            <a:pPr eaLnBrk="1" hangingPunct="1"/>
            <a:r>
              <a:rPr lang="en-US" smtClean="0"/>
              <a:t>Financials approval</a:t>
            </a:r>
          </a:p>
        </p:txBody>
      </p:sp>
      <p:sp>
        <p:nvSpPr>
          <p:cNvPr id="8196" name="Rectangle 3"/>
          <p:cNvSpPr>
            <a:spLocks noGrp="1" noChangeArrowheads="1"/>
          </p:cNvSpPr>
          <p:nvPr>
            <p:ph idx="1"/>
          </p:nvPr>
        </p:nvSpPr>
        <p:spPr>
          <a:xfrm>
            <a:off x="519113" y="3798888"/>
            <a:ext cx="8318500" cy="2590800"/>
          </a:xfrm>
        </p:spPr>
        <p:txBody>
          <a:bodyPr/>
          <a:lstStyle/>
          <a:p>
            <a:pPr>
              <a:buFont typeface="Arial" charset="0"/>
              <a:buChar char="•"/>
            </a:pPr>
            <a:r>
              <a:rPr lang="en-US" smtClean="0"/>
              <a:t>ClaimCenter reviews every transaction to determine if it requires approval</a:t>
            </a:r>
          </a:p>
          <a:p>
            <a:pPr>
              <a:buFont typeface="Arial" charset="0"/>
              <a:buChar char="•"/>
            </a:pPr>
            <a:r>
              <a:rPr lang="en-US" smtClean="0"/>
              <a:t>Two mechanisms for identifying transactions that require approval</a:t>
            </a:r>
          </a:p>
          <a:p>
            <a:pPr lvl="1"/>
            <a:r>
              <a:rPr lang="en-US" smtClean="0"/>
              <a:t>Authority limits</a:t>
            </a:r>
          </a:p>
          <a:p>
            <a:pPr lvl="1"/>
            <a:r>
              <a:rPr lang="en-US" smtClean="0"/>
              <a:t>Transaction approval rules</a:t>
            </a:r>
          </a:p>
        </p:txBody>
      </p:sp>
      <p:sp>
        <p:nvSpPr>
          <p:cNvPr id="8197" name="Rectangle 4"/>
          <p:cNvSpPr>
            <a:spLocks noChangeArrowheads="1"/>
          </p:cNvSpPr>
          <p:nvPr/>
        </p:nvSpPr>
        <p:spPr bwMode="auto">
          <a:xfrm>
            <a:off x="2413000" y="2803525"/>
            <a:ext cx="2381250" cy="173038"/>
          </a:xfrm>
          <a:prstGeom prst="rect">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8198" name="Group 5"/>
          <p:cNvGrpSpPr>
            <a:grpSpLocks/>
          </p:cNvGrpSpPr>
          <p:nvPr/>
        </p:nvGrpSpPr>
        <p:grpSpPr bwMode="auto">
          <a:xfrm>
            <a:off x="1827213" y="2357438"/>
            <a:ext cx="1341437" cy="903287"/>
            <a:chOff x="2984" y="3331"/>
            <a:chExt cx="845" cy="569"/>
          </a:xfrm>
        </p:grpSpPr>
        <p:sp>
          <p:nvSpPr>
            <p:cNvPr id="8246" name="AutoShape 6"/>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8247" name="Group 7"/>
            <p:cNvGrpSpPr>
              <a:grpSpLocks/>
            </p:cNvGrpSpPr>
            <p:nvPr/>
          </p:nvGrpSpPr>
          <p:grpSpPr bwMode="auto">
            <a:xfrm>
              <a:off x="3386" y="3487"/>
              <a:ext cx="443" cy="398"/>
              <a:chOff x="4838" y="2218"/>
              <a:chExt cx="395" cy="355"/>
            </a:xfrm>
          </p:grpSpPr>
          <p:sp>
            <p:nvSpPr>
              <p:cNvPr id="8248" name="Freeform 8"/>
              <p:cNvSpPr>
                <a:spLocks/>
              </p:cNvSpPr>
              <p:nvPr/>
            </p:nvSpPr>
            <p:spPr bwMode="auto">
              <a:xfrm>
                <a:off x="4888" y="2251"/>
                <a:ext cx="294" cy="113"/>
              </a:xfrm>
              <a:custGeom>
                <a:avLst/>
                <a:gdLst>
                  <a:gd name="T0" fmla="*/ 292 w 839"/>
                  <a:gd name="T1" fmla="*/ 77 h 319"/>
                  <a:gd name="T2" fmla="*/ 285 w 839"/>
                  <a:gd name="T3" fmla="*/ 66 h 319"/>
                  <a:gd name="T4" fmla="*/ 272 w 839"/>
                  <a:gd name="T5" fmla="*/ 62 h 319"/>
                  <a:gd name="T6" fmla="*/ 260 w 839"/>
                  <a:gd name="T7" fmla="*/ 66 h 319"/>
                  <a:gd name="T8" fmla="*/ 252 w 839"/>
                  <a:gd name="T9" fmla="*/ 77 h 319"/>
                  <a:gd name="T10" fmla="*/ 250 w 839"/>
                  <a:gd name="T11" fmla="*/ 87 h 319"/>
                  <a:gd name="T12" fmla="*/ 251 w 839"/>
                  <a:gd name="T13" fmla="*/ 93 h 319"/>
                  <a:gd name="T14" fmla="*/ 242 w 839"/>
                  <a:gd name="T15" fmla="*/ 92 h 319"/>
                  <a:gd name="T16" fmla="*/ 232 w 839"/>
                  <a:gd name="T17" fmla="*/ 87 h 319"/>
                  <a:gd name="T18" fmla="*/ 224 w 839"/>
                  <a:gd name="T19" fmla="*/ 82 h 319"/>
                  <a:gd name="T20" fmla="*/ 214 w 839"/>
                  <a:gd name="T21" fmla="*/ 72 h 319"/>
                  <a:gd name="T22" fmla="*/ 204 w 839"/>
                  <a:gd name="T23" fmla="*/ 63 h 319"/>
                  <a:gd name="T24" fmla="*/ 190 w 839"/>
                  <a:gd name="T25" fmla="*/ 55 h 319"/>
                  <a:gd name="T26" fmla="*/ 170 w 839"/>
                  <a:gd name="T27" fmla="*/ 45 h 319"/>
                  <a:gd name="T28" fmla="*/ 148 w 839"/>
                  <a:gd name="T29" fmla="*/ 38 h 319"/>
                  <a:gd name="T30" fmla="*/ 127 w 839"/>
                  <a:gd name="T31" fmla="*/ 34 h 319"/>
                  <a:gd name="T32" fmla="*/ 104 w 839"/>
                  <a:gd name="T33" fmla="*/ 32 h 319"/>
                  <a:gd name="T34" fmla="*/ 89 w 839"/>
                  <a:gd name="T35" fmla="*/ 33 h 319"/>
                  <a:gd name="T36" fmla="*/ 76 w 839"/>
                  <a:gd name="T37" fmla="*/ 36 h 319"/>
                  <a:gd name="T38" fmla="*/ 64 w 839"/>
                  <a:gd name="T39" fmla="*/ 40 h 319"/>
                  <a:gd name="T40" fmla="*/ 55 w 839"/>
                  <a:gd name="T41" fmla="*/ 41 h 319"/>
                  <a:gd name="T42" fmla="*/ 47 w 839"/>
                  <a:gd name="T43" fmla="*/ 40 h 319"/>
                  <a:gd name="T44" fmla="*/ 39 w 839"/>
                  <a:gd name="T45" fmla="*/ 38 h 319"/>
                  <a:gd name="T46" fmla="*/ 43 w 839"/>
                  <a:gd name="T47" fmla="*/ 27 h 319"/>
                  <a:gd name="T48" fmla="*/ 42 w 839"/>
                  <a:gd name="T49" fmla="*/ 15 h 319"/>
                  <a:gd name="T50" fmla="*/ 35 w 839"/>
                  <a:gd name="T51" fmla="*/ 4 h 319"/>
                  <a:gd name="T52" fmla="*/ 22 w 839"/>
                  <a:gd name="T53" fmla="*/ 0 h 319"/>
                  <a:gd name="T54" fmla="*/ 10 w 839"/>
                  <a:gd name="T55" fmla="*/ 4 h 319"/>
                  <a:gd name="T56" fmla="*/ 2 w 839"/>
                  <a:gd name="T57" fmla="*/ 15 h 319"/>
                  <a:gd name="T58" fmla="*/ 1 w 839"/>
                  <a:gd name="T59" fmla="*/ 30 h 319"/>
                  <a:gd name="T60" fmla="*/ 13 w 839"/>
                  <a:gd name="T61" fmla="*/ 45 h 319"/>
                  <a:gd name="T62" fmla="*/ 22 w 839"/>
                  <a:gd name="T63" fmla="*/ 51 h 319"/>
                  <a:gd name="T64" fmla="*/ 33 w 839"/>
                  <a:gd name="T65" fmla="*/ 56 h 319"/>
                  <a:gd name="T66" fmla="*/ 46 w 839"/>
                  <a:gd name="T67" fmla="*/ 59 h 319"/>
                  <a:gd name="T68" fmla="*/ 66 w 839"/>
                  <a:gd name="T69" fmla="*/ 58 h 319"/>
                  <a:gd name="T70" fmla="*/ 85 w 839"/>
                  <a:gd name="T71" fmla="*/ 56 h 319"/>
                  <a:gd name="T72" fmla="*/ 98 w 839"/>
                  <a:gd name="T73" fmla="*/ 55 h 319"/>
                  <a:gd name="T74" fmla="*/ 114 w 839"/>
                  <a:gd name="T75" fmla="*/ 55 h 319"/>
                  <a:gd name="T76" fmla="*/ 144 w 839"/>
                  <a:gd name="T77" fmla="*/ 61 h 319"/>
                  <a:gd name="T78" fmla="*/ 173 w 839"/>
                  <a:gd name="T79" fmla="*/ 71 h 319"/>
                  <a:gd name="T80" fmla="*/ 188 w 839"/>
                  <a:gd name="T81" fmla="*/ 79 h 319"/>
                  <a:gd name="T82" fmla="*/ 200 w 839"/>
                  <a:gd name="T83" fmla="*/ 86 h 319"/>
                  <a:gd name="T84" fmla="*/ 216 w 839"/>
                  <a:gd name="T85" fmla="*/ 98 h 319"/>
                  <a:gd name="T86" fmla="*/ 234 w 839"/>
                  <a:gd name="T87" fmla="*/ 108 h 319"/>
                  <a:gd name="T88" fmla="*/ 251 w 839"/>
                  <a:gd name="T89" fmla="*/ 113 h 319"/>
                  <a:gd name="T90" fmla="*/ 266 w 839"/>
                  <a:gd name="T91" fmla="*/ 113 h 319"/>
                  <a:gd name="T92" fmla="*/ 280 w 839"/>
                  <a:gd name="T93" fmla="*/ 107 h 319"/>
                  <a:gd name="T94" fmla="*/ 293 w 839"/>
                  <a:gd name="T95" fmla="*/ 93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49" name="Freeform 9"/>
              <p:cNvSpPr>
                <a:spLocks/>
              </p:cNvSpPr>
              <p:nvPr/>
            </p:nvSpPr>
            <p:spPr bwMode="auto">
              <a:xfrm>
                <a:off x="4838" y="2408"/>
                <a:ext cx="145" cy="55"/>
              </a:xfrm>
              <a:custGeom>
                <a:avLst/>
                <a:gdLst>
                  <a:gd name="T0" fmla="*/ 0 w 413"/>
                  <a:gd name="T1" fmla="*/ 0 h 156"/>
                  <a:gd name="T2" fmla="*/ 2 w 413"/>
                  <a:gd name="T3" fmla="*/ 11 h 156"/>
                  <a:gd name="T4" fmla="*/ 8 w 413"/>
                  <a:gd name="T5" fmla="*/ 22 h 156"/>
                  <a:gd name="T6" fmla="*/ 15 w 413"/>
                  <a:gd name="T7" fmla="*/ 32 h 156"/>
                  <a:gd name="T8" fmla="*/ 24 w 413"/>
                  <a:gd name="T9" fmla="*/ 40 h 156"/>
                  <a:gd name="T10" fmla="*/ 34 w 413"/>
                  <a:gd name="T11" fmla="*/ 46 h 156"/>
                  <a:gd name="T12" fmla="*/ 46 w 413"/>
                  <a:gd name="T13" fmla="*/ 51 h 156"/>
                  <a:gd name="T14" fmla="*/ 59 w 413"/>
                  <a:gd name="T15" fmla="*/ 54 h 156"/>
                  <a:gd name="T16" fmla="*/ 72 w 413"/>
                  <a:gd name="T17" fmla="*/ 55 h 156"/>
                  <a:gd name="T18" fmla="*/ 86 w 413"/>
                  <a:gd name="T19" fmla="*/ 54 h 156"/>
                  <a:gd name="T20" fmla="*/ 99 w 413"/>
                  <a:gd name="T21" fmla="*/ 51 h 156"/>
                  <a:gd name="T22" fmla="*/ 111 w 413"/>
                  <a:gd name="T23" fmla="*/ 46 h 156"/>
                  <a:gd name="T24" fmla="*/ 121 w 413"/>
                  <a:gd name="T25" fmla="*/ 40 h 156"/>
                  <a:gd name="T26" fmla="*/ 131 w 413"/>
                  <a:gd name="T27" fmla="*/ 32 h 156"/>
                  <a:gd name="T28" fmla="*/ 137 w 413"/>
                  <a:gd name="T29" fmla="*/ 22 h 156"/>
                  <a:gd name="T30" fmla="*/ 142 w 413"/>
                  <a:gd name="T31" fmla="*/ 11 h 156"/>
                  <a:gd name="T32" fmla="*/ 145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0" name="Freeform 10"/>
              <p:cNvSpPr>
                <a:spLocks/>
              </p:cNvSpPr>
              <p:nvPr/>
            </p:nvSpPr>
            <p:spPr bwMode="auto">
              <a:xfrm>
                <a:off x="4854" y="2282"/>
                <a:ext cx="60" cy="131"/>
              </a:xfrm>
              <a:custGeom>
                <a:avLst/>
                <a:gdLst>
                  <a:gd name="T0" fmla="*/ 10 w 170"/>
                  <a:gd name="T1" fmla="*/ 131 h 373"/>
                  <a:gd name="T2" fmla="*/ 60 w 170"/>
                  <a:gd name="T3" fmla="*/ 4 h 373"/>
                  <a:gd name="T4" fmla="*/ 50 w 170"/>
                  <a:gd name="T5" fmla="*/ 0 h 373"/>
                  <a:gd name="T6" fmla="*/ 0 w 170"/>
                  <a:gd name="T7" fmla="*/ 127 h 373"/>
                  <a:gd name="T8" fmla="*/ 10 w 170"/>
                  <a:gd name="T9" fmla="*/ 131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1" name="Freeform 11"/>
              <p:cNvSpPr>
                <a:spLocks/>
              </p:cNvSpPr>
              <p:nvPr/>
            </p:nvSpPr>
            <p:spPr bwMode="auto">
              <a:xfrm>
                <a:off x="4908" y="2282"/>
                <a:ext cx="59" cy="131"/>
              </a:xfrm>
              <a:custGeom>
                <a:avLst/>
                <a:gdLst>
                  <a:gd name="T0" fmla="*/ 50 w 168"/>
                  <a:gd name="T1" fmla="*/ 131 h 373"/>
                  <a:gd name="T2" fmla="*/ 0 w 168"/>
                  <a:gd name="T3" fmla="*/ 4 h 373"/>
                  <a:gd name="T4" fmla="*/ 9 w 168"/>
                  <a:gd name="T5" fmla="*/ 0 h 373"/>
                  <a:gd name="T6" fmla="*/ 59 w 168"/>
                  <a:gd name="T7" fmla="*/ 127 h 373"/>
                  <a:gd name="T8" fmla="*/ 50 w 168"/>
                  <a:gd name="T9" fmla="*/ 131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2" name="Freeform 12"/>
              <p:cNvSpPr>
                <a:spLocks/>
              </p:cNvSpPr>
              <p:nvPr/>
            </p:nvSpPr>
            <p:spPr bwMode="auto">
              <a:xfrm>
                <a:off x="5087" y="2464"/>
                <a:ext cx="146" cy="55"/>
              </a:xfrm>
              <a:custGeom>
                <a:avLst/>
                <a:gdLst>
                  <a:gd name="T0" fmla="*/ 0 w 413"/>
                  <a:gd name="T1" fmla="*/ 0 h 158"/>
                  <a:gd name="T2" fmla="*/ 3 w 413"/>
                  <a:gd name="T3" fmla="*/ 11 h 158"/>
                  <a:gd name="T4" fmla="*/ 7 w 413"/>
                  <a:gd name="T5" fmla="*/ 22 h 158"/>
                  <a:gd name="T6" fmla="*/ 14 w 413"/>
                  <a:gd name="T7" fmla="*/ 31 h 158"/>
                  <a:gd name="T8" fmla="*/ 24 w 413"/>
                  <a:gd name="T9" fmla="*/ 39 h 158"/>
                  <a:gd name="T10" fmla="*/ 34 w 413"/>
                  <a:gd name="T11" fmla="*/ 45 h 158"/>
                  <a:gd name="T12" fmla="*/ 46 w 413"/>
                  <a:gd name="T13" fmla="*/ 51 h 158"/>
                  <a:gd name="T14" fmla="*/ 59 w 413"/>
                  <a:gd name="T15" fmla="*/ 54 h 158"/>
                  <a:gd name="T16" fmla="*/ 73 w 413"/>
                  <a:gd name="T17" fmla="*/ 55 h 158"/>
                  <a:gd name="T18" fmla="*/ 87 w 413"/>
                  <a:gd name="T19" fmla="*/ 54 h 158"/>
                  <a:gd name="T20" fmla="*/ 100 w 413"/>
                  <a:gd name="T21" fmla="*/ 51 h 158"/>
                  <a:gd name="T22" fmla="*/ 111 w 413"/>
                  <a:gd name="T23" fmla="*/ 45 h 158"/>
                  <a:gd name="T24" fmla="*/ 122 w 413"/>
                  <a:gd name="T25" fmla="*/ 39 h 158"/>
                  <a:gd name="T26" fmla="*/ 131 w 413"/>
                  <a:gd name="T27" fmla="*/ 31 h 158"/>
                  <a:gd name="T28" fmla="*/ 138 w 413"/>
                  <a:gd name="T29" fmla="*/ 22 h 158"/>
                  <a:gd name="T30" fmla="*/ 143 w 413"/>
                  <a:gd name="T31" fmla="*/ 11 h 158"/>
                  <a:gd name="T32" fmla="*/ 14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3" name="Freeform 13"/>
              <p:cNvSpPr>
                <a:spLocks/>
              </p:cNvSpPr>
              <p:nvPr/>
            </p:nvSpPr>
            <p:spPr bwMode="auto">
              <a:xfrm>
                <a:off x="5103" y="2338"/>
                <a:ext cx="60" cy="130"/>
              </a:xfrm>
              <a:custGeom>
                <a:avLst/>
                <a:gdLst>
                  <a:gd name="T0" fmla="*/ 10 w 170"/>
                  <a:gd name="T1" fmla="*/ 130 h 370"/>
                  <a:gd name="T2" fmla="*/ 60 w 170"/>
                  <a:gd name="T3" fmla="*/ 4 h 370"/>
                  <a:gd name="T4" fmla="*/ 50 w 170"/>
                  <a:gd name="T5" fmla="*/ 0 h 370"/>
                  <a:gd name="T6" fmla="*/ 0 w 170"/>
                  <a:gd name="T7" fmla="*/ 126 h 370"/>
                  <a:gd name="T8" fmla="*/ 10 w 170"/>
                  <a:gd name="T9" fmla="*/ 13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4" name="Freeform 14"/>
              <p:cNvSpPr>
                <a:spLocks/>
              </p:cNvSpPr>
              <p:nvPr/>
            </p:nvSpPr>
            <p:spPr bwMode="auto">
              <a:xfrm>
                <a:off x="5157" y="2338"/>
                <a:ext cx="60" cy="130"/>
              </a:xfrm>
              <a:custGeom>
                <a:avLst/>
                <a:gdLst>
                  <a:gd name="T0" fmla="*/ 50 w 170"/>
                  <a:gd name="T1" fmla="*/ 130 h 370"/>
                  <a:gd name="T2" fmla="*/ 0 w 170"/>
                  <a:gd name="T3" fmla="*/ 4 h 370"/>
                  <a:gd name="T4" fmla="*/ 10 w 170"/>
                  <a:gd name="T5" fmla="*/ 0 h 370"/>
                  <a:gd name="T6" fmla="*/ 60 w 170"/>
                  <a:gd name="T7" fmla="*/ 126 h 370"/>
                  <a:gd name="T8" fmla="*/ 50 w 170"/>
                  <a:gd name="T9" fmla="*/ 13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5" name="Rectangle 15"/>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56" name="Rectangle 16"/>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57" name="Freeform 17"/>
              <p:cNvSpPr>
                <a:spLocks/>
              </p:cNvSpPr>
              <p:nvPr/>
            </p:nvSpPr>
            <p:spPr bwMode="auto">
              <a:xfrm>
                <a:off x="5008" y="2218"/>
                <a:ext cx="45" cy="46"/>
              </a:xfrm>
              <a:custGeom>
                <a:avLst/>
                <a:gdLst>
                  <a:gd name="T0" fmla="*/ 22 w 129"/>
                  <a:gd name="T1" fmla="*/ 46 h 128"/>
                  <a:gd name="T2" fmla="*/ 27 w 129"/>
                  <a:gd name="T3" fmla="*/ 46 h 128"/>
                  <a:gd name="T4" fmla="*/ 31 w 129"/>
                  <a:gd name="T5" fmla="*/ 45 h 128"/>
                  <a:gd name="T6" fmla="*/ 35 w 129"/>
                  <a:gd name="T7" fmla="*/ 42 h 128"/>
                  <a:gd name="T8" fmla="*/ 39 w 129"/>
                  <a:gd name="T9" fmla="*/ 40 h 128"/>
                  <a:gd name="T10" fmla="*/ 42 w 129"/>
                  <a:gd name="T11" fmla="*/ 36 h 128"/>
                  <a:gd name="T12" fmla="*/ 44 w 129"/>
                  <a:gd name="T13" fmla="*/ 32 h 128"/>
                  <a:gd name="T14" fmla="*/ 45 w 129"/>
                  <a:gd name="T15" fmla="*/ 28 h 128"/>
                  <a:gd name="T16" fmla="*/ 45 w 129"/>
                  <a:gd name="T17" fmla="*/ 23 h 128"/>
                  <a:gd name="T18" fmla="*/ 45 w 129"/>
                  <a:gd name="T19" fmla="*/ 18 h 128"/>
                  <a:gd name="T20" fmla="*/ 44 w 129"/>
                  <a:gd name="T21" fmla="*/ 14 h 128"/>
                  <a:gd name="T22" fmla="*/ 42 w 129"/>
                  <a:gd name="T23" fmla="*/ 10 h 128"/>
                  <a:gd name="T24" fmla="*/ 39 w 129"/>
                  <a:gd name="T25" fmla="*/ 6 h 128"/>
                  <a:gd name="T26" fmla="*/ 35 w 129"/>
                  <a:gd name="T27" fmla="*/ 4 h 128"/>
                  <a:gd name="T28" fmla="*/ 31 w 129"/>
                  <a:gd name="T29" fmla="*/ 1 h 128"/>
                  <a:gd name="T30" fmla="*/ 27 w 129"/>
                  <a:gd name="T31" fmla="*/ 0 h 128"/>
                  <a:gd name="T32" fmla="*/ 22 w 129"/>
                  <a:gd name="T33" fmla="*/ 0 h 128"/>
                  <a:gd name="T34" fmla="*/ 18 w 129"/>
                  <a:gd name="T35" fmla="*/ 0 h 128"/>
                  <a:gd name="T36" fmla="*/ 14 w 129"/>
                  <a:gd name="T37" fmla="*/ 1 h 128"/>
                  <a:gd name="T38" fmla="*/ 10 w 129"/>
                  <a:gd name="T39" fmla="*/ 4 h 128"/>
                  <a:gd name="T40" fmla="*/ 7 w 129"/>
                  <a:gd name="T41" fmla="*/ 6 h 128"/>
                  <a:gd name="T42" fmla="*/ 4 w 129"/>
                  <a:gd name="T43" fmla="*/ 10 h 128"/>
                  <a:gd name="T44" fmla="*/ 2 w 129"/>
                  <a:gd name="T45" fmla="*/ 14 h 128"/>
                  <a:gd name="T46" fmla="*/ 1 w 129"/>
                  <a:gd name="T47" fmla="*/ 18 h 128"/>
                  <a:gd name="T48" fmla="*/ 0 w 129"/>
                  <a:gd name="T49" fmla="*/ 23 h 128"/>
                  <a:gd name="T50" fmla="*/ 1 w 129"/>
                  <a:gd name="T51" fmla="*/ 28 h 128"/>
                  <a:gd name="T52" fmla="*/ 2 w 129"/>
                  <a:gd name="T53" fmla="*/ 32 h 128"/>
                  <a:gd name="T54" fmla="*/ 4 w 129"/>
                  <a:gd name="T55" fmla="*/ 36 h 128"/>
                  <a:gd name="T56" fmla="*/ 7 w 129"/>
                  <a:gd name="T57" fmla="*/ 40 h 128"/>
                  <a:gd name="T58" fmla="*/ 10 w 129"/>
                  <a:gd name="T59" fmla="*/ 42 h 128"/>
                  <a:gd name="T60" fmla="*/ 14 w 129"/>
                  <a:gd name="T61" fmla="*/ 45 h 128"/>
                  <a:gd name="T62" fmla="*/ 18 w 129"/>
                  <a:gd name="T63" fmla="*/ 46 h 128"/>
                  <a:gd name="T64" fmla="*/ 22 w 129"/>
                  <a:gd name="T65" fmla="*/ 4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8" name="Rectangle 18"/>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8199" name="Group 25"/>
          <p:cNvGrpSpPr>
            <a:grpSpLocks/>
          </p:cNvGrpSpPr>
          <p:nvPr/>
        </p:nvGrpSpPr>
        <p:grpSpPr bwMode="auto">
          <a:xfrm>
            <a:off x="5657850" y="2428875"/>
            <a:ext cx="1725613" cy="933450"/>
            <a:chOff x="4323" y="1144"/>
            <a:chExt cx="1815" cy="981"/>
          </a:xfrm>
        </p:grpSpPr>
        <p:grpSp>
          <p:nvGrpSpPr>
            <p:cNvPr id="8227" name="Group 26"/>
            <p:cNvGrpSpPr>
              <a:grpSpLocks/>
            </p:cNvGrpSpPr>
            <p:nvPr/>
          </p:nvGrpSpPr>
          <p:grpSpPr bwMode="auto">
            <a:xfrm>
              <a:off x="5381" y="1178"/>
              <a:ext cx="757" cy="947"/>
              <a:chOff x="4174" y="933"/>
              <a:chExt cx="921" cy="1151"/>
            </a:xfrm>
          </p:grpSpPr>
          <p:sp>
            <p:nvSpPr>
              <p:cNvPr id="8229" name="Rectangle 27"/>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8230" name="AutoShape 28"/>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31" name="AutoShape 29"/>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32" name="AutoShape 30"/>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33" name="Freeform 31"/>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34" name="Freeform 32"/>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35" name="Freeform 33"/>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36" name="Freeform 34"/>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37" name="Freeform 35"/>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38" name="Freeform 36"/>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39" name="Freeform 37"/>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40" name="Line 38"/>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41" name="Line 39"/>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42" name="Line 40"/>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43" name="Line 41"/>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44" name="Line 42"/>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45" name="Line 43"/>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8228" name="AutoShape 44"/>
            <p:cNvSpPr>
              <a:spLocks noChangeArrowheads="1"/>
            </p:cNvSpPr>
            <p:nvPr/>
          </p:nvSpPr>
          <p:spPr bwMode="auto">
            <a:xfrm>
              <a:off x="4323" y="1144"/>
              <a:ext cx="1133" cy="618"/>
            </a:xfrm>
            <a:prstGeom prst="rightArrow">
              <a:avLst>
                <a:gd name="adj1" fmla="val 50000"/>
                <a:gd name="adj2" fmla="val 45833"/>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sp>
        <p:nvSpPr>
          <p:cNvPr id="8200" name="Text Box 45"/>
          <p:cNvSpPr txBox="1">
            <a:spLocks noChangeArrowheads="1"/>
          </p:cNvSpPr>
          <p:nvPr/>
        </p:nvSpPr>
        <p:spPr bwMode="auto">
          <a:xfrm>
            <a:off x="5440363" y="2081213"/>
            <a:ext cx="1404937"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2400">
                <a:solidFill>
                  <a:schemeClr val="bg1"/>
                </a:solidFill>
              </a:rPr>
              <a:t>+$50,000</a:t>
            </a:r>
          </a:p>
        </p:txBody>
      </p:sp>
      <p:grpSp>
        <p:nvGrpSpPr>
          <p:cNvPr id="8201" name="Group 46"/>
          <p:cNvGrpSpPr>
            <a:grpSpLocks/>
          </p:cNvGrpSpPr>
          <p:nvPr/>
        </p:nvGrpSpPr>
        <p:grpSpPr bwMode="auto">
          <a:xfrm>
            <a:off x="4657725" y="2416175"/>
            <a:ext cx="963613" cy="785813"/>
            <a:chOff x="729" y="3059"/>
            <a:chExt cx="607" cy="495"/>
          </a:xfrm>
        </p:grpSpPr>
        <p:grpSp>
          <p:nvGrpSpPr>
            <p:cNvPr id="8213" name="Group 47"/>
            <p:cNvGrpSpPr>
              <a:grpSpLocks/>
            </p:cNvGrpSpPr>
            <p:nvPr/>
          </p:nvGrpSpPr>
          <p:grpSpPr bwMode="auto">
            <a:xfrm>
              <a:off x="836" y="3059"/>
              <a:ext cx="500" cy="495"/>
              <a:chOff x="2064" y="3278"/>
              <a:chExt cx="500" cy="495"/>
            </a:xfrm>
          </p:grpSpPr>
          <p:sp>
            <p:nvSpPr>
              <p:cNvPr id="8224" name="Rectangle 48"/>
              <p:cNvSpPr>
                <a:spLocks noChangeArrowheads="1"/>
              </p:cNvSpPr>
              <p:nvPr/>
            </p:nvSpPr>
            <p:spPr bwMode="auto">
              <a:xfrm rot="-2963728">
                <a:off x="2240" y="3267"/>
                <a:ext cx="144" cy="496"/>
              </a:xfrm>
              <a:prstGeom prst="rect">
                <a:avLst/>
              </a:prstGeom>
              <a:solidFill>
                <a:srgbClr val="FFCC00"/>
              </a:solidFill>
              <a:ln w="12700">
                <a:solidFill>
                  <a:schemeClr val="bg1"/>
                </a:solidFill>
                <a:miter lim="800000"/>
                <a:headEnd/>
                <a:tailEnd/>
              </a:ln>
            </p:spPr>
            <p:txBody>
              <a:bodyPr anchor="ctr">
                <a:spAutoFit/>
              </a:bodyPr>
              <a:lstStyle/>
              <a:p>
                <a:endParaRPr lang="en-US"/>
              </a:p>
            </p:txBody>
          </p:sp>
          <p:sp>
            <p:nvSpPr>
              <p:cNvPr id="8225" name="Rectangle 49"/>
              <p:cNvSpPr>
                <a:spLocks noChangeArrowheads="1"/>
              </p:cNvSpPr>
              <p:nvPr/>
            </p:nvSpPr>
            <p:spPr bwMode="auto">
              <a:xfrm rot="-2963728">
                <a:off x="2050" y="3313"/>
                <a:ext cx="144" cy="73"/>
              </a:xfrm>
              <a:prstGeom prst="rect">
                <a:avLst/>
              </a:prstGeom>
              <a:solidFill>
                <a:srgbClr val="FF66FF"/>
              </a:solidFill>
              <a:ln w="12700">
                <a:solidFill>
                  <a:schemeClr val="bg1"/>
                </a:solidFill>
                <a:miter lim="800000"/>
                <a:headEnd/>
                <a:tailEnd/>
              </a:ln>
            </p:spPr>
            <p:txBody>
              <a:bodyPr anchor="ctr">
                <a:spAutoFit/>
              </a:bodyPr>
              <a:lstStyle/>
              <a:p>
                <a:endParaRPr lang="en-US"/>
              </a:p>
            </p:txBody>
          </p:sp>
          <p:sp>
            <p:nvSpPr>
              <p:cNvPr id="8226" name="AutoShape 50"/>
              <p:cNvSpPr>
                <a:spLocks noChangeArrowheads="1"/>
              </p:cNvSpPr>
              <p:nvPr/>
            </p:nvSpPr>
            <p:spPr bwMode="auto">
              <a:xfrm rot="18636272" flipV="1">
                <a:off x="2456" y="3664"/>
                <a:ext cx="144" cy="73"/>
              </a:xfrm>
              <a:prstGeom prst="triangle">
                <a:avLst>
                  <a:gd name="adj" fmla="val 49995"/>
                </a:avLst>
              </a:prstGeom>
              <a:solidFill>
                <a:schemeClr val="hlink"/>
              </a:solidFill>
              <a:ln w="12700">
                <a:solidFill>
                  <a:schemeClr val="bg1"/>
                </a:solidFill>
                <a:miter lim="800000"/>
                <a:headEnd/>
                <a:tailEnd/>
              </a:ln>
            </p:spPr>
            <p:txBody>
              <a:bodyPr anchor="ctr">
                <a:spAutoFit/>
              </a:bodyPr>
              <a:lstStyle/>
              <a:p>
                <a:endParaRPr lang="en-US"/>
              </a:p>
            </p:txBody>
          </p:sp>
        </p:grpSp>
        <p:grpSp>
          <p:nvGrpSpPr>
            <p:cNvPr id="8214" name="Group 51"/>
            <p:cNvGrpSpPr>
              <a:grpSpLocks/>
            </p:cNvGrpSpPr>
            <p:nvPr/>
          </p:nvGrpSpPr>
          <p:grpSpPr bwMode="auto">
            <a:xfrm>
              <a:off x="729" y="3115"/>
              <a:ext cx="512" cy="334"/>
              <a:chOff x="4250" y="2059"/>
              <a:chExt cx="438" cy="286"/>
            </a:xfrm>
          </p:grpSpPr>
          <p:sp>
            <p:nvSpPr>
              <p:cNvPr id="8215" name="Freeform 52"/>
              <p:cNvSpPr>
                <a:spLocks/>
              </p:cNvSpPr>
              <p:nvPr/>
            </p:nvSpPr>
            <p:spPr bwMode="auto">
              <a:xfrm rot="3766183" flipH="1">
                <a:off x="4235" y="2207"/>
                <a:ext cx="153" cy="124"/>
              </a:xfrm>
              <a:custGeom>
                <a:avLst/>
                <a:gdLst>
                  <a:gd name="T0" fmla="*/ 57 w 153"/>
                  <a:gd name="T1" fmla="*/ 7 h 124"/>
                  <a:gd name="T2" fmla="*/ 57 w 153"/>
                  <a:gd name="T3" fmla="*/ 7 h 124"/>
                  <a:gd name="T4" fmla="*/ 73 w 153"/>
                  <a:gd name="T5" fmla="*/ 2 h 124"/>
                  <a:gd name="T6" fmla="*/ 88 w 153"/>
                  <a:gd name="T7" fmla="*/ 0 h 124"/>
                  <a:gd name="T8" fmla="*/ 101 w 153"/>
                  <a:gd name="T9" fmla="*/ 0 h 124"/>
                  <a:gd name="T10" fmla="*/ 115 w 153"/>
                  <a:gd name="T11" fmla="*/ 2 h 124"/>
                  <a:gd name="T12" fmla="*/ 127 w 153"/>
                  <a:gd name="T13" fmla="*/ 7 h 124"/>
                  <a:gd name="T14" fmla="*/ 137 w 153"/>
                  <a:gd name="T15" fmla="*/ 14 h 124"/>
                  <a:gd name="T16" fmla="*/ 142 w 153"/>
                  <a:gd name="T17" fmla="*/ 17 h 124"/>
                  <a:gd name="T18" fmla="*/ 146 w 153"/>
                  <a:gd name="T19" fmla="*/ 22 h 124"/>
                  <a:gd name="T20" fmla="*/ 148 w 153"/>
                  <a:gd name="T21" fmla="*/ 27 h 124"/>
                  <a:gd name="T22" fmla="*/ 151 w 153"/>
                  <a:gd name="T23" fmla="*/ 32 h 124"/>
                  <a:gd name="T24" fmla="*/ 151 w 153"/>
                  <a:gd name="T25" fmla="*/ 32 h 124"/>
                  <a:gd name="T26" fmla="*/ 152 w 153"/>
                  <a:gd name="T27" fmla="*/ 38 h 124"/>
                  <a:gd name="T28" fmla="*/ 153 w 153"/>
                  <a:gd name="T29" fmla="*/ 45 h 124"/>
                  <a:gd name="T30" fmla="*/ 153 w 153"/>
                  <a:gd name="T31" fmla="*/ 49 h 124"/>
                  <a:gd name="T32" fmla="*/ 152 w 153"/>
                  <a:gd name="T33" fmla="*/ 56 h 124"/>
                  <a:gd name="T34" fmla="*/ 148 w 153"/>
                  <a:gd name="T35" fmla="*/ 68 h 124"/>
                  <a:gd name="T36" fmla="*/ 142 w 153"/>
                  <a:gd name="T37" fmla="*/ 80 h 124"/>
                  <a:gd name="T38" fmla="*/ 133 w 153"/>
                  <a:gd name="T39" fmla="*/ 91 h 124"/>
                  <a:gd name="T40" fmla="*/ 123 w 153"/>
                  <a:gd name="T41" fmla="*/ 101 h 124"/>
                  <a:gd name="T42" fmla="*/ 110 w 153"/>
                  <a:gd name="T43" fmla="*/ 110 h 124"/>
                  <a:gd name="T44" fmla="*/ 96 w 153"/>
                  <a:gd name="T45" fmla="*/ 116 h 124"/>
                  <a:gd name="T46" fmla="*/ 96 w 153"/>
                  <a:gd name="T47" fmla="*/ 116 h 124"/>
                  <a:gd name="T48" fmla="*/ 80 w 153"/>
                  <a:gd name="T49" fmla="*/ 121 h 124"/>
                  <a:gd name="T50" fmla="*/ 65 w 153"/>
                  <a:gd name="T51" fmla="*/ 124 h 124"/>
                  <a:gd name="T52" fmla="*/ 50 w 153"/>
                  <a:gd name="T53" fmla="*/ 124 h 124"/>
                  <a:gd name="T54" fmla="*/ 38 w 153"/>
                  <a:gd name="T55" fmla="*/ 121 h 124"/>
                  <a:gd name="T56" fmla="*/ 26 w 153"/>
                  <a:gd name="T57" fmla="*/ 117 h 124"/>
                  <a:gd name="T58" fmla="*/ 16 w 153"/>
                  <a:gd name="T59" fmla="*/ 110 h 124"/>
                  <a:gd name="T60" fmla="*/ 11 w 153"/>
                  <a:gd name="T61" fmla="*/ 106 h 124"/>
                  <a:gd name="T62" fmla="*/ 7 w 153"/>
                  <a:gd name="T63" fmla="*/ 101 h 124"/>
                  <a:gd name="T64" fmla="*/ 5 w 153"/>
                  <a:gd name="T65" fmla="*/ 96 h 124"/>
                  <a:gd name="T66" fmla="*/ 2 w 153"/>
                  <a:gd name="T67" fmla="*/ 91 h 124"/>
                  <a:gd name="T68" fmla="*/ 2 w 153"/>
                  <a:gd name="T69" fmla="*/ 91 h 124"/>
                  <a:gd name="T70" fmla="*/ 1 w 153"/>
                  <a:gd name="T71" fmla="*/ 85 h 124"/>
                  <a:gd name="T72" fmla="*/ 0 w 153"/>
                  <a:gd name="T73" fmla="*/ 80 h 124"/>
                  <a:gd name="T74" fmla="*/ 0 w 153"/>
                  <a:gd name="T75" fmla="*/ 74 h 124"/>
                  <a:gd name="T76" fmla="*/ 0 w 153"/>
                  <a:gd name="T77" fmla="*/ 68 h 124"/>
                  <a:gd name="T78" fmla="*/ 3 w 153"/>
                  <a:gd name="T79" fmla="*/ 56 h 124"/>
                  <a:gd name="T80" fmla="*/ 10 w 153"/>
                  <a:gd name="T81" fmla="*/ 45 h 124"/>
                  <a:gd name="T82" fmla="*/ 18 w 153"/>
                  <a:gd name="T83" fmla="*/ 33 h 124"/>
                  <a:gd name="T84" fmla="*/ 29 w 153"/>
                  <a:gd name="T85" fmla="*/ 23 h 124"/>
                  <a:gd name="T86" fmla="*/ 42 w 153"/>
                  <a:gd name="T87" fmla="*/ 15 h 124"/>
                  <a:gd name="T88" fmla="*/ 57 w 153"/>
                  <a:gd name="T89" fmla="*/ 7 h 124"/>
                  <a:gd name="T90" fmla="*/ 57 w 153"/>
                  <a:gd name="T91" fmla="*/ 7 h 1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3"/>
                  <a:gd name="T139" fmla="*/ 0 h 124"/>
                  <a:gd name="T140" fmla="*/ 153 w 153"/>
                  <a:gd name="T141" fmla="*/ 124 h 1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3" h="124">
                    <a:moveTo>
                      <a:pt x="57" y="7"/>
                    </a:moveTo>
                    <a:lnTo>
                      <a:pt x="57" y="7"/>
                    </a:lnTo>
                    <a:lnTo>
                      <a:pt x="73" y="2"/>
                    </a:lnTo>
                    <a:lnTo>
                      <a:pt x="88" y="0"/>
                    </a:lnTo>
                    <a:lnTo>
                      <a:pt x="101" y="0"/>
                    </a:lnTo>
                    <a:lnTo>
                      <a:pt x="115" y="2"/>
                    </a:lnTo>
                    <a:lnTo>
                      <a:pt x="127" y="7"/>
                    </a:lnTo>
                    <a:lnTo>
                      <a:pt x="137" y="14"/>
                    </a:lnTo>
                    <a:lnTo>
                      <a:pt x="142" y="17"/>
                    </a:lnTo>
                    <a:lnTo>
                      <a:pt x="146" y="22"/>
                    </a:lnTo>
                    <a:lnTo>
                      <a:pt x="148" y="27"/>
                    </a:lnTo>
                    <a:lnTo>
                      <a:pt x="151" y="32"/>
                    </a:lnTo>
                    <a:lnTo>
                      <a:pt x="152" y="38"/>
                    </a:lnTo>
                    <a:lnTo>
                      <a:pt x="153" y="45"/>
                    </a:lnTo>
                    <a:lnTo>
                      <a:pt x="153" y="49"/>
                    </a:lnTo>
                    <a:lnTo>
                      <a:pt x="152" y="56"/>
                    </a:lnTo>
                    <a:lnTo>
                      <a:pt x="148" y="68"/>
                    </a:lnTo>
                    <a:lnTo>
                      <a:pt x="142" y="80"/>
                    </a:lnTo>
                    <a:lnTo>
                      <a:pt x="133" y="91"/>
                    </a:lnTo>
                    <a:lnTo>
                      <a:pt x="123" y="101"/>
                    </a:lnTo>
                    <a:lnTo>
                      <a:pt x="110" y="110"/>
                    </a:lnTo>
                    <a:lnTo>
                      <a:pt x="96" y="116"/>
                    </a:lnTo>
                    <a:lnTo>
                      <a:pt x="80" y="121"/>
                    </a:lnTo>
                    <a:lnTo>
                      <a:pt x="65" y="124"/>
                    </a:lnTo>
                    <a:lnTo>
                      <a:pt x="50" y="124"/>
                    </a:lnTo>
                    <a:lnTo>
                      <a:pt x="38" y="121"/>
                    </a:lnTo>
                    <a:lnTo>
                      <a:pt x="26" y="117"/>
                    </a:lnTo>
                    <a:lnTo>
                      <a:pt x="16" y="110"/>
                    </a:lnTo>
                    <a:lnTo>
                      <a:pt x="11" y="106"/>
                    </a:lnTo>
                    <a:lnTo>
                      <a:pt x="7" y="101"/>
                    </a:lnTo>
                    <a:lnTo>
                      <a:pt x="5" y="96"/>
                    </a:lnTo>
                    <a:lnTo>
                      <a:pt x="2" y="91"/>
                    </a:lnTo>
                    <a:lnTo>
                      <a:pt x="1" y="85"/>
                    </a:lnTo>
                    <a:lnTo>
                      <a:pt x="0" y="80"/>
                    </a:lnTo>
                    <a:lnTo>
                      <a:pt x="0" y="74"/>
                    </a:lnTo>
                    <a:lnTo>
                      <a:pt x="0" y="68"/>
                    </a:lnTo>
                    <a:lnTo>
                      <a:pt x="3" y="56"/>
                    </a:lnTo>
                    <a:lnTo>
                      <a:pt x="10" y="45"/>
                    </a:lnTo>
                    <a:lnTo>
                      <a:pt x="18" y="33"/>
                    </a:lnTo>
                    <a:lnTo>
                      <a:pt x="29" y="23"/>
                    </a:lnTo>
                    <a:lnTo>
                      <a:pt x="42" y="15"/>
                    </a:lnTo>
                    <a:lnTo>
                      <a:pt x="5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6" name="Freeform 53"/>
              <p:cNvSpPr>
                <a:spLocks/>
              </p:cNvSpPr>
              <p:nvPr/>
            </p:nvSpPr>
            <p:spPr bwMode="auto">
              <a:xfrm rot="3766183" flipH="1">
                <a:off x="4245" y="2218"/>
                <a:ext cx="133" cy="102"/>
              </a:xfrm>
              <a:custGeom>
                <a:avLst/>
                <a:gdLst>
                  <a:gd name="T0" fmla="*/ 49 w 133"/>
                  <a:gd name="T1" fmla="*/ 6 h 102"/>
                  <a:gd name="T2" fmla="*/ 49 w 133"/>
                  <a:gd name="T3" fmla="*/ 6 h 102"/>
                  <a:gd name="T4" fmla="*/ 63 w 133"/>
                  <a:gd name="T5" fmla="*/ 3 h 102"/>
                  <a:gd name="T6" fmla="*/ 76 w 133"/>
                  <a:gd name="T7" fmla="*/ 0 h 102"/>
                  <a:gd name="T8" fmla="*/ 89 w 133"/>
                  <a:gd name="T9" fmla="*/ 0 h 102"/>
                  <a:gd name="T10" fmla="*/ 100 w 133"/>
                  <a:gd name="T11" fmla="*/ 3 h 102"/>
                  <a:gd name="T12" fmla="*/ 111 w 133"/>
                  <a:gd name="T13" fmla="*/ 6 h 102"/>
                  <a:gd name="T14" fmla="*/ 120 w 133"/>
                  <a:gd name="T15" fmla="*/ 11 h 102"/>
                  <a:gd name="T16" fmla="*/ 126 w 133"/>
                  <a:gd name="T17" fmla="*/ 19 h 102"/>
                  <a:gd name="T18" fmla="*/ 131 w 133"/>
                  <a:gd name="T19" fmla="*/ 27 h 102"/>
                  <a:gd name="T20" fmla="*/ 131 w 133"/>
                  <a:gd name="T21" fmla="*/ 27 h 102"/>
                  <a:gd name="T22" fmla="*/ 133 w 133"/>
                  <a:gd name="T23" fmla="*/ 36 h 102"/>
                  <a:gd name="T24" fmla="*/ 132 w 133"/>
                  <a:gd name="T25" fmla="*/ 46 h 102"/>
                  <a:gd name="T26" fmla="*/ 130 w 133"/>
                  <a:gd name="T27" fmla="*/ 56 h 102"/>
                  <a:gd name="T28" fmla="*/ 123 w 133"/>
                  <a:gd name="T29" fmla="*/ 66 h 102"/>
                  <a:gd name="T30" fmla="*/ 116 w 133"/>
                  <a:gd name="T31" fmla="*/ 74 h 102"/>
                  <a:gd name="T32" fmla="*/ 107 w 133"/>
                  <a:gd name="T33" fmla="*/ 83 h 102"/>
                  <a:gd name="T34" fmla="*/ 96 w 133"/>
                  <a:gd name="T35" fmla="*/ 90 h 102"/>
                  <a:gd name="T36" fmla="*/ 84 w 133"/>
                  <a:gd name="T37" fmla="*/ 97 h 102"/>
                  <a:gd name="T38" fmla="*/ 84 w 133"/>
                  <a:gd name="T39" fmla="*/ 97 h 102"/>
                  <a:gd name="T40" fmla="*/ 70 w 133"/>
                  <a:gd name="T41" fmla="*/ 100 h 102"/>
                  <a:gd name="T42" fmla="*/ 57 w 133"/>
                  <a:gd name="T43" fmla="*/ 102 h 102"/>
                  <a:gd name="T44" fmla="*/ 44 w 133"/>
                  <a:gd name="T45" fmla="*/ 102 h 102"/>
                  <a:gd name="T46" fmla="*/ 33 w 133"/>
                  <a:gd name="T47" fmla="*/ 100 h 102"/>
                  <a:gd name="T48" fmla="*/ 22 w 133"/>
                  <a:gd name="T49" fmla="*/ 97 h 102"/>
                  <a:gd name="T50" fmla="*/ 13 w 133"/>
                  <a:gd name="T51" fmla="*/ 90 h 102"/>
                  <a:gd name="T52" fmla="*/ 6 w 133"/>
                  <a:gd name="T53" fmla="*/ 84 h 102"/>
                  <a:gd name="T54" fmla="*/ 2 w 133"/>
                  <a:gd name="T55" fmla="*/ 76 h 102"/>
                  <a:gd name="T56" fmla="*/ 2 w 133"/>
                  <a:gd name="T57" fmla="*/ 76 h 102"/>
                  <a:gd name="T58" fmla="*/ 0 w 133"/>
                  <a:gd name="T59" fmla="*/ 66 h 102"/>
                  <a:gd name="T60" fmla="*/ 0 w 133"/>
                  <a:gd name="T61" fmla="*/ 56 h 102"/>
                  <a:gd name="T62" fmla="*/ 3 w 133"/>
                  <a:gd name="T63" fmla="*/ 46 h 102"/>
                  <a:gd name="T64" fmla="*/ 8 w 133"/>
                  <a:gd name="T65" fmla="*/ 36 h 102"/>
                  <a:gd name="T66" fmla="*/ 16 w 133"/>
                  <a:gd name="T67" fmla="*/ 27 h 102"/>
                  <a:gd name="T68" fmla="*/ 26 w 133"/>
                  <a:gd name="T69" fmla="*/ 19 h 102"/>
                  <a:gd name="T70" fmla="*/ 37 w 133"/>
                  <a:gd name="T71" fmla="*/ 11 h 102"/>
                  <a:gd name="T72" fmla="*/ 49 w 133"/>
                  <a:gd name="T73" fmla="*/ 6 h 102"/>
                  <a:gd name="T74" fmla="*/ 49 w 133"/>
                  <a:gd name="T75" fmla="*/ 6 h 1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3"/>
                  <a:gd name="T115" fmla="*/ 0 h 102"/>
                  <a:gd name="T116" fmla="*/ 133 w 133"/>
                  <a:gd name="T117" fmla="*/ 102 h 10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3" h="102">
                    <a:moveTo>
                      <a:pt x="49" y="6"/>
                    </a:moveTo>
                    <a:lnTo>
                      <a:pt x="49" y="6"/>
                    </a:lnTo>
                    <a:lnTo>
                      <a:pt x="63" y="3"/>
                    </a:lnTo>
                    <a:lnTo>
                      <a:pt x="76" y="0"/>
                    </a:lnTo>
                    <a:lnTo>
                      <a:pt x="89" y="0"/>
                    </a:lnTo>
                    <a:lnTo>
                      <a:pt x="100" y="3"/>
                    </a:lnTo>
                    <a:lnTo>
                      <a:pt x="111" y="6"/>
                    </a:lnTo>
                    <a:lnTo>
                      <a:pt x="120" y="11"/>
                    </a:lnTo>
                    <a:lnTo>
                      <a:pt x="126" y="19"/>
                    </a:lnTo>
                    <a:lnTo>
                      <a:pt x="131" y="27"/>
                    </a:lnTo>
                    <a:lnTo>
                      <a:pt x="133" y="36"/>
                    </a:lnTo>
                    <a:lnTo>
                      <a:pt x="132" y="46"/>
                    </a:lnTo>
                    <a:lnTo>
                      <a:pt x="130" y="56"/>
                    </a:lnTo>
                    <a:lnTo>
                      <a:pt x="123" y="66"/>
                    </a:lnTo>
                    <a:lnTo>
                      <a:pt x="116" y="74"/>
                    </a:lnTo>
                    <a:lnTo>
                      <a:pt x="107" y="83"/>
                    </a:lnTo>
                    <a:lnTo>
                      <a:pt x="96" y="90"/>
                    </a:lnTo>
                    <a:lnTo>
                      <a:pt x="84" y="97"/>
                    </a:lnTo>
                    <a:lnTo>
                      <a:pt x="70" y="100"/>
                    </a:lnTo>
                    <a:lnTo>
                      <a:pt x="57" y="102"/>
                    </a:lnTo>
                    <a:lnTo>
                      <a:pt x="44" y="102"/>
                    </a:lnTo>
                    <a:lnTo>
                      <a:pt x="33" y="100"/>
                    </a:lnTo>
                    <a:lnTo>
                      <a:pt x="22" y="97"/>
                    </a:lnTo>
                    <a:lnTo>
                      <a:pt x="13" y="90"/>
                    </a:lnTo>
                    <a:lnTo>
                      <a:pt x="6" y="84"/>
                    </a:lnTo>
                    <a:lnTo>
                      <a:pt x="2" y="76"/>
                    </a:lnTo>
                    <a:lnTo>
                      <a:pt x="0" y="66"/>
                    </a:lnTo>
                    <a:lnTo>
                      <a:pt x="0" y="56"/>
                    </a:lnTo>
                    <a:lnTo>
                      <a:pt x="3" y="46"/>
                    </a:lnTo>
                    <a:lnTo>
                      <a:pt x="8" y="36"/>
                    </a:lnTo>
                    <a:lnTo>
                      <a:pt x="16" y="27"/>
                    </a:lnTo>
                    <a:lnTo>
                      <a:pt x="26" y="19"/>
                    </a:lnTo>
                    <a:lnTo>
                      <a:pt x="37" y="11"/>
                    </a:lnTo>
                    <a:lnTo>
                      <a:pt x="49"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7" name="Freeform 54"/>
              <p:cNvSpPr>
                <a:spLocks/>
              </p:cNvSpPr>
              <p:nvPr/>
            </p:nvSpPr>
            <p:spPr bwMode="auto">
              <a:xfrm rot="3766183" flipH="1">
                <a:off x="4376" y="2101"/>
                <a:ext cx="150" cy="276"/>
              </a:xfrm>
              <a:custGeom>
                <a:avLst/>
                <a:gdLst>
                  <a:gd name="T0" fmla="*/ 2 w 150"/>
                  <a:gd name="T1" fmla="*/ 199 h 276"/>
                  <a:gd name="T2" fmla="*/ 2 w 150"/>
                  <a:gd name="T3" fmla="*/ 199 h 276"/>
                  <a:gd name="T4" fmla="*/ 7 w 150"/>
                  <a:gd name="T5" fmla="*/ 209 h 276"/>
                  <a:gd name="T6" fmla="*/ 13 w 150"/>
                  <a:gd name="T7" fmla="*/ 220 h 276"/>
                  <a:gd name="T8" fmla="*/ 21 w 150"/>
                  <a:gd name="T9" fmla="*/ 230 h 276"/>
                  <a:gd name="T10" fmla="*/ 28 w 150"/>
                  <a:gd name="T11" fmla="*/ 240 h 276"/>
                  <a:gd name="T12" fmla="*/ 46 w 150"/>
                  <a:gd name="T13" fmla="*/ 258 h 276"/>
                  <a:gd name="T14" fmla="*/ 62 w 150"/>
                  <a:gd name="T15" fmla="*/ 276 h 276"/>
                  <a:gd name="T16" fmla="*/ 62 w 150"/>
                  <a:gd name="T17" fmla="*/ 276 h 276"/>
                  <a:gd name="T18" fmla="*/ 73 w 150"/>
                  <a:gd name="T19" fmla="*/ 272 h 276"/>
                  <a:gd name="T20" fmla="*/ 86 w 150"/>
                  <a:gd name="T21" fmla="*/ 269 h 276"/>
                  <a:gd name="T22" fmla="*/ 100 w 150"/>
                  <a:gd name="T23" fmla="*/ 266 h 276"/>
                  <a:gd name="T24" fmla="*/ 115 w 150"/>
                  <a:gd name="T25" fmla="*/ 262 h 276"/>
                  <a:gd name="T26" fmla="*/ 122 w 150"/>
                  <a:gd name="T27" fmla="*/ 260 h 276"/>
                  <a:gd name="T28" fmla="*/ 129 w 150"/>
                  <a:gd name="T29" fmla="*/ 258 h 276"/>
                  <a:gd name="T30" fmla="*/ 135 w 150"/>
                  <a:gd name="T31" fmla="*/ 254 h 276"/>
                  <a:gd name="T32" fmla="*/ 140 w 150"/>
                  <a:gd name="T33" fmla="*/ 249 h 276"/>
                  <a:gd name="T34" fmla="*/ 143 w 150"/>
                  <a:gd name="T35" fmla="*/ 243 h 276"/>
                  <a:gd name="T36" fmla="*/ 147 w 150"/>
                  <a:gd name="T37" fmla="*/ 236 h 276"/>
                  <a:gd name="T38" fmla="*/ 148 w 150"/>
                  <a:gd name="T39" fmla="*/ 229 h 276"/>
                  <a:gd name="T40" fmla="*/ 150 w 150"/>
                  <a:gd name="T41" fmla="*/ 220 h 276"/>
                  <a:gd name="T42" fmla="*/ 150 w 150"/>
                  <a:gd name="T43" fmla="*/ 220 h 276"/>
                  <a:gd name="T44" fmla="*/ 145 w 150"/>
                  <a:gd name="T45" fmla="*/ 217 h 276"/>
                  <a:gd name="T46" fmla="*/ 141 w 150"/>
                  <a:gd name="T47" fmla="*/ 213 h 276"/>
                  <a:gd name="T48" fmla="*/ 138 w 150"/>
                  <a:gd name="T49" fmla="*/ 208 h 276"/>
                  <a:gd name="T50" fmla="*/ 136 w 150"/>
                  <a:gd name="T51" fmla="*/ 203 h 276"/>
                  <a:gd name="T52" fmla="*/ 133 w 150"/>
                  <a:gd name="T53" fmla="*/ 191 h 276"/>
                  <a:gd name="T54" fmla="*/ 132 w 150"/>
                  <a:gd name="T55" fmla="*/ 178 h 276"/>
                  <a:gd name="T56" fmla="*/ 133 w 150"/>
                  <a:gd name="T57" fmla="*/ 164 h 276"/>
                  <a:gd name="T58" fmla="*/ 135 w 150"/>
                  <a:gd name="T59" fmla="*/ 150 h 276"/>
                  <a:gd name="T60" fmla="*/ 138 w 150"/>
                  <a:gd name="T61" fmla="*/ 124 h 276"/>
                  <a:gd name="T62" fmla="*/ 138 w 150"/>
                  <a:gd name="T63" fmla="*/ 124 h 276"/>
                  <a:gd name="T64" fmla="*/ 143 w 150"/>
                  <a:gd name="T65" fmla="*/ 96 h 276"/>
                  <a:gd name="T66" fmla="*/ 146 w 150"/>
                  <a:gd name="T67" fmla="*/ 67 h 276"/>
                  <a:gd name="T68" fmla="*/ 147 w 150"/>
                  <a:gd name="T69" fmla="*/ 39 h 276"/>
                  <a:gd name="T70" fmla="*/ 146 w 150"/>
                  <a:gd name="T71" fmla="*/ 9 h 276"/>
                  <a:gd name="T72" fmla="*/ 121 w 150"/>
                  <a:gd name="T73" fmla="*/ 0 h 276"/>
                  <a:gd name="T74" fmla="*/ 121 w 150"/>
                  <a:gd name="T75" fmla="*/ 0 h 276"/>
                  <a:gd name="T76" fmla="*/ 101 w 150"/>
                  <a:gd name="T77" fmla="*/ 19 h 276"/>
                  <a:gd name="T78" fmla="*/ 84 w 150"/>
                  <a:gd name="T79" fmla="*/ 39 h 276"/>
                  <a:gd name="T80" fmla="*/ 68 w 150"/>
                  <a:gd name="T81" fmla="*/ 61 h 276"/>
                  <a:gd name="T82" fmla="*/ 52 w 150"/>
                  <a:gd name="T83" fmla="*/ 83 h 276"/>
                  <a:gd name="T84" fmla="*/ 52 w 150"/>
                  <a:gd name="T85" fmla="*/ 83 h 276"/>
                  <a:gd name="T86" fmla="*/ 48 w 150"/>
                  <a:gd name="T87" fmla="*/ 88 h 276"/>
                  <a:gd name="T88" fmla="*/ 43 w 150"/>
                  <a:gd name="T89" fmla="*/ 92 h 276"/>
                  <a:gd name="T90" fmla="*/ 39 w 150"/>
                  <a:gd name="T91" fmla="*/ 96 h 276"/>
                  <a:gd name="T92" fmla="*/ 36 w 150"/>
                  <a:gd name="T93" fmla="*/ 100 h 276"/>
                  <a:gd name="T94" fmla="*/ 36 w 150"/>
                  <a:gd name="T95" fmla="*/ 100 h 276"/>
                  <a:gd name="T96" fmla="*/ 36 w 150"/>
                  <a:gd name="T97" fmla="*/ 70 h 276"/>
                  <a:gd name="T98" fmla="*/ 36 w 150"/>
                  <a:gd name="T99" fmla="*/ 70 h 276"/>
                  <a:gd name="T100" fmla="*/ 27 w 150"/>
                  <a:gd name="T101" fmla="*/ 84 h 276"/>
                  <a:gd name="T102" fmla="*/ 18 w 150"/>
                  <a:gd name="T103" fmla="*/ 99 h 276"/>
                  <a:gd name="T104" fmla="*/ 11 w 150"/>
                  <a:gd name="T105" fmla="*/ 115 h 276"/>
                  <a:gd name="T106" fmla="*/ 6 w 150"/>
                  <a:gd name="T107" fmla="*/ 130 h 276"/>
                  <a:gd name="T108" fmla="*/ 1 w 150"/>
                  <a:gd name="T109" fmla="*/ 147 h 276"/>
                  <a:gd name="T110" fmla="*/ 0 w 150"/>
                  <a:gd name="T111" fmla="*/ 164 h 276"/>
                  <a:gd name="T112" fmla="*/ 0 w 150"/>
                  <a:gd name="T113" fmla="*/ 181 h 276"/>
                  <a:gd name="T114" fmla="*/ 2 w 150"/>
                  <a:gd name="T115" fmla="*/ 199 h 276"/>
                  <a:gd name="T116" fmla="*/ 2 w 150"/>
                  <a:gd name="T117" fmla="*/ 199 h 27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50"/>
                  <a:gd name="T178" fmla="*/ 0 h 276"/>
                  <a:gd name="T179" fmla="*/ 150 w 150"/>
                  <a:gd name="T180" fmla="*/ 276 h 27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50" h="276">
                    <a:moveTo>
                      <a:pt x="2" y="199"/>
                    </a:moveTo>
                    <a:lnTo>
                      <a:pt x="2" y="199"/>
                    </a:lnTo>
                    <a:lnTo>
                      <a:pt x="7" y="209"/>
                    </a:lnTo>
                    <a:lnTo>
                      <a:pt x="13" y="220"/>
                    </a:lnTo>
                    <a:lnTo>
                      <a:pt x="21" y="230"/>
                    </a:lnTo>
                    <a:lnTo>
                      <a:pt x="28" y="240"/>
                    </a:lnTo>
                    <a:lnTo>
                      <a:pt x="46" y="258"/>
                    </a:lnTo>
                    <a:lnTo>
                      <a:pt x="62" y="276"/>
                    </a:lnTo>
                    <a:lnTo>
                      <a:pt x="73" y="272"/>
                    </a:lnTo>
                    <a:lnTo>
                      <a:pt x="86" y="269"/>
                    </a:lnTo>
                    <a:lnTo>
                      <a:pt x="100" y="266"/>
                    </a:lnTo>
                    <a:lnTo>
                      <a:pt x="115" y="262"/>
                    </a:lnTo>
                    <a:lnTo>
                      <a:pt x="122" y="260"/>
                    </a:lnTo>
                    <a:lnTo>
                      <a:pt x="129" y="258"/>
                    </a:lnTo>
                    <a:lnTo>
                      <a:pt x="135" y="254"/>
                    </a:lnTo>
                    <a:lnTo>
                      <a:pt x="140" y="249"/>
                    </a:lnTo>
                    <a:lnTo>
                      <a:pt x="143" y="243"/>
                    </a:lnTo>
                    <a:lnTo>
                      <a:pt x="147" y="236"/>
                    </a:lnTo>
                    <a:lnTo>
                      <a:pt x="148" y="229"/>
                    </a:lnTo>
                    <a:lnTo>
                      <a:pt x="150" y="220"/>
                    </a:lnTo>
                    <a:lnTo>
                      <a:pt x="145" y="217"/>
                    </a:lnTo>
                    <a:lnTo>
                      <a:pt x="141" y="213"/>
                    </a:lnTo>
                    <a:lnTo>
                      <a:pt x="138" y="208"/>
                    </a:lnTo>
                    <a:lnTo>
                      <a:pt x="136" y="203"/>
                    </a:lnTo>
                    <a:lnTo>
                      <a:pt x="133" y="191"/>
                    </a:lnTo>
                    <a:lnTo>
                      <a:pt x="132" y="178"/>
                    </a:lnTo>
                    <a:lnTo>
                      <a:pt x="133" y="164"/>
                    </a:lnTo>
                    <a:lnTo>
                      <a:pt x="135" y="150"/>
                    </a:lnTo>
                    <a:lnTo>
                      <a:pt x="138" y="124"/>
                    </a:lnTo>
                    <a:lnTo>
                      <a:pt x="143" y="96"/>
                    </a:lnTo>
                    <a:lnTo>
                      <a:pt x="146" y="67"/>
                    </a:lnTo>
                    <a:lnTo>
                      <a:pt x="147" y="39"/>
                    </a:lnTo>
                    <a:lnTo>
                      <a:pt x="146" y="9"/>
                    </a:lnTo>
                    <a:lnTo>
                      <a:pt x="121" y="0"/>
                    </a:lnTo>
                    <a:lnTo>
                      <a:pt x="101" y="19"/>
                    </a:lnTo>
                    <a:lnTo>
                      <a:pt x="84" y="39"/>
                    </a:lnTo>
                    <a:lnTo>
                      <a:pt x="68" y="61"/>
                    </a:lnTo>
                    <a:lnTo>
                      <a:pt x="52" y="83"/>
                    </a:lnTo>
                    <a:lnTo>
                      <a:pt x="48" y="88"/>
                    </a:lnTo>
                    <a:lnTo>
                      <a:pt x="43" y="92"/>
                    </a:lnTo>
                    <a:lnTo>
                      <a:pt x="39" y="96"/>
                    </a:lnTo>
                    <a:lnTo>
                      <a:pt x="36" y="100"/>
                    </a:lnTo>
                    <a:lnTo>
                      <a:pt x="36" y="70"/>
                    </a:lnTo>
                    <a:lnTo>
                      <a:pt x="27" y="84"/>
                    </a:lnTo>
                    <a:lnTo>
                      <a:pt x="18" y="99"/>
                    </a:lnTo>
                    <a:lnTo>
                      <a:pt x="11" y="115"/>
                    </a:lnTo>
                    <a:lnTo>
                      <a:pt x="6" y="130"/>
                    </a:lnTo>
                    <a:lnTo>
                      <a:pt x="1" y="147"/>
                    </a:lnTo>
                    <a:lnTo>
                      <a:pt x="0" y="164"/>
                    </a:lnTo>
                    <a:lnTo>
                      <a:pt x="0" y="181"/>
                    </a:lnTo>
                    <a:lnTo>
                      <a:pt x="2" y="1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8" name="Freeform 55"/>
              <p:cNvSpPr>
                <a:spLocks/>
              </p:cNvSpPr>
              <p:nvPr/>
            </p:nvSpPr>
            <p:spPr bwMode="auto">
              <a:xfrm rot="3766183" flipH="1">
                <a:off x="4373" y="2104"/>
                <a:ext cx="145" cy="268"/>
              </a:xfrm>
              <a:custGeom>
                <a:avLst/>
                <a:gdLst>
                  <a:gd name="T0" fmla="*/ 22 w 145"/>
                  <a:gd name="T1" fmla="*/ 88 h 268"/>
                  <a:gd name="T2" fmla="*/ 11 w 145"/>
                  <a:gd name="T3" fmla="*/ 112 h 268"/>
                  <a:gd name="T4" fmla="*/ 1 w 145"/>
                  <a:gd name="T5" fmla="*/ 148 h 268"/>
                  <a:gd name="T6" fmla="*/ 0 w 145"/>
                  <a:gd name="T7" fmla="*/ 168 h 268"/>
                  <a:gd name="T8" fmla="*/ 4 w 145"/>
                  <a:gd name="T9" fmla="*/ 189 h 268"/>
                  <a:gd name="T10" fmla="*/ 14 w 145"/>
                  <a:gd name="T11" fmla="*/ 209 h 268"/>
                  <a:gd name="T12" fmla="*/ 24 w 145"/>
                  <a:gd name="T13" fmla="*/ 224 h 268"/>
                  <a:gd name="T14" fmla="*/ 63 w 145"/>
                  <a:gd name="T15" fmla="*/ 268 h 268"/>
                  <a:gd name="T16" fmla="*/ 72 w 145"/>
                  <a:gd name="T17" fmla="*/ 267 h 268"/>
                  <a:gd name="T18" fmla="*/ 88 w 145"/>
                  <a:gd name="T19" fmla="*/ 263 h 268"/>
                  <a:gd name="T20" fmla="*/ 109 w 145"/>
                  <a:gd name="T21" fmla="*/ 251 h 268"/>
                  <a:gd name="T22" fmla="*/ 132 w 145"/>
                  <a:gd name="T23" fmla="*/ 232 h 268"/>
                  <a:gd name="T24" fmla="*/ 144 w 145"/>
                  <a:gd name="T25" fmla="*/ 217 h 268"/>
                  <a:gd name="T26" fmla="*/ 145 w 145"/>
                  <a:gd name="T27" fmla="*/ 215 h 268"/>
                  <a:gd name="T28" fmla="*/ 137 w 145"/>
                  <a:gd name="T29" fmla="*/ 203 h 268"/>
                  <a:gd name="T30" fmla="*/ 127 w 145"/>
                  <a:gd name="T31" fmla="*/ 180 h 268"/>
                  <a:gd name="T32" fmla="*/ 123 w 145"/>
                  <a:gd name="T33" fmla="*/ 162 h 268"/>
                  <a:gd name="T34" fmla="*/ 123 w 145"/>
                  <a:gd name="T35" fmla="*/ 133 h 268"/>
                  <a:gd name="T36" fmla="*/ 129 w 145"/>
                  <a:gd name="T37" fmla="*/ 94 h 268"/>
                  <a:gd name="T38" fmla="*/ 135 w 145"/>
                  <a:gd name="T39" fmla="*/ 42 h 268"/>
                  <a:gd name="T40" fmla="*/ 134 w 145"/>
                  <a:gd name="T41" fmla="*/ 16 h 268"/>
                  <a:gd name="T42" fmla="*/ 134 w 145"/>
                  <a:gd name="T43" fmla="*/ 6 h 268"/>
                  <a:gd name="T44" fmla="*/ 118 w 145"/>
                  <a:gd name="T45" fmla="*/ 0 h 268"/>
                  <a:gd name="T46" fmla="*/ 95 w 145"/>
                  <a:gd name="T47" fmla="*/ 21 h 268"/>
                  <a:gd name="T48" fmla="*/ 87 w 145"/>
                  <a:gd name="T49" fmla="*/ 28 h 268"/>
                  <a:gd name="T50" fmla="*/ 49 w 145"/>
                  <a:gd name="T51" fmla="*/ 81 h 268"/>
                  <a:gd name="T52" fmla="*/ 46 w 145"/>
                  <a:gd name="T53" fmla="*/ 86 h 268"/>
                  <a:gd name="T54" fmla="*/ 33 w 145"/>
                  <a:gd name="T55" fmla="*/ 100 h 268"/>
                  <a:gd name="T56" fmla="*/ 28 w 145"/>
                  <a:gd name="T57" fmla="*/ 112 h 268"/>
                  <a:gd name="T58" fmla="*/ 26 w 145"/>
                  <a:gd name="T59" fmla="*/ 117 h 268"/>
                  <a:gd name="T60" fmla="*/ 25 w 145"/>
                  <a:gd name="T61" fmla="*/ 117 h 268"/>
                  <a:gd name="T62" fmla="*/ 24 w 145"/>
                  <a:gd name="T63" fmla="*/ 107 h 268"/>
                  <a:gd name="T64" fmla="*/ 22 w 145"/>
                  <a:gd name="T65" fmla="*/ 88 h 2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268"/>
                  <a:gd name="T101" fmla="*/ 145 w 145"/>
                  <a:gd name="T102" fmla="*/ 268 h 2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268">
                    <a:moveTo>
                      <a:pt x="22" y="88"/>
                    </a:moveTo>
                    <a:lnTo>
                      <a:pt x="22" y="88"/>
                    </a:lnTo>
                    <a:lnTo>
                      <a:pt x="16" y="99"/>
                    </a:lnTo>
                    <a:lnTo>
                      <a:pt x="11" y="112"/>
                    </a:lnTo>
                    <a:lnTo>
                      <a:pt x="5" y="128"/>
                    </a:lnTo>
                    <a:lnTo>
                      <a:pt x="1" y="148"/>
                    </a:lnTo>
                    <a:lnTo>
                      <a:pt x="0" y="158"/>
                    </a:lnTo>
                    <a:lnTo>
                      <a:pt x="0" y="168"/>
                    </a:lnTo>
                    <a:lnTo>
                      <a:pt x="1" y="179"/>
                    </a:lnTo>
                    <a:lnTo>
                      <a:pt x="4" y="189"/>
                    </a:lnTo>
                    <a:lnTo>
                      <a:pt x="7" y="199"/>
                    </a:lnTo>
                    <a:lnTo>
                      <a:pt x="14" y="209"/>
                    </a:lnTo>
                    <a:lnTo>
                      <a:pt x="24" y="224"/>
                    </a:lnTo>
                    <a:lnTo>
                      <a:pt x="36" y="238"/>
                    </a:lnTo>
                    <a:lnTo>
                      <a:pt x="63" y="268"/>
                    </a:lnTo>
                    <a:lnTo>
                      <a:pt x="72" y="267"/>
                    </a:lnTo>
                    <a:lnTo>
                      <a:pt x="79" y="266"/>
                    </a:lnTo>
                    <a:lnTo>
                      <a:pt x="88" y="263"/>
                    </a:lnTo>
                    <a:lnTo>
                      <a:pt x="95" y="259"/>
                    </a:lnTo>
                    <a:lnTo>
                      <a:pt x="109" y="251"/>
                    </a:lnTo>
                    <a:lnTo>
                      <a:pt x="123" y="242"/>
                    </a:lnTo>
                    <a:lnTo>
                      <a:pt x="132" y="232"/>
                    </a:lnTo>
                    <a:lnTo>
                      <a:pt x="140" y="224"/>
                    </a:lnTo>
                    <a:lnTo>
                      <a:pt x="144" y="217"/>
                    </a:lnTo>
                    <a:lnTo>
                      <a:pt x="145" y="216"/>
                    </a:lnTo>
                    <a:lnTo>
                      <a:pt x="145" y="215"/>
                    </a:lnTo>
                    <a:lnTo>
                      <a:pt x="137" y="203"/>
                    </a:lnTo>
                    <a:lnTo>
                      <a:pt x="131" y="191"/>
                    </a:lnTo>
                    <a:lnTo>
                      <a:pt x="127" y="180"/>
                    </a:lnTo>
                    <a:lnTo>
                      <a:pt x="125" y="170"/>
                    </a:lnTo>
                    <a:lnTo>
                      <a:pt x="123" y="162"/>
                    </a:lnTo>
                    <a:lnTo>
                      <a:pt x="123" y="152"/>
                    </a:lnTo>
                    <a:lnTo>
                      <a:pt x="123" y="133"/>
                    </a:lnTo>
                    <a:lnTo>
                      <a:pt x="125" y="115"/>
                    </a:lnTo>
                    <a:lnTo>
                      <a:pt x="129" y="94"/>
                    </a:lnTo>
                    <a:lnTo>
                      <a:pt x="132" y="70"/>
                    </a:lnTo>
                    <a:lnTo>
                      <a:pt x="135" y="42"/>
                    </a:lnTo>
                    <a:lnTo>
                      <a:pt x="134" y="16"/>
                    </a:lnTo>
                    <a:lnTo>
                      <a:pt x="134" y="6"/>
                    </a:lnTo>
                    <a:lnTo>
                      <a:pt x="118" y="0"/>
                    </a:lnTo>
                    <a:lnTo>
                      <a:pt x="105" y="11"/>
                    </a:lnTo>
                    <a:lnTo>
                      <a:pt x="95" y="21"/>
                    </a:lnTo>
                    <a:lnTo>
                      <a:pt x="87" y="28"/>
                    </a:lnTo>
                    <a:lnTo>
                      <a:pt x="68" y="55"/>
                    </a:lnTo>
                    <a:lnTo>
                      <a:pt x="49" y="81"/>
                    </a:lnTo>
                    <a:lnTo>
                      <a:pt x="46" y="86"/>
                    </a:lnTo>
                    <a:lnTo>
                      <a:pt x="40" y="92"/>
                    </a:lnTo>
                    <a:lnTo>
                      <a:pt x="33" y="100"/>
                    </a:lnTo>
                    <a:lnTo>
                      <a:pt x="31" y="106"/>
                    </a:lnTo>
                    <a:lnTo>
                      <a:pt x="28" y="112"/>
                    </a:lnTo>
                    <a:lnTo>
                      <a:pt x="26" y="117"/>
                    </a:lnTo>
                    <a:lnTo>
                      <a:pt x="25" y="118"/>
                    </a:lnTo>
                    <a:lnTo>
                      <a:pt x="25" y="117"/>
                    </a:lnTo>
                    <a:lnTo>
                      <a:pt x="24" y="113"/>
                    </a:lnTo>
                    <a:lnTo>
                      <a:pt x="24" y="107"/>
                    </a:lnTo>
                    <a:lnTo>
                      <a:pt x="22"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9" name="Freeform 56"/>
              <p:cNvSpPr>
                <a:spLocks/>
              </p:cNvSpPr>
              <p:nvPr/>
            </p:nvSpPr>
            <p:spPr bwMode="auto">
              <a:xfrm rot="3766183" flipH="1">
                <a:off x="4377" y="1953"/>
                <a:ext cx="205" cy="417"/>
              </a:xfrm>
              <a:custGeom>
                <a:avLst/>
                <a:gdLst>
                  <a:gd name="T0" fmla="*/ 26 w 205"/>
                  <a:gd name="T1" fmla="*/ 67 h 417"/>
                  <a:gd name="T2" fmla="*/ 5 w 205"/>
                  <a:gd name="T3" fmla="*/ 90 h 417"/>
                  <a:gd name="T4" fmla="*/ 5 w 205"/>
                  <a:gd name="T5" fmla="*/ 103 h 417"/>
                  <a:gd name="T6" fmla="*/ 16 w 205"/>
                  <a:gd name="T7" fmla="*/ 113 h 417"/>
                  <a:gd name="T8" fmla="*/ 5 w 205"/>
                  <a:gd name="T9" fmla="*/ 130 h 417"/>
                  <a:gd name="T10" fmla="*/ 0 w 205"/>
                  <a:gd name="T11" fmla="*/ 148 h 417"/>
                  <a:gd name="T12" fmla="*/ 6 w 205"/>
                  <a:gd name="T13" fmla="*/ 157 h 417"/>
                  <a:gd name="T14" fmla="*/ 5 w 205"/>
                  <a:gd name="T15" fmla="*/ 164 h 417"/>
                  <a:gd name="T16" fmla="*/ 3 w 205"/>
                  <a:gd name="T17" fmla="*/ 181 h 417"/>
                  <a:gd name="T18" fmla="*/ 15 w 205"/>
                  <a:gd name="T19" fmla="*/ 193 h 417"/>
                  <a:gd name="T20" fmla="*/ 34 w 205"/>
                  <a:gd name="T21" fmla="*/ 197 h 417"/>
                  <a:gd name="T22" fmla="*/ 51 w 205"/>
                  <a:gd name="T23" fmla="*/ 189 h 417"/>
                  <a:gd name="T24" fmla="*/ 60 w 205"/>
                  <a:gd name="T25" fmla="*/ 168 h 417"/>
                  <a:gd name="T26" fmla="*/ 71 w 205"/>
                  <a:gd name="T27" fmla="*/ 183 h 417"/>
                  <a:gd name="T28" fmla="*/ 55 w 205"/>
                  <a:gd name="T29" fmla="*/ 202 h 417"/>
                  <a:gd name="T30" fmla="*/ 44 w 205"/>
                  <a:gd name="T31" fmla="*/ 224 h 417"/>
                  <a:gd name="T32" fmla="*/ 18 w 205"/>
                  <a:gd name="T33" fmla="*/ 267 h 417"/>
                  <a:gd name="T34" fmla="*/ 6 w 205"/>
                  <a:gd name="T35" fmla="*/ 299 h 417"/>
                  <a:gd name="T36" fmla="*/ 8 w 205"/>
                  <a:gd name="T37" fmla="*/ 320 h 417"/>
                  <a:gd name="T38" fmla="*/ 15 w 205"/>
                  <a:gd name="T39" fmla="*/ 338 h 417"/>
                  <a:gd name="T40" fmla="*/ 20 w 205"/>
                  <a:gd name="T41" fmla="*/ 362 h 417"/>
                  <a:gd name="T42" fmla="*/ 24 w 205"/>
                  <a:gd name="T43" fmla="*/ 373 h 417"/>
                  <a:gd name="T44" fmla="*/ 20 w 205"/>
                  <a:gd name="T45" fmla="*/ 383 h 417"/>
                  <a:gd name="T46" fmla="*/ 11 w 205"/>
                  <a:gd name="T47" fmla="*/ 378 h 417"/>
                  <a:gd name="T48" fmla="*/ 20 w 205"/>
                  <a:gd name="T49" fmla="*/ 398 h 417"/>
                  <a:gd name="T50" fmla="*/ 35 w 205"/>
                  <a:gd name="T51" fmla="*/ 412 h 417"/>
                  <a:gd name="T52" fmla="*/ 60 w 205"/>
                  <a:gd name="T53" fmla="*/ 417 h 417"/>
                  <a:gd name="T54" fmla="*/ 91 w 205"/>
                  <a:gd name="T55" fmla="*/ 415 h 417"/>
                  <a:gd name="T56" fmla="*/ 108 w 205"/>
                  <a:gd name="T57" fmla="*/ 408 h 417"/>
                  <a:gd name="T58" fmla="*/ 122 w 205"/>
                  <a:gd name="T59" fmla="*/ 394 h 417"/>
                  <a:gd name="T60" fmla="*/ 129 w 205"/>
                  <a:gd name="T61" fmla="*/ 375 h 417"/>
                  <a:gd name="T62" fmla="*/ 129 w 205"/>
                  <a:gd name="T63" fmla="*/ 346 h 417"/>
                  <a:gd name="T64" fmla="*/ 133 w 205"/>
                  <a:gd name="T65" fmla="*/ 308 h 417"/>
                  <a:gd name="T66" fmla="*/ 154 w 205"/>
                  <a:gd name="T67" fmla="*/ 252 h 417"/>
                  <a:gd name="T68" fmla="*/ 188 w 205"/>
                  <a:gd name="T69" fmla="*/ 205 h 417"/>
                  <a:gd name="T70" fmla="*/ 201 w 205"/>
                  <a:gd name="T71" fmla="*/ 189 h 417"/>
                  <a:gd name="T72" fmla="*/ 205 w 205"/>
                  <a:gd name="T73" fmla="*/ 166 h 417"/>
                  <a:gd name="T74" fmla="*/ 198 w 205"/>
                  <a:gd name="T75" fmla="*/ 137 h 417"/>
                  <a:gd name="T76" fmla="*/ 171 w 205"/>
                  <a:gd name="T77" fmla="*/ 44 h 417"/>
                  <a:gd name="T78" fmla="*/ 154 w 205"/>
                  <a:gd name="T79" fmla="*/ 10 h 417"/>
                  <a:gd name="T80" fmla="*/ 141 w 205"/>
                  <a:gd name="T81" fmla="*/ 0 h 417"/>
                  <a:gd name="T82" fmla="*/ 131 w 205"/>
                  <a:gd name="T83" fmla="*/ 2 h 417"/>
                  <a:gd name="T84" fmla="*/ 122 w 205"/>
                  <a:gd name="T85" fmla="*/ 16 h 417"/>
                  <a:gd name="T86" fmla="*/ 117 w 205"/>
                  <a:gd name="T87" fmla="*/ 36 h 417"/>
                  <a:gd name="T88" fmla="*/ 118 w 205"/>
                  <a:gd name="T89" fmla="*/ 57 h 417"/>
                  <a:gd name="T90" fmla="*/ 89 w 205"/>
                  <a:gd name="T91" fmla="*/ 40 h 417"/>
                  <a:gd name="T92" fmla="*/ 61 w 205"/>
                  <a:gd name="T93" fmla="*/ 43 h 417"/>
                  <a:gd name="T94" fmla="*/ 41 w 205"/>
                  <a:gd name="T95" fmla="*/ 54 h 4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5"/>
                  <a:gd name="T145" fmla="*/ 0 h 417"/>
                  <a:gd name="T146" fmla="*/ 205 w 205"/>
                  <a:gd name="T147" fmla="*/ 417 h 4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5" h="417">
                    <a:moveTo>
                      <a:pt x="41" y="54"/>
                    </a:moveTo>
                    <a:lnTo>
                      <a:pt x="41" y="54"/>
                    </a:lnTo>
                    <a:lnTo>
                      <a:pt x="26" y="67"/>
                    </a:lnTo>
                    <a:lnTo>
                      <a:pt x="18" y="74"/>
                    </a:lnTo>
                    <a:lnTo>
                      <a:pt x="10" y="82"/>
                    </a:lnTo>
                    <a:lnTo>
                      <a:pt x="5" y="90"/>
                    </a:lnTo>
                    <a:lnTo>
                      <a:pt x="4" y="94"/>
                    </a:lnTo>
                    <a:lnTo>
                      <a:pt x="4" y="99"/>
                    </a:lnTo>
                    <a:lnTo>
                      <a:pt x="5" y="103"/>
                    </a:lnTo>
                    <a:lnTo>
                      <a:pt x="8" y="106"/>
                    </a:lnTo>
                    <a:lnTo>
                      <a:pt x="11" y="109"/>
                    </a:lnTo>
                    <a:lnTo>
                      <a:pt x="16" y="113"/>
                    </a:lnTo>
                    <a:lnTo>
                      <a:pt x="9" y="124"/>
                    </a:lnTo>
                    <a:lnTo>
                      <a:pt x="5" y="130"/>
                    </a:lnTo>
                    <a:lnTo>
                      <a:pt x="2" y="136"/>
                    </a:lnTo>
                    <a:lnTo>
                      <a:pt x="0" y="142"/>
                    </a:lnTo>
                    <a:lnTo>
                      <a:pt x="0" y="148"/>
                    </a:lnTo>
                    <a:lnTo>
                      <a:pt x="2" y="152"/>
                    </a:lnTo>
                    <a:lnTo>
                      <a:pt x="4" y="155"/>
                    </a:lnTo>
                    <a:lnTo>
                      <a:pt x="6" y="157"/>
                    </a:lnTo>
                    <a:lnTo>
                      <a:pt x="10" y="159"/>
                    </a:lnTo>
                    <a:lnTo>
                      <a:pt x="5" y="164"/>
                    </a:lnTo>
                    <a:lnTo>
                      <a:pt x="3" y="171"/>
                    </a:lnTo>
                    <a:lnTo>
                      <a:pt x="2" y="176"/>
                    </a:lnTo>
                    <a:lnTo>
                      <a:pt x="3" y="181"/>
                    </a:lnTo>
                    <a:lnTo>
                      <a:pt x="5" y="185"/>
                    </a:lnTo>
                    <a:lnTo>
                      <a:pt x="10" y="189"/>
                    </a:lnTo>
                    <a:lnTo>
                      <a:pt x="15" y="193"/>
                    </a:lnTo>
                    <a:lnTo>
                      <a:pt x="21" y="194"/>
                    </a:lnTo>
                    <a:lnTo>
                      <a:pt x="27" y="195"/>
                    </a:lnTo>
                    <a:lnTo>
                      <a:pt x="34" y="197"/>
                    </a:lnTo>
                    <a:lnTo>
                      <a:pt x="40" y="195"/>
                    </a:lnTo>
                    <a:lnTo>
                      <a:pt x="46" y="193"/>
                    </a:lnTo>
                    <a:lnTo>
                      <a:pt x="51" y="189"/>
                    </a:lnTo>
                    <a:lnTo>
                      <a:pt x="56" y="184"/>
                    </a:lnTo>
                    <a:lnTo>
                      <a:pt x="58" y="177"/>
                    </a:lnTo>
                    <a:lnTo>
                      <a:pt x="60" y="168"/>
                    </a:lnTo>
                    <a:lnTo>
                      <a:pt x="71" y="183"/>
                    </a:lnTo>
                    <a:lnTo>
                      <a:pt x="66" y="187"/>
                    </a:lnTo>
                    <a:lnTo>
                      <a:pt x="61" y="192"/>
                    </a:lnTo>
                    <a:lnTo>
                      <a:pt x="55" y="202"/>
                    </a:lnTo>
                    <a:lnTo>
                      <a:pt x="49" y="213"/>
                    </a:lnTo>
                    <a:lnTo>
                      <a:pt x="44" y="224"/>
                    </a:lnTo>
                    <a:lnTo>
                      <a:pt x="34" y="240"/>
                    </a:lnTo>
                    <a:lnTo>
                      <a:pt x="25" y="253"/>
                    </a:lnTo>
                    <a:lnTo>
                      <a:pt x="18" y="267"/>
                    </a:lnTo>
                    <a:lnTo>
                      <a:pt x="11" y="279"/>
                    </a:lnTo>
                    <a:lnTo>
                      <a:pt x="8" y="293"/>
                    </a:lnTo>
                    <a:lnTo>
                      <a:pt x="6" y="299"/>
                    </a:lnTo>
                    <a:lnTo>
                      <a:pt x="6" y="307"/>
                    </a:lnTo>
                    <a:lnTo>
                      <a:pt x="6" y="313"/>
                    </a:lnTo>
                    <a:lnTo>
                      <a:pt x="8" y="320"/>
                    </a:lnTo>
                    <a:lnTo>
                      <a:pt x="11" y="329"/>
                    </a:lnTo>
                    <a:lnTo>
                      <a:pt x="15" y="338"/>
                    </a:lnTo>
                    <a:lnTo>
                      <a:pt x="18" y="343"/>
                    </a:lnTo>
                    <a:lnTo>
                      <a:pt x="19" y="350"/>
                    </a:lnTo>
                    <a:lnTo>
                      <a:pt x="20" y="362"/>
                    </a:lnTo>
                    <a:lnTo>
                      <a:pt x="23" y="368"/>
                    </a:lnTo>
                    <a:lnTo>
                      <a:pt x="24" y="373"/>
                    </a:lnTo>
                    <a:lnTo>
                      <a:pt x="24" y="377"/>
                    </a:lnTo>
                    <a:lnTo>
                      <a:pt x="23" y="381"/>
                    </a:lnTo>
                    <a:lnTo>
                      <a:pt x="20" y="383"/>
                    </a:lnTo>
                    <a:lnTo>
                      <a:pt x="18" y="383"/>
                    </a:lnTo>
                    <a:lnTo>
                      <a:pt x="15" y="382"/>
                    </a:lnTo>
                    <a:lnTo>
                      <a:pt x="11" y="378"/>
                    </a:lnTo>
                    <a:lnTo>
                      <a:pt x="15" y="388"/>
                    </a:lnTo>
                    <a:lnTo>
                      <a:pt x="20" y="398"/>
                    </a:lnTo>
                    <a:lnTo>
                      <a:pt x="27" y="407"/>
                    </a:lnTo>
                    <a:lnTo>
                      <a:pt x="31" y="409"/>
                    </a:lnTo>
                    <a:lnTo>
                      <a:pt x="35" y="412"/>
                    </a:lnTo>
                    <a:lnTo>
                      <a:pt x="49" y="414"/>
                    </a:lnTo>
                    <a:lnTo>
                      <a:pt x="60" y="417"/>
                    </a:lnTo>
                    <a:lnTo>
                      <a:pt x="76" y="417"/>
                    </a:lnTo>
                    <a:lnTo>
                      <a:pt x="91" y="415"/>
                    </a:lnTo>
                    <a:lnTo>
                      <a:pt x="97" y="413"/>
                    </a:lnTo>
                    <a:lnTo>
                      <a:pt x="103" y="411"/>
                    </a:lnTo>
                    <a:lnTo>
                      <a:pt x="108" y="408"/>
                    </a:lnTo>
                    <a:lnTo>
                      <a:pt x="113" y="404"/>
                    </a:lnTo>
                    <a:lnTo>
                      <a:pt x="118" y="399"/>
                    </a:lnTo>
                    <a:lnTo>
                      <a:pt x="122" y="394"/>
                    </a:lnTo>
                    <a:lnTo>
                      <a:pt x="124" y="388"/>
                    </a:lnTo>
                    <a:lnTo>
                      <a:pt x="127" y="382"/>
                    </a:lnTo>
                    <a:lnTo>
                      <a:pt x="129" y="375"/>
                    </a:lnTo>
                    <a:lnTo>
                      <a:pt x="129" y="366"/>
                    </a:lnTo>
                    <a:lnTo>
                      <a:pt x="129" y="356"/>
                    </a:lnTo>
                    <a:lnTo>
                      <a:pt x="129" y="346"/>
                    </a:lnTo>
                    <a:lnTo>
                      <a:pt x="129" y="328"/>
                    </a:lnTo>
                    <a:lnTo>
                      <a:pt x="133" y="308"/>
                    </a:lnTo>
                    <a:lnTo>
                      <a:pt x="138" y="288"/>
                    </a:lnTo>
                    <a:lnTo>
                      <a:pt x="144" y="270"/>
                    </a:lnTo>
                    <a:lnTo>
                      <a:pt x="154" y="252"/>
                    </a:lnTo>
                    <a:lnTo>
                      <a:pt x="164" y="235"/>
                    </a:lnTo>
                    <a:lnTo>
                      <a:pt x="175" y="219"/>
                    </a:lnTo>
                    <a:lnTo>
                      <a:pt x="188" y="205"/>
                    </a:lnTo>
                    <a:lnTo>
                      <a:pt x="196" y="198"/>
                    </a:lnTo>
                    <a:lnTo>
                      <a:pt x="201" y="189"/>
                    </a:lnTo>
                    <a:lnTo>
                      <a:pt x="203" y="182"/>
                    </a:lnTo>
                    <a:lnTo>
                      <a:pt x="205" y="174"/>
                    </a:lnTo>
                    <a:lnTo>
                      <a:pt x="205" y="166"/>
                    </a:lnTo>
                    <a:lnTo>
                      <a:pt x="202" y="157"/>
                    </a:lnTo>
                    <a:lnTo>
                      <a:pt x="198" y="137"/>
                    </a:lnTo>
                    <a:lnTo>
                      <a:pt x="190" y="103"/>
                    </a:lnTo>
                    <a:lnTo>
                      <a:pt x="181" y="74"/>
                    </a:lnTo>
                    <a:lnTo>
                      <a:pt x="171" y="44"/>
                    </a:lnTo>
                    <a:lnTo>
                      <a:pt x="166" y="32"/>
                    </a:lnTo>
                    <a:lnTo>
                      <a:pt x="160" y="20"/>
                    </a:lnTo>
                    <a:lnTo>
                      <a:pt x="154" y="10"/>
                    </a:lnTo>
                    <a:lnTo>
                      <a:pt x="148" y="4"/>
                    </a:lnTo>
                    <a:lnTo>
                      <a:pt x="144" y="1"/>
                    </a:lnTo>
                    <a:lnTo>
                      <a:pt x="141" y="0"/>
                    </a:lnTo>
                    <a:lnTo>
                      <a:pt x="138" y="0"/>
                    </a:lnTo>
                    <a:lnTo>
                      <a:pt x="134" y="0"/>
                    </a:lnTo>
                    <a:lnTo>
                      <a:pt x="131" y="2"/>
                    </a:lnTo>
                    <a:lnTo>
                      <a:pt x="128" y="6"/>
                    </a:lnTo>
                    <a:lnTo>
                      <a:pt x="125" y="10"/>
                    </a:lnTo>
                    <a:lnTo>
                      <a:pt x="122" y="16"/>
                    </a:lnTo>
                    <a:lnTo>
                      <a:pt x="118" y="26"/>
                    </a:lnTo>
                    <a:lnTo>
                      <a:pt x="117" y="36"/>
                    </a:lnTo>
                    <a:lnTo>
                      <a:pt x="117" y="47"/>
                    </a:lnTo>
                    <a:lnTo>
                      <a:pt x="118" y="57"/>
                    </a:lnTo>
                    <a:lnTo>
                      <a:pt x="108" y="48"/>
                    </a:lnTo>
                    <a:lnTo>
                      <a:pt x="98" y="42"/>
                    </a:lnTo>
                    <a:lnTo>
                      <a:pt x="89" y="40"/>
                    </a:lnTo>
                    <a:lnTo>
                      <a:pt x="79" y="38"/>
                    </a:lnTo>
                    <a:lnTo>
                      <a:pt x="71" y="40"/>
                    </a:lnTo>
                    <a:lnTo>
                      <a:pt x="61" y="43"/>
                    </a:lnTo>
                    <a:lnTo>
                      <a:pt x="52" y="48"/>
                    </a:lnTo>
                    <a:lnTo>
                      <a:pt x="41"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0" name="Freeform 57"/>
              <p:cNvSpPr>
                <a:spLocks/>
              </p:cNvSpPr>
              <p:nvPr/>
            </p:nvSpPr>
            <p:spPr bwMode="auto">
              <a:xfrm rot="3766183" flipH="1">
                <a:off x="4385" y="1958"/>
                <a:ext cx="190" cy="405"/>
              </a:xfrm>
              <a:custGeom>
                <a:avLst/>
                <a:gdLst>
                  <a:gd name="T0" fmla="*/ 114 w 190"/>
                  <a:gd name="T1" fmla="*/ 330 h 405"/>
                  <a:gd name="T2" fmla="*/ 121 w 190"/>
                  <a:gd name="T3" fmla="*/ 290 h 405"/>
                  <a:gd name="T4" fmla="*/ 137 w 190"/>
                  <a:gd name="T5" fmla="*/ 245 h 405"/>
                  <a:gd name="T6" fmla="*/ 149 w 190"/>
                  <a:gd name="T7" fmla="*/ 222 h 405"/>
                  <a:gd name="T8" fmla="*/ 184 w 190"/>
                  <a:gd name="T9" fmla="*/ 186 h 405"/>
                  <a:gd name="T10" fmla="*/ 190 w 190"/>
                  <a:gd name="T11" fmla="*/ 176 h 405"/>
                  <a:gd name="T12" fmla="*/ 178 w 190"/>
                  <a:gd name="T13" fmla="*/ 111 h 405"/>
                  <a:gd name="T14" fmla="*/ 158 w 190"/>
                  <a:gd name="T15" fmla="*/ 41 h 405"/>
                  <a:gd name="T16" fmla="*/ 143 w 190"/>
                  <a:gd name="T17" fmla="*/ 11 h 405"/>
                  <a:gd name="T18" fmla="*/ 133 w 190"/>
                  <a:gd name="T19" fmla="*/ 0 h 405"/>
                  <a:gd name="T20" fmla="*/ 125 w 190"/>
                  <a:gd name="T21" fmla="*/ 5 h 405"/>
                  <a:gd name="T22" fmla="*/ 116 w 190"/>
                  <a:gd name="T23" fmla="*/ 29 h 405"/>
                  <a:gd name="T24" fmla="*/ 120 w 190"/>
                  <a:gd name="T25" fmla="*/ 56 h 405"/>
                  <a:gd name="T26" fmla="*/ 125 w 190"/>
                  <a:gd name="T27" fmla="*/ 62 h 405"/>
                  <a:gd name="T28" fmla="*/ 121 w 190"/>
                  <a:gd name="T29" fmla="*/ 73 h 405"/>
                  <a:gd name="T30" fmla="*/ 88 w 190"/>
                  <a:gd name="T31" fmla="*/ 42 h 405"/>
                  <a:gd name="T32" fmla="*/ 70 w 190"/>
                  <a:gd name="T33" fmla="*/ 38 h 405"/>
                  <a:gd name="T34" fmla="*/ 55 w 190"/>
                  <a:gd name="T35" fmla="*/ 43 h 405"/>
                  <a:gd name="T36" fmla="*/ 28 w 190"/>
                  <a:gd name="T37" fmla="*/ 62 h 405"/>
                  <a:gd name="T38" fmla="*/ 11 w 190"/>
                  <a:gd name="T39" fmla="*/ 77 h 405"/>
                  <a:gd name="T40" fmla="*/ 3 w 190"/>
                  <a:gd name="T41" fmla="*/ 92 h 405"/>
                  <a:gd name="T42" fmla="*/ 8 w 190"/>
                  <a:gd name="T43" fmla="*/ 98 h 405"/>
                  <a:gd name="T44" fmla="*/ 23 w 190"/>
                  <a:gd name="T45" fmla="*/ 98 h 405"/>
                  <a:gd name="T46" fmla="*/ 8 w 190"/>
                  <a:gd name="T47" fmla="*/ 118 h 405"/>
                  <a:gd name="T48" fmla="*/ 1 w 190"/>
                  <a:gd name="T49" fmla="*/ 129 h 405"/>
                  <a:gd name="T50" fmla="*/ 1 w 190"/>
                  <a:gd name="T51" fmla="*/ 141 h 405"/>
                  <a:gd name="T52" fmla="*/ 10 w 190"/>
                  <a:gd name="T53" fmla="*/ 146 h 405"/>
                  <a:gd name="T54" fmla="*/ 23 w 190"/>
                  <a:gd name="T55" fmla="*/ 137 h 405"/>
                  <a:gd name="T56" fmla="*/ 32 w 190"/>
                  <a:gd name="T57" fmla="*/ 135 h 405"/>
                  <a:gd name="T58" fmla="*/ 8 w 190"/>
                  <a:gd name="T59" fmla="*/ 157 h 405"/>
                  <a:gd name="T60" fmla="*/ 2 w 190"/>
                  <a:gd name="T61" fmla="*/ 166 h 405"/>
                  <a:gd name="T62" fmla="*/ 2 w 190"/>
                  <a:gd name="T63" fmla="*/ 175 h 405"/>
                  <a:gd name="T64" fmla="*/ 19 w 190"/>
                  <a:gd name="T65" fmla="*/ 183 h 405"/>
                  <a:gd name="T66" fmla="*/ 34 w 190"/>
                  <a:gd name="T67" fmla="*/ 179 h 405"/>
                  <a:gd name="T68" fmla="*/ 44 w 190"/>
                  <a:gd name="T69" fmla="*/ 167 h 405"/>
                  <a:gd name="T70" fmla="*/ 48 w 190"/>
                  <a:gd name="T71" fmla="*/ 150 h 405"/>
                  <a:gd name="T72" fmla="*/ 62 w 190"/>
                  <a:gd name="T73" fmla="*/ 165 h 405"/>
                  <a:gd name="T74" fmla="*/ 74 w 190"/>
                  <a:gd name="T75" fmla="*/ 179 h 405"/>
                  <a:gd name="T76" fmla="*/ 65 w 190"/>
                  <a:gd name="T77" fmla="*/ 184 h 405"/>
                  <a:gd name="T78" fmla="*/ 50 w 190"/>
                  <a:gd name="T79" fmla="*/ 203 h 405"/>
                  <a:gd name="T80" fmla="*/ 38 w 190"/>
                  <a:gd name="T81" fmla="*/ 226 h 405"/>
                  <a:gd name="T82" fmla="*/ 10 w 190"/>
                  <a:gd name="T83" fmla="*/ 272 h 405"/>
                  <a:gd name="T84" fmla="*/ 1 w 190"/>
                  <a:gd name="T85" fmla="*/ 304 h 405"/>
                  <a:gd name="T86" fmla="*/ 5 w 190"/>
                  <a:gd name="T87" fmla="*/ 341 h 405"/>
                  <a:gd name="T88" fmla="*/ 13 w 190"/>
                  <a:gd name="T89" fmla="*/ 380 h 405"/>
                  <a:gd name="T90" fmla="*/ 24 w 190"/>
                  <a:gd name="T91" fmla="*/ 396 h 405"/>
                  <a:gd name="T92" fmla="*/ 29 w 190"/>
                  <a:gd name="T93" fmla="*/ 400 h 405"/>
                  <a:gd name="T94" fmla="*/ 75 w 190"/>
                  <a:gd name="T95" fmla="*/ 405 h 405"/>
                  <a:gd name="T96" fmla="*/ 95 w 190"/>
                  <a:gd name="T97" fmla="*/ 398 h 405"/>
                  <a:gd name="T98" fmla="*/ 110 w 190"/>
                  <a:gd name="T99" fmla="*/ 382 h 405"/>
                  <a:gd name="T100" fmla="*/ 115 w 190"/>
                  <a:gd name="T101" fmla="*/ 354 h 40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0"/>
                  <a:gd name="T154" fmla="*/ 0 h 405"/>
                  <a:gd name="T155" fmla="*/ 190 w 190"/>
                  <a:gd name="T156" fmla="*/ 405 h 40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0" h="405">
                    <a:moveTo>
                      <a:pt x="114" y="341"/>
                    </a:moveTo>
                    <a:lnTo>
                      <a:pt x="114" y="341"/>
                    </a:lnTo>
                    <a:lnTo>
                      <a:pt x="114" y="330"/>
                    </a:lnTo>
                    <a:lnTo>
                      <a:pt x="115" y="318"/>
                    </a:lnTo>
                    <a:lnTo>
                      <a:pt x="117" y="304"/>
                    </a:lnTo>
                    <a:lnTo>
                      <a:pt x="121" y="290"/>
                    </a:lnTo>
                    <a:lnTo>
                      <a:pt x="126" y="273"/>
                    </a:lnTo>
                    <a:lnTo>
                      <a:pt x="131" y="259"/>
                    </a:lnTo>
                    <a:lnTo>
                      <a:pt x="137" y="245"/>
                    </a:lnTo>
                    <a:lnTo>
                      <a:pt x="143" y="233"/>
                    </a:lnTo>
                    <a:lnTo>
                      <a:pt x="149" y="222"/>
                    </a:lnTo>
                    <a:lnTo>
                      <a:pt x="157" y="213"/>
                    </a:lnTo>
                    <a:lnTo>
                      <a:pt x="172" y="198"/>
                    </a:lnTo>
                    <a:lnTo>
                      <a:pt x="184" y="186"/>
                    </a:lnTo>
                    <a:lnTo>
                      <a:pt x="188" y="181"/>
                    </a:lnTo>
                    <a:lnTo>
                      <a:pt x="190" y="176"/>
                    </a:lnTo>
                    <a:lnTo>
                      <a:pt x="189" y="167"/>
                    </a:lnTo>
                    <a:lnTo>
                      <a:pt x="187" y="152"/>
                    </a:lnTo>
                    <a:lnTo>
                      <a:pt x="178" y="111"/>
                    </a:lnTo>
                    <a:lnTo>
                      <a:pt x="167" y="68"/>
                    </a:lnTo>
                    <a:lnTo>
                      <a:pt x="162" y="52"/>
                    </a:lnTo>
                    <a:lnTo>
                      <a:pt x="158" y="41"/>
                    </a:lnTo>
                    <a:lnTo>
                      <a:pt x="151" y="26"/>
                    </a:lnTo>
                    <a:lnTo>
                      <a:pt x="143" y="11"/>
                    </a:lnTo>
                    <a:lnTo>
                      <a:pt x="140" y="6"/>
                    </a:lnTo>
                    <a:lnTo>
                      <a:pt x="136" y="3"/>
                    </a:lnTo>
                    <a:lnTo>
                      <a:pt x="133" y="0"/>
                    </a:lnTo>
                    <a:lnTo>
                      <a:pt x="130" y="1"/>
                    </a:lnTo>
                    <a:lnTo>
                      <a:pt x="125" y="5"/>
                    </a:lnTo>
                    <a:lnTo>
                      <a:pt x="121" y="11"/>
                    </a:lnTo>
                    <a:lnTo>
                      <a:pt x="119" y="19"/>
                    </a:lnTo>
                    <a:lnTo>
                      <a:pt x="116" y="29"/>
                    </a:lnTo>
                    <a:lnTo>
                      <a:pt x="116" y="38"/>
                    </a:lnTo>
                    <a:lnTo>
                      <a:pt x="116" y="47"/>
                    </a:lnTo>
                    <a:lnTo>
                      <a:pt x="120" y="56"/>
                    </a:lnTo>
                    <a:lnTo>
                      <a:pt x="122" y="60"/>
                    </a:lnTo>
                    <a:lnTo>
                      <a:pt x="125" y="62"/>
                    </a:lnTo>
                    <a:lnTo>
                      <a:pt x="127" y="79"/>
                    </a:lnTo>
                    <a:lnTo>
                      <a:pt x="121" y="73"/>
                    </a:lnTo>
                    <a:lnTo>
                      <a:pt x="106" y="57"/>
                    </a:lnTo>
                    <a:lnTo>
                      <a:pt x="97" y="50"/>
                    </a:lnTo>
                    <a:lnTo>
                      <a:pt x="88" y="42"/>
                    </a:lnTo>
                    <a:lnTo>
                      <a:pt x="79" y="38"/>
                    </a:lnTo>
                    <a:lnTo>
                      <a:pt x="74" y="38"/>
                    </a:lnTo>
                    <a:lnTo>
                      <a:pt x="70" y="38"/>
                    </a:lnTo>
                    <a:lnTo>
                      <a:pt x="63" y="41"/>
                    </a:lnTo>
                    <a:lnTo>
                      <a:pt x="55" y="43"/>
                    </a:lnTo>
                    <a:lnTo>
                      <a:pt x="44" y="50"/>
                    </a:lnTo>
                    <a:lnTo>
                      <a:pt x="36" y="56"/>
                    </a:lnTo>
                    <a:lnTo>
                      <a:pt x="28" y="62"/>
                    </a:lnTo>
                    <a:lnTo>
                      <a:pt x="19" y="68"/>
                    </a:lnTo>
                    <a:lnTo>
                      <a:pt x="11" y="77"/>
                    </a:lnTo>
                    <a:lnTo>
                      <a:pt x="5" y="85"/>
                    </a:lnTo>
                    <a:lnTo>
                      <a:pt x="3" y="89"/>
                    </a:lnTo>
                    <a:lnTo>
                      <a:pt x="3" y="92"/>
                    </a:lnTo>
                    <a:lnTo>
                      <a:pt x="6" y="95"/>
                    </a:lnTo>
                    <a:lnTo>
                      <a:pt x="8" y="98"/>
                    </a:lnTo>
                    <a:lnTo>
                      <a:pt x="11" y="99"/>
                    </a:lnTo>
                    <a:lnTo>
                      <a:pt x="23" y="98"/>
                    </a:lnTo>
                    <a:lnTo>
                      <a:pt x="16" y="109"/>
                    </a:lnTo>
                    <a:lnTo>
                      <a:pt x="8" y="118"/>
                    </a:lnTo>
                    <a:lnTo>
                      <a:pt x="2" y="126"/>
                    </a:lnTo>
                    <a:lnTo>
                      <a:pt x="1" y="129"/>
                    </a:lnTo>
                    <a:lnTo>
                      <a:pt x="0" y="132"/>
                    </a:lnTo>
                    <a:lnTo>
                      <a:pt x="0" y="137"/>
                    </a:lnTo>
                    <a:lnTo>
                      <a:pt x="1" y="141"/>
                    </a:lnTo>
                    <a:lnTo>
                      <a:pt x="2" y="145"/>
                    </a:lnTo>
                    <a:lnTo>
                      <a:pt x="6" y="146"/>
                    </a:lnTo>
                    <a:lnTo>
                      <a:pt x="10" y="146"/>
                    </a:lnTo>
                    <a:lnTo>
                      <a:pt x="15" y="144"/>
                    </a:lnTo>
                    <a:lnTo>
                      <a:pt x="23" y="137"/>
                    </a:lnTo>
                    <a:lnTo>
                      <a:pt x="28" y="135"/>
                    </a:lnTo>
                    <a:lnTo>
                      <a:pt x="32" y="135"/>
                    </a:lnTo>
                    <a:lnTo>
                      <a:pt x="23" y="144"/>
                    </a:lnTo>
                    <a:lnTo>
                      <a:pt x="8" y="157"/>
                    </a:lnTo>
                    <a:lnTo>
                      <a:pt x="6" y="160"/>
                    </a:lnTo>
                    <a:lnTo>
                      <a:pt x="3" y="163"/>
                    </a:lnTo>
                    <a:lnTo>
                      <a:pt x="2" y="166"/>
                    </a:lnTo>
                    <a:lnTo>
                      <a:pt x="1" y="170"/>
                    </a:lnTo>
                    <a:lnTo>
                      <a:pt x="1" y="172"/>
                    </a:lnTo>
                    <a:lnTo>
                      <a:pt x="2" y="175"/>
                    </a:lnTo>
                    <a:lnTo>
                      <a:pt x="7" y="179"/>
                    </a:lnTo>
                    <a:lnTo>
                      <a:pt x="12" y="182"/>
                    </a:lnTo>
                    <a:lnTo>
                      <a:pt x="19" y="183"/>
                    </a:lnTo>
                    <a:lnTo>
                      <a:pt x="27" y="183"/>
                    </a:lnTo>
                    <a:lnTo>
                      <a:pt x="34" y="179"/>
                    </a:lnTo>
                    <a:lnTo>
                      <a:pt x="39" y="176"/>
                    </a:lnTo>
                    <a:lnTo>
                      <a:pt x="43" y="172"/>
                    </a:lnTo>
                    <a:lnTo>
                      <a:pt x="44" y="167"/>
                    </a:lnTo>
                    <a:lnTo>
                      <a:pt x="44" y="163"/>
                    </a:lnTo>
                    <a:lnTo>
                      <a:pt x="45" y="155"/>
                    </a:lnTo>
                    <a:lnTo>
                      <a:pt x="48" y="150"/>
                    </a:lnTo>
                    <a:lnTo>
                      <a:pt x="50" y="145"/>
                    </a:lnTo>
                    <a:lnTo>
                      <a:pt x="62" y="165"/>
                    </a:lnTo>
                    <a:lnTo>
                      <a:pt x="68" y="173"/>
                    </a:lnTo>
                    <a:lnTo>
                      <a:pt x="74" y="179"/>
                    </a:lnTo>
                    <a:lnTo>
                      <a:pt x="71" y="181"/>
                    </a:lnTo>
                    <a:lnTo>
                      <a:pt x="69" y="182"/>
                    </a:lnTo>
                    <a:lnTo>
                      <a:pt x="65" y="184"/>
                    </a:lnTo>
                    <a:lnTo>
                      <a:pt x="62" y="188"/>
                    </a:lnTo>
                    <a:lnTo>
                      <a:pt x="55" y="194"/>
                    </a:lnTo>
                    <a:lnTo>
                      <a:pt x="50" y="203"/>
                    </a:lnTo>
                    <a:lnTo>
                      <a:pt x="44" y="214"/>
                    </a:lnTo>
                    <a:lnTo>
                      <a:pt x="38" y="226"/>
                    </a:lnTo>
                    <a:lnTo>
                      <a:pt x="31" y="239"/>
                    </a:lnTo>
                    <a:lnTo>
                      <a:pt x="17" y="261"/>
                    </a:lnTo>
                    <a:lnTo>
                      <a:pt x="10" y="272"/>
                    </a:lnTo>
                    <a:lnTo>
                      <a:pt x="5" y="282"/>
                    </a:lnTo>
                    <a:lnTo>
                      <a:pt x="2" y="293"/>
                    </a:lnTo>
                    <a:lnTo>
                      <a:pt x="1" y="304"/>
                    </a:lnTo>
                    <a:lnTo>
                      <a:pt x="2" y="323"/>
                    </a:lnTo>
                    <a:lnTo>
                      <a:pt x="5" y="341"/>
                    </a:lnTo>
                    <a:lnTo>
                      <a:pt x="8" y="361"/>
                    </a:lnTo>
                    <a:lnTo>
                      <a:pt x="13" y="380"/>
                    </a:lnTo>
                    <a:lnTo>
                      <a:pt x="17" y="384"/>
                    </a:lnTo>
                    <a:lnTo>
                      <a:pt x="21" y="390"/>
                    </a:lnTo>
                    <a:lnTo>
                      <a:pt x="24" y="396"/>
                    </a:lnTo>
                    <a:lnTo>
                      <a:pt x="27" y="398"/>
                    </a:lnTo>
                    <a:lnTo>
                      <a:pt x="29" y="400"/>
                    </a:lnTo>
                    <a:lnTo>
                      <a:pt x="44" y="402"/>
                    </a:lnTo>
                    <a:lnTo>
                      <a:pt x="59" y="405"/>
                    </a:lnTo>
                    <a:lnTo>
                      <a:pt x="75" y="405"/>
                    </a:lnTo>
                    <a:lnTo>
                      <a:pt x="83" y="403"/>
                    </a:lnTo>
                    <a:lnTo>
                      <a:pt x="89" y="401"/>
                    </a:lnTo>
                    <a:lnTo>
                      <a:pt x="95" y="398"/>
                    </a:lnTo>
                    <a:lnTo>
                      <a:pt x="101" y="393"/>
                    </a:lnTo>
                    <a:lnTo>
                      <a:pt x="106" y="388"/>
                    </a:lnTo>
                    <a:lnTo>
                      <a:pt x="110" y="382"/>
                    </a:lnTo>
                    <a:lnTo>
                      <a:pt x="112" y="374"/>
                    </a:lnTo>
                    <a:lnTo>
                      <a:pt x="115" y="365"/>
                    </a:lnTo>
                    <a:lnTo>
                      <a:pt x="115" y="354"/>
                    </a:lnTo>
                    <a:lnTo>
                      <a:pt x="114" y="3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1" name="Freeform 58"/>
              <p:cNvSpPr>
                <a:spLocks/>
              </p:cNvSpPr>
              <p:nvPr/>
            </p:nvSpPr>
            <p:spPr bwMode="auto">
              <a:xfrm rot="3766183" flipH="1">
                <a:off x="4501" y="2131"/>
                <a:ext cx="122" cy="58"/>
              </a:xfrm>
              <a:custGeom>
                <a:avLst/>
                <a:gdLst>
                  <a:gd name="T0" fmla="*/ 0 w 122"/>
                  <a:gd name="T1" fmla="*/ 42 h 58"/>
                  <a:gd name="T2" fmla="*/ 0 w 122"/>
                  <a:gd name="T3" fmla="*/ 42 h 58"/>
                  <a:gd name="T4" fmla="*/ 14 w 122"/>
                  <a:gd name="T5" fmla="*/ 32 h 58"/>
                  <a:gd name="T6" fmla="*/ 25 w 122"/>
                  <a:gd name="T7" fmla="*/ 23 h 58"/>
                  <a:gd name="T8" fmla="*/ 36 w 122"/>
                  <a:gd name="T9" fmla="*/ 13 h 58"/>
                  <a:gd name="T10" fmla="*/ 36 w 122"/>
                  <a:gd name="T11" fmla="*/ 13 h 58"/>
                  <a:gd name="T12" fmla="*/ 45 w 122"/>
                  <a:gd name="T13" fmla="*/ 5 h 58"/>
                  <a:gd name="T14" fmla="*/ 51 w 122"/>
                  <a:gd name="T15" fmla="*/ 2 h 58"/>
                  <a:gd name="T16" fmla="*/ 57 w 122"/>
                  <a:gd name="T17" fmla="*/ 0 h 58"/>
                  <a:gd name="T18" fmla="*/ 64 w 122"/>
                  <a:gd name="T19" fmla="*/ 3 h 58"/>
                  <a:gd name="T20" fmla="*/ 64 w 122"/>
                  <a:gd name="T21" fmla="*/ 3 h 58"/>
                  <a:gd name="T22" fmla="*/ 72 w 122"/>
                  <a:gd name="T23" fmla="*/ 8 h 58"/>
                  <a:gd name="T24" fmla="*/ 85 w 122"/>
                  <a:gd name="T25" fmla="*/ 14 h 58"/>
                  <a:gd name="T26" fmla="*/ 107 w 122"/>
                  <a:gd name="T27" fmla="*/ 29 h 58"/>
                  <a:gd name="T28" fmla="*/ 107 w 122"/>
                  <a:gd name="T29" fmla="*/ 29 h 58"/>
                  <a:gd name="T30" fmla="*/ 113 w 122"/>
                  <a:gd name="T31" fmla="*/ 35 h 58"/>
                  <a:gd name="T32" fmla="*/ 118 w 122"/>
                  <a:gd name="T33" fmla="*/ 41 h 58"/>
                  <a:gd name="T34" fmla="*/ 122 w 122"/>
                  <a:gd name="T35" fmla="*/ 47 h 58"/>
                  <a:gd name="T36" fmla="*/ 122 w 122"/>
                  <a:gd name="T37" fmla="*/ 47 h 58"/>
                  <a:gd name="T38" fmla="*/ 112 w 122"/>
                  <a:gd name="T39" fmla="*/ 40 h 58"/>
                  <a:gd name="T40" fmla="*/ 91 w 122"/>
                  <a:gd name="T41" fmla="*/ 26 h 58"/>
                  <a:gd name="T42" fmla="*/ 78 w 122"/>
                  <a:gd name="T43" fmla="*/ 19 h 58"/>
                  <a:gd name="T44" fmla="*/ 67 w 122"/>
                  <a:gd name="T45" fmla="*/ 14 h 58"/>
                  <a:gd name="T46" fmla="*/ 59 w 122"/>
                  <a:gd name="T47" fmla="*/ 10 h 58"/>
                  <a:gd name="T48" fmla="*/ 55 w 122"/>
                  <a:gd name="T49" fmla="*/ 10 h 58"/>
                  <a:gd name="T50" fmla="*/ 52 w 122"/>
                  <a:gd name="T51" fmla="*/ 10 h 58"/>
                  <a:gd name="T52" fmla="*/ 52 w 122"/>
                  <a:gd name="T53" fmla="*/ 10 h 58"/>
                  <a:gd name="T54" fmla="*/ 47 w 122"/>
                  <a:gd name="T55" fmla="*/ 15 h 58"/>
                  <a:gd name="T56" fmla="*/ 43 w 122"/>
                  <a:gd name="T57" fmla="*/ 21 h 58"/>
                  <a:gd name="T58" fmla="*/ 30 w 122"/>
                  <a:gd name="T59" fmla="*/ 39 h 58"/>
                  <a:gd name="T60" fmla="*/ 30 w 122"/>
                  <a:gd name="T61" fmla="*/ 39 h 58"/>
                  <a:gd name="T62" fmla="*/ 26 w 122"/>
                  <a:gd name="T63" fmla="*/ 45 h 58"/>
                  <a:gd name="T64" fmla="*/ 21 w 122"/>
                  <a:gd name="T65" fmla="*/ 49 h 58"/>
                  <a:gd name="T66" fmla="*/ 13 w 122"/>
                  <a:gd name="T67" fmla="*/ 55 h 58"/>
                  <a:gd name="T68" fmla="*/ 7 w 122"/>
                  <a:gd name="T69" fmla="*/ 57 h 58"/>
                  <a:gd name="T70" fmla="*/ 4 w 122"/>
                  <a:gd name="T71" fmla="*/ 58 h 58"/>
                  <a:gd name="T72" fmla="*/ 4 w 122"/>
                  <a:gd name="T73" fmla="*/ 58 h 58"/>
                  <a:gd name="T74" fmla="*/ 2 w 122"/>
                  <a:gd name="T75" fmla="*/ 51 h 58"/>
                  <a:gd name="T76" fmla="*/ 0 w 122"/>
                  <a:gd name="T77" fmla="*/ 45 h 58"/>
                  <a:gd name="T78" fmla="*/ 0 w 122"/>
                  <a:gd name="T79" fmla="*/ 42 h 58"/>
                  <a:gd name="T80" fmla="*/ 0 w 122"/>
                  <a:gd name="T81" fmla="*/ 42 h 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2"/>
                  <a:gd name="T124" fmla="*/ 0 h 58"/>
                  <a:gd name="T125" fmla="*/ 122 w 122"/>
                  <a:gd name="T126" fmla="*/ 58 h 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2" h="58">
                    <a:moveTo>
                      <a:pt x="0" y="42"/>
                    </a:moveTo>
                    <a:lnTo>
                      <a:pt x="0" y="42"/>
                    </a:lnTo>
                    <a:lnTo>
                      <a:pt x="14" y="32"/>
                    </a:lnTo>
                    <a:lnTo>
                      <a:pt x="25" y="23"/>
                    </a:lnTo>
                    <a:lnTo>
                      <a:pt x="36" y="13"/>
                    </a:lnTo>
                    <a:lnTo>
                      <a:pt x="45" y="5"/>
                    </a:lnTo>
                    <a:lnTo>
                      <a:pt x="51" y="2"/>
                    </a:lnTo>
                    <a:lnTo>
                      <a:pt x="57" y="0"/>
                    </a:lnTo>
                    <a:lnTo>
                      <a:pt x="64" y="3"/>
                    </a:lnTo>
                    <a:lnTo>
                      <a:pt x="72" y="8"/>
                    </a:lnTo>
                    <a:lnTo>
                      <a:pt x="85" y="14"/>
                    </a:lnTo>
                    <a:lnTo>
                      <a:pt x="107" y="29"/>
                    </a:lnTo>
                    <a:lnTo>
                      <a:pt x="113" y="35"/>
                    </a:lnTo>
                    <a:lnTo>
                      <a:pt x="118" y="41"/>
                    </a:lnTo>
                    <a:lnTo>
                      <a:pt x="122" y="47"/>
                    </a:lnTo>
                    <a:lnTo>
                      <a:pt x="112" y="40"/>
                    </a:lnTo>
                    <a:lnTo>
                      <a:pt x="91" y="26"/>
                    </a:lnTo>
                    <a:lnTo>
                      <a:pt x="78" y="19"/>
                    </a:lnTo>
                    <a:lnTo>
                      <a:pt x="67" y="14"/>
                    </a:lnTo>
                    <a:lnTo>
                      <a:pt x="59" y="10"/>
                    </a:lnTo>
                    <a:lnTo>
                      <a:pt x="55" y="10"/>
                    </a:lnTo>
                    <a:lnTo>
                      <a:pt x="52" y="10"/>
                    </a:lnTo>
                    <a:lnTo>
                      <a:pt x="47" y="15"/>
                    </a:lnTo>
                    <a:lnTo>
                      <a:pt x="43" y="21"/>
                    </a:lnTo>
                    <a:lnTo>
                      <a:pt x="30" y="39"/>
                    </a:lnTo>
                    <a:lnTo>
                      <a:pt x="26" y="45"/>
                    </a:lnTo>
                    <a:lnTo>
                      <a:pt x="21" y="49"/>
                    </a:lnTo>
                    <a:lnTo>
                      <a:pt x="13" y="55"/>
                    </a:lnTo>
                    <a:lnTo>
                      <a:pt x="7" y="57"/>
                    </a:lnTo>
                    <a:lnTo>
                      <a:pt x="4" y="58"/>
                    </a:lnTo>
                    <a:lnTo>
                      <a:pt x="2" y="51"/>
                    </a:lnTo>
                    <a:lnTo>
                      <a:pt x="0" y="45"/>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2" name="Freeform 59"/>
              <p:cNvSpPr>
                <a:spLocks/>
              </p:cNvSpPr>
              <p:nvPr/>
            </p:nvSpPr>
            <p:spPr bwMode="auto">
              <a:xfrm rot="3766183" flipH="1">
                <a:off x="4528" y="2104"/>
                <a:ext cx="120" cy="41"/>
              </a:xfrm>
              <a:custGeom>
                <a:avLst/>
                <a:gdLst>
                  <a:gd name="T0" fmla="*/ 0 w 120"/>
                  <a:gd name="T1" fmla="*/ 34 h 41"/>
                  <a:gd name="T2" fmla="*/ 0 w 120"/>
                  <a:gd name="T3" fmla="*/ 34 h 41"/>
                  <a:gd name="T4" fmla="*/ 3 w 120"/>
                  <a:gd name="T5" fmla="*/ 31 h 41"/>
                  <a:gd name="T6" fmla="*/ 9 w 120"/>
                  <a:gd name="T7" fmla="*/ 24 h 41"/>
                  <a:gd name="T8" fmla="*/ 19 w 120"/>
                  <a:gd name="T9" fmla="*/ 16 h 41"/>
                  <a:gd name="T10" fmla="*/ 25 w 120"/>
                  <a:gd name="T11" fmla="*/ 13 h 41"/>
                  <a:gd name="T12" fmla="*/ 32 w 120"/>
                  <a:gd name="T13" fmla="*/ 10 h 41"/>
                  <a:gd name="T14" fmla="*/ 32 w 120"/>
                  <a:gd name="T15" fmla="*/ 10 h 41"/>
                  <a:gd name="T16" fmla="*/ 45 w 120"/>
                  <a:gd name="T17" fmla="*/ 8 h 41"/>
                  <a:gd name="T18" fmla="*/ 52 w 120"/>
                  <a:gd name="T19" fmla="*/ 8 h 41"/>
                  <a:gd name="T20" fmla="*/ 58 w 120"/>
                  <a:gd name="T21" fmla="*/ 9 h 41"/>
                  <a:gd name="T22" fmla="*/ 65 w 120"/>
                  <a:gd name="T23" fmla="*/ 12 h 41"/>
                  <a:gd name="T24" fmla="*/ 65 w 120"/>
                  <a:gd name="T25" fmla="*/ 12 h 41"/>
                  <a:gd name="T26" fmla="*/ 84 w 120"/>
                  <a:gd name="T27" fmla="*/ 19 h 41"/>
                  <a:gd name="T28" fmla="*/ 94 w 120"/>
                  <a:gd name="T29" fmla="*/ 24 h 41"/>
                  <a:gd name="T30" fmla="*/ 103 w 120"/>
                  <a:gd name="T31" fmla="*/ 29 h 41"/>
                  <a:gd name="T32" fmla="*/ 103 w 120"/>
                  <a:gd name="T33" fmla="*/ 29 h 41"/>
                  <a:gd name="T34" fmla="*/ 120 w 120"/>
                  <a:gd name="T35" fmla="*/ 41 h 41"/>
                  <a:gd name="T36" fmla="*/ 120 w 120"/>
                  <a:gd name="T37" fmla="*/ 41 h 41"/>
                  <a:gd name="T38" fmla="*/ 114 w 120"/>
                  <a:gd name="T39" fmla="*/ 35 h 41"/>
                  <a:gd name="T40" fmla="*/ 97 w 120"/>
                  <a:gd name="T41" fmla="*/ 20 h 41"/>
                  <a:gd name="T42" fmla="*/ 87 w 120"/>
                  <a:gd name="T43" fmla="*/ 13 h 41"/>
                  <a:gd name="T44" fmla="*/ 76 w 120"/>
                  <a:gd name="T45" fmla="*/ 7 h 41"/>
                  <a:gd name="T46" fmla="*/ 66 w 120"/>
                  <a:gd name="T47" fmla="*/ 3 h 41"/>
                  <a:gd name="T48" fmla="*/ 61 w 120"/>
                  <a:gd name="T49" fmla="*/ 2 h 41"/>
                  <a:gd name="T50" fmla="*/ 56 w 120"/>
                  <a:gd name="T51" fmla="*/ 0 h 41"/>
                  <a:gd name="T52" fmla="*/ 56 w 120"/>
                  <a:gd name="T53" fmla="*/ 0 h 41"/>
                  <a:gd name="T54" fmla="*/ 41 w 120"/>
                  <a:gd name="T55" fmla="*/ 3 h 41"/>
                  <a:gd name="T56" fmla="*/ 29 w 120"/>
                  <a:gd name="T57" fmla="*/ 5 h 41"/>
                  <a:gd name="T58" fmla="*/ 19 w 120"/>
                  <a:gd name="T59" fmla="*/ 10 h 41"/>
                  <a:gd name="T60" fmla="*/ 11 w 120"/>
                  <a:gd name="T61" fmla="*/ 16 h 41"/>
                  <a:gd name="T62" fmla="*/ 11 w 120"/>
                  <a:gd name="T63" fmla="*/ 16 h 41"/>
                  <a:gd name="T64" fmla="*/ 6 w 120"/>
                  <a:gd name="T65" fmla="*/ 23 h 41"/>
                  <a:gd name="T66" fmla="*/ 3 w 120"/>
                  <a:gd name="T67" fmla="*/ 28 h 41"/>
                  <a:gd name="T68" fmla="*/ 0 w 120"/>
                  <a:gd name="T69" fmla="*/ 34 h 41"/>
                  <a:gd name="T70" fmla="*/ 0 w 120"/>
                  <a:gd name="T71" fmla="*/ 34 h 4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0"/>
                  <a:gd name="T109" fmla="*/ 0 h 41"/>
                  <a:gd name="T110" fmla="*/ 120 w 120"/>
                  <a:gd name="T111" fmla="*/ 41 h 4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0" h="41">
                    <a:moveTo>
                      <a:pt x="0" y="34"/>
                    </a:moveTo>
                    <a:lnTo>
                      <a:pt x="0" y="34"/>
                    </a:lnTo>
                    <a:lnTo>
                      <a:pt x="3" y="31"/>
                    </a:lnTo>
                    <a:lnTo>
                      <a:pt x="9" y="24"/>
                    </a:lnTo>
                    <a:lnTo>
                      <a:pt x="19" y="16"/>
                    </a:lnTo>
                    <a:lnTo>
                      <a:pt x="25" y="13"/>
                    </a:lnTo>
                    <a:lnTo>
                      <a:pt x="32" y="10"/>
                    </a:lnTo>
                    <a:lnTo>
                      <a:pt x="45" y="8"/>
                    </a:lnTo>
                    <a:lnTo>
                      <a:pt x="52" y="8"/>
                    </a:lnTo>
                    <a:lnTo>
                      <a:pt x="58" y="9"/>
                    </a:lnTo>
                    <a:lnTo>
                      <a:pt x="65" y="12"/>
                    </a:lnTo>
                    <a:lnTo>
                      <a:pt x="84" y="19"/>
                    </a:lnTo>
                    <a:lnTo>
                      <a:pt x="94" y="24"/>
                    </a:lnTo>
                    <a:lnTo>
                      <a:pt x="103" y="29"/>
                    </a:lnTo>
                    <a:lnTo>
                      <a:pt x="120" y="41"/>
                    </a:lnTo>
                    <a:lnTo>
                      <a:pt x="114" y="35"/>
                    </a:lnTo>
                    <a:lnTo>
                      <a:pt x="97" y="20"/>
                    </a:lnTo>
                    <a:lnTo>
                      <a:pt x="87" y="13"/>
                    </a:lnTo>
                    <a:lnTo>
                      <a:pt x="76" y="7"/>
                    </a:lnTo>
                    <a:lnTo>
                      <a:pt x="66" y="3"/>
                    </a:lnTo>
                    <a:lnTo>
                      <a:pt x="61" y="2"/>
                    </a:lnTo>
                    <a:lnTo>
                      <a:pt x="56" y="0"/>
                    </a:lnTo>
                    <a:lnTo>
                      <a:pt x="41" y="3"/>
                    </a:lnTo>
                    <a:lnTo>
                      <a:pt x="29" y="5"/>
                    </a:lnTo>
                    <a:lnTo>
                      <a:pt x="19" y="10"/>
                    </a:lnTo>
                    <a:lnTo>
                      <a:pt x="11" y="16"/>
                    </a:lnTo>
                    <a:lnTo>
                      <a:pt x="6" y="23"/>
                    </a:lnTo>
                    <a:lnTo>
                      <a:pt x="3" y="28"/>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3" name="Freeform 60"/>
              <p:cNvSpPr>
                <a:spLocks/>
              </p:cNvSpPr>
              <p:nvPr/>
            </p:nvSpPr>
            <p:spPr bwMode="auto">
              <a:xfrm rot="3766183" flipH="1">
                <a:off x="4504" y="2033"/>
                <a:ext cx="20" cy="80"/>
              </a:xfrm>
              <a:custGeom>
                <a:avLst/>
                <a:gdLst>
                  <a:gd name="T0" fmla="*/ 0 w 20"/>
                  <a:gd name="T1" fmla="*/ 80 h 80"/>
                  <a:gd name="T2" fmla="*/ 0 w 20"/>
                  <a:gd name="T3" fmla="*/ 80 h 80"/>
                  <a:gd name="T4" fmla="*/ 0 w 20"/>
                  <a:gd name="T5" fmla="*/ 76 h 80"/>
                  <a:gd name="T6" fmla="*/ 1 w 20"/>
                  <a:gd name="T7" fmla="*/ 69 h 80"/>
                  <a:gd name="T8" fmla="*/ 6 w 20"/>
                  <a:gd name="T9" fmla="*/ 53 h 80"/>
                  <a:gd name="T10" fmla="*/ 11 w 20"/>
                  <a:gd name="T11" fmla="*/ 36 h 80"/>
                  <a:gd name="T12" fmla="*/ 13 w 20"/>
                  <a:gd name="T13" fmla="*/ 22 h 80"/>
                  <a:gd name="T14" fmla="*/ 13 w 20"/>
                  <a:gd name="T15" fmla="*/ 22 h 80"/>
                  <a:gd name="T16" fmla="*/ 13 w 20"/>
                  <a:gd name="T17" fmla="*/ 13 h 80"/>
                  <a:gd name="T18" fmla="*/ 10 w 20"/>
                  <a:gd name="T19" fmla="*/ 7 h 80"/>
                  <a:gd name="T20" fmla="*/ 8 w 20"/>
                  <a:gd name="T21" fmla="*/ 0 h 80"/>
                  <a:gd name="T22" fmla="*/ 8 w 20"/>
                  <a:gd name="T23" fmla="*/ 0 h 80"/>
                  <a:gd name="T24" fmla="*/ 10 w 20"/>
                  <a:gd name="T25" fmla="*/ 1 h 80"/>
                  <a:gd name="T26" fmla="*/ 13 w 20"/>
                  <a:gd name="T27" fmla="*/ 3 h 80"/>
                  <a:gd name="T28" fmla="*/ 15 w 20"/>
                  <a:gd name="T29" fmla="*/ 6 h 80"/>
                  <a:gd name="T30" fmla="*/ 18 w 20"/>
                  <a:gd name="T31" fmla="*/ 10 h 80"/>
                  <a:gd name="T32" fmla="*/ 19 w 20"/>
                  <a:gd name="T33" fmla="*/ 15 h 80"/>
                  <a:gd name="T34" fmla="*/ 20 w 20"/>
                  <a:gd name="T35" fmla="*/ 22 h 80"/>
                  <a:gd name="T36" fmla="*/ 19 w 20"/>
                  <a:gd name="T37" fmla="*/ 29 h 80"/>
                  <a:gd name="T38" fmla="*/ 19 w 20"/>
                  <a:gd name="T39" fmla="*/ 29 h 80"/>
                  <a:gd name="T40" fmla="*/ 14 w 20"/>
                  <a:gd name="T41" fmla="*/ 48 h 80"/>
                  <a:gd name="T42" fmla="*/ 8 w 20"/>
                  <a:gd name="T43" fmla="*/ 64 h 80"/>
                  <a:gd name="T44" fmla="*/ 0 w 20"/>
                  <a:gd name="T45" fmla="*/ 80 h 80"/>
                  <a:gd name="T46" fmla="*/ 0 w 20"/>
                  <a:gd name="T47" fmla="*/ 80 h 8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80"/>
                  <a:gd name="T74" fmla="*/ 20 w 20"/>
                  <a:gd name="T75" fmla="*/ 80 h 8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80">
                    <a:moveTo>
                      <a:pt x="0" y="80"/>
                    </a:moveTo>
                    <a:lnTo>
                      <a:pt x="0" y="80"/>
                    </a:lnTo>
                    <a:lnTo>
                      <a:pt x="0" y="76"/>
                    </a:lnTo>
                    <a:lnTo>
                      <a:pt x="1" y="69"/>
                    </a:lnTo>
                    <a:lnTo>
                      <a:pt x="6" y="53"/>
                    </a:lnTo>
                    <a:lnTo>
                      <a:pt x="11" y="36"/>
                    </a:lnTo>
                    <a:lnTo>
                      <a:pt x="13" y="22"/>
                    </a:lnTo>
                    <a:lnTo>
                      <a:pt x="13" y="13"/>
                    </a:lnTo>
                    <a:lnTo>
                      <a:pt x="10" y="7"/>
                    </a:lnTo>
                    <a:lnTo>
                      <a:pt x="8" y="0"/>
                    </a:lnTo>
                    <a:lnTo>
                      <a:pt x="10" y="1"/>
                    </a:lnTo>
                    <a:lnTo>
                      <a:pt x="13" y="3"/>
                    </a:lnTo>
                    <a:lnTo>
                      <a:pt x="15" y="6"/>
                    </a:lnTo>
                    <a:lnTo>
                      <a:pt x="18" y="10"/>
                    </a:lnTo>
                    <a:lnTo>
                      <a:pt x="19" y="15"/>
                    </a:lnTo>
                    <a:lnTo>
                      <a:pt x="20" y="22"/>
                    </a:lnTo>
                    <a:lnTo>
                      <a:pt x="19" y="29"/>
                    </a:lnTo>
                    <a:lnTo>
                      <a:pt x="14" y="48"/>
                    </a:lnTo>
                    <a:lnTo>
                      <a:pt x="8" y="64"/>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8202" name="Group 61"/>
          <p:cNvGrpSpPr>
            <a:grpSpLocks/>
          </p:cNvGrpSpPr>
          <p:nvPr/>
        </p:nvGrpSpPr>
        <p:grpSpPr bwMode="auto">
          <a:xfrm rot="-951516">
            <a:off x="2863850" y="804863"/>
            <a:ext cx="973138" cy="381000"/>
            <a:chOff x="4530" y="0"/>
            <a:chExt cx="723" cy="283"/>
          </a:xfrm>
        </p:grpSpPr>
        <p:sp>
          <p:nvSpPr>
            <p:cNvPr id="8208" name="Freeform 62"/>
            <p:cNvSpPr>
              <a:spLocks/>
            </p:cNvSpPr>
            <p:nvPr/>
          </p:nvSpPr>
          <p:spPr bwMode="auto">
            <a:xfrm>
              <a:off x="4535" y="14"/>
              <a:ext cx="718" cy="262"/>
            </a:xfrm>
            <a:custGeom>
              <a:avLst/>
              <a:gdLst>
                <a:gd name="T0" fmla="*/ 14 w 718"/>
                <a:gd name="T1" fmla="*/ 128 h 262"/>
                <a:gd name="T2" fmla="*/ 0 w 718"/>
                <a:gd name="T3" fmla="*/ 222 h 262"/>
                <a:gd name="T4" fmla="*/ 91 w 718"/>
                <a:gd name="T5" fmla="*/ 219 h 262"/>
                <a:gd name="T6" fmla="*/ 91 w 718"/>
                <a:gd name="T7" fmla="*/ 219 h 262"/>
                <a:gd name="T8" fmla="*/ 93 w 718"/>
                <a:gd name="T9" fmla="*/ 222 h 262"/>
                <a:gd name="T10" fmla="*/ 97 w 718"/>
                <a:gd name="T11" fmla="*/ 226 h 262"/>
                <a:gd name="T12" fmla="*/ 100 w 718"/>
                <a:gd name="T13" fmla="*/ 231 h 262"/>
                <a:gd name="T14" fmla="*/ 102 w 718"/>
                <a:gd name="T15" fmla="*/ 233 h 262"/>
                <a:gd name="T16" fmla="*/ 104 w 718"/>
                <a:gd name="T17" fmla="*/ 236 h 262"/>
                <a:gd name="T18" fmla="*/ 105 w 718"/>
                <a:gd name="T19" fmla="*/ 240 h 262"/>
                <a:gd name="T20" fmla="*/ 107 w 718"/>
                <a:gd name="T21" fmla="*/ 245 h 262"/>
                <a:gd name="T22" fmla="*/ 109 w 718"/>
                <a:gd name="T23" fmla="*/ 248 h 262"/>
                <a:gd name="T24" fmla="*/ 111 w 718"/>
                <a:gd name="T25" fmla="*/ 252 h 262"/>
                <a:gd name="T26" fmla="*/ 112 w 718"/>
                <a:gd name="T27" fmla="*/ 257 h 262"/>
                <a:gd name="T28" fmla="*/ 114 w 718"/>
                <a:gd name="T29" fmla="*/ 262 h 262"/>
                <a:gd name="T30" fmla="*/ 615 w 718"/>
                <a:gd name="T31" fmla="*/ 255 h 262"/>
                <a:gd name="T32" fmla="*/ 625 w 718"/>
                <a:gd name="T33" fmla="*/ 196 h 262"/>
                <a:gd name="T34" fmla="*/ 695 w 718"/>
                <a:gd name="T35" fmla="*/ 182 h 262"/>
                <a:gd name="T36" fmla="*/ 718 w 718"/>
                <a:gd name="T37" fmla="*/ 147 h 262"/>
                <a:gd name="T38" fmla="*/ 550 w 718"/>
                <a:gd name="T39" fmla="*/ 0 h 262"/>
                <a:gd name="T40" fmla="*/ 275 w 718"/>
                <a:gd name="T41" fmla="*/ 108 h 262"/>
                <a:gd name="T42" fmla="*/ 14 w 718"/>
                <a:gd name="T43" fmla="*/ 128 h 262"/>
                <a:gd name="T44" fmla="*/ 14 w 718"/>
                <a:gd name="T45" fmla="*/ 128 h 2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18"/>
                <a:gd name="T70" fmla="*/ 0 h 262"/>
                <a:gd name="T71" fmla="*/ 718 w 718"/>
                <a:gd name="T72" fmla="*/ 262 h 2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18" h="262">
                  <a:moveTo>
                    <a:pt x="14" y="128"/>
                  </a:moveTo>
                  <a:lnTo>
                    <a:pt x="0" y="222"/>
                  </a:lnTo>
                  <a:lnTo>
                    <a:pt x="91" y="219"/>
                  </a:lnTo>
                  <a:lnTo>
                    <a:pt x="93" y="222"/>
                  </a:lnTo>
                  <a:lnTo>
                    <a:pt x="97" y="226"/>
                  </a:lnTo>
                  <a:lnTo>
                    <a:pt x="100" y="231"/>
                  </a:lnTo>
                  <a:lnTo>
                    <a:pt x="102" y="233"/>
                  </a:lnTo>
                  <a:lnTo>
                    <a:pt x="104" y="236"/>
                  </a:lnTo>
                  <a:lnTo>
                    <a:pt x="105" y="240"/>
                  </a:lnTo>
                  <a:lnTo>
                    <a:pt x="107" y="245"/>
                  </a:lnTo>
                  <a:lnTo>
                    <a:pt x="109" y="248"/>
                  </a:lnTo>
                  <a:lnTo>
                    <a:pt x="111" y="252"/>
                  </a:lnTo>
                  <a:lnTo>
                    <a:pt x="112" y="257"/>
                  </a:lnTo>
                  <a:lnTo>
                    <a:pt x="114" y="262"/>
                  </a:lnTo>
                  <a:lnTo>
                    <a:pt x="615" y="255"/>
                  </a:lnTo>
                  <a:lnTo>
                    <a:pt x="625" y="196"/>
                  </a:lnTo>
                  <a:lnTo>
                    <a:pt x="695" y="182"/>
                  </a:lnTo>
                  <a:lnTo>
                    <a:pt x="718" y="147"/>
                  </a:lnTo>
                  <a:lnTo>
                    <a:pt x="550" y="0"/>
                  </a:lnTo>
                  <a:lnTo>
                    <a:pt x="275" y="108"/>
                  </a:lnTo>
                  <a:lnTo>
                    <a:pt x="14" y="128"/>
                  </a:lnTo>
                  <a:close/>
                </a:path>
              </a:pathLst>
            </a:custGeom>
            <a:solidFill>
              <a:srgbClr val="4A69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09" name="Freeform 63"/>
            <p:cNvSpPr>
              <a:spLocks/>
            </p:cNvSpPr>
            <p:nvPr/>
          </p:nvSpPr>
          <p:spPr bwMode="auto">
            <a:xfrm>
              <a:off x="4968" y="54"/>
              <a:ext cx="164" cy="166"/>
            </a:xfrm>
            <a:custGeom>
              <a:avLst/>
              <a:gdLst>
                <a:gd name="T0" fmla="*/ 92 w 164"/>
                <a:gd name="T1" fmla="*/ 2 h 166"/>
                <a:gd name="T2" fmla="*/ 85 w 164"/>
                <a:gd name="T3" fmla="*/ 0 h 166"/>
                <a:gd name="T4" fmla="*/ 47 w 164"/>
                <a:gd name="T5" fmla="*/ 47 h 166"/>
                <a:gd name="T6" fmla="*/ 7 w 164"/>
                <a:gd name="T7" fmla="*/ 51 h 166"/>
                <a:gd name="T8" fmla="*/ 0 w 164"/>
                <a:gd name="T9" fmla="*/ 58 h 166"/>
                <a:gd name="T10" fmla="*/ 0 w 164"/>
                <a:gd name="T11" fmla="*/ 58 h 166"/>
                <a:gd name="T12" fmla="*/ 1 w 164"/>
                <a:gd name="T13" fmla="*/ 60 h 166"/>
                <a:gd name="T14" fmla="*/ 3 w 164"/>
                <a:gd name="T15" fmla="*/ 65 h 166"/>
                <a:gd name="T16" fmla="*/ 5 w 164"/>
                <a:gd name="T17" fmla="*/ 70 h 166"/>
                <a:gd name="T18" fmla="*/ 5 w 164"/>
                <a:gd name="T19" fmla="*/ 74 h 166"/>
                <a:gd name="T20" fmla="*/ 7 w 164"/>
                <a:gd name="T21" fmla="*/ 77 h 166"/>
                <a:gd name="T22" fmla="*/ 8 w 164"/>
                <a:gd name="T23" fmla="*/ 81 h 166"/>
                <a:gd name="T24" fmla="*/ 10 w 164"/>
                <a:gd name="T25" fmla="*/ 84 h 166"/>
                <a:gd name="T26" fmla="*/ 12 w 164"/>
                <a:gd name="T27" fmla="*/ 88 h 166"/>
                <a:gd name="T28" fmla="*/ 14 w 164"/>
                <a:gd name="T29" fmla="*/ 93 h 166"/>
                <a:gd name="T30" fmla="*/ 15 w 164"/>
                <a:gd name="T31" fmla="*/ 98 h 166"/>
                <a:gd name="T32" fmla="*/ 19 w 164"/>
                <a:gd name="T33" fmla="*/ 102 h 166"/>
                <a:gd name="T34" fmla="*/ 21 w 164"/>
                <a:gd name="T35" fmla="*/ 107 h 166"/>
                <a:gd name="T36" fmla="*/ 24 w 164"/>
                <a:gd name="T37" fmla="*/ 110 h 166"/>
                <a:gd name="T38" fmla="*/ 26 w 164"/>
                <a:gd name="T39" fmla="*/ 116 h 166"/>
                <a:gd name="T40" fmla="*/ 29 w 164"/>
                <a:gd name="T41" fmla="*/ 121 h 166"/>
                <a:gd name="T42" fmla="*/ 33 w 164"/>
                <a:gd name="T43" fmla="*/ 124 h 166"/>
                <a:gd name="T44" fmla="*/ 36 w 164"/>
                <a:gd name="T45" fmla="*/ 130 h 166"/>
                <a:gd name="T46" fmla="*/ 40 w 164"/>
                <a:gd name="T47" fmla="*/ 133 h 166"/>
                <a:gd name="T48" fmla="*/ 45 w 164"/>
                <a:gd name="T49" fmla="*/ 138 h 166"/>
                <a:gd name="T50" fmla="*/ 49 w 164"/>
                <a:gd name="T51" fmla="*/ 142 h 166"/>
                <a:gd name="T52" fmla="*/ 52 w 164"/>
                <a:gd name="T53" fmla="*/ 147 h 166"/>
                <a:gd name="T54" fmla="*/ 57 w 164"/>
                <a:gd name="T55" fmla="*/ 151 h 166"/>
                <a:gd name="T56" fmla="*/ 63 w 164"/>
                <a:gd name="T57" fmla="*/ 154 h 166"/>
                <a:gd name="T58" fmla="*/ 66 w 164"/>
                <a:gd name="T59" fmla="*/ 158 h 166"/>
                <a:gd name="T60" fmla="*/ 71 w 164"/>
                <a:gd name="T61" fmla="*/ 161 h 166"/>
                <a:gd name="T62" fmla="*/ 78 w 164"/>
                <a:gd name="T63" fmla="*/ 165 h 166"/>
                <a:gd name="T64" fmla="*/ 84 w 164"/>
                <a:gd name="T65" fmla="*/ 166 h 166"/>
                <a:gd name="T66" fmla="*/ 96 w 164"/>
                <a:gd name="T67" fmla="*/ 161 h 166"/>
                <a:gd name="T68" fmla="*/ 164 w 164"/>
                <a:gd name="T69" fmla="*/ 60 h 166"/>
                <a:gd name="T70" fmla="*/ 120 w 164"/>
                <a:gd name="T71" fmla="*/ 46 h 166"/>
                <a:gd name="T72" fmla="*/ 92 w 164"/>
                <a:gd name="T73" fmla="*/ 2 h 166"/>
                <a:gd name="T74" fmla="*/ 92 w 164"/>
                <a:gd name="T75" fmla="*/ 2 h 16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4"/>
                <a:gd name="T115" fmla="*/ 0 h 166"/>
                <a:gd name="T116" fmla="*/ 164 w 164"/>
                <a:gd name="T117" fmla="*/ 166 h 16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4" h="166">
                  <a:moveTo>
                    <a:pt x="92" y="2"/>
                  </a:moveTo>
                  <a:lnTo>
                    <a:pt x="85" y="0"/>
                  </a:lnTo>
                  <a:lnTo>
                    <a:pt x="47" y="47"/>
                  </a:lnTo>
                  <a:lnTo>
                    <a:pt x="7" y="51"/>
                  </a:lnTo>
                  <a:lnTo>
                    <a:pt x="0" y="58"/>
                  </a:lnTo>
                  <a:lnTo>
                    <a:pt x="1" y="60"/>
                  </a:lnTo>
                  <a:lnTo>
                    <a:pt x="3" y="65"/>
                  </a:lnTo>
                  <a:lnTo>
                    <a:pt x="5" y="70"/>
                  </a:lnTo>
                  <a:lnTo>
                    <a:pt x="5" y="74"/>
                  </a:lnTo>
                  <a:lnTo>
                    <a:pt x="7" y="77"/>
                  </a:lnTo>
                  <a:lnTo>
                    <a:pt x="8" y="81"/>
                  </a:lnTo>
                  <a:lnTo>
                    <a:pt x="10" y="84"/>
                  </a:lnTo>
                  <a:lnTo>
                    <a:pt x="12" y="88"/>
                  </a:lnTo>
                  <a:lnTo>
                    <a:pt x="14" y="93"/>
                  </a:lnTo>
                  <a:lnTo>
                    <a:pt x="15" y="98"/>
                  </a:lnTo>
                  <a:lnTo>
                    <a:pt x="19" y="102"/>
                  </a:lnTo>
                  <a:lnTo>
                    <a:pt x="21" y="107"/>
                  </a:lnTo>
                  <a:lnTo>
                    <a:pt x="24" y="110"/>
                  </a:lnTo>
                  <a:lnTo>
                    <a:pt x="26" y="116"/>
                  </a:lnTo>
                  <a:lnTo>
                    <a:pt x="29" y="121"/>
                  </a:lnTo>
                  <a:lnTo>
                    <a:pt x="33" y="124"/>
                  </a:lnTo>
                  <a:lnTo>
                    <a:pt x="36" y="130"/>
                  </a:lnTo>
                  <a:lnTo>
                    <a:pt x="40" y="133"/>
                  </a:lnTo>
                  <a:lnTo>
                    <a:pt x="45" y="138"/>
                  </a:lnTo>
                  <a:lnTo>
                    <a:pt x="49" y="142"/>
                  </a:lnTo>
                  <a:lnTo>
                    <a:pt x="52" y="147"/>
                  </a:lnTo>
                  <a:lnTo>
                    <a:pt x="57" y="151"/>
                  </a:lnTo>
                  <a:lnTo>
                    <a:pt x="63" y="154"/>
                  </a:lnTo>
                  <a:lnTo>
                    <a:pt x="66" y="158"/>
                  </a:lnTo>
                  <a:lnTo>
                    <a:pt x="71" y="161"/>
                  </a:lnTo>
                  <a:lnTo>
                    <a:pt x="78" y="165"/>
                  </a:lnTo>
                  <a:lnTo>
                    <a:pt x="84" y="166"/>
                  </a:lnTo>
                  <a:lnTo>
                    <a:pt x="96" y="161"/>
                  </a:lnTo>
                  <a:lnTo>
                    <a:pt x="164" y="60"/>
                  </a:lnTo>
                  <a:lnTo>
                    <a:pt x="120" y="46"/>
                  </a:lnTo>
                  <a:lnTo>
                    <a:pt x="92" y="2"/>
                  </a:lnTo>
                  <a:close/>
                </a:path>
              </a:pathLst>
            </a:custGeom>
            <a:solidFill>
              <a:srgbClr val="FFF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0" name="Freeform 64"/>
            <p:cNvSpPr>
              <a:spLocks/>
            </p:cNvSpPr>
            <p:nvPr/>
          </p:nvSpPr>
          <p:spPr bwMode="auto">
            <a:xfrm>
              <a:off x="4976" y="100"/>
              <a:ext cx="163" cy="127"/>
            </a:xfrm>
            <a:custGeom>
              <a:avLst/>
              <a:gdLst>
                <a:gd name="T0" fmla="*/ 0 w 163"/>
                <a:gd name="T1" fmla="*/ 5 h 127"/>
                <a:gd name="T2" fmla="*/ 2 w 163"/>
                <a:gd name="T3" fmla="*/ 12 h 127"/>
                <a:gd name="T4" fmla="*/ 4 w 163"/>
                <a:gd name="T5" fmla="*/ 21 h 127"/>
                <a:gd name="T6" fmla="*/ 7 w 163"/>
                <a:gd name="T7" fmla="*/ 28 h 127"/>
                <a:gd name="T8" fmla="*/ 11 w 163"/>
                <a:gd name="T9" fmla="*/ 36 h 127"/>
                <a:gd name="T10" fmla="*/ 16 w 163"/>
                <a:gd name="T11" fmla="*/ 45 h 127"/>
                <a:gd name="T12" fmla="*/ 20 w 163"/>
                <a:gd name="T13" fmla="*/ 56 h 127"/>
                <a:gd name="T14" fmla="*/ 25 w 163"/>
                <a:gd name="T15" fmla="*/ 64 h 127"/>
                <a:gd name="T16" fmla="*/ 32 w 163"/>
                <a:gd name="T17" fmla="*/ 77 h 127"/>
                <a:gd name="T18" fmla="*/ 39 w 163"/>
                <a:gd name="T19" fmla="*/ 85 h 127"/>
                <a:gd name="T20" fmla="*/ 46 w 163"/>
                <a:gd name="T21" fmla="*/ 96 h 127"/>
                <a:gd name="T22" fmla="*/ 55 w 163"/>
                <a:gd name="T23" fmla="*/ 105 h 127"/>
                <a:gd name="T24" fmla="*/ 63 w 163"/>
                <a:gd name="T25" fmla="*/ 113 h 127"/>
                <a:gd name="T26" fmla="*/ 74 w 163"/>
                <a:gd name="T27" fmla="*/ 122 h 127"/>
                <a:gd name="T28" fmla="*/ 81 w 163"/>
                <a:gd name="T29" fmla="*/ 126 h 127"/>
                <a:gd name="T30" fmla="*/ 86 w 163"/>
                <a:gd name="T31" fmla="*/ 120 h 127"/>
                <a:gd name="T32" fmla="*/ 97 w 163"/>
                <a:gd name="T33" fmla="*/ 112 h 127"/>
                <a:gd name="T34" fmla="*/ 105 w 163"/>
                <a:gd name="T35" fmla="*/ 101 h 127"/>
                <a:gd name="T36" fmla="*/ 114 w 163"/>
                <a:gd name="T37" fmla="*/ 94 h 127"/>
                <a:gd name="T38" fmla="*/ 121 w 163"/>
                <a:gd name="T39" fmla="*/ 85 h 127"/>
                <a:gd name="T40" fmla="*/ 128 w 163"/>
                <a:gd name="T41" fmla="*/ 77 h 127"/>
                <a:gd name="T42" fmla="*/ 135 w 163"/>
                <a:gd name="T43" fmla="*/ 68 h 127"/>
                <a:gd name="T44" fmla="*/ 140 w 163"/>
                <a:gd name="T45" fmla="*/ 57 h 127"/>
                <a:gd name="T46" fmla="*/ 147 w 163"/>
                <a:gd name="T47" fmla="*/ 47 h 127"/>
                <a:gd name="T48" fmla="*/ 153 w 163"/>
                <a:gd name="T49" fmla="*/ 36 h 127"/>
                <a:gd name="T50" fmla="*/ 158 w 163"/>
                <a:gd name="T51" fmla="*/ 26 h 127"/>
                <a:gd name="T52" fmla="*/ 161 w 163"/>
                <a:gd name="T53" fmla="*/ 15 h 127"/>
                <a:gd name="T54" fmla="*/ 161 w 163"/>
                <a:gd name="T55" fmla="*/ 8 h 127"/>
                <a:gd name="T56" fmla="*/ 156 w 163"/>
                <a:gd name="T57" fmla="*/ 3 h 127"/>
                <a:gd name="T58" fmla="*/ 149 w 163"/>
                <a:gd name="T59" fmla="*/ 5 h 127"/>
                <a:gd name="T60" fmla="*/ 146 w 163"/>
                <a:gd name="T61" fmla="*/ 10 h 127"/>
                <a:gd name="T62" fmla="*/ 144 w 163"/>
                <a:gd name="T63" fmla="*/ 15 h 127"/>
                <a:gd name="T64" fmla="*/ 139 w 163"/>
                <a:gd name="T65" fmla="*/ 22 h 127"/>
                <a:gd name="T66" fmla="*/ 135 w 163"/>
                <a:gd name="T67" fmla="*/ 31 h 127"/>
                <a:gd name="T68" fmla="*/ 132 w 163"/>
                <a:gd name="T69" fmla="*/ 40 h 127"/>
                <a:gd name="T70" fmla="*/ 126 w 163"/>
                <a:gd name="T71" fmla="*/ 49 h 127"/>
                <a:gd name="T72" fmla="*/ 121 w 163"/>
                <a:gd name="T73" fmla="*/ 59 h 127"/>
                <a:gd name="T74" fmla="*/ 116 w 163"/>
                <a:gd name="T75" fmla="*/ 68 h 127"/>
                <a:gd name="T76" fmla="*/ 109 w 163"/>
                <a:gd name="T77" fmla="*/ 77 h 127"/>
                <a:gd name="T78" fmla="*/ 104 w 163"/>
                <a:gd name="T79" fmla="*/ 85 h 127"/>
                <a:gd name="T80" fmla="*/ 98 w 163"/>
                <a:gd name="T81" fmla="*/ 92 h 127"/>
                <a:gd name="T82" fmla="*/ 93 w 163"/>
                <a:gd name="T83" fmla="*/ 101 h 127"/>
                <a:gd name="T84" fmla="*/ 84 w 163"/>
                <a:gd name="T85" fmla="*/ 110 h 127"/>
                <a:gd name="T86" fmla="*/ 79 w 163"/>
                <a:gd name="T87" fmla="*/ 113 h 127"/>
                <a:gd name="T88" fmla="*/ 76 w 163"/>
                <a:gd name="T89" fmla="*/ 110 h 127"/>
                <a:gd name="T90" fmla="*/ 69 w 163"/>
                <a:gd name="T91" fmla="*/ 101 h 127"/>
                <a:gd name="T92" fmla="*/ 62 w 163"/>
                <a:gd name="T93" fmla="*/ 91 h 127"/>
                <a:gd name="T94" fmla="*/ 53 w 163"/>
                <a:gd name="T95" fmla="*/ 80 h 127"/>
                <a:gd name="T96" fmla="*/ 48 w 163"/>
                <a:gd name="T97" fmla="*/ 71 h 127"/>
                <a:gd name="T98" fmla="*/ 44 w 163"/>
                <a:gd name="T99" fmla="*/ 63 h 127"/>
                <a:gd name="T100" fmla="*/ 39 w 163"/>
                <a:gd name="T101" fmla="*/ 54 h 127"/>
                <a:gd name="T102" fmla="*/ 34 w 163"/>
                <a:gd name="T103" fmla="*/ 43 h 127"/>
                <a:gd name="T104" fmla="*/ 30 w 163"/>
                <a:gd name="T105" fmla="*/ 33 h 127"/>
                <a:gd name="T106" fmla="*/ 25 w 163"/>
                <a:gd name="T107" fmla="*/ 22 h 127"/>
                <a:gd name="T108" fmla="*/ 21 w 163"/>
                <a:gd name="T109" fmla="*/ 10 h 127"/>
                <a:gd name="T110" fmla="*/ 20 w 163"/>
                <a:gd name="T111" fmla="*/ 3 h 127"/>
                <a:gd name="T112" fmla="*/ 13 w 163"/>
                <a:gd name="T113" fmla="*/ 1 h 127"/>
                <a:gd name="T114" fmla="*/ 4 w 163"/>
                <a:gd name="T115" fmla="*/ 0 h 127"/>
                <a:gd name="T116" fmla="*/ 0 w 163"/>
                <a:gd name="T117" fmla="*/ 1 h 127"/>
                <a:gd name="T118" fmla="*/ 0 w 163"/>
                <a:gd name="T119" fmla="*/ 5 h 12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63"/>
                <a:gd name="T181" fmla="*/ 0 h 127"/>
                <a:gd name="T182" fmla="*/ 163 w 163"/>
                <a:gd name="T183" fmla="*/ 127 h 12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63" h="127">
                  <a:moveTo>
                    <a:pt x="0" y="5"/>
                  </a:moveTo>
                  <a:lnTo>
                    <a:pt x="0" y="5"/>
                  </a:lnTo>
                  <a:lnTo>
                    <a:pt x="0" y="7"/>
                  </a:lnTo>
                  <a:lnTo>
                    <a:pt x="2" y="12"/>
                  </a:lnTo>
                  <a:lnTo>
                    <a:pt x="4" y="17"/>
                  </a:lnTo>
                  <a:lnTo>
                    <a:pt x="4" y="21"/>
                  </a:lnTo>
                  <a:lnTo>
                    <a:pt x="6" y="24"/>
                  </a:lnTo>
                  <a:lnTo>
                    <a:pt x="7" y="28"/>
                  </a:lnTo>
                  <a:lnTo>
                    <a:pt x="9" y="33"/>
                  </a:lnTo>
                  <a:lnTo>
                    <a:pt x="11" y="36"/>
                  </a:lnTo>
                  <a:lnTo>
                    <a:pt x="13" y="42"/>
                  </a:lnTo>
                  <a:lnTo>
                    <a:pt x="16" y="45"/>
                  </a:lnTo>
                  <a:lnTo>
                    <a:pt x="18" y="52"/>
                  </a:lnTo>
                  <a:lnTo>
                    <a:pt x="20" y="56"/>
                  </a:lnTo>
                  <a:lnTo>
                    <a:pt x="23" y="61"/>
                  </a:lnTo>
                  <a:lnTo>
                    <a:pt x="25" y="64"/>
                  </a:lnTo>
                  <a:lnTo>
                    <a:pt x="28" y="71"/>
                  </a:lnTo>
                  <a:lnTo>
                    <a:pt x="32" y="77"/>
                  </a:lnTo>
                  <a:lnTo>
                    <a:pt x="35" y="82"/>
                  </a:lnTo>
                  <a:lnTo>
                    <a:pt x="39" y="85"/>
                  </a:lnTo>
                  <a:lnTo>
                    <a:pt x="42" y="92"/>
                  </a:lnTo>
                  <a:lnTo>
                    <a:pt x="46" y="96"/>
                  </a:lnTo>
                  <a:lnTo>
                    <a:pt x="51" y="101"/>
                  </a:lnTo>
                  <a:lnTo>
                    <a:pt x="55" y="105"/>
                  </a:lnTo>
                  <a:lnTo>
                    <a:pt x="60" y="110"/>
                  </a:lnTo>
                  <a:lnTo>
                    <a:pt x="63" y="113"/>
                  </a:lnTo>
                  <a:lnTo>
                    <a:pt x="69" y="119"/>
                  </a:lnTo>
                  <a:lnTo>
                    <a:pt x="74" y="122"/>
                  </a:lnTo>
                  <a:lnTo>
                    <a:pt x="81" y="127"/>
                  </a:lnTo>
                  <a:lnTo>
                    <a:pt x="81" y="126"/>
                  </a:lnTo>
                  <a:lnTo>
                    <a:pt x="83" y="124"/>
                  </a:lnTo>
                  <a:lnTo>
                    <a:pt x="86" y="120"/>
                  </a:lnTo>
                  <a:lnTo>
                    <a:pt x="91" y="117"/>
                  </a:lnTo>
                  <a:lnTo>
                    <a:pt x="97" y="112"/>
                  </a:lnTo>
                  <a:lnTo>
                    <a:pt x="104" y="105"/>
                  </a:lnTo>
                  <a:lnTo>
                    <a:pt x="105" y="101"/>
                  </a:lnTo>
                  <a:lnTo>
                    <a:pt x="111" y="98"/>
                  </a:lnTo>
                  <a:lnTo>
                    <a:pt x="114" y="94"/>
                  </a:lnTo>
                  <a:lnTo>
                    <a:pt x="118" y="91"/>
                  </a:lnTo>
                  <a:lnTo>
                    <a:pt x="121" y="85"/>
                  </a:lnTo>
                  <a:lnTo>
                    <a:pt x="125" y="82"/>
                  </a:lnTo>
                  <a:lnTo>
                    <a:pt x="128" y="77"/>
                  </a:lnTo>
                  <a:lnTo>
                    <a:pt x="132" y="73"/>
                  </a:lnTo>
                  <a:lnTo>
                    <a:pt x="135" y="68"/>
                  </a:lnTo>
                  <a:lnTo>
                    <a:pt x="139" y="63"/>
                  </a:lnTo>
                  <a:lnTo>
                    <a:pt x="140" y="57"/>
                  </a:lnTo>
                  <a:lnTo>
                    <a:pt x="146" y="54"/>
                  </a:lnTo>
                  <a:lnTo>
                    <a:pt x="147" y="47"/>
                  </a:lnTo>
                  <a:lnTo>
                    <a:pt x="149" y="42"/>
                  </a:lnTo>
                  <a:lnTo>
                    <a:pt x="153" y="36"/>
                  </a:lnTo>
                  <a:lnTo>
                    <a:pt x="156" y="33"/>
                  </a:lnTo>
                  <a:lnTo>
                    <a:pt x="158" y="26"/>
                  </a:lnTo>
                  <a:lnTo>
                    <a:pt x="160" y="21"/>
                  </a:lnTo>
                  <a:lnTo>
                    <a:pt x="161" y="15"/>
                  </a:lnTo>
                  <a:lnTo>
                    <a:pt x="163" y="12"/>
                  </a:lnTo>
                  <a:lnTo>
                    <a:pt x="161" y="8"/>
                  </a:lnTo>
                  <a:lnTo>
                    <a:pt x="160" y="7"/>
                  </a:lnTo>
                  <a:lnTo>
                    <a:pt x="156" y="3"/>
                  </a:lnTo>
                  <a:lnTo>
                    <a:pt x="153" y="5"/>
                  </a:lnTo>
                  <a:lnTo>
                    <a:pt x="149" y="5"/>
                  </a:lnTo>
                  <a:lnTo>
                    <a:pt x="147" y="8"/>
                  </a:lnTo>
                  <a:lnTo>
                    <a:pt x="146" y="10"/>
                  </a:lnTo>
                  <a:lnTo>
                    <a:pt x="146" y="14"/>
                  </a:lnTo>
                  <a:lnTo>
                    <a:pt x="144" y="15"/>
                  </a:lnTo>
                  <a:lnTo>
                    <a:pt x="142" y="21"/>
                  </a:lnTo>
                  <a:lnTo>
                    <a:pt x="139" y="22"/>
                  </a:lnTo>
                  <a:lnTo>
                    <a:pt x="137" y="28"/>
                  </a:lnTo>
                  <a:lnTo>
                    <a:pt x="135" y="31"/>
                  </a:lnTo>
                  <a:lnTo>
                    <a:pt x="133" y="35"/>
                  </a:lnTo>
                  <a:lnTo>
                    <a:pt x="132" y="40"/>
                  </a:lnTo>
                  <a:lnTo>
                    <a:pt x="128" y="43"/>
                  </a:lnTo>
                  <a:lnTo>
                    <a:pt x="126" y="49"/>
                  </a:lnTo>
                  <a:lnTo>
                    <a:pt x="125" y="54"/>
                  </a:lnTo>
                  <a:lnTo>
                    <a:pt x="121" y="59"/>
                  </a:lnTo>
                  <a:lnTo>
                    <a:pt x="118" y="63"/>
                  </a:lnTo>
                  <a:lnTo>
                    <a:pt x="116" y="68"/>
                  </a:lnTo>
                  <a:lnTo>
                    <a:pt x="112" y="71"/>
                  </a:lnTo>
                  <a:lnTo>
                    <a:pt x="109" y="77"/>
                  </a:lnTo>
                  <a:lnTo>
                    <a:pt x="107" y="82"/>
                  </a:lnTo>
                  <a:lnTo>
                    <a:pt x="104" y="85"/>
                  </a:lnTo>
                  <a:lnTo>
                    <a:pt x="102" y="91"/>
                  </a:lnTo>
                  <a:lnTo>
                    <a:pt x="98" y="92"/>
                  </a:lnTo>
                  <a:lnTo>
                    <a:pt x="97" y="98"/>
                  </a:lnTo>
                  <a:lnTo>
                    <a:pt x="93" y="101"/>
                  </a:lnTo>
                  <a:lnTo>
                    <a:pt x="90" y="105"/>
                  </a:lnTo>
                  <a:lnTo>
                    <a:pt x="84" y="110"/>
                  </a:lnTo>
                  <a:lnTo>
                    <a:pt x="81" y="113"/>
                  </a:lnTo>
                  <a:lnTo>
                    <a:pt x="79" y="113"/>
                  </a:lnTo>
                  <a:lnTo>
                    <a:pt x="77" y="112"/>
                  </a:lnTo>
                  <a:lnTo>
                    <a:pt x="76" y="110"/>
                  </a:lnTo>
                  <a:lnTo>
                    <a:pt x="74" y="106"/>
                  </a:lnTo>
                  <a:lnTo>
                    <a:pt x="69" y="101"/>
                  </a:lnTo>
                  <a:lnTo>
                    <a:pt x="65" y="96"/>
                  </a:lnTo>
                  <a:lnTo>
                    <a:pt x="62" y="91"/>
                  </a:lnTo>
                  <a:lnTo>
                    <a:pt x="56" y="84"/>
                  </a:lnTo>
                  <a:lnTo>
                    <a:pt x="53" y="80"/>
                  </a:lnTo>
                  <a:lnTo>
                    <a:pt x="51" y="77"/>
                  </a:lnTo>
                  <a:lnTo>
                    <a:pt x="48" y="71"/>
                  </a:lnTo>
                  <a:lnTo>
                    <a:pt x="46" y="68"/>
                  </a:lnTo>
                  <a:lnTo>
                    <a:pt x="44" y="63"/>
                  </a:lnTo>
                  <a:lnTo>
                    <a:pt x="41" y="59"/>
                  </a:lnTo>
                  <a:lnTo>
                    <a:pt x="39" y="54"/>
                  </a:lnTo>
                  <a:lnTo>
                    <a:pt x="37" y="50"/>
                  </a:lnTo>
                  <a:lnTo>
                    <a:pt x="34" y="43"/>
                  </a:lnTo>
                  <a:lnTo>
                    <a:pt x="32" y="40"/>
                  </a:lnTo>
                  <a:lnTo>
                    <a:pt x="30" y="33"/>
                  </a:lnTo>
                  <a:lnTo>
                    <a:pt x="27" y="28"/>
                  </a:lnTo>
                  <a:lnTo>
                    <a:pt x="25" y="22"/>
                  </a:lnTo>
                  <a:lnTo>
                    <a:pt x="23" y="15"/>
                  </a:lnTo>
                  <a:lnTo>
                    <a:pt x="21" y="10"/>
                  </a:lnTo>
                  <a:lnTo>
                    <a:pt x="20" y="5"/>
                  </a:lnTo>
                  <a:lnTo>
                    <a:pt x="20" y="3"/>
                  </a:lnTo>
                  <a:lnTo>
                    <a:pt x="16" y="3"/>
                  </a:lnTo>
                  <a:lnTo>
                    <a:pt x="13" y="1"/>
                  </a:lnTo>
                  <a:lnTo>
                    <a:pt x="9" y="0"/>
                  </a:lnTo>
                  <a:lnTo>
                    <a:pt x="4" y="0"/>
                  </a:lnTo>
                  <a:lnTo>
                    <a:pt x="2" y="0"/>
                  </a:lnTo>
                  <a:lnTo>
                    <a:pt x="0" y="1"/>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1" name="Freeform 65"/>
            <p:cNvSpPr>
              <a:spLocks/>
            </p:cNvSpPr>
            <p:nvPr/>
          </p:nvSpPr>
          <p:spPr bwMode="auto">
            <a:xfrm>
              <a:off x="4975" y="49"/>
              <a:ext cx="161" cy="66"/>
            </a:xfrm>
            <a:custGeom>
              <a:avLst/>
              <a:gdLst>
                <a:gd name="T0" fmla="*/ 17 w 161"/>
                <a:gd name="T1" fmla="*/ 59 h 66"/>
                <a:gd name="T2" fmla="*/ 26 w 161"/>
                <a:gd name="T3" fmla="*/ 63 h 66"/>
                <a:gd name="T4" fmla="*/ 31 w 161"/>
                <a:gd name="T5" fmla="*/ 65 h 66"/>
                <a:gd name="T6" fmla="*/ 38 w 161"/>
                <a:gd name="T7" fmla="*/ 65 h 66"/>
                <a:gd name="T8" fmla="*/ 47 w 161"/>
                <a:gd name="T9" fmla="*/ 63 h 66"/>
                <a:gd name="T10" fmla="*/ 57 w 161"/>
                <a:gd name="T11" fmla="*/ 59 h 66"/>
                <a:gd name="T12" fmla="*/ 66 w 161"/>
                <a:gd name="T13" fmla="*/ 54 h 66"/>
                <a:gd name="T14" fmla="*/ 73 w 161"/>
                <a:gd name="T15" fmla="*/ 47 h 66"/>
                <a:gd name="T16" fmla="*/ 84 w 161"/>
                <a:gd name="T17" fmla="*/ 37 h 66"/>
                <a:gd name="T18" fmla="*/ 89 w 161"/>
                <a:gd name="T19" fmla="*/ 28 h 66"/>
                <a:gd name="T20" fmla="*/ 91 w 161"/>
                <a:gd name="T21" fmla="*/ 24 h 66"/>
                <a:gd name="T22" fmla="*/ 92 w 161"/>
                <a:gd name="T23" fmla="*/ 31 h 66"/>
                <a:gd name="T24" fmla="*/ 96 w 161"/>
                <a:gd name="T25" fmla="*/ 37 h 66"/>
                <a:gd name="T26" fmla="*/ 103 w 161"/>
                <a:gd name="T27" fmla="*/ 45 h 66"/>
                <a:gd name="T28" fmla="*/ 110 w 161"/>
                <a:gd name="T29" fmla="*/ 54 h 66"/>
                <a:gd name="T30" fmla="*/ 120 w 161"/>
                <a:gd name="T31" fmla="*/ 61 h 66"/>
                <a:gd name="T32" fmla="*/ 133 w 161"/>
                <a:gd name="T33" fmla="*/ 65 h 66"/>
                <a:gd name="T34" fmla="*/ 140 w 161"/>
                <a:gd name="T35" fmla="*/ 66 h 66"/>
                <a:gd name="T36" fmla="*/ 148 w 161"/>
                <a:gd name="T37" fmla="*/ 66 h 66"/>
                <a:gd name="T38" fmla="*/ 161 w 161"/>
                <a:gd name="T39" fmla="*/ 58 h 66"/>
                <a:gd name="T40" fmla="*/ 155 w 161"/>
                <a:gd name="T41" fmla="*/ 56 h 66"/>
                <a:gd name="T42" fmla="*/ 147 w 161"/>
                <a:gd name="T43" fmla="*/ 54 h 66"/>
                <a:gd name="T44" fmla="*/ 136 w 161"/>
                <a:gd name="T45" fmla="*/ 51 h 66"/>
                <a:gd name="T46" fmla="*/ 124 w 161"/>
                <a:gd name="T47" fmla="*/ 44 h 66"/>
                <a:gd name="T48" fmla="*/ 112 w 161"/>
                <a:gd name="T49" fmla="*/ 37 h 66"/>
                <a:gd name="T50" fmla="*/ 105 w 161"/>
                <a:gd name="T51" fmla="*/ 28 h 66"/>
                <a:gd name="T52" fmla="*/ 99 w 161"/>
                <a:gd name="T53" fmla="*/ 23 h 66"/>
                <a:gd name="T54" fmla="*/ 96 w 161"/>
                <a:gd name="T55" fmla="*/ 16 h 66"/>
                <a:gd name="T56" fmla="*/ 94 w 161"/>
                <a:gd name="T57" fmla="*/ 7 h 66"/>
                <a:gd name="T58" fmla="*/ 92 w 161"/>
                <a:gd name="T59" fmla="*/ 2 h 66"/>
                <a:gd name="T60" fmla="*/ 89 w 161"/>
                <a:gd name="T61" fmla="*/ 0 h 66"/>
                <a:gd name="T62" fmla="*/ 82 w 161"/>
                <a:gd name="T63" fmla="*/ 7 h 66"/>
                <a:gd name="T64" fmla="*/ 77 w 161"/>
                <a:gd name="T65" fmla="*/ 16 h 66"/>
                <a:gd name="T66" fmla="*/ 71 w 161"/>
                <a:gd name="T67" fmla="*/ 23 h 66"/>
                <a:gd name="T68" fmla="*/ 64 w 161"/>
                <a:gd name="T69" fmla="*/ 31 h 66"/>
                <a:gd name="T70" fmla="*/ 56 w 161"/>
                <a:gd name="T71" fmla="*/ 44 h 66"/>
                <a:gd name="T72" fmla="*/ 49 w 161"/>
                <a:gd name="T73" fmla="*/ 47 h 66"/>
                <a:gd name="T74" fmla="*/ 42 w 161"/>
                <a:gd name="T75" fmla="*/ 49 h 66"/>
                <a:gd name="T76" fmla="*/ 33 w 161"/>
                <a:gd name="T77" fmla="*/ 49 h 66"/>
                <a:gd name="T78" fmla="*/ 24 w 161"/>
                <a:gd name="T79" fmla="*/ 49 h 66"/>
                <a:gd name="T80" fmla="*/ 15 w 161"/>
                <a:gd name="T81" fmla="*/ 49 h 66"/>
                <a:gd name="T82" fmla="*/ 8 w 161"/>
                <a:gd name="T83" fmla="*/ 47 h 66"/>
                <a:gd name="T84" fmla="*/ 1 w 161"/>
                <a:gd name="T85" fmla="*/ 47 h 66"/>
                <a:gd name="T86" fmla="*/ 15 w 161"/>
                <a:gd name="T87" fmla="*/ 56 h 6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61"/>
                <a:gd name="T133" fmla="*/ 0 h 66"/>
                <a:gd name="T134" fmla="*/ 161 w 161"/>
                <a:gd name="T135" fmla="*/ 66 h 6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61" h="66">
                  <a:moveTo>
                    <a:pt x="15" y="56"/>
                  </a:moveTo>
                  <a:lnTo>
                    <a:pt x="17" y="59"/>
                  </a:lnTo>
                  <a:lnTo>
                    <a:pt x="21" y="61"/>
                  </a:lnTo>
                  <a:lnTo>
                    <a:pt x="26" y="63"/>
                  </a:lnTo>
                  <a:lnTo>
                    <a:pt x="28" y="65"/>
                  </a:lnTo>
                  <a:lnTo>
                    <a:pt x="31" y="65"/>
                  </a:lnTo>
                  <a:lnTo>
                    <a:pt x="35" y="65"/>
                  </a:lnTo>
                  <a:lnTo>
                    <a:pt x="38" y="65"/>
                  </a:lnTo>
                  <a:lnTo>
                    <a:pt x="42" y="65"/>
                  </a:lnTo>
                  <a:lnTo>
                    <a:pt x="47" y="63"/>
                  </a:lnTo>
                  <a:lnTo>
                    <a:pt x="52" y="61"/>
                  </a:lnTo>
                  <a:lnTo>
                    <a:pt x="57" y="59"/>
                  </a:lnTo>
                  <a:lnTo>
                    <a:pt x="61" y="56"/>
                  </a:lnTo>
                  <a:lnTo>
                    <a:pt x="66" y="54"/>
                  </a:lnTo>
                  <a:lnTo>
                    <a:pt x="70" y="51"/>
                  </a:lnTo>
                  <a:lnTo>
                    <a:pt x="73" y="47"/>
                  </a:lnTo>
                  <a:lnTo>
                    <a:pt x="78" y="42"/>
                  </a:lnTo>
                  <a:lnTo>
                    <a:pt x="84" y="37"/>
                  </a:lnTo>
                  <a:lnTo>
                    <a:pt x="85" y="30"/>
                  </a:lnTo>
                  <a:lnTo>
                    <a:pt x="89" y="28"/>
                  </a:lnTo>
                  <a:lnTo>
                    <a:pt x="89" y="24"/>
                  </a:lnTo>
                  <a:lnTo>
                    <a:pt x="91" y="24"/>
                  </a:lnTo>
                  <a:lnTo>
                    <a:pt x="92" y="31"/>
                  </a:lnTo>
                  <a:lnTo>
                    <a:pt x="94" y="33"/>
                  </a:lnTo>
                  <a:lnTo>
                    <a:pt x="96" y="37"/>
                  </a:lnTo>
                  <a:lnTo>
                    <a:pt x="99" y="42"/>
                  </a:lnTo>
                  <a:lnTo>
                    <a:pt x="103" y="45"/>
                  </a:lnTo>
                  <a:lnTo>
                    <a:pt x="106" y="51"/>
                  </a:lnTo>
                  <a:lnTo>
                    <a:pt x="110" y="54"/>
                  </a:lnTo>
                  <a:lnTo>
                    <a:pt x="115" y="58"/>
                  </a:lnTo>
                  <a:lnTo>
                    <a:pt x="120" y="61"/>
                  </a:lnTo>
                  <a:lnTo>
                    <a:pt x="126" y="63"/>
                  </a:lnTo>
                  <a:lnTo>
                    <a:pt x="133" y="65"/>
                  </a:lnTo>
                  <a:lnTo>
                    <a:pt x="136" y="65"/>
                  </a:lnTo>
                  <a:lnTo>
                    <a:pt x="140" y="66"/>
                  </a:lnTo>
                  <a:lnTo>
                    <a:pt x="143" y="66"/>
                  </a:lnTo>
                  <a:lnTo>
                    <a:pt x="148" y="66"/>
                  </a:lnTo>
                  <a:lnTo>
                    <a:pt x="161" y="58"/>
                  </a:lnTo>
                  <a:lnTo>
                    <a:pt x="157" y="58"/>
                  </a:lnTo>
                  <a:lnTo>
                    <a:pt x="155" y="56"/>
                  </a:lnTo>
                  <a:lnTo>
                    <a:pt x="152" y="56"/>
                  </a:lnTo>
                  <a:lnTo>
                    <a:pt x="147" y="54"/>
                  </a:lnTo>
                  <a:lnTo>
                    <a:pt x="141" y="52"/>
                  </a:lnTo>
                  <a:lnTo>
                    <a:pt x="136" y="51"/>
                  </a:lnTo>
                  <a:lnTo>
                    <a:pt x="131" y="49"/>
                  </a:lnTo>
                  <a:lnTo>
                    <a:pt x="124" y="44"/>
                  </a:lnTo>
                  <a:lnTo>
                    <a:pt x="119" y="42"/>
                  </a:lnTo>
                  <a:lnTo>
                    <a:pt x="112" y="37"/>
                  </a:lnTo>
                  <a:lnTo>
                    <a:pt x="106" y="31"/>
                  </a:lnTo>
                  <a:lnTo>
                    <a:pt x="105" y="28"/>
                  </a:lnTo>
                  <a:lnTo>
                    <a:pt x="101" y="24"/>
                  </a:lnTo>
                  <a:lnTo>
                    <a:pt x="99" y="23"/>
                  </a:lnTo>
                  <a:lnTo>
                    <a:pt x="98" y="19"/>
                  </a:lnTo>
                  <a:lnTo>
                    <a:pt x="96" y="16"/>
                  </a:lnTo>
                  <a:lnTo>
                    <a:pt x="94" y="10"/>
                  </a:lnTo>
                  <a:lnTo>
                    <a:pt x="94" y="7"/>
                  </a:lnTo>
                  <a:lnTo>
                    <a:pt x="92" y="3"/>
                  </a:lnTo>
                  <a:lnTo>
                    <a:pt x="92" y="2"/>
                  </a:lnTo>
                  <a:lnTo>
                    <a:pt x="91" y="0"/>
                  </a:lnTo>
                  <a:lnTo>
                    <a:pt x="89" y="0"/>
                  </a:lnTo>
                  <a:lnTo>
                    <a:pt x="85" y="3"/>
                  </a:lnTo>
                  <a:lnTo>
                    <a:pt x="82" y="7"/>
                  </a:lnTo>
                  <a:lnTo>
                    <a:pt x="78" y="12"/>
                  </a:lnTo>
                  <a:lnTo>
                    <a:pt x="77" y="16"/>
                  </a:lnTo>
                  <a:lnTo>
                    <a:pt x="75" y="17"/>
                  </a:lnTo>
                  <a:lnTo>
                    <a:pt x="71" y="23"/>
                  </a:lnTo>
                  <a:lnTo>
                    <a:pt x="70" y="26"/>
                  </a:lnTo>
                  <a:lnTo>
                    <a:pt x="64" y="31"/>
                  </a:lnTo>
                  <a:lnTo>
                    <a:pt x="61" y="38"/>
                  </a:lnTo>
                  <a:lnTo>
                    <a:pt x="56" y="44"/>
                  </a:lnTo>
                  <a:lnTo>
                    <a:pt x="52" y="47"/>
                  </a:lnTo>
                  <a:lnTo>
                    <a:pt x="49" y="47"/>
                  </a:lnTo>
                  <a:lnTo>
                    <a:pt x="45" y="49"/>
                  </a:lnTo>
                  <a:lnTo>
                    <a:pt x="42" y="49"/>
                  </a:lnTo>
                  <a:lnTo>
                    <a:pt x="38" y="49"/>
                  </a:lnTo>
                  <a:lnTo>
                    <a:pt x="33" y="49"/>
                  </a:lnTo>
                  <a:lnTo>
                    <a:pt x="28" y="49"/>
                  </a:lnTo>
                  <a:lnTo>
                    <a:pt x="24" y="49"/>
                  </a:lnTo>
                  <a:lnTo>
                    <a:pt x="21" y="49"/>
                  </a:lnTo>
                  <a:lnTo>
                    <a:pt x="15" y="49"/>
                  </a:lnTo>
                  <a:lnTo>
                    <a:pt x="12" y="49"/>
                  </a:lnTo>
                  <a:lnTo>
                    <a:pt x="8" y="47"/>
                  </a:lnTo>
                  <a:lnTo>
                    <a:pt x="5" y="47"/>
                  </a:lnTo>
                  <a:lnTo>
                    <a:pt x="1" y="47"/>
                  </a:lnTo>
                  <a:lnTo>
                    <a:pt x="0" y="47"/>
                  </a:lnTo>
                  <a:lnTo>
                    <a:pt x="15" y="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2" name="Freeform 66"/>
            <p:cNvSpPr>
              <a:spLocks/>
            </p:cNvSpPr>
            <p:nvPr/>
          </p:nvSpPr>
          <p:spPr bwMode="auto">
            <a:xfrm>
              <a:off x="4530" y="0"/>
              <a:ext cx="564" cy="283"/>
            </a:xfrm>
            <a:custGeom>
              <a:avLst/>
              <a:gdLst>
                <a:gd name="T0" fmla="*/ 555 w 564"/>
                <a:gd name="T1" fmla="*/ 24 h 283"/>
                <a:gd name="T2" fmla="*/ 539 w 564"/>
                <a:gd name="T3" fmla="*/ 33 h 283"/>
                <a:gd name="T4" fmla="*/ 520 w 564"/>
                <a:gd name="T5" fmla="*/ 42 h 283"/>
                <a:gd name="T6" fmla="*/ 494 w 564"/>
                <a:gd name="T7" fmla="*/ 54 h 283"/>
                <a:gd name="T8" fmla="*/ 466 w 564"/>
                <a:gd name="T9" fmla="*/ 66 h 283"/>
                <a:gd name="T10" fmla="*/ 432 w 564"/>
                <a:gd name="T11" fmla="*/ 79 h 283"/>
                <a:gd name="T12" fmla="*/ 397 w 564"/>
                <a:gd name="T13" fmla="*/ 93 h 283"/>
                <a:gd name="T14" fmla="*/ 357 w 564"/>
                <a:gd name="T15" fmla="*/ 107 h 283"/>
                <a:gd name="T16" fmla="*/ 315 w 564"/>
                <a:gd name="T17" fmla="*/ 119 h 283"/>
                <a:gd name="T18" fmla="*/ 271 w 564"/>
                <a:gd name="T19" fmla="*/ 129 h 283"/>
                <a:gd name="T20" fmla="*/ 226 w 564"/>
                <a:gd name="T21" fmla="*/ 140 h 283"/>
                <a:gd name="T22" fmla="*/ 179 w 564"/>
                <a:gd name="T23" fmla="*/ 147 h 283"/>
                <a:gd name="T24" fmla="*/ 133 w 564"/>
                <a:gd name="T25" fmla="*/ 152 h 283"/>
                <a:gd name="T26" fmla="*/ 84 w 564"/>
                <a:gd name="T27" fmla="*/ 154 h 283"/>
                <a:gd name="T28" fmla="*/ 39 w 564"/>
                <a:gd name="T29" fmla="*/ 154 h 283"/>
                <a:gd name="T30" fmla="*/ 25 w 564"/>
                <a:gd name="T31" fmla="*/ 159 h 283"/>
                <a:gd name="T32" fmla="*/ 19 w 564"/>
                <a:gd name="T33" fmla="*/ 178 h 283"/>
                <a:gd name="T34" fmla="*/ 18 w 564"/>
                <a:gd name="T35" fmla="*/ 196 h 283"/>
                <a:gd name="T36" fmla="*/ 16 w 564"/>
                <a:gd name="T37" fmla="*/ 220 h 283"/>
                <a:gd name="T38" fmla="*/ 23 w 564"/>
                <a:gd name="T39" fmla="*/ 227 h 283"/>
                <a:gd name="T40" fmla="*/ 44 w 564"/>
                <a:gd name="T41" fmla="*/ 226 h 283"/>
                <a:gd name="T42" fmla="*/ 61 w 564"/>
                <a:gd name="T43" fmla="*/ 224 h 283"/>
                <a:gd name="T44" fmla="*/ 75 w 564"/>
                <a:gd name="T45" fmla="*/ 222 h 283"/>
                <a:gd name="T46" fmla="*/ 96 w 564"/>
                <a:gd name="T47" fmla="*/ 220 h 283"/>
                <a:gd name="T48" fmla="*/ 117 w 564"/>
                <a:gd name="T49" fmla="*/ 226 h 283"/>
                <a:gd name="T50" fmla="*/ 140 w 564"/>
                <a:gd name="T51" fmla="*/ 248 h 283"/>
                <a:gd name="T52" fmla="*/ 121 w 564"/>
                <a:gd name="T53" fmla="*/ 283 h 283"/>
                <a:gd name="T54" fmla="*/ 123 w 564"/>
                <a:gd name="T55" fmla="*/ 269 h 283"/>
                <a:gd name="T56" fmla="*/ 119 w 564"/>
                <a:gd name="T57" fmla="*/ 254 h 283"/>
                <a:gd name="T58" fmla="*/ 110 w 564"/>
                <a:gd name="T59" fmla="*/ 241 h 283"/>
                <a:gd name="T60" fmla="*/ 89 w 564"/>
                <a:gd name="T61" fmla="*/ 238 h 283"/>
                <a:gd name="T62" fmla="*/ 68 w 564"/>
                <a:gd name="T63" fmla="*/ 241 h 283"/>
                <a:gd name="T64" fmla="*/ 54 w 564"/>
                <a:gd name="T65" fmla="*/ 243 h 283"/>
                <a:gd name="T66" fmla="*/ 40 w 564"/>
                <a:gd name="T67" fmla="*/ 245 h 283"/>
                <a:gd name="T68" fmla="*/ 21 w 564"/>
                <a:gd name="T69" fmla="*/ 247 h 283"/>
                <a:gd name="T70" fmla="*/ 5 w 564"/>
                <a:gd name="T71" fmla="*/ 240 h 283"/>
                <a:gd name="T72" fmla="*/ 0 w 564"/>
                <a:gd name="T73" fmla="*/ 224 h 283"/>
                <a:gd name="T74" fmla="*/ 0 w 564"/>
                <a:gd name="T75" fmla="*/ 208 h 283"/>
                <a:gd name="T76" fmla="*/ 2 w 564"/>
                <a:gd name="T77" fmla="*/ 191 h 283"/>
                <a:gd name="T78" fmla="*/ 4 w 564"/>
                <a:gd name="T79" fmla="*/ 175 h 283"/>
                <a:gd name="T80" fmla="*/ 7 w 564"/>
                <a:gd name="T81" fmla="*/ 159 h 283"/>
                <a:gd name="T82" fmla="*/ 12 w 564"/>
                <a:gd name="T83" fmla="*/ 142 h 283"/>
                <a:gd name="T84" fmla="*/ 21 w 564"/>
                <a:gd name="T85" fmla="*/ 136 h 283"/>
                <a:gd name="T86" fmla="*/ 39 w 564"/>
                <a:gd name="T87" fmla="*/ 136 h 283"/>
                <a:gd name="T88" fmla="*/ 56 w 564"/>
                <a:gd name="T89" fmla="*/ 136 h 283"/>
                <a:gd name="T90" fmla="*/ 79 w 564"/>
                <a:gd name="T91" fmla="*/ 135 h 283"/>
                <a:gd name="T92" fmla="*/ 107 w 564"/>
                <a:gd name="T93" fmla="*/ 133 h 283"/>
                <a:gd name="T94" fmla="*/ 138 w 564"/>
                <a:gd name="T95" fmla="*/ 129 h 283"/>
                <a:gd name="T96" fmla="*/ 173 w 564"/>
                <a:gd name="T97" fmla="*/ 128 h 283"/>
                <a:gd name="T98" fmla="*/ 212 w 564"/>
                <a:gd name="T99" fmla="*/ 121 h 283"/>
                <a:gd name="T100" fmla="*/ 252 w 564"/>
                <a:gd name="T101" fmla="*/ 114 h 283"/>
                <a:gd name="T102" fmla="*/ 296 w 564"/>
                <a:gd name="T103" fmla="*/ 105 h 283"/>
                <a:gd name="T104" fmla="*/ 341 w 564"/>
                <a:gd name="T105" fmla="*/ 93 h 283"/>
                <a:gd name="T106" fmla="*/ 389 w 564"/>
                <a:gd name="T107" fmla="*/ 77 h 283"/>
                <a:gd name="T108" fmla="*/ 438 w 564"/>
                <a:gd name="T109" fmla="*/ 59 h 283"/>
                <a:gd name="T110" fmla="*/ 487 w 564"/>
                <a:gd name="T111" fmla="*/ 38 h 283"/>
                <a:gd name="T112" fmla="*/ 537 w 564"/>
                <a:gd name="T113" fmla="*/ 14 h 283"/>
                <a:gd name="T114" fmla="*/ 564 w 564"/>
                <a:gd name="T115" fmla="*/ 23 h 28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64"/>
                <a:gd name="T175" fmla="*/ 0 h 283"/>
                <a:gd name="T176" fmla="*/ 564 w 564"/>
                <a:gd name="T177" fmla="*/ 283 h 283"/>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64" h="283">
                  <a:moveTo>
                    <a:pt x="564" y="23"/>
                  </a:moveTo>
                  <a:lnTo>
                    <a:pt x="562" y="23"/>
                  </a:lnTo>
                  <a:lnTo>
                    <a:pt x="558" y="23"/>
                  </a:lnTo>
                  <a:lnTo>
                    <a:pt x="555" y="24"/>
                  </a:lnTo>
                  <a:lnTo>
                    <a:pt x="550" y="28"/>
                  </a:lnTo>
                  <a:lnTo>
                    <a:pt x="546" y="30"/>
                  </a:lnTo>
                  <a:lnTo>
                    <a:pt x="543" y="31"/>
                  </a:lnTo>
                  <a:lnTo>
                    <a:pt x="539" y="33"/>
                  </a:lnTo>
                  <a:lnTo>
                    <a:pt x="534" y="35"/>
                  </a:lnTo>
                  <a:lnTo>
                    <a:pt x="529" y="37"/>
                  </a:lnTo>
                  <a:lnTo>
                    <a:pt x="523" y="40"/>
                  </a:lnTo>
                  <a:lnTo>
                    <a:pt x="520" y="42"/>
                  </a:lnTo>
                  <a:lnTo>
                    <a:pt x="515" y="45"/>
                  </a:lnTo>
                  <a:lnTo>
                    <a:pt x="508" y="47"/>
                  </a:lnTo>
                  <a:lnTo>
                    <a:pt x="501" y="51"/>
                  </a:lnTo>
                  <a:lnTo>
                    <a:pt x="494" y="54"/>
                  </a:lnTo>
                  <a:lnTo>
                    <a:pt x="488" y="56"/>
                  </a:lnTo>
                  <a:lnTo>
                    <a:pt x="480" y="59"/>
                  </a:lnTo>
                  <a:lnTo>
                    <a:pt x="473" y="63"/>
                  </a:lnTo>
                  <a:lnTo>
                    <a:pt x="466" y="66"/>
                  </a:lnTo>
                  <a:lnTo>
                    <a:pt x="459" y="70"/>
                  </a:lnTo>
                  <a:lnTo>
                    <a:pt x="450" y="73"/>
                  </a:lnTo>
                  <a:lnTo>
                    <a:pt x="441" y="77"/>
                  </a:lnTo>
                  <a:lnTo>
                    <a:pt x="432" y="79"/>
                  </a:lnTo>
                  <a:lnTo>
                    <a:pt x="424" y="84"/>
                  </a:lnTo>
                  <a:lnTo>
                    <a:pt x="415" y="86"/>
                  </a:lnTo>
                  <a:lnTo>
                    <a:pt x="406" y="89"/>
                  </a:lnTo>
                  <a:lnTo>
                    <a:pt x="397" y="93"/>
                  </a:lnTo>
                  <a:lnTo>
                    <a:pt x="389" y="98"/>
                  </a:lnTo>
                  <a:lnTo>
                    <a:pt x="378" y="100"/>
                  </a:lnTo>
                  <a:lnTo>
                    <a:pt x="368" y="103"/>
                  </a:lnTo>
                  <a:lnTo>
                    <a:pt x="357" y="107"/>
                  </a:lnTo>
                  <a:lnTo>
                    <a:pt x="348" y="110"/>
                  </a:lnTo>
                  <a:lnTo>
                    <a:pt x="336" y="112"/>
                  </a:lnTo>
                  <a:lnTo>
                    <a:pt x="327" y="115"/>
                  </a:lnTo>
                  <a:lnTo>
                    <a:pt x="315" y="119"/>
                  </a:lnTo>
                  <a:lnTo>
                    <a:pt x="306" y="122"/>
                  </a:lnTo>
                  <a:lnTo>
                    <a:pt x="294" y="126"/>
                  </a:lnTo>
                  <a:lnTo>
                    <a:pt x="284" y="128"/>
                  </a:lnTo>
                  <a:lnTo>
                    <a:pt x="271" y="129"/>
                  </a:lnTo>
                  <a:lnTo>
                    <a:pt x="261" y="133"/>
                  </a:lnTo>
                  <a:lnTo>
                    <a:pt x="249" y="135"/>
                  </a:lnTo>
                  <a:lnTo>
                    <a:pt x="238" y="138"/>
                  </a:lnTo>
                  <a:lnTo>
                    <a:pt x="226" y="140"/>
                  </a:lnTo>
                  <a:lnTo>
                    <a:pt x="215" y="143"/>
                  </a:lnTo>
                  <a:lnTo>
                    <a:pt x="203" y="143"/>
                  </a:lnTo>
                  <a:lnTo>
                    <a:pt x="191" y="147"/>
                  </a:lnTo>
                  <a:lnTo>
                    <a:pt x="179" y="147"/>
                  </a:lnTo>
                  <a:lnTo>
                    <a:pt x="168" y="149"/>
                  </a:lnTo>
                  <a:lnTo>
                    <a:pt x="156" y="150"/>
                  </a:lnTo>
                  <a:lnTo>
                    <a:pt x="144" y="152"/>
                  </a:lnTo>
                  <a:lnTo>
                    <a:pt x="133" y="152"/>
                  </a:lnTo>
                  <a:lnTo>
                    <a:pt x="121" y="154"/>
                  </a:lnTo>
                  <a:lnTo>
                    <a:pt x="109" y="154"/>
                  </a:lnTo>
                  <a:lnTo>
                    <a:pt x="96" y="154"/>
                  </a:lnTo>
                  <a:lnTo>
                    <a:pt x="84" y="154"/>
                  </a:lnTo>
                  <a:lnTo>
                    <a:pt x="74" y="156"/>
                  </a:lnTo>
                  <a:lnTo>
                    <a:pt x="61" y="154"/>
                  </a:lnTo>
                  <a:lnTo>
                    <a:pt x="49" y="154"/>
                  </a:lnTo>
                  <a:lnTo>
                    <a:pt x="39" y="154"/>
                  </a:lnTo>
                  <a:lnTo>
                    <a:pt x="26" y="152"/>
                  </a:lnTo>
                  <a:lnTo>
                    <a:pt x="26" y="156"/>
                  </a:lnTo>
                  <a:lnTo>
                    <a:pt x="25" y="159"/>
                  </a:lnTo>
                  <a:lnTo>
                    <a:pt x="25" y="163"/>
                  </a:lnTo>
                  <a:lnTo>
                    <a:pt x="21" y="168"/>
                  </a:lnTo>
                  <a:lnTo>
                    <a:pt x="21" y="175"/>
                  </a:lnTo>
                  <a:lnTo>
                    <a:pt x="19" y="178"/>
                  </a:lnTo>
                  <a:lnTo>
                    <a:pt x="19" y="182"/>
                  </a:lnTo>
                  <a:lnTo>
                    <a:pt x="19" y="185"/>
                  </a:lnTo>
                  <a:lnTo>
                    <a:pt x="19" y="189"/>
                  </a:lnTo>
                  <a:lnTo>
                    <a:pt x="18" y="196"/>
                  </a:lnTo>
                  <a:lnTo>
                    <a:pt x="16" y="203"/>
                  </a:lnTo>
                  <a:lnTo>
                    <a:pt x="16" y="208"/>
                  </a:lnTo>
                  <a:lnTo>
                    <a:pt x="16" y="215"/>
                  </a:lnTo>
                  <a:lnTo>
                    <a:pt x="16" y="220"/>
                  </a:lnTo>
                  <a:lnTo>
                    <a:pt x="16" y="224"/>
                  </a:lnTo>
                  <a:lnTo>
                    <a:pt x="18" y="226"/>
                  </a:lnTo>
                  <a:lnTo>
                    <a:pt x="21" y="227"/>
                  </a:lnTo>
                  <a:lnTo>
                    <a:pt x="23" y="227"/>
                  </a:lnTo>
                  <a:lnTo>
                    <a:pt x="26" y="227"/>
                  </a:lnTo>
                  <a:lnTo>
                    <a:pt x="32" y="227"/>
                  </a:lnTo>
                  <a:lnTo>
                    <a:pt x="37" y="227"/>
                  </a:lnTo>
                  <a:lnTo>
                    <a:pt x="44" y="226"/>
                  </a:lnTo>
                  <a:lnTo>
                    <a:pt x="49" y="226"/>
                  </a:lnTo>
                  <a:lnTo>
                    <a:pt x="53" y="226"/>
                  </a:lnTo>
                  <a:lnTo>
                    <a:pt x="56" y="226"/>
                  </a:lnTo>
                  <a:lnTo>
                    <a:pt x="61" y="224"/>
                  </a:lnTo>
                  <a:lnTo>
                    <a:pt x="65" y="224"/>
                  </a:lnTo>
                  <a:lnTo>
                    <a:pt x="68" y="224"/>
                  </a:lnTo>
                  <a:lnTo>
                    <a:pt x="72" y="224"/>
                  </a:lnTo>
                  <a:lnTo>
                    <a:pt x="75" y="222"/>
                  </a:lnTo>
                  <a:lnTo>
                    <a:pt x="79" y="222"/>
                  </a:lnTo>
                  <a:lnTo>
                    <a:pt x="84" y="220"/>
                  </a:lnTo>
                  <a:lnTo>
                    <a:pt x="91" y="220"/>
                  </a:lnTo>
                  <a:lnTo>
                    <a:pt x="96" y="220"/>
                  </a:lnTo>
                  <a:lnTo>
                    <a:pt x="103" y="220"/>
                  </a:lnTo>
                  <a:lnTo>
                    <a:pt x="107" y="220"/>
                  </a:lnTo>
                  <a:lnTo>
                    <a:pt x="112" y="222"/>
                  </a:lnTo>
                  <a:lnTo>
                    <a:pt x="117" y="226"/>
                  </a:lnTo>
                  <a:lnTo>
                    <a:pt x="123" y="231"/>
                  </a:lnTo>
                  <a:lnTo>
                    <a:pt x="128" y="236"/>
                  </a:lnTo>
                  <a:lnTo>
                    <a:pt x="135" y="243"/>
                  </a:lnTo>
                  <a:lnTo>
                    <a:pt x="140" y="248"/>
                  </a:lnTo>
                  <a:lnTo>
                    <a:pt x="144" y="254"/>
                  </a:lnTo>
                  <a:lnTo>
                    <a:pt x="147" y="257"/>
                  </a:lnTo>
                  <a:lnTo>
                    <a:pt x="149" y="259"/>
                  </a:lnTo>
                  <a:lnTo>
                    <a:pt x="121" y="283"/>
                  </a:lnTo>
                  <a:lnTo>
                    <a:pt x="121" y="282"/>
                  </a:lnTo>
                  <a:lnTo>
                    <a:pt x="123" y="276"/>
                  </a:lnTo>
                  <a:lnTo>
                    <a:pt x="123" y="273"/>
                  </a:lnTo>
                  <a:lnTo>
                    <a:pt x="123" y="269"/>
                  </a:lnTo>
                  <a:lnTo>
                    <a:pt x="123" y="266"/>
                  </a:lnTo>
                  <a:lnTo>
                    <a:pt x="123" y="262"/>
                  </a:lnTo>
                  <a:lnTo>
                    <a:pt x="121" y="257"/>
                  </a:lnTo>
                  <a:lnTo>
                    <a:pt x="119" y="254"/>
                  </a:lnTo>
                  <a:lnTo>
                    <a:pt x="117" y="250"/>
                  </a:lnTo>
                  <a:lnTo>
                    <a:pt x="116" y="247"/>
                  </a:lnTo>
                  <a:lnTo>
                    <a:pt x="112" y="243"/>
                  </a:lnTo>
                  <a:lnTo>
                    <a:pt x="110" y="241"/>
                  </a:lnTo>
                  <a:lnTo>
                    <a:pt x="105" y="240"/>
                  </a:lnTo>
                  <a:lnTo>
                    <a:pt x="100" y="240"/>
                  </a:lnTo>
                  <a:lnTo>
                    <a:pt x="95" y="238"/>
                  </a:lnTo>
                  <a:lnTo>
                    <a:pt x="89" y="238"/>
                  </a:lnTo>
                  <a:lnTo>
                    <a:pt x="82" y="238"/>
                  </a:lnTo>
                  <a:lnTo>
                    <a:pt x="75" y="240"/>
                  </a:lnTo>
                  <a:lnTo>
                    <a:pt x="72" y="240"/>
                  </a:lnTo>
                  <a:lnTo>
                    <a:pt x="68" y="241"/>
                  </a:lnTo>
                  <a:lnTo>
                    <a:pt x="65" y="241"/>
                  </a:lnTo>
                  <a:lnTo>
                    <a:pt x="61" y="241"/>
                  </a:lnTo>
                  <a:lnTo>
                    <a:pt x="58" y="241"/>
                  </a:lnTo>
                  <a:lnTo>
                    <a:pt x="54" y="243"/>
                  </a:lnTo>
                  <a:lnTo>
                    <a:pt x="51" y="243"/>
                  </a:lnTo>
                  <a:lnTo>
                    <a:pt x="47" y="245"/>
                  </a:lnTo>
                  <a:lnTo>
                    <a:pt x="44" y="245"/>
                  </a:lnTo>
                  <a:lnTo>
                    <a:pt x="40" y="245"/>
                  </a:lnTo>
                  <a:lnTo>
                    <a:pt x="37" y="245"/>
                  </a:lnTo>
                  <a:lnTo>
                    <a:pt x="33" y="247"/>
                  </a:lnTo>
                  <a:lnTo>
                    <a:pt x="26" y="247"/>
                  </a:lnTo>
                  <a:lnTo>
                    <a:pt x="21" y="247"/>
                  </a:lnTo>
                  <a:lnTo>
                    <a:pt x="16" y="247"/>
                  </a:lnTo>
                  <a:lnTo>
                    <a:pt x="12" y="245"/>
                  </a:lnTo>
                  <a:lnTo>
                    <a:pt x="7" y="243"/>
                  </a:lnTo>
                  <a:lnTo>
                    <a:pt x="5" y="240"/>
                  </a:lnTo>
                  <a:lnTo>
                    <a:pt x="4" y="236"/>
                  </a:lnTo>
                  <a:lnTo>
                    <a:pt x="2" y="231"/>
                  </a:lnTo>
                  <a:lnTo>
                    <a:pt x="0" y="227"/>
                  </a:lnTo>
                  <a:lnTo>
                    <a:pt x="0" y="224"/>
                  </a:lnTo>
                  <a:lnTo>
                    <a:pt x="0" y="220"/>
                  </a:lnTo>
                  <a:lnTo>
                    <a:pt x="0" y="217"/>
                  </a:lnTo>
                  <a:lnTo>
                    <a:pt x="0" y="212"/>
                  </a:lnTo>
                  <a:lnTo>
                    <a:pt x="0" y="208"/>
                  </a:lnTo>
                  <a:lnTo>
                    <a:pt x="0" y="205"/>
                  </a:lnTo>
                  <a:lnTo>
                    <a:pt x="0" y="201"/>
                  </a:lnTo>
                  <a:lnTo>
                    <a:pt x="0" y="196"/>
                  </a:lnTo>
                  <a:lnTo>
                    <a:pt x="2" y="191"/>
                  </a:lnTo>
                  <a:lnTo>
                    <a:pt x="2" y="187"/>
                  </a:lnTo>
                  <a:lnTo>
                    <a:pt x="4" y="184"/>
                  </a:lnTo>
                  <a:lnTo>
                    <a:pt x="4" y="178"/>
                  </a:lnTo>
                  <a:lnTo>
                    <a:pt x="4" y="175"/>
                  </a:lnTo>
                  <a:lnTo>
                    <a:pt x="4" y="170"/>
                  </a:lnTo>
                  <a:lnTo>
                    <a:pt x="5" y="166"/>
                  </a:lnTo>
                  <a:lnTo>
                    <a:pt x="5" y="163"/>
                  </a:lnTo>
                  <a:lnTo>
                    <a:pt x="7" y="159"/>
                  </a:lnTo>
                  <a:lnTo>
                    <a:pt x="7" y="154"/>
                  </a:lnTo>
                  <a:lnTo>
                    <a:pt x="9" y="152"/>
                  </a:lnTo>
                  <a:lnTo>
                    <a:pt x="11" y="145"/>
                  </a:lnTo>
                  <a:lnTo>
                    <a:pt x="12" y="142"/>
                  </a:lnTo>
                  <a:lnTo>
                    <a:pt x="14" y="138"/>
                  </a:lnTo>
                  <a:lnTo>
                    <a:pt x="16" y="138"/>
                  </a:lnTo>
                  <a:lnTo>
                    <a:pt x="18" y="136"/>
                  </a:lnTo>
                  <a:lnTo>
                    <a:pt x="21" y="136"/>
                  </a:lnTo>
                  <a:lnTo>
                    <a:pt x="25" y="136"/>
                  </a:lnTo>
                  <a:lnTo>
                    <a:pt x="32" y="136"/>
                  </a:lnTo>
                  <a:lnTo>
                    <a:pt x="35" y="136"/>
                  </a:lnTo>
                  <a:lnTo>
                    <a:pt x="39" y="136"/>
                  </a:lnTo>
                  <a:lnTo>
                    <a:pt x="42" y="136"/>
                  </a:lnTo>
                  <a:lnTo>
                    <a:pt x="47" y="136"/>
                  </a:lnTo>
                  <a:lnTo>
                    <a:pt x="51" y="136"/>
                  </a:lnTo>
                  <a:lnTo>
                    <a:pt x="56" y="136"/>
                  </a:lnTo>
                  <a:lnTo>
                    <a:pt x="61" y="136"/>
                  </a:lnTo>
                  <a:lnTo>
                    <a:pt x="68" y="136"/>
                  </a:lnTo>
                  <a:lnTo>
                    <a:pt x="74" y="135"/>
                  </a:lnTo>
                  <a:lnTo>
                    <a:pt x="79" y="135"/>
                  </a:lnTo>
                  <a:lnTo>
                    <a:pt x="86" y="135"/>
                  </a:lnTo>
                  <a:lnTo>
                    <a:pt x="93" y="135"/>
                  </a:lnTo>
                  <a:lnTo>
                    <a:pt x="100" y="133"/>
                  </a:lnTo>
                  <a:lnTo>
                    <a:pt x="107" y="133"/>
                  </a:lnTo>
                  <a:lnTo>
                    <a:pt x="114" y="133"/>
                  </a:lnTo>
                  <a:lnTo>
                    <a:pt x="123" y="133"/>
                  </a:lnTo>
                  <a:lnTo>
                    <a:pt x="130" y="131"/>
                  </a:lnTo>
                  <a:lnTo>
                    <a:pt x="138" y="129"/>
                  </a:lnTo>
                  <a:lnTo>
                    <a:pt x="147" y="129"/>
                  </a:lnTo>
                  <a:lnTo>
                    <a:pt x="156" y="129"/>
                  </a:lnTo>
                  <a:lnTo>
                    <a:pt x="165" y="128"/>
                  </a:lnTo>
                  <a:lnTo>
                    <a:pt x="173" y="128"/>
                  </a:lnTo>
                  <a:lnTo>
                    <a:pt x="184" y="126"/>
                  </a:lnTo>
                  <a:lnTo>
                    <a:pt x="193" y="126"/>
                  </a:lnTo>
                  <a:lnTo>
                    <a:pt x="203" y="122"/>
                  </a:lnTo>
                  <a:lnTo>
                    <a:pt x="212" y="121"/>
                  </a:lnTo>
                  <a:lnTo>
                    <a:pt x="222" y="119"/>
                  </a:lnTo>
                  <a:lnTo>
                    <a:pt x="233" y="119"/>
                  </a:lnTo>
                  <a:lnTo>
                    <a:pt x="242" y="115"/>
                  </a:lnTo>
                  <a:lnTo>
                    <a:pt x="252" y="114"/>
                  </a:lnTo>
                  <a:lnTo>
                    <a:pt x="263" y="112"/>
                  </a:lnTo>
                  <a:lnTo>
                    <a:pt x="275" y="110"/>
                  </a:lnTo>
                  <a:lnTo>
                    <a:pt x="285" y="107"/>
                  </a:lnTo>
                  <a:lnTo>
                    <a:pt x="296" y="105"/>
                  </a:lnTo>
                  <a:lnTo>
                    <a:pt x="308" y="101"/>
                  </a:lnTo>
                  <a:lnTo>
                    <a:pt x="319" y="98"/>
                  </a:lnTo>
                  <a:lnTo>
                    <a:pt x="331" y="94"/>
                  </a:lnTo>
                  <a:lnTo>
                    <a:pt x="341" y="93"/>
                  </a:lnTo>
                  <a:lnTo>
                    <a:pt x="354" y="89"/>
                  </a:lnTo>
                  <a:lnTo>
                    <a:pt x="366" y="86"/>
                  </a:lnTo>
                  <a:lnTo>
                    <a:pt x="378" y="80"/>
                  </a:lnTo>
                  <a:lnTo>
                    <a:pt x="389" y="77"/>
                  </a:lnTo>
                  <a:lnTo>
                    <a:pt x="401" y="73"/>
                  </a:lnTo>
                  <a:lnTo>
                    <a:pt x="413" y="68"/>
                  </a:lnTo>
                  <a:lnTo>
                    <a:pt x="425" y="63"/>
                  </a:lnTo>
                  <a:lnTo>
                    <a:pt x="438" y="59"/>
                  </a:lnTo>
                  <a:lnTo>
                    <a:pt x="450" y="54"/>
                  </a:lnTo>
                  <a:lnTo>
                    <a:pt x="462" y="49"/>
                  </a:lnTo>
                  <a:lnTo>
                    <a:pt x="474" y="44"/>
                  </a:lnTo>
                  <a:lnTo>
                    <a:pt x="487" y="38"/>
                  </a:lnTo>
                  <a:lnTo>
                    <a:pt x="499" y="31"/>
                  </a:lnTo>
                  <a:lnTo>
                    <a:pt x="513" y="26"/>
                  </a:lnTo>
                  <a:lnTo>
                    <a:pt x="523" y="19"/>
                  </a:lnTo>
                  <a:lnTo>
                    <a:pt x="537" y="14"/>
                  </a:lnTo>
                  <a:lnTo>
                    <a:pt x="550" y="7"/>
                  </a:lnTo>
                  <a:lnTo>
                    <a:pt x="564" y="0"/>
                  </a:lnTo>
                  <a:lnTo>
                    <a:pt x="56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8203" name="Group 67"/>
          <p:cNvGrpSpPr>
            <a:grpSpLocks/>
          </p:cNvGrpSpPr>
          <p:nvPr/>
        </p:nvGrpSpPr>
        <p:grpSpPr bwMode="auto">
          <a:xfrm>
            <a:off x="4310063" y="1555750"/>
            <a:ext cx="819150" cy="788988"/>
            <a:chOff x="5244" y="451"/>
            <a:chExt cx="516" cy="497"/>
          </a:xfrm>
        </p:grpSpPr>
        <p:sp>
          <p:nvSpPr>
            <p:cNvPr id="8204" name="Freeform 68"/>
            <p:cNvSpPr>
              <a:spLocks/>
            </p:cNvSpPr>
            <p:nvPr/>
          </p:nvSpPr>
          <p:spPr bwMode="auto">
            <a:xfrm>
              <a:off x="5253" y="456"/>
              <a:ext cx="506" cy="487"/>
            </a:xfrm>
            <a:custGeom>
              <a:avLst/>
              <a:gdLst>
                <a:gd name="T0" fmla="*/ 173 w 506"/>
                <a:gd name="T1" fmla="*/ 487 h 487"/>
                <a:gd name="T2" fmla="*/ 338 w 506"/>
                <a:gd name="T3" fmla="*/ 408 h 487"/>
                <a:gd name="T4" fmla="*/ 488 w 506"/>
                <a:gd name="T5" fmla="*/ 326 h 487"/>
                <a:gd name="T6" fmla="*/ 371 w 506"/>
                <a:gd name="T7" fmla="*/ 319 h 487"/>
                <a:gd name="T8" fmla="*/ 493 w 506"/>
                <a:gd name="T9" fmla="*/ 114 h 487"/>
                <a:gd name="T10" fmla="*/ 304 w 506"/>
                <a:gd name="T11" fmla="*/ 252 h 487"/>
                <a:gd name="T12" fmla="*/ 392 w 506"/>
                <a:gd name="T13" fmla="*/ 37 h 487"/>
                <a:gd name="T14" fmla="*/ 345 w 506"/>
                <a:gd name="T15" fmla="*/ 11 h 487"/>
                <a:gd name="T16" fmla="*/ 334 w 506"/>
                <a:gd name="T17" fmla="*/ 18 h 487"/>
                <a:gd name="T18" fmla="*/ 329 w 506"/>
                <a:gd name="T19" fmla="*/ 27 h 487"/>
                <a:gd name="T20" fmla="*/ 324 w 506"/>
                <a:gd name="T21" fmla="*/ 35 h 487"/>
                <a:gd name="T22" fmla="*/ 315 w 506"/>
                <a:gd name="T23" fmla="*/ 49 h 487"/>
                <a:gd name="T24" fmla="*/ 311 w 506"/>
                <a:gd name="T25" fmla="*/ 60 h 487"/>
                <a:gd name="T26" fmla="*/ 304 w 506"/>
                <a:gd name="T27" fmla="*/ 70 h 487"/>
                <a:gd name="T28" fmla="*/ 299 w 506"/>
                <a:gd name="T29" fmla="*/ 83 h 487"/>
                <a:gd name="T30" fmla="*/ 292 w 506"/>
                <a:gd name="T31" fmla="*/ 95 h 487"/>
                <a:gd name="T32" fmla="*/ 285 w 506"/>
                <a:gd name="T33" fmla="*/ 107 h 487"/>
                <a:gd name="T34" fmla="*/ 278 w 506"/>
                <a:gd name="T35" fmla="*/ 119 h 487"/>
                <a:gd name="T36" fmla="*/ 271 w 506"/>
                <a:gd name="T37" fmla="*/ 133 h 487"/>
                <a:gd name="T38" fmla="*/ 264 w 506"/>
                <a:gd name="T39" fmla="*/ 146 h 487"/>
                <a:gd name="T40" fmla="*/ 259 w 506"/>
                <a:gd name="T41" fmla="*/ 160 h 487"/>
                <a:gd name="T42" fmla="*/ 252 w 506"/>
                <a:gd name="T43" fmla="*/ 170 h 487"/>
                <a:gd name="T44" fmla="*/ 247 w 506"/>
                <a:gd name="T45" fmla="*/ 181 h 487"/>
                <a:gd name="T46" fmla="*/ 240 w 506"/>
                <a:gd name="T47" fmla="*/ 195 h 487"/>
                <a:gd name="T48" fmla="*/ 233 w 506"/>
                <a:gd name="T49" fmla="*/ 208 h 487"/>
                <a:gd name="T50" fmla="*/ 227 w 506"/>
                <a:gd name="T51" fmla="*/ 215 h 487"/>
                <a:gd name="T52" fmla="*/ 219 w 506"/>
                <a:gd name="T53" fmla="*/ 125 h 487"/>
                <a:gd name="T54" fmla="*/ 220 w 506"/>
                <a:gd name="T55" fmla="*/ 0 h 487"/>
                <a:gd name="T56" fmla="*/ 180 w 506"/>
                <a:gd name="T57" fmla="*/ 23 h 487"/>
                <a:gd name="T58" fmla="*/ 170 w 506"/>
                <a:gd name="T59" fmla="*/ 35 h 487"/>
                <a:gd name="T60" fmla="*/ 163 w 506"/>
                <a:gd name="T61" fmla="*/ 48 h 487"/>
                <a:gd name="T62" fmla="*/ 157 w 506"/>
                <a:gd name="T63" fmla="*/ 62 h 487"/>
                <a:gd name="T64" fmla="*/ 154 w 506"/>
                <a:gd name="T65" fmla="*/ 74 h 487"/>
                <a:gd name="T66" fmla="*/ 150 w 506"/>
                <a:gd name="T67" fmla="*/ 86 h 487"/>
                <a:gd name="T68" fmla="*/ 149 w 506"/>
                <a:gd name="T69" fmla="*/ 104 h 487"/>
                <a:gd name="T70" fmla="*/ 147 w 506"/>
                <a:gd name="T71" fmla="*/ 121 h 487"/>
                <a:gd name="T72" fmla="*/ 145 w 506"/>
                <a:gd name="T73" fmla="*/ 140 h 487"/>
                <a:gd name="T74" fmla="*/ 145 w 506"/>
                <a:gd name="T75" fmla="*/ 160 h 487"/>
                <a:gd name="T76" fmla="*/ 143 w 506"/>
                <a:gd name="T77" fmla="*/ 177 h 487"/>
                <a:gd name="T78" fmla="*/ 143 w 506"/>
                <a:gd name="T79" fmla="*/ 193 h 487"/>
                <a:gd name="T80" fmla="*/ 142 w 506"/>
                <a:gd name="T81" fmla="*/ 205 h 487"/>
                <a:gd name="T82" fmla="*/ 142 w 506"/>
                <a:gd name="T83" fmla="*/ 214 h 487"/>
                <a:gd name="T84" fmla="*/ 94 w 506"/>
                <a:gd name="T85" fmla="*/ 284 h 487"/>
                <a:gd name="T86" fmla="*/ 33 w 506"/>
                <a:gd name="T87" fmla="*/ 154 h 487"/>
                <a:gd name="T88" fmla="*/ 0 w 506"/>
                <a:gd name="T89" fmla="*/ 221 h 48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06"/>
                <a:gd name="T136" fmla="*/ 0 h 487"/>
                <a:gd name="T137" fmla="*/ 506 w 506"/>
                <a:gd name="T138" fmla="*/ 487 h 48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06" h="487">
                  <a:moveTo>
                    <a:pt x="0" y="221"/>
                  </a:moveTo>
                  <a:lnTo>
                    <a:pt x="138" y="478"/>
                  </a:lnTo>
                  <a:lnTo>
                    <a:pt x="173" y="487"/>
                  </a:lnTo>
                  <a:lnTo>
                    <a:pt x="234" y="487"/>
                  </a:lnTo>
                  <a:lnTo>
                    <a:pt x="294" y="473"/>
                  </a:lnTo>
                  <a:lnTo>
                    <a:pt x="338" y="408"/>
                  </a:lnTo>
                  <a:lnTo>
                    <a:pt x="394" y="369"/>
                  </a:lnTo>
                  <a:lnTo>
                    <a:pt x="457" y="354"/>
                  </a:lnTo>
                  <a:lnTo>
                    <a:pt x="488" y="326"/>
                  </a:lnTo>
                  <a:lnTo>
                    <a:pt x="506" y="299"/>
                  </a:lnTo>
                  <a:lnTo>
                    <a:pt x="492" y="284"/>
                  </a:lnTo>
                  <a:lnTo>
                    <a:pt x="371" y="319"/>
                  </a:lnTo>
                  <a:lnTo>
                    <a:pt x="367" y="308"/>
                  </a:lnTo>
                  <a:lnTo>
                    <a:pt x="490" y="154"/>
                  </a:lnTo>
                  <a:lnTo>
                    <a:pt x="493" y="114"/>
                  </a:lnTo>
                  <a:lnTo>
                    <a:pt x="460" y="105"/>
                  </a:lnTo>
                  <a:lnTo>
                    <a:pt x="318" y="256"/>
                  </a:lnTo>
                  <a:lnTo>
                    <a:pt x="304" y="252"/>
                  </a:lnTo>
                  <a:lnTo>
                    <a:pt x="304" y="229"/>
                  </a:lnTo>
                  <a:lnTo>
                    <a:pt x="373" y="105"/>
                  </a:lnTo>
                  <a:lnTo>
                    <a:pt x="392" y="37"/>
                  </a:lnTo>
                  <a:lnTo>
                    <a:pt x="387" y="6"/>
                  </a:lnTo>
                  <a:lnTo>
                    <a:pt x="348" y="11"/>
                  </a:lnTo>
                  <a:lnTo>
                    <a:pt x="345" y="11"/>
                  </a:lnTo>
                  <a:lnTo>
                    <a:pt x="341" y="13"/>
                  </a:lnTo>
                  <a:lnTo>
                    <a:pt x="338" y="14"/>
                  </a:lnTo>
                  <a:lnTo>
                    <a:pt x="334" y="18"/>
                  </a:lnTo>
                  <a:lnTo>
                    <a:pt x="332" y="21"/>
                  </a:lnTo>
                  <a:lnTo>
                    <a:pt x="331" y="25"/>
                  </a:lnTo>
                  <a:lnTo>
                    <a:pt x="329" y="27"/>
                  </a:lnTo>
                  <a:lnTo>
                    <a:pt x="327" y="28"/>
                  </a:lnTo>
                  <a:lnTo>
                    <a:pt x="325" y="30"/>
                  </a:lnTo>
                  <a:lnTo>
                    <a:pt x="324" y="35"/>
                  </a:lnTo>
                  <a:lnTo>
                    <a:pt x="320" y="41"/>
                  </a:lnTo>
                  <a:lnTo>
                    <a:pt x="318" y="46"/>
                  </a:lnTo>
                  <a:lnTo>
                    <a:pt x="315" y="49"/>
                  </a:lnTo>
                  <a:lnTo>
                    <a:pt x="315" y="53"/>
                  </a:lnTo>
                  <a:lnTo>
                    <a:pt x="313" y="56"/>
                  </a:lnTo>
                  <a:lnTo>
                    <a:pt x="311" y="60"/>
                  </a:lnTo>
                  <a:lnTo>
                    <a:pt x="308" y="63"/>
                  </a:lnTo>
                  <a:lnTo>
                    <a:pt x="306" y="67"/>
                  </a:lnTo>
                  <a:lnTo>
                    <a:pt x="304" y="70"/>
                  </a:lnTo>
                  <a:lnTo>
                    <a:pt x="303" y="74"/>
                  </a:lnTo>
                  <a:lnTo>
                    <a:pt x="301" y="77"/>
                  </a:lnTo>
                  <a:lnTo>
                    <a:pt x="299" y="83"/>
                  </a:lnTo>
                  <a:lnTo>
                    <a:pt x="297" y="86"/>
                  </a:lnTo>
                  <a:lnTo>
                    <a:pt x="294" y="90"/>
                  </a:lnTo>
                  <a:lnTo>
                    <a:pt x="292" y="95"/>
                  </a:lnTo>
                  <a:lnTo>
                    <a:pt x="290" y="98"/>
                  </a:lnTo>
                  <a:lnTo>
                    <a:pt x="289" y="104"/>
                  </a:lnTo>
                  <a:lnTo>
                    <a:pt x="285" y="107"/>
                  </a:lnTo>
                  <a:lnTo>
                    <a:pt x="283" y="111"/>
                  </a:lnTo>
                  <a:lnTo>
                    <a:pt x="280" y="116"/>
                  </a:lnTo>
                  <a:lnTo>
                    <a:pt x="278" y="119"/>
                  </a:lnTo>
                  <a:lnTo>
                    <a:pt x="276" y="125"/>
                  </a:lnTo>
                  <a:lnTo>
                    <a:pt x="275" y="128"/>
                  </a:lnTo>
                  <a:lnTo>
                    <a:pt x="271" y="133"/>
                  </a:lnTo>
                  <a:lnTo>
                    <a:pt x="269" y="137"/>
                  </a:lnTo>
                  <a:lnTo>
                    <a:pt x="268" y="142"/>
                  </a:lnTo>
                  <a:lnTo>
                    <a:pt x="264" y="146"/>
                  </a:lnTo>
                  <a:lnTo>
                    <a:pt x="262" y="151"/>
                  </a:lnTo>
                  <a:lnTo>
                    <a:pt x="261" y="154"/>
                  </a:lnTo>
                  <a:lnTo>
                    <a:pt x="259" y="160"/>
                  </a:lnTo>
                  <a:lnTo>
                    <a:pt x="255" y="163"/>
                  </a:lnTo>
                  <a:lnTo>
                    <a:pt x="254" y="167"/>
                  </a:lnTo>
                  <a:lnTo>
                    <a:pt x="252" y="170"/>
                  </a:lnTo>
                  <a:lnTo>
                    <a:pt x="250" y="174"/>
                  </a:lnTo>
                  <a:lnTo>
                    <a:pt x="248" y="177"/>
                  </a:lnTo>
                  <a:lnTo>
                    <a:pt x="247" y="181"/>
                  </a:lnTo>
                  <a:lnTo>
                    <a:pt x="243" y="184"/>
                  </a:lnTo>
                  <a:lnTo>
                    <a:pt x="243" y="189"/>
                  </a:lnTo>
                  <a:lnTo>
                    <a:pt x="240" y="195"/>
                  </a:lnTo>
                  <a:lnTo>
                    <a:pt x="236" y="200"/>
                  </a:lnTo>
                  <a:lnTo>
                    <a:pt x="234" y="205"/>
                  </a:lnTo>
                  <a:lnTo>
                    <a:pt x="233" y="208"/>
                  </a:lnTo>
                  <a:lnTo>
                    <a:pt x="229" y="212"/>
                  </a:lnTo>
                  <a:lnTo>
                    <a:pt x="229" y="215"/>
                  </a:lnTo>
                  <a:lnTo>
                    <a:pt x="227" y="215"/>
                  </a:lnTo>
                  <a:lnTo>
                    <a:pt x="227" y="217"/>
                  </a:lnTo>
                  <a:lnTo>
                    <a:pt x="215" y="222"/>
                  </a:lnTo>
                  <a:lnTo>
                    <a:pt x="219" y="125"/>
                  </a:lnTo>
                  <a:lnTo>
                    <a:pt x="233" y="77"/>
                  </a:lnTo>
                  <a:lnTo>
                    <a:pt x="229" y="16"/>
                  </a:lnTo>
                  <a:lnTo>
                    <a:pt x="220" y="0"/>
                  </a:lnTo>
                  <a:lnTo>
                    <a:pt x="184" y="20"/>
                  </a:lnTo>
                  <a:lnTo>
                    <a:pt x="182" y="20"/>
                  </a:lnTo>
                  <a:lnTo>
                    <a:pt x="180" y="23"/>
                  </a:lnTo>
                  <a:lnTo>
                    <a:pt x="177" y="27"/>
                  </a:lnTo>
                  <a:lnTo>
                    <a:pt x="173" y="32"/>
                  </a:lnTo>
                  <a:lnTo>
                    <a:pt x="170" y="35"/>
                  </a:lnTo>
                  <a:lnTo>
                    <a:pt x="168" y="39"/>
                  </a:lnTo>
                  <a:lnTo>
                    <a:pt x="164" y="42"/>
                  </a:lnTo>
                  <a:lnTo>
                    <a:pt x="163" y="48"/>
                  </a:lnTo>
                  <a:lnTo>
                    <a:pt x="161" y="51"/>
                  </a:lnTo>
                  <a:lnTo>
                    <a:pt x="159" y="56"/>
                  </a:lnTo>
                  <a:lnTo>
                    <a:pt x="157" y="62"/>
                  </a:lnTo>
                  <a:lnTo>
                    <a:pt x="156" y="69"/>
                  </a:lnTo>
                  <a:lnTo>
                    <a:pt x="154" y="70"/>
                  </a:lnTo>
                  <a:lnTo>
                    <a:pt x="154" y="74"/>
                  </a:lnTo>
                  <a:lnTo>
                    <a:pt x="152" y="77"/>
                  </a:lnTo>
                  <a:lnTo>
                    <a:pt x="152" y="83"/>
                  </a:lnTo>
                  <a:lnTo>
                    <a:pt x="150" y="86"/>
                  </a:lnTo>
                  <a:lnTo>
                    <a:pt x="150" y="91"/>
                  </a:lnTo>
                  <a:lnTo>
                    <a:pt x="149" y="98"/>
                  </a:lnTo>
                  <a:lnTo>
                    <a:pt x="149" y="104"/>
                  </a:lnTo>
                  <a:lnTo>
                    <a:pt x="149" y="109"/>
                  </a:lnTo>
                  <a:lnTo>
                    <a:pt x="147" y="116"/>
                  </a:lnTo>
                  <a:lnTo>
                    <a:pt x="147" y="121"/>
                  </a:lnTo>
                  <a:lnTo>
                    <a:pt x="147" y="128"/>
                  </a:lnTo>
                  <a:lnTo>
                    <a:pt x="147" y="133"/>
                  </a:lnTo>
                  <a:lnTo>
                    <a:pt x="145" y="140"/>
                  </a:lnTo>
                  <a:lnTo>
                    <a:pt x="145" y="146"/>
                  </a:lnTo>
                  <a:lnTo>
                    <a:pt x="145" y="153"/>
                  </a:lnTo>
                  <a:lnTo>
                    <a:pt x="145" y="160"/>
                  </a:lnTo>
                  <a:lnTo>
                    <a:pt x="143" y="165"/>
                  </a:lnTo>
                  <a:lnTo>
                    <a:pt x="143" y="170"/>
                  </a:lnTo>
                  <a:lnTo>
                    <a:pt x="143" y="177"/>
                  </a:lnTo>
                  <a:lnTo>
                    <a:pt x="143" y="182"/>
                  </a:lnTo>
                  <a:lnTo>
                    <a:pt x="143" y="188"/>
                  </a:lnTo>
                  <a:lnTo>
                    <a:pt x="143" y="193"/>
                  </a:lnTo>
                  <a:lnTo>
                    <a:pt x="143" y="196"/>
                  </a:lnTo>
                  <a:lnTo>
                    <a:pt x="142" y="202"/>
                  </a:lnTo>
                  <a:lnTo>
                    <a:pt x="142" y="205"/>
                  </a:lnTo>
                  <a:lnTo>
                    <a:pt x="142" y="207"/>
                  </a:lnTo>
                  <a:lnTo>
                    <a:pt x="142" y="210"/>
                  </a:lnTo>
                  <a:lnTo>
                    <a:pt x="142" y="214"/>
                  </a:lnTo>
                  <a:lnTo>
                    <a:pt x="142" y="215"/>
                  </a:lnTo>
                  <a:lnTo>
                    <a:pt x="112" y="292"/>
                  </a:lnTo>
                  <a:lnTo>
                    <a:pt x="94" y="284"/>
                  </a:lnTo>
                  <a:lnTo>
                    <a:pt x="82" y="243"/>
                  </a:lnTo>
                  <a:lnTo>
                    <a:pt x="51" y="168"/>
                  </a:lnTo>
                  <a:lnTo>
                    <a:pt x="33" y="154"/>
                  </a:lnTo>
                  <a:lnTo>
                    <a:pt x="12" y="168"/>
                  </a:lnTo>
                  <a:lnTo>
                    <a:pt x="2" y="193"/>
                  </a:lnTo>
                  <a:lnTo>
                    <a:pt x="0" y="221"/>
                  </a:lnTo>
                  <a:close/>
                </a:path>
              </a:pathLst>
            </a:custGeom>
            <a:solidFill>
              <a:srgbClr val="E6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05" name="Freeform 69"/>
            <p:cNvSpPr>
              <a:spLocks/>
            </p:cNvSpPr>
            <p:nvPr/>
          </p:nvSpPr>
          <p:spPr bwMode="auto">
            <a:xfrm>
              <a:off x="5244" y="607"/>
              <a:ext cx="219" cy="308"/>
            </a:xfrm>
            <a:custGeom>
              <a:avLst/>
              <a:gdLst>
                <a:gd name="T0" fmla="*/ 208 w 219"/>
                <a:gd name="T1" fmla="*/ 302 h 308"/>
                <a:gd name="T2" fmla="*/ 189 w 219"/>
                <a:gd name="T3" fmla="*/ 302 h 308"/>
                <a:gd name="T4" fmla="*/ 165 w 219"/>
                <a:gd name="T5" fmla="*/ 299 h 308"/>
                <a:gd name="T6" fmla="*/ 138 w 219"/>
                <a:gd name="T7" fmla="*/ 288 h 308"/>
                <a:gd name="T8" fmla="*/ 116 w 219"/>
                <a:gd name="T9" fmla="*/ 269 h 308"/>
                <a:gd name="T10" fmla="*/ 102 w 219"/>
                <a:gd name="T11" fmla="*/ 241 h 308"/>
                <a:gd name="T12" fmla="*/ 98 w 219"/>
                <a:gd name="T13" fmla="*/ 222 h 308"/>
                <a:gd name="T14" fmla="*/ 93 w 219"/>
                <a:gd name="T15" fmla="*/ 203 h 308"/>
                <a:gd name="T16" fmla="*/ 86 w 219"/>
                <a:gd name="T17" fmla="*/ 183 h 308"/>
                <a:gd name="T18" fmla="*/ 74 w 219"/>
                <a:gd name="T19" fmla="*/ 159 h 308"/>
                <a:gd name="T20" fmla="*/ 58 w 219"/>
                <a:gd name="T21" fmla="*/ 131 h 308"/>
                <a:gd name="T22" fmla="*/ 40 w 219"/>
                <a:gd name="T23" fmla="*/ 105 h 308"/>
                <a:gd name="T24" fmla="*/ 25 w 219"/>
                <a:gd name="T25" fmla="*/ 84 h 308"/>
                <a:gd name="T26" fmla="*/ 14 w 219"/>
                <a:gd name="T27" fmla="*/ 61 h 308"/>
                <a:gd name="T28" fmla="*/ 16 w 219"/>
                <a:gd name="T29" fmla="*/ 40 h 308"/>
                <a:gd name="T30" fmla="*/ 25 w 219"/>
                <a:gd name="T31" fmla="*/ 21 h 308"/>
                <a:gd name="T32" fmla="*/ 46 w 219"/>
                <a:gd name="T33" fmla="*/ 16 h 308"/>
                <a:gd name="T34" fmla="*/ 63 w 219"/>
                <a:gd name="T35" fmla="*/ 37 h 308"/>
                <a:gd name="T36" fmla="*/ 72 w 219"/>
                <a:gd name="T37" fmla="*/ 54 h 308"/>
                <a:gd name="T38" fmla="*/ 81 w 219"/>
                <a:gd name="T39" fmla="*/ 73 h 308"/>
                <a:gd name="T40" fmla="*/ 88 w 219"/>
                <a:gd name="T41" fmla="*/ 92 h 308"/>
                <a:gd name="T42" fmla="*/ 96 w 219"/>
                <a:gd name="T43" fmla="*/ 120 h 308"/>
                <a:gd name="T44" fmla="*/ 107 w 219"/>
                <a:gd name="T45" fmla="*/ 140 h 308"/>
                <a:gd name="T46" fmla="*/ 130 w 219"/>
                <a:gd name="T47" fmla="*/ 150 h 308"/>
                <a:gd name="T48" fmla="*/ 149 w 219"/>
                <a:gd name="T49" fmla="*/ 157 h 308"/>
                <a:gd name="T50" fmla="*/ 170 w 219"/>
                <a:gd name="T51" fmla="*/ 168 h 308"/>
                <a:gd name="T52" fmla="*/ 191 w 219"/>
                <a:gd name="T53" fmla="*/ 183 h 308"/>
                <a:gd name="T54" fmla="*/ 201 w 219"/>
                <a:gd name="T55" fmla="*/ 206 h 308"/>
                <a:gd name="T56" fmla="*/ 203 w 219"/>
                <a:gd name="T57" fmla="*/ 225 h 308"/>
                <a:gd name="T58" fmla="*/ 208 w 219"/>
                <a:gd name="T59" fmla="*/ 218 h 308"/>
                <a:gd name="T60" fmla="*/ 207 w 219"/>
                <a:gd name="T61" fmla="*/ 197 h 308"/>
                <a:gd name="T62" fmla="*/ 200 w 219"/>
                <a:gd name="T63" fmla="*/ 173 h 308"/>
                <a:gd name="T64" fmla="*/ 180 w 219"/>
                <a:gd name="T65" fmla="*/ 155 h 308"/>
                <a:gd name="T66" fmla="*/ 151 w 219"/>
                <a:gd name="T67" fmla="*/ 147 h 308"/>
                <a:gd name="T68" fmla="*/ 126 w 219"/>
                <a:gd name="T69" fmla="*/ 141 h 308"/>
                <a:gd name="T70" fmla="*/ 109 w 219"/>
                <a:gd name="T71" fmla="*/ 129 h 308"/>
                <a:gd name="T72" fmla="*/ 100 w 219"/>
                <a:gd name="T73" fmla="*/ 105 h 308"/>
                <a:gd name="T74" fmla="*/ 95 w 219"/>
                <a:gd name="T75" fmla="*/ 85 h 308"/>
                <a:gd name="T76" fmla="*/ 88 w 219"/>
                <a:gd name="T77" fmla="*/ 66 h 308"/>
                <a:gd name="T78" fmla="*/ 79 w 219"/>
                <a:gd name="T79" fmla="*/ 44 h 308"/>
                <a:gd name="T80" fmla="*/ 67 w 219"/>
                <a:gd name="T81" fmla="*/ 23 h 308"/>
                <a:gd name="T82" fmla="*/ 49 w 219"/>
                <a:gd name="T83" fmla="*/ 2 h 308"/>
                <a:gd name="T84" fmla="*/ 28 w 219"/>
                <a:gd name="T85" fmla="*/ 5 h 308"/>
                <a:gd name="T86" fmla="*/ 9 w 219"/>
                <a:gd name="T87" fmla="*/ 30 h 308"/>
                <a:gd name="T88" fmla="*/ 0 w 219"/>
                <a:gd name="T89" fmla="*/ 63 h 308"/>
                <a:gd name="T90" fmla="*/ 9 w 219"/>
                <a:gd name="T91" fmla="*/ 87 h 308"/>
                <a:gd name="T92" fmla="*/ 23 w 219"/>
                <a:gd name="T93" fmla="*/ 106 h 308"/>
                <a:gd name="T94" fmla="*/ 37 w 219"/>
                <a:gd name="T95" fmla="*/ 127 h 308"/>
                <a:gd name="T96" fmla="*/ 53 w 219"/>
                <a:gd name="T97" fmla="*/ 148 h 308"/>
                <a:gd name="T98" fmla="*/ 65 w 219"/>
                <a:gd name="T99" fmla="*/ 171 h 308"/>
                <a:gd name="T100" fmla="*/ 75 w 219"/>
                <a:gd name="T101" fmla="*/ 194 h 308"/>
                <a:gd name="T102" fmla="*/ 81 w 219"/>
                <a:gd name="T103" fmla="*/ 215 h 308"/>
                <a:gd name="T104" fmla="*/ 86 w 219"/>
                <a:gd name="T105" fmla="*/ 236 h 308"/>
                <a:gd name="T106" fmla="*/ 95 w 219"/>
                <a:gd name="T107" fmla="*/ 255 h 308"/>
                <a:gd name="T108" fmla="*/ 110 w 219"/>
                <a:gd name="T109" fmla="*/ 283 h 308"/>
                <a:gd name="T110" fmla="*/ 128 w 219"/>
                <a:gd name="T111" fmla="*/ 301 h 308"/>
                <a:gd name="T112" fmla="*/ 151 w 219"/>
                <a:gd name="T113" fmla="*/ 306 h 308"/>
                <a:gd name="T114" fmla="*/ 182 w 219"/>
                <a:gd name="T115" fmla="*/ 306 h 308"/>
                <a:gd name="T116" fmla="*/ 203 w 219"/>
                <a:gd name="T117" fmla="*/ 304 h 308"/>
                <a:gd name="T118" fmla="*/ 219 w 219"/>
                <a:gd name="T119" fmla="*/ 302 h 30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19"/>
                <a:gd name="T181" fmla="*/ 0 h 308"/>
                <a:gd name="T182" fmla="*/ 219 w 219"/>
                <a:gd name="T183" fmla="*/ 308 h 30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19" h="308">
                  <a:moveTo>
                    <a:pt x="219" y="302"/>
                  </a:moveTo>
                  <a:lnTo>
                    <a:pt x="217" y="302"/>
                  </a:lnTo>
                  <a:lnTo>
                    <a:pt x="214" y="302"/>
                  </a:lnTo>
                  <a:lnTo>
                    <a:pt x="210" y="302"/>
                  </a:lnTo>
                  <a:lnTo>
                    <a:pt x="208" y="302"/>
                  </a:lnTo>
                  <a:lnTo>
                    <a:pt x="205" y="302"/>
                  </a:lnTo>
                  <a:lnTo>
                    <a:pt x="201" y="302"/>
                  </a:lnTo>
                  <a:lnTo>
                    <a:pt x="196" y="302"/>
                  </a:lnTo>
                  <a:lnTo>
                    <a:pt x="193" y="302"/>
                  </a:lnTo>
                  <a:lnTo>
                    <a:pt x="189" y="302"/>
                  </a:lnTo>
                  <a:lnTo>
                    <a:pt x="184" y="302"/>
                  </a:lnTo>
                  <a:lnTo>
                    <a:pt x="179" y="301"/>
                  </a:lnTo>
                  <a:lnTo>
                    <a:pt x="175" y="301"/>
                  </a:lnTo>
                  <a:lnTo>
                    <a:pt x="170" y="301"/>
                  </a:lnTo>
                  <a:lnTo>
                    <a:pt x="165" y="299"/>
                  </a:lnTo>
                  <a:lnTo>
                    <a:pt x="159" y="297"/>
                  </a:lnTo>
                  <a:lnTo>
                    <a:pt x="154" y="295"/>
                  </a:lnTo>
                  <a:lnTo>
                    <a:pt x="149" y="294"/>
                  </a:lnTo>
                  <a:lnTo>
                    <a:pt x="144" y="290"/>
                  </a:lnTo>
                  <a:lnTo>
                    <a:pt x="138" y="288"/>
                  </a:lnTo>
                  <a:lnTo>
                    <a:pt x="135" y="285"/>
                  </a:lnTo>
                  <a:lnTo>
                    <a:pt x="130" y="281"/>
                  </a:lnTo>
                  <a:lnTo>
                    <a:pt x="126" y="278"/>
                  </a:lnTo>
                  <a:lnTo>
                    <a:pt x="121" y="274"/>
                  </a:lnTo>
                  <a:lnTo>
                    <a:pt x="116" y="269"/>
                  </a:lnTo>
                  <a:lnTo>
                    <a:pt x="112" y="264"/>
                  </a:lnTo>
                  <a:lnTo>
                    <a:pt x="110" y="259"/>
                  </a:lnTo>
                  <a:lnTo>
                    <a:pt x="107" y="252"/>
                  </a:lnTo>
                  <a:lnTo>
                    <a:pt x="103" y="246"/>
                  </a:lnTo>
                  <a:lnTo>
                    <a:pt x="102" y="241"/>
                  </a:lnTo>
                  <a:lnTo>
                    <a:pt x="102" y="238"/>
                  </a:lnTo>
                  <a:lnTo>
                    <a:pt x="100" y="234"/>
                  </a:lnTo>
                  <a:lnTo>
                    <a:pt x="100" y="231"/>
                  </a:lnTo>
                  <a:lnTo>
                    <a:pt x="100" y="227"/>
                  </a:lnTo>
                  <a:lnTo>
                    <a:pt x="98" y="222"/>
                  </a:lnTo>
                  <a:lnTo>
                    <a:pt x="96" y="218"/>
                  </a:lnTo>
                  <a:lnTo>
                    <a:pt x="96" y="213"/>
                  </a:lnTo>
                  <a:lnTo>
                    <a:pt x="95" y="210"/>
                  </a:lnTo>
                  <a:lnTo>
                    <a:pt x="95" y="206"/>
                  </a:lnTo>
                  <a:lnTo>
                    <a:pt x="93" y="203"/>
                  </a:lnTo>
                  <a:lnTo>
                    <a:pt x="93" y="199"/>
                  </a:lnTo>
                  <a:lnTo>
                    <a:pt x="91" y="196"/>
                  </a:lnTo>
                  <a:lnTo>
                    <a:pt x="89" y="190"/>
                  </a:lnTo>
                  <a:lnTo>
                    <a:pt x="88" y="187"/>
                  </a:lnTo>
                  <a:lnTo>
                    <a:pt x="86" y="183"/>
                  </a:lnTo>
                  <a:lnTo>
                    <a:pt x="82" y="176"/>
                  </a:lnTo>
                  <a:lnTo>
                    <a:pt x="81" y="169"/>
                  </a:lnTo>
                  <a:lnTo>
                    <a:pt x="79" y="166"/>
                  </a:lnTo>
                  <a:lnTo>
                    <a:pt x="77" y="162"/>
                  </a:lnTo>
                  <a:lnTo>
                    <a:pt x="74" y="159"/>
                  </a:lnTo>
                  <a:lnTo>
                    <a:pt x="72" y="155"/>
                  </a:lnTo>
                  <a:lnTo>
                    <a:pt x="68" y="148"/>
                  </a:lnTo>
                  <a:lnTo>
                    <a:pt x="65" y="143"/>
                  </a:lnTo>
                  <a:lnTo>
                    <a:pt x="61" y="136"/>
                  </a:lnTo>
                  <a:lnTo>
                    <a:pt x="58" y="131"/>
                  </a:lnTo>
                  <a:lnTo>
                    <a:pt x="54" y="126"/>
                  </a:lnTo>
                  <a:lnTo>
                    <a:pt x="51" y="120"/>
                  </a:lnTo>
                  <a:lnTo>
                    <a:pt x="47" y="115"/>
                  </a:lnTo>
                  <a:lnTo>
                    <a:pt x="44" y="110"/>
                  </a:lnTo>
                  <a:lnTo>
                    <a:pt x="40" y="105"/>
                  </a:lnTo>
                  <a:lnTo>
                    <a:pt x="37" y="99"/>
                  </a:lnTo>
                  <a:lnTo>
                    <a:pt x="33" y="96"/>
                  </a:lnTo>
                  <a:lnTo>
                    <a:pt x="30" y="91"/>
                  </a:lnTo>
                  <a:lnTo>
                    <a:pt x="26" y="87"/>
                  </a:lnTo>
                  <a:lnTo>
                    <a:pt x="25" y="84"/>
                  </a:lnTo>
                  <a:lnTo>
                    <a:pt x="19" y="77"/>
                  </a:lnTo>
                  <a:lnTo>
                    <a:pt x="16" y="71"/>
                  </a:lnTo>
                  <a:lnTo>
                    <a:pt x="14" y="68"/>
                  </a:lnTo>
                  <a:lnTo>
                    <a:pt x="14" y="64"/>
                  </a:lnTo>
                  <a:lnTo>
                    <a:pt x="14" y="61"/>
                  </a:lnTo>
                  <a:lnTo>
                    <a:pt x="14" y="57"/>
                  </a:lnTo>
                  <a:lnTo>
                    <a:pt x="14" y="52"/>
                  </a:lnTo>
                  <a:lnTo>
                    <a:pt x="14" y="49"/>
                  </a:lnTo>
                  <a:lnTo>
                    <a:pt x="16" y="45"/>
                  </a:lnTo>
                  <a:lnTo>
                    <a:pt x="16" y="40"/>
                  </a:lnTo>
                  <a:lnTo>
                    <a:pt x="18" y="37"/>
                  </a:lnTo>
                  <a:lnTo>
                    <a:pt x="19" y="31"/>
                  </a:lnTo>
                  <a:lnTo>
                    <a:pt x="21" y="28"/>
                  </a:lnTo>
                  <a:lnTo>
                    <a:pt x="23" y="24"/>
                  </a:lnTo>
                  <a:lnTo>
                    <a:pt x="25" y="21"/>
                  </a:lnTo>
                  <a:lnTo>
                    <a:pt x="26" y="17"/>
                  </a:lnTo>
                  <a:lnTo>
                    <a:pt x="32" y="14"/>
                  </a:lnTo>
                  <a:lnTo>
                    <a:pt x="39" y="14"/>
                  </a:lnTo>
                  <a:lnTo>
                    <a:pt x="42" y="14"/>
                  </a:lnTo>
                  <a:lnTo>
                    <a:pt x="46" y="16"/>
                  </a:lnTo>
                  <a:lnTo>
                    <a:pt x="49" y="19"/>
                  </a:lnTo>
                  <a:lnTo>
                    <a:pt x="53" y="23"/>
                  </a:lnTo>
                  <a:lnTo>
                    <a:pt x="58" y="28"/>
                  </a:lnTo>
                  <a:lnTo>
                    <a:pt x="61" y="33"/>
                  </a:lnTo>
                  <a:lnTo>
                    <a:pt x="63" y="37"/>
                  </a:lnTo>
                  <a:lnTo>
                    <a:pt x="65" y="40"/>
                  </a:lnTo>
                  <a:lnTo>
                    <a:pt x="67" y="44"/>
                  </a:lnTo>
                  <a:lnTo>
                    <a:pt x="70" y="47"/>
                  </a:lnTo>
                  <a:lnTo>
                    <a:pt x="70" y="51"/>
                  </a:lnTo>
                  <a:lnTo>
                    <a:pt x="72" y="54"/>
                  </a:lnTo>
                  <a:lnTo>
                    <a:pt x="74" y="57"/>
                  </a:lnTo>
                  <a:lnTo>
                    <a:pt x="77" y="63"/>
                  </a:lnTo>
                  <a:lnTo>
                    <a:pt x="77" y="66"/>
                  </a:lnTo>
                  <a:lnTo>
                    <a:pt x="79" y="70"/>
                  </a:lnTo>
                  <a:lnTo>
                    <a:pt x="81" y="73"/>
                  </a:lnTo>
                  <a:lnTo>
                    <a:pt x="82" y="77"/>
                  </a:lnTo>
                  <a:lnTo>
                    <a:pt x="84" y="80"/>
                  </a:lnTo>
                  <a:lnTo>
                    <a:pt x="86" y="84"/>
                  </a:lnTo>
                  <a:lnTo>
                    <a:pt x="86" y="87"/>
                  </a:lnTo>
                  <a:lnTo>
                    <a:pt x="88" y="92"/>
                  </a:lnTo>
                  <a:lnTo>
                    <a:pt x="89" y="98"/>
                  </a:lnTo>
                  <a:lnTo>
                    <a:pt x="91" y="105"/>
                  </a:lnTo>
                  <a:lnTo>
                    <a:pt x="93" y="110"/>
                  </a:lnTo>
                  <a:lnTo>
                    <a:pt x="95" y="115"/>
                  </a:lnTo>
                  <a:lnTo>
                    <a:pt x="96" y="120"/>
                  </a:lnTo>
                  <a:lnTo>
                    <a:pt x="98" y="126"/>
                  </a:lnTo>
                  <a:lnTo>
                    <a:pt x="100" y="129"/>
                  </a:lnTo>
                  <a:lnTo>
                    <a:pt x="102" y="134"/>
                  </a:lnTo>
                  <a:lnTo>
                    <a:pt x="105" y="136"/>
                  </a:lnTo>
                  <a:lnTo>
                    <a:pt x="107" y="140"/>
                  </a:lnTo>
                  <a:lnTo>
                    <a:pt x="112" y="145"/>
                  </a:lnTo>
                  <a:lnTo>
                    <a:pt x="117" y="148"/>
                  </a:lnTo>
                  <a:lnTo>
                    <a:pt x="121" y="150"/>
                  </a:lnTo>
                  <a:lnTo>
                    <a:pt x="126" y="150"/>
                  </a:lnTo>
                  <a:lnTo>
                    <a:pt x="130" y="150"/>
                  </a:lnTo>
                  <a:lnTo>
                    <a:pt x="135" y="152"/>
                  </a:lnTo>
                  <a:lnTo>
                    <a:pt x="138" y="152"/>
                  </a:lnTo>
                  <a:lnTo>
                    <a:pt x="142" y="154"/>
                  </a:lnTo>
                  <a:lnTo>
                    <a:pt x="145" y="155"/>
                  </a:lnTo>
                  <a:lnTo>
                    <a:pt x="149" y="157"/>
                  </a:lnTo>
                  <a:lnTo>
                    <a:pt x="152" y="157"/>
                  </a:lnTo>
                  <a:lnTo>
                    <a:pt x="158" y="161"/>
                  </a:lnTo>
                  <a:lnTo>
                    <a:pt x="161" y="162"/>
                  </a:lnTo>
                  <a:lnTo>
                    <a:pt x="165" y="164"/>
                  </a:lnTo>
                  <a:lnTo>
                    <a:pt x="170" y="168"/>
                  </a:lnTo>
                  <a:lnTo>
                    <a:pt x="173" y="169"/>
                  </a:lnTo>
                  <a:lnTo>
                    <a:pt x="179" y="173"/>
                  </a:lnTo>
                  <a:lnTo>
                    <a:pt x="184" y="176"/>
                  </a:lnTo>
                  <a:lnTo>
                    <a:pt x="187" y="178"/>
                  </a:lnTo>
                  <a:lnTo>
                    <a:pt x="191" y="183"/>
                  </a:lnTo>
                  <a:lnTo>
                    <a:pt x="194" y="187"/>
                  </a:lnTo>
                  <a:lnTo>
                    <a:pt x="196" y="190"/>
                  </a:lnTo>
                  <a:lnTo>
                    <a:pt x="198" y="196"/>
                  </a:lnTo>
                  <a:lnTo>
                    <a:pt x="200" y="201"/>
                  </a:lnTo>
                  <a:lnTo>
                    <a:pt x="201" y="206"/>
                  </a:lnTo>
                  <a:lnTo>
                    <a:pt x="203" y="211"/>
                  </a:lnTo>
                  <a:lnTo>
                    <a:pt x="203" y="215"/>
                  </a:lnTo>
                  <a:lnTo>
                    <a:pt x="203" y="218"/>
                  </a:lnTo>
                  <a:lnTo>
                    <a:pt x="203" y="222"/>
                  </a:lnTo>
                  <a:lnTo>
                    <a:pt x="203" y="225"/>
                  </a:lnTo>
                  <a:lnTo>
                    <a:pt x="205" y="231"/>
                  </a:lnTo>
                  <a:lnTo>
                    <a:pt x="207" y="231"/>
                  </a:lnTo>
                  <a:lnTo>
                    <a:pt x="208" y="227"/>
                  </a:lnTo>
                  <a:lnTo>
                    <a:pt x="208" y="222"/>
                  </a:lnTo>
                  <a:lnTo>
                    <a:pt x="208" y="218"/>
                  </a:lnTo>
                  <a:lnTo>
                    <a:pt x="208" y="215"/>
                  </a:lnTo>
                  <a:lnTo>
                    <a:pt x="208" y="211"/>
                  </a:lnTo>
                  <a:lnTo>
                    <a:pt x="208" y="206"/>
                  </a:lnTo>
                  <a:lnTo>
                    <a:pt x="208" y="203"/>
                  </a:lnTo>
                  <a:lnTo>
                    <a:pt x="207" y="197"/>
                  </a:lnTo>
                  <a:lnTo>
                    <a:pt x="207" y="192"/>
                  </a:lnTo>
                  <a:lnTo>
                    <a:pt x="205" y="187"/>
                  </a:lnTo>
                  <a:lnTo>
                    <a:pt x="203" y="182"/>
                  </a:lnTo>
                  <a:lnTo>
                    <a:pt x="201" y="178"/>
                  </a:lnTo>
                  <a:lnTo>
                    <a:pt x="200" y="173"/>
                  </a:lnTo>
                  <a:lnTo>
                    <a:pt x="196" y="169"/>
                  </a:lnTo>
                  <a:lnTo>
                    <a:pt x="193" y="164"/>
                  </a:lnTo>
                  <a:lnTo>
                    <a:pt x="189" y="161"/>
                  </a:lnTo>
                  <a:lnTo>
                    <a:pt x="186" y="157"/>
                  </a:lnTo>
                  <a:lnTo>
                    <a:pt x="180" y="155"/>
                  </a:lnTo>
                  <a:lnTo>
                    <a:pt x="175" y="152"/>
                  </a:lnTo>
                  <a:lnTo>
                    <a:pt x="170" y="150"/>
                  </a:lnTo>
                  <a:lnTo>
                    <a:pt x="163" y="148"/>
                  </a:lnTo>
                  <a:lnTo>
                    <a:pt x="158" y="148"/>
                  </a:lnTo>
                  <a:lnTo>
                    <a:pt x="151" y="147"/>
                  </a:lnTo>
                  <a:lnTo>
                    <a:pt x="145" y="145"/>
                  </a:lnTo>
                  <a:lnTo>
                    <a:pt x="140" y="143"/>
                  </a:lnTo>
                  <a:lnTo>
                    <a:pt x="135" y="143"/>
                  </a:lnTo>
                  <a:lnTo>
                    <a:pt x="130" y="143"/>
                  </a:lnTo>
                  <a:lnTo>
                    <a:pt x="126" y="141"/>
                  </a:lnTo>
                  <a:lnTo>
                    <a:pt x="123" y="141"/>
                  </a:lnTo>
                  <a:lnTo>
                    <a:pt x="121" y="141"/>
                  </a:lnTo>
                  <a:lnTo>
                    <a:pt x="117" y="136"/>
                  </a:lnTo>
                  <a:lnTo>
                    <a:pt x="114" y="134"/>
                  </a:lnTo>
                  <a:lnTo>
                    <a:pt x="109" y="129"/>
                  </a:lnTo>
                  <a:lnTo>
                    <a:pt x="105" y="126"/>
                  </a:lnTo>
                  <a:lnTo>
                    <a:pt x="102" y="120"/>
                  </a:lnTo>
                  <a:lnTo>
                    <a:pt x="100" y="115"/>
                  </a:lnTo>
                  <a:lnTo>
                    <a:pt x="98" y="110"/>
                  </a:lnTo>
                  <a:lnTo>
                    <a:pt x="100" y="105"/>
                  </a:lnTo>
                  <a:lnTo>
                    <a:pt x="98" y="101"/>
                  </a:lnTo>
                  <a:lnTo>
                    <a:pt x="96" y="96"/>
                  </a:lnTo>
                  <a:lnTo>
                    <a:pt x="96" y="92"/>
                  </a:lnTo>
                  <a:lnTo>
                    <a:pt x="95" y="89"/>
                  </a:lnTo>
                  <a:lnTo>
                    <a:pt x="95" y="85"/>
                  </a:lnTo>
                  <a:lnTo>
                    <a:pt x="95" y="82"/>
                  </a:lnTo>
                  <a:lnTo>
                    <a:pt x="93" y="78"/>
                  </a:lnTo>
                  <a:lnTo>
                    <a:pt x="91" y="75"/>
                  </a:lnTo>
                  <a:lnTo>
                    <a:pt x="89" y="70"/>
                  </a:lnTo>
                  <a:lnTo>
                    <a:pt x="88" y="66"/>
                  </a:lnTo>
                  <a:lnTo>
                    <a:pt x="86" y="61"/>
                  </a:lnTo>
                  <a:lnTo>
                    <a:pt x="84" y="57"/>
                  </a:lnTo>
                  <a:lnTo>
                    <a:pt x="82" y="52"/>
                  </a:lnTo>
                  <a:lnTo>
                    <a:pt x="81" y="49"/>
                  </a:lnTo>
                  <a:lnTo>
                    <a:pt x="79" y="44"/>
                  </a:lnTo>
                  <a:lnTo>
                    <a:pt x="77" y="38"/>
                  </a:lnTo>
                  <a:lnTo>
                    <a:pt x="74" y="33"/>
                  </a:lnTo>
                  <a:lnTo>
                    <a:pt x="72" y="30"/>
                  </a:lnTo>
                  <a:lnTo>
                    <a:pt x="70" y="26"/>
                  </a:lnTo>
                  <a:lnTo>
                    <a:pt x="67" y="23"/>
                  </a:lnTo>
                  <a:lnTo>
                    <a:pt x="65" y="17"/>
                  </a:lnTo>
                  <a:lnTo>
                    <a:pt x="63" y="16"/>
                  </a:lnTo>
                  <a:lnTo>
                    <a:pt x="58" y="9"/>
                  </a:lnTo>
                  <a:lnTo>
                    <a:pt x="54" y="3"/>
                  </a:lnTo>
                  <a:lnTo>
                    <a:pt x="49" y="2"/>
                  </a:lnTo>
                  <a:lnTo>
                    <a:pt x="46" y="0"/>
                  </a:lnTo>
                  <a:lnTo>
                    <a:pt x="40" y="0"/>
                  </a:lnTo>
                  <a:lnTo>
                    <a:pt x="37" y="0"/>
                  </a:lnTo>
                  <a:lnTo>
                    <a:pt x="32" y="2"/>
                  </a:lnTo>
                  <a:lnTo>
                    <a:pt x="28" y="5"/>
                  </a:lnTo>
                  <a:lnTo>
                    <a:pt x="23" y="9"/>
                  </a:lnTo>
                  <a:lnTo>
                    <a:pt x="19" y="14"/>
                  </a:lnTo>
                  <a:lnTo>
                    <a:pt x="16" y="19"/>
                  </a:lnTo>
                  <a:lnTo>
                    <a:pt x="12" y="24"/>
                  </a:lnTo>
                  <a:lnTo>
                    <a:pt x="9" y="30"/>
                  </a:lnTo>
                  <a:lnTo>
                    <a:pt x="5" y="37"/>
                  </a:lnTo>
                  <a:lnTo>
                    <a:pt x="4" y="42"/>
                  </a:lnTo>
                  <a:lnTo>
                    <a:pt x="2" y="49"/>
                  </a:lnTo>
                  <a:lnTo>
                    <a:pt x="0" y="56"/>
                  </a:lnTo>
                  <a:lnTo>
                    <a:pt x="0" y="63"/>
                  </a:lnTo>
                  <a:lnTo>
                    <a:pt x="0" y="68"/>
                  </a:lnTo>
                  <a:lnTo>
                    <a:pt x="2" y="73"/>
                  </a:lnTo>
                  <a:lnTo>
                    <a:pt x="5" y="78"/>
                  </a:lnTo>
                  <a:lnTo>
                    <a:pt x="7" y="85"/>
                  </a:lnTo>
                  <a:lnTo>
                    <a:pt x="9" y="87"/>
                  </a:lnTo>
                  <a:lnTo>
                    <a:pt x="11" y="91"/>
                  </a:lnTo>
                  <a:lnTo>
                    <a:pt x="14" y="94"/>
                  </a:lnTo>
                  <a:lnTo>
                    <a:pt x="18" y="99"/>
                  </a:lnTo>
                  <a:lnTo>
                    <a:pt x="19" y="103"/>
                  </a:lnTo>
                  <a:lnTo>
                    <a:pt x="23" y="106"/>
                  </a:lnTo>
                  <a:lnTo>
                    <a:pt x="25" y="110"/>
                  </a:lnTo>
                  <a:lnTo>
                    <a:pt x="28" y="113"/>
                  </a:lnTo>
                  <a:lnTo>
                    <a:pt x="30" y="119"/>
                  </a:lnTo>
                  <a:lnTo>
                    <a:pt x="35" y="122"/>
                  </a:lnTo>
                  <a:lnTo>
                    <a:pt x="37" y="127"/>
                  </a:lnTo>
                  <a:lnTo>
                    <a:pt x="40" y="131"/>
                  </a:lnTo>
                  <a:lnTo>
                    <a:pt x="44" y="134"/>
                  </a:lnTo>
                  <a:lnTo>
                    <a:pt x="47" y="140"/>
                  </a:lnTo>
                  <a:lnTo>
                    <a:pt x="49" y="143"/>
                  </a:lnTo>
                  <a:lnTo>
                    <a:pt x="53" y="148"/>
                  </a:lnTo>
                  <a:lnTo>
                    <a:pt x="56" y="154"/>
                  </a:lnTo>
                  <a:lnTo>
                    <a:pt x="58" y="157"/>
                  </a:lnTo>
                  <a:lnTo>
                    <a:pt x="60" y="162"/>
                  </a:lnTo>
                  <a:lnTo>
                    <a:pt x="63" y="168"/>
                  </a:lnTo>
                  <a:lnTo>
                    <a:pt x="65" y="171"/>
                  </a:lnTo>
                  <a:lnTo>
                    <a:pt x="68" y="176"/>
                  </a:lnTo>
                  <a:lnTo>
                    <a:pt x="70" y="180"/>
                  </a:lnTo>
                  <a:lnTo>
                    <a:pt x="72" y="185"/>
                  </a:lnTo>
                  <a:lnTo>
                    <a:pt x="74" y="189"/>
                  </a:lnTo>
                  <a:lnTo>
                    <a:pt x="75" y="194"/>
                  </a:lnTo>
                  <a:lnTo>
                    <a:pt x="77" y="197"/>
                  </a:lnTo>
                  <a:lnTo>
                    <a:pt x="79" y="203"/>
                  </a:lnTo>
                  <a:lnTo>
                    <a:pt x="79" y="206"/>
                  </a:lnTo>
                  <a:lnTo>
                    <a:pt x="79" y="211"/>
                  </a:lnTo>
                  <a:lnTo>
                    <a:pt x="81" y="215"/>
                  </a:lnTo>
                  <a:lnTo>
                    <a:pt x="81" y="220"/>
                  </a:lnTo>
                  <a:lnTo>
                    <a:pt x="82" y="224"/>
                  </a:lnTo>
                  <a:lnTo>
                    <a:pt x="84" y="227"/>
                  </a:lnTo>
                  <a:lnTo>
                    <a:pt x="84" y="231"/>
                  </a:lnTo>
                  <a:lnTo>
                    <a:pt x="86" y="236"/>
                  </a:lnTo>
                  <a:lnTo>
                    <a:pt x="88" y="239"/>
                  </a:lnTo>
                  <a:lnTo>
                    <a:pt x="88" y="243"/>
                  </a:lnTo>
                  <a:lnTo>
                    <a:pt x="89" y="246"/>
                  </a:lnTo>
                  <a:lnTo>
                    <a:pt x="91" y="250"/>
                  </a:lnTo>
                  <a:lnTo>
                    <a:pt x="95" y="255"/>
                  </a:lnTo>
                  <a:lnTo>
                    <a:pt x="98" y="262"/>
                  </a:lnTo>
                  <a:lnTo>
                    <a:pt x="100" y="267"/>
                  </a:lnTo>
                  <a:lnTo>
                    <a:pt x="103" y="274"/>
                  </a:lnTo>
                  <a:lnTo>
                    <a:pt x="107" y="278"/>
                  </a:lnTo>
                  <a:lnTo>
                    <a:pt x="110" y="283"/>
                  </a:lnTo>
                  <a:lnTo>
                    <a:pt x="114" y="287"/>
                  </a:lnTo>
                  <a:lnTo>
                    <a:pt x="117" y="292"/>
                  </a:lnTo>
                  <a:lnTo>
                    <a:pt x="121" y="295"/>
                  </a:lnTo>
                  <a:lnTo>
                    <a:pt x="124" y="297"/>
                  </a:lnTo>
                  <a:lnTo>
                    <a:pt x="128" y="301"/>
                  </a:lnTo>
                  <a:lnTo>
                    <a:pt x="131" y="302"/>
                  </a:lnTo>
                  <a:lnTo>
                    <a:pt x="137" y="302"/>
                  </a:lnTo>
                  <a:lnTo>
                    <a:pt x="142" y="304"/>
                  </a:lnTo>
                  <a:lnTo>
                    <a:pt x="145" y="306"/>
                  </a:lnTo>
                  <a:lnTo>
                    <a:pt x="151" y="306"/>
                  </a:lnTo>
                  <a:lnTo>
                    <a:pt x="158" y="308"/>
                  </a:lnTo>
                  <a:lnTo>
                    <a:pt x="163" y="308"/>
                  </a:lnTo>
                  <a:lnTo>
                    <a:pt x="170" y="308"/>
                  </a:lnTo>
                  <a:lnTo>
                    <a:pt x="175" y="308"/>
                  </a:lnTo>
                  <a:lnTo>
                    <a:pt x="182" y="306"/>
                  </a:lnTo>
                  <a:lnTo>
                    <a:pt x="189" y="306"/>
                  </a:lnTo>
                  <a:lnTo>
                    <a:pt x="193" y="306"/>
                  </a:lnTo>
                  <a:lnTo>
                    <a:pt x="194" y="304"/>
                  </a:lnTo>
                  <a:lnTo>
                    <a:pt x="200" y="304"/>
                  </a:lnTo>
                  <a:lnTo>
                    <a:pt x="203" y="304"/>
                  </a:lnTo>
                  <a:lnTo>
                    <a:pt x="207" y="304"/>
                  </a:lnTo>
                  <a:lnTo>
                    <a:pt x="210" y="302"/>
                  </a:lnTo>
                  <a:lnTo>
                    <a:pt x="214" y="302"/>
                  </a:lnTo>
                  <a:lnTo>
                    <a:pt x="219" y="3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06" name="Freeform 70"/>
            <p:cNvSpPr>
              <a:spLocks/>
            </p:cNvSpPr>
            <p:nvPr/>
          </p:nvSpPr>
          <p:spPr bwMode="auto">
            <a:xfrm>
              <a:off x="5363" y="451"/>
              <a:ext cx="397" cy="464"/>
            </a:xfrm>
            <a:custGeom>
              <a:avLst/>
              <a:gdLst>
                <a:gd name="T0" fmla="*/ 42 w 397"/>
                <a:gd name="T1" fmla="*/ 248 h 464"/>
                <a:gd name="T2" fmla="*/ 53 w 397"/>
                <a:gd name="T3" fmla="*/ 179 h 464"/>
                <a:gd name="T4" fmla="*/ 63 w 397"/>
                <a:gd name="T5" fmla="*/ 89 h 464"/>
                <a:gd name="T6" fmla="*/ 84 w 397"/>
                <a:gd name="T7" fmla="*/ 30 h 464"/>
                <a:gd name="T8" fmla="*/ 117 w 397"/>
                <a:gd name="T9" fmla="*/ 40 h 464"/>
                <a:gd name="T10" fmla="*/ 112 w 397"/>
                <a:gd name="T11" fmla="*/ 96 h 464"/>
                <a:gd name="T12" fmla="*/ 84 w 397"/>
                <a:gd name="T13" fmla="*/ 159 h 464"/>
                <a:gd name="T14" fmla="*/ 98 w 397"/>
                <a:gd name="T15" fmla="*/ 180 h 464"/>
                <a:gd name="T16" fmla="*/ 107 w 397"/>
                <a:gd name="T17" fmla="*/ 233 h 464"/>
                <a:gd name="T18" fmla="*/ 154 w 397"/>
                <a:gd name="T19" fmla="*/ 182 h 464"/>
                <a:gd name="T20" fmla="*/ 179 w 397"/>
                <a:gd name="T21" fmla="*/ 130 h 464"/>
                <a:gd name="T22" fmla="*/ 203 w 397"/>
                <a:gd name="T23" fmla="*/ 75 h 464"/>
                <a:gd name="T24" fmla="*/ 249 w 397"/>
                <a:gd name="T25" fmla="*/ 18 h 464"/>
                <a:gd name="T26" fmla="*/ 273 w 397"/>
                <a:gd name="T27" fmla="*/ 56 h 464"/>
                <a:gd name="T28" fmla="*/ 243 w 397"/>
                <a:gd name="T29" fmla="*/ 130 h 464"/>
                <a:gd name="T30" fmla="*/ 224 w 397"/>
                <a:gd name="T31" fmla="*/ 156 h 464"/>
                <a:gd name="T32" fmla="*/ 212 w 397"/>
                <a:gd name="T33" fmla="*/ 194 h 464"/>
                <a:gd name="T34" fmla="*/ 205 w 397"/>
                <a:gd name="T35" fmla="*/ 268 h 464"/>
                <a:gd name="T36" fmla="*/ 273 w 397"/>
                <a:gd name="T37" fmla="*/ 205 h 464"/>
                <a:gd name="T38" fmla="*/ 338 w 397"/>
                <a:gd name="T39" fmla="*/ 131 h 464"/>
                <a:gd name="T40" fmla="*/ 376 w 397"/>
                <a:gd name="T41" fmla="*/ 147 h 464"/>
                <a:gd name="T42" fmla="*/ 322 w 397"/>
                <a:gd name="T43" fmla="*/ 219 h 464"/>
                <a:gd name="T44" fmla="*/ 259 w 397"/>
                <a:gd name="T45" fmla="*/ 294 h 464"/>
                <a:gd name="T46" fmla="*/ 273 w 397"/>
                <a:gd name="T47" fmla="*/ 325 h 464"/>
                <a:gd name="T48" fmla="*/ 327 w 397"/>
                <a:gd name="T49" fmla="*/ 306 h 464"/>
                <a:gd name="T50" fmla="*/ 383 w 397"/>
                <a:gd name="T51" fmla="*/ 297 h 464"/>
                <a:gd name="T52" fmla="*/ 348 w 397"/>
                <a:gd name="T53" fmla="*/ 348 h 464"/>
                <a:gd name="T54" fmla="*/ 266 w 397"/>
                <a:gd name="T55" fmla="*/ 378 h 464"/>
                <a:gd name="T56" fmla="*/ 193 w 397"/>
                <a:gd name="T57" fmla="*/ 439 h 464"/>
                <a:gd name="T58" fmla="*/ 137 w 397"/>
                <a:gd name="T59" fmla="*/ 457 h 464"/>
                <a:gd name="T60" fmla="*/ 75 w 397"/>
                <a:gd name="T61" fmla="*/ 458 h 464"/>
                <a:gd name="T62" fmla="*/ 130 w 397"/>
                <a:gd name="T63" fmla="*/ 464 h 464"/>
                <a:gd name="T64" fmla="*/ 198 w 397"/>
                <a:gd name="T65" fmla="*/ 446 h 464"/>
                <a:gd name="T66" fmla="*/ 261 w 397"/>
                <a:gd name="T67" fmla="*/ 395 h 464"/>
                <a:gd name="T68" fmla="*/ 331 w 397"/>
                <a:gd name="T69" fmla="*/ 366 h 464"/>
                <a:gd name="T70" fmla="*/ 392 w 397"/>
                <a:gd name="T71" fmla="*/ 317 h 464"/>
                <a:gd name="T72" fmla="*/ 352 w 397"/>
                <a:gd name="T73" fmla="*/ 289 h 464"/>
                <a:gd name="T74" fmla="*/ 285 w 397"/>
                <a:gd name="T75" fmla="*/ 317 h 464"/>
                <a:gd name="T76" fmla="*/ 285 w 397"/>
                <a:gd name="T77" fmla="*/ 280 h 464"/>
                <a:gd name="T78" fmla="*/ 334 w 397"/>
                <a:gd name="T79" fmla="*/ 217 h 464"/>
                <a:gd name="T80" fmla="*/ 382 w 397"/>
                <a:gd name="T81" fmla="*/ 158 h 464"/>
                <a:gd name="T82" fmla="*/ 368 w 397"/>
                <a:gd name="T83" fmla="*/ 102 h 464"/>
                <a:gd name="T84" fmla="*/ 310 w 397"/>
                <a:gd name="T85" fmla="*/ 147 h 464"/>
                <a:gd name="T86" fmla="*/ 238 w 397"/>
                <a:gd name="T87" fmla="*/ 227 h 464"/>
                <a:gd name="T88" fmla="*/ 196 w 397"/>
                <a:gd name="T89" fmla="*/ 243 h 464"/>
                <a:gd name="T90" fmla="*/ 226 w 397"/>
                <a:gd name="T91" fmla="*/ 186 h 464"/>
                <a:gd name="T92" fmla="*/ 266 w 397"/>
                <a:gd name="T93" fmla="*/ 105 h 464"/>
                <a:gd name="T94" fmla="*/ 282 w 397"/>
                <a:gd name="T95" fmla="*/ 40 h 464"/>
                <a:gd name="T96" fmla="*/ 261 w 397"/>
                <a:gd name="T97" fmla="*/ 2 h 464"/>
                <a:gd name="T98" fmla="*/ 212 w 397"/>
                <a:gd name="T99" fmla="*/ 47 h 464"/>
                <a:gd name="T100" fmla="*/ 184 w 397"/>
                <a:gd name="T101" fmla="*/ 105 h 464"/>
                <a:gd name="T102" fmla="*/ 156 w 397"/>
                <a:gd name="T103" fmla="*/ 161 h 464"/>
                <a:gd name="T104" fmla="*/ 119 w 397"/>
                <a:gd name="T105" fmla="*/ 220 h 464"/>
                <a:gd name="T106" fmla="*/ 109 w 397"/>
                <a:gd name="T107" fmla="*/ 180 h 464"/>
                <a:gd name="T108" fmla="*/ 119 w 397"/>
                <a:gd name="T109" fmla="*/ 121 h 464"/>
                <a:gd name="T110" fmla="*/ 128 w 397"/>
                <a:gd name="T111" fmla="*/ 61 h 464"/>
                <a:gd name="T112" fmla="*/ 117 w 397"/>
                <a:gd name="T113" fmla="*/ 7 h 464"/>
                <a:gd name="T114" fmla="*/ 65 w 397"/>
                <a:gd name="T115" fmla="*/ 32 h 464"/>
                <a:gd name="T116" fmla="*/ 47 w 397"/>
                <a:gd name="T117" fmla="*/ 95 h 464"/>
                <a:gd name="T118" fmla="*/ 39 w 397"/>
                <a:gd name="T119" fmla="*/ 175 h 464"/>
                <a:gd name="T120" fmla="*/ 30 w 397"/>
                <a:gd name="T121" fmla="*/ 241 h 464"/>
                <a:gd name="T122" fmla="*/ 0 w 397"/>
                <a:gd name="T123" fmla="*/ 301 h 46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97"/>
                <a:gd name="T187" fmla="*/ 0 h 464"/>
                <a:gd name="T188" fmla="*/ 397 w 397"/>
                <a:gd name="T189" fmla="*/ 464 h 46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97" h="464">
                  <a:moveTo>
                    <a:pt x="12" y="306"/>
                  </a:moveTo>
                  <a:lnTo>
                    <a:pt x="12" y="304"/>
                  </a:lnTo>
                  <a:lnTo>
                    <a:pt x="14" y="303"/>
                  </a:lnTo>
                  <a:lnTo>
                    <a:pt x="14" y="301"/>
                  </a:lnTo>
                  <a:lnTo>
                    <a:pt x="18" y="297"/>
                  </a:lnTo>
                  <a:lnTo>
                    <a:pt x="19" y="292"/>
                  </a:lnTo>
                  <a:lnTo>
                    <a:pt x="21" y="289"/>
                  </a:lnTo>
                  <a:lnTo>
                    <a:pt x="25" y="283"/>
                  </a:lnTo>
                  <a:lnTo>
                    <a:pt x="28" y="278"/>
                  </a:lnTo>
                  <a:lnTo>
                    <a:pt x="30" y="273"/>
                  </a:lnTo>
                  <a:lnTo>
                    <a:pt x="33" y="266"/>
                  </a:lnTo>
                  <a:lnTo>
                    <a:pt x="37" y="261"/>
                  </a:lnTo>
                  <a:lnTo>
                    <a:pt x="40" y="254"/>
                  </a:lnTo>
                  <a:lnTo>
                    <a:pt x="42" y="248"/>
                  </a:lnTo>
                  <a:lnTo>
                    <a:pt x="44" y="241"/>
                  </a:lnTo>
                  <a:lnTo>
                    <a:pt x="46" y="236"/>
                  </a:lnTo>
                  <a:lnTo>
                    <a:pt x="47" y="231"/>
                  </a:lnTo>
                  <a:lnTo>
                    <a:pt x="47" y="227"/>
                  </a:lnTo>
                  <a:lnTo>
                    <a:pt x="47" y="224"/>
                  </a:lnTo>
                  <a:lnTo>
                    <a:pt x="49" y="220"/>
                  </a:lnTo>
                  <a:lnTo>
                    <a:pt x="49" y="217"/>
                  </a:lnTo>
                  <a:lnTo>
                    <a:pt x="49" y="212"/>
                  </a:lnTo>
                  <a:lnTo>
                    <a:pt x="51" y="207"/>
                  </a:lnTo>
                  <a:lnTo>
                    <a:pt x="51" y="201"/>
                  </a:lnTo>
                  <a:lnTo>
                    <a:pt x="51" y="196"/>
                  </a:lnTo>
                  <a:lnTo>
                    <a:pt x="51" y="189"/>
                  </a:lnTo>
                  <a:lnTo>
                    <a:pt x="53" y="184"/>
                  </a:lnTo>
                  <a:lnTo>
                    <a:pt x="53" y="179"/>
                  </a:lnTo>
                  <a:lnTo>
                    <a:pt x="54" y="172"/>
                  </a:lnTo>
                  <a:lnTo>
                    <a:pt x="54" y="165"/>
                  </a:lnTo>
                  <a:lnTo>
                    <a:pt x="54" y="158"/>
                  </a:lnTo>
                  <a:lnTo>
                    <a:pt x="54" y="152"/>
                  </a:lnTo>
                  <a:lnTo>
                    <a:pt x="56" y="145"/>
                  </a:lnTo>
                  <a:lnTo>
                    <a:pt x="56" y="138"/>
                  </a:lnTo>
                  <a:lnTo>
                    <a:pt x="58" y="131"/>
                  </a:lnTo>
                  <a:lnTo>
                    <a:pt x="58" y="124"/>
                  </a:lnTo>
                  <a:lnTo>
                    <a:pt x="60" y="119"/>
                  </a:lnTo>
                  <a:lnTo>
                    <a:pt x="60" y="112"/>
                  </a:lnTo>
                  <a:lnTo>
                    <a:pt x="60" y="107"/>
                  </a:lnTo>
                  <a:lnTo>
                    <a:pt x="61" y="100"/>
                  </a:lnTo>
                  <a:lnTo>
                    <a:pt x="61" y="95"/>
                  </a:lnTo>
                  <a:lnTo>
                    <a:pt x="63" y="89"/>
                  </a:lnTo>
                  <a:lnTo>
                    <a:pt x="63" y="84"/>
                  </a:lnTo>
                  <a:lnTo>
                    <a:pt x="63" y="79"/>
                  </a:lnTo>
                  <a:lnTo>
                    <a:pt x="65" y="75"/>
                  </a:lnTo>
                  <a:lnTo>
                    <a:pt x="67" y="72"/>
                  </a:lnTo>
                  <a:lnTo>
                    <a:pt x="67" y="67"/>
                  </a:lnTo>
                  <a:lnTo>
                    <a:pt x="68" y="65"/>
                  </a:lnTo>
                  <a:lnTo>
                    <a:pt x="68" y="61"/>
                  </a:lnTo>
                  <a:lnTo>
                    <a:pt x="70" y="58"/>
                  </a:lnTo>
                  <a:lnTo>
                    <a:pt x="72" y="53"/>
                  </a:lnTo>
                  <a:lnTo>
                    <a:pt x="74" y="47"/>
                  </a:lnTo>
                  <a:lnTo>
                    <a:pt x="77" y="42"/>
                  </a:lnTo>
                  <a:lnTo>
                    <a:pt x="79" y="39"/>
                  </a:lnTo>
                  <a:lnTo>
                    <a:pt x="81" y="33"/>
                  </a:lnTo>
                  <a:lnTo>
                    <a:pt x="84" y="30"/>
                  </a:lnTo>
                  <a:lnTo>
                    <a:pt x="88" y="26"/>
                  </a:lnTo>
                  <a:lnTo>
                    <a:pt x="89" y="23"/>
                  </a:lnTo>
                  <a:lnTo>
                    <a:pt x="93" y="19"/>
                  </a:lnTo>
                  <a:lnTo>
                    <a:pt x="95" y="18"/>
                  </a:lnTo>
                  <a:lnTo>
                    <a:pt x="98" y="16"/>
                  </a:lnTo>
                  <a:lnTo>
                    <a:pt x="103" y="14"/>
                  </a:lnTo>
                  <a:lnTo>
                    <a:pt x="110" y="16"/>
                  </a:lnTo>
                  <a:lnTo>
                    <a:pt x="112" y="18"/>
                  </a:lnTo>
                  <a:lnTo>
                    <a:pt x="114" y="21"/>
                  </a:lnTo>
                  <a:lnTo>
                    <a:pt x="116" y="25"/>
                  </a:lnTo>
                  <a:lnTo>
                    <a:pt x="117" y="32"/>
                  </a:lnTo>
                  <a:lnTo>
                    <a:pt x="117" y="33"/>
                  </a:lnTo>
                  <a:lnTo>
                    <a:pt x="117" y="37"/>
                  </a:lnTo>
                  <a:lnTo>
                    <a:pt x="117" y="40"/>
                  </a:lnTo>
                  <a:lnTo>
                    <a:pt x="117" y="44"/>
                  </a:lnTo>
                  <a:lnTo>
                    <a:pt x="117" y="47"/>
                  </a:lnTo>
                  <a:lnTo>
                    <a:pt x="117" y="51"/>
                  </a:lnTo>
                  <a:lnTo>
                    <a:pt x="117" y="54"/>
                  </a:lnTo>
                  <a:lnTo>
                    <a:pt x="117" y="60"/>
                  </a:lnTo>
                  <a:lnTo>
                    <a:pt x="116" y="63"/>
                  </a:lnTo>
                  <a:lnTo>
                    <a:pt x="116" y="67"/>
                  </a:lnTo>
                  <a:lnTo>
                    <a:pt x="116" y="70"/>
                  </a:lnTo>
                  <a:lnTo>
                    <a:pt x="116" y="74"/>
                  </a:lnTo>
                  <a:lnTo>
                    <a:pt x="114" y="79"/>
                  </a:lnTo>
                  <a:lnTo>
                    <a:pt x="114" y="82"/>
                  </a:lnTo>
                  <a:lnTo>
                    <a:pt x="114" y="86"/>
                  </a:lnTo>
                  <a:lnTo>
                    <a:pt x="114" y="89"/>
                  </a:lnTo>
                  <a:lnTo>
                    <a:pt x="112" y="96"/>
                  </a:lnTo>
                  <a:lnTo>
                    <a:pt x="112" y="102"/>
                  </a:lnTo>
                  <a:lnTo>
                    <a:pt x="110" y="107"/>
                  </a:lnTo>
                  <a:lnTo>
                    <a:pt x="110" y="112"/>
                  </a:lnTo>
                  <a:lnTo>
                    <a:pt x="109" y="116"/>
                  </a:lnTo>
                  <a:lnTo>
                    <a:pt x="107" y="119"/>
                  </a:lnTo>
                  <a:lnTo>
                    <a:pt x="105" y="124"/>
                  </a:lnTo>
                  <a:lnTo>
                    <a:pt x="103" y="128"/>
                  </a:lnTo>
                  <a:lnTo>
                    <a:pt x="102" y="131"/>
                  </a:lnTo>
                  <a:lnTo>
                    <a:pt x="98" y="137"/>
                  </a:lnTo>
                  <a:lnTo>
                    <a:pt x="96" y="140"/>
                  </a:lnTo>
                  <a:lnTo>
                    <a:pt x="95" y="145"/>
                  </a:lnTo>
                  <a:lnTo>
                    <a:pt x="89" y="151"/>
                  </a:lnTo>
                  <a:lnTo>
                    <a:pt x="86" y="156"/>
                  </a:lnTo>
                  <a:lnTo>
                    <a:pt x="84" y="159"/>
                  </a:lnTo>
                  <a:lnTo>
                    <a:pt x="88" y="159"/>
                  </a:lnTo>
                  <a:lnTo>
                    <a:pt x="91" y="156"/>
                  </a:lnTo>
                  <a:lnTo>
                    <a:pt x="96" y="151"/>
                  </a:lnTo>
                  <a:lnTo>
                    <a:pt x="102" y="145"/>
                  </a:lnTo>
                  <a:lnTo>
                    <a:pt x="103" y="144"/>
                  </a:lnTo>
                  <a:lnTo>
                    <a:pt x="102" y="145"/>
                  </a:lnTo>
                  <a:lnTo>
                    <a:pt x="102" y="149"/>
                  </a:lnTo>
                  <a:lnTo>
                    <a:pt x="102" y="154"/>
                  </a:lnTo>
                  <a:lnTo>
                    <a:pt x="100" y="159"/>
                  </a:lnTo>
                  <a:lnTo>
                    <a:pt x="100" y="166"/>
                  </a:lnTo>
                  <a:lnTo>
                    <a:pt x="98" y="170"/>
                  </a:lnTo>
                  <a:lnTo>
                    <a:pt x="98" y="172"/>
                  </a:lnTo>
                  <a:lnTo>
                    <a:pt x="98" y="177"/>
                  </a:lnTo>
                  <a:lnTo>
                    <a:pt x="98" y="180"/>
                  </a:lnTo>
                  <a:lnTo>
                    <a:pt x="96" y="184"/>
                  </a:lnTo>
                  <a:lnTo>
                    <a:pt x="96" y="187"/>
                  </a:lnTo>
                  <a:lnTo>
                    <a:pt x="96" y="189"/>
                  </a:lnTo>
                  <a:lnTo>
                    <a:pt x="96" y="194"/>
                  </a:lnTo>
                  <a:lnTo>
                    <a:pt x="96" y="198"/>
                  </a:lnTo>
                  <a:lnTo>
                    <a:pt x="96" y="201"/>
                  </a:lnTo>
                  <a:lnTo>
                    <a:pt x="96" y="205"/>
                  </a:lnTo>
                  <a:lnTo>
                    <a:pt x="96" y="208"/>
                  </a:lnTo>
                  <a:lnTo>
                    <a:pt x="96" y="213"/>
                  </a:lnTo>
                  <a:lnTo>
                    <a:pt x="96" y="219"/>
                  </a:lnTo>
                  <a:lnTo>
                    <a:pt x="98" y="222"/>
                  </a:lnTo>
                  <a:lnTo>
                    <a:pt x="100" y="227"/>
                  </a:lnTo>
                  <a:lnTo>
                    <a:pt x="103" y="231"/>
                  </a:lnTo>
                  <a:lnTo>
                    <a:pt x="107" y="233"/>
                  </a:lnTo>
                  <a:lnTo>
                    <a:pt x="110" y="234"/>
                  </a:lnTo>
                  <a:lnTo>
                    <a:pt x="114" y="234"/>
                  </a:lnTo>
                  <a:lnTo>
                    <a:pt x="117" y="231"/>
                  </a:lnTo>
                  <a:lnTo>
                    <a:pt x="124" y="227"/>
                  </a:lnTo>
                  <a:lnTo>
                    <a:pt x="130" y="224"/>
                  </a:lnTo>
                  <a:lnTo>
                    <a:pt x="137" y="219"/>
                  </a:lnTo>
                  <a:lnTo>
                    <a:pt x="137" y="215"/>
                  </a:lnTo>
                  <a:lnTo>
                    <a:pt x="138" y="212"/>
                  </a:lnTo>
                  <a:lnTo>
                    <a:pt x="140" y="208"/>
                  </a:lnTo>
                  <a:lnTo>
                    <a:pt x="144" y="205"/>
                  </a:lnTo>
                  <a:lnTo>
                    <a:pt x="145" y="200"/>
                  </a:lnTo>
                  <a:lnTo>
                    <a:pt x="149" y="194"/>
                  </a:lnTo>
                  <a:lnTo>
                    <a:pt x="151" y="187"/>
                  </a:lnTo>
                  <a:lnTo>
                    <a:pt x="154" y="182"/>
                  </a:lnTo>
                  <a:lnTo>
                    <a:pt x="156" y="179"/>
                  </a:lnTo>
                  <a:lnTo>
                    <a:pt x="158" y="175"/>
                  </a:lnTo>
                  <a:lnTo>
                    <a:pt x="159" y="172"/>
                  </a:lnTo>
                  <a:lnTo>
                    <a:pt x="161" y="168"/>
                  </a:lnTo>
                  <a:lnTo>
                    <a:pt x="163" y="165"/>
                  </a:lnTo>
                  <a:lnTo>
                    <a:pt x="165" y="161"/>
                  </a:lnTo>
                  <a:lnTo>
                    <a:pt x="166" y="158"/>
                  </a:lnTo>
                  <a:lnTo>
                    <a:pt x="168" y="154"/>
                  </a:lnTo>
                  <a:lnTo>
                    <a:pt x="170" y="149"/>
                  </a:lnTo>
                  <a:lnTo>
                    <a:pt x="172" y="145"/>
                  </a:lnTo>
                  <a:lnTo>
                    <a:pt x="173" y="142"/>
                  </a:lnTo>
                  <a:lnTo>
                    <a:pt x="175" y="138"/>
                  </a:lnTo>
                  <a:lnTo>
                    <a:pt x="177" y="133"/>
                  </a:lnTo>
                  <a:lnTo>
                    <a:pt x="179" y="130"/>
                  </a:lnTo>
                  <a:lnTo>
                    <a:pt x="180" y="126"/>
                  </a:lnTo>
                  <a:lnTo>
                    <a:pt x="182" y="123"/>
                  </a:lnTo>
                  <a:lnTo>
                    <a:pt x="184" y="117"/>
                  </a:lnTo>
                  <a:lnTo>
                    <a:pt x="186" y="114"/>
                  </a:lnTo>
                  <a:lnTo>
                    <a:pt x="187" y="110"/>
                  </a:lnTo>
                  <a:lnTo>
                    <a:pt x="189" y="107"/>
                  </a:lnTo>
                  <a:lnTo>
                    <a:pt x="191" y="102"/>
                  </a:lnTo>
                  <a:lnTo>
                    <a:pt x="193" y="98"/>
                  </a:lnTo>
                  <a:lnTo>
                    <a:pt x="194" y="95"/>
                  </a:lnTo>
                  <a:lnTo>
                    <a:pt x="196" y="91"/>
                  </a:lnTo>
                  <a:lnTo>
                    <a:pt x="198" y="88"/>
                  </a:lnTo>
                  <a:lnTo>
                    <a:pt x="200" y="82"/>
                  </a:lnTo>
                  <a:lnTo>
                    <a:pt x="201" y="79"/>
                  </a:lnTo>
                  <a:lnTo>
                    <a:pt x="203" y="75"/>
                  </a:lnTo>
                  <a:lnTo>
                    <a:pt x="207" y="68"/>
                  </a:lnTo>
                  <a:lnTo>
                    <a:pt x="210" y="63"/>
                  </a:lnTo>
                  <a:lnTo>
                    <a:pt x="212" y="56"/>
                  </a:lnTo>
                  <a:lnTo>
                    <a:pt x="215" y="51"/>
                  </a:lnTo>
                  <a:lnTo>
                    <a:pt x="217" y="46"/>
                  </a:lnTo>
                  <a:lnTo>
                    <a:pt x="221" y="42"/>
                  </a:lnTo>
                  <a:lnTo>
                    <a:pt x="222" y="37"/>
                  </a:lnTo>
                  <a:lnTo>
                    <a:pt x="226" y="33"/>
                  </a:lnTo>
                  <a:lnTo>
                    <a:pt x="228" y="32"/>
                  </a:lnTo>
                  <a:lnTo>
                    <a:pt x="229" y="32"/>
                  </a:lnTo>
                  <a:lnTo>
                    <a:pt x="235" y="25"/>
                  </a:lnTo>
                  <a:lnTo>
                    <a:pt x="242" y="21"/>
                  </a:lnTo>
                  <a:lnTo>
                    <a:pt x="245" y="19"/>
                  </a:lnTo>
                  <a:lnTo>
                    <a:pt x="249" y="18"/>
                  </a:lnTo>
                  <a:lnTo>
                    <a:pt x="252" y="16"/>
                  </a:lnTo>
                  <a:lnTo>
                    <a:pt x="256" y="16"/>
                  </a:lnTo>
                  <a:lnTo>
                    <a:pt x="261" y="14"/>
                  </a:lnTo>
                  <a:lnTo>
                    <a:pt x="268" y="16"/>
                  </a:lnTo>
                  <a:lnTo>
                    <a:pt x="270" y="18"/>
                  </a:lnTo>
                  <a:lnTo>
                    <a:pt x="273" y="19"/>
                  </a:lnTo>
                  <a:lnTo>
                    <a:pt x="275" y="23"/>
                  </a:lnTo>
                  <a:lnTo>
                    <a:pt x="277" y="26"/>
                  </a:lnTo>
                  <a:lnTo>
                    <a:pt x="277" y="30"/>
                  </a:lnTo>
                  <a:lnTo>
                    <a:pt x="277" y="33"/>
                  </a:lnTo>
                  <a:lnTo>
                    <a:pt x="277" y="39"/>
                  </a:lnTo>
                  <a:lnTo>
                    <a:pt x="277" y="44"/>
                  </a:lnTo>
                  <a:lnTo>
                    <a:pt x="275" y="51"/>
                  </a:lnTo>
                  <a:lnTo>
                    <a:pt x="273" y="56"/>
                  </a:lnTo>
                  <a:lnTo>
                    <a:pt x="271" y="61"/>
                  </a:lnTo>
                  <a:lnTo>
                    <a:pt x="270" y="68"/>
                  </a:lnTo>
                  <a:lnTo>
                    <a:pt x="268" y="74"/>
                  </a:lnTo>
                  <a:lnTo>
                    <a:pt x="264" y="79"/>
                  </a:lnTo>
                  <a:lnTo>
                    <a:pt x="263" y="84"/>
                  </a:lnTo>
                  <a:lnTo>
                    <a:pt x="261" y="91"/>
                  </a:lnTo>
                  <a:lnTo>
                    <a:pt x="259" y="96"/>
                  </a:lnTo>
                  <a:lnTo>
                    <a:pt x="256" y="102"/>
                  </a:lnTo>
                  <a:lnTo>
                    <a:pt x="254" y="107"/>
                  </a:lnTo>
                  <a:lnTo>
                    <a:pt x="254" y="112"/>
                  </a:lnTo>
                  <a:lnTo>
                    <a:pt x="252" y="116"/>
                  </a:lnTo>
                  <a:lnTo>
                    <a:pt x="249" y="121"/>
                  </a:lnTo>
                  <a:lnTo>
                    <a:pt x="247" y="124"/>
                  </a:lnTo>
                  <a:lnTo>
                    <a:pt x="243" y="130"/>
                  </a:lnTo>
                  <a:lnTo>
                    <a:pt x="240" y="133"/>
                  </a:lnTo>
                  <a:lnTo>
                    <a:pt x="235" y="138"/>
                  </a:lnTo>
                  <a:lnTo>
                    <a:pt x="231" y="142"/>
                  </a:lnTo>
                  <a:lnTo>
                    <a:pt x="228" y="145"/>
                  </a:lnTo>
                  <a:lnTo>
                    <a:pt x="224" y="149"/>
                  </a:lnTo>
                  <a:lnTo>
                    <a:pt x="221" y="151"/>
                  </a:lnTo>
                  <a:lnTo>
                    <a:pt x="217" y="154"/>
                  </a:lnTo>
                  <a:lnTo>
                    <a:pt x="215" y="158"/>
                  </a:lnTo>
                  <a:lnTo>
                    <a:pt x="210" y="159"/>
                  </a:lnTo>
                  <a:lnTo>
                    <a:pt x="212" y="161"/>
                  </a:lnTo>
                  <a:lnTo>
                    <a:pt x="214" y="159"/>
                  </a:lnTo>
                  <a:lnTo>
                    <a:pt x="217" y="158"/>
                  </a:lnTo>
                  <a:lnTo>
                    <a:pt x="221" y="156"/>
                  </a:lnTo>
                  <a:lnTo>
                    <a:pt x="224" y="156"/>
                  </a:lnTo>
                  <a:lnTo>
                    <a:pt x="228" y="152"/>
                  </a:lnTo>
                  <a:lnTo>
                    <a:pt x="231" y="152"/>
                  </a:lnTo>
                  <a:lnTo>
                    <a:pt x="233" y="152"/>
                  </a:lnTo>
                  <a:lnTo>
                    <a:pt x="235" y="156"/>
                  </a:lnTo>
                  <a:lnTo>
                    <a:pt x="233" y="158"/>
                  </a:lnTo>
                  <a:lnTo>
                    <a:pt x="231" y="159"/>
                  </a:lnTo>
                  <a:lnTo>
                    <a:pt x="229" y="165"/>
                  </a:lnTo>
                  <a:lnTo>
                    <a:pt x="226" y="170"/>
                  </a:lnTo>
                  <a:lnTo>
                    <a:pt x="222" y="173"/>
                  </a:lnTo>
                  <a:lnTo>
                    <a:pt x="219" y="180"/>
                  </a:lnTo>
                  <a:lnTo>
                    <a:pt x="217" y="184"/>
                  </a:lnTo>
                  <a:lnTo>
                    <a:pt x="215" y="187"/>
                  </a:lnTo>
                  <a:lnTo>
                    <a:pt x="214" y="191"/>
                  </a:lnTo>
                  <a:lnTo>
                    <a:pt x="212" y="194"/>
                  </a:lnTo>
                  <a:lnTo>
                    <a:pt x="207" y="201"/>
                  </a:lnTo>
                  <a:lnTo>
                    <a:pt x="203" y="208"/>
                  </a:lnTo>
                  <a:lnTo>
                    <a:pt x="198" y="213"/>
                  </a:lnTo>
                  <a:lnTo>
                    <a:pt x="196" y="220"/>
                  </a:lnTo>
                  <a:lnTo>
                    <a:pt x="191" y="227"/>
                  </a:lnTo>
                  <a:lnTo>
                    <a:pt x="189" y="233"/>
                  </a:lnTo>
                  <a:lnTo>
                    <a:pt x="187" y="236"/>
                  </a:lnTo>
                  <a:lnTo>
                    <a:pt x="187" y="241"/>
                  </a:lnTo>
                  <a:lnTo>
                    <a:pt x="187" y="247"/>
                  </a:lnTo>
                  <a:lnTo>
                    <a:pt x="189" y="254"/>
                  </a:lnTo>
                  <a:lnTo>
                    <a:pt x="191" y="257"/>
                  </a:lnTo>
                  <a:lnTo>
                    <a:pt x="196" y="262"/>
                  </a:lnTo>
                  <a:lnTo>
                    <a:pt x="200" y="264"/>
                  </a:lnTo>
                  <a:lnTo>
                    <a:pt x="205" y="268"/>
                  </a:lnTo>
                  <a:lnTo>
                    <a:pt x="210" y="268"/>
                  </a:lnTo>
                  <a:lnTo>
                    <a:pt x="215" y="268"/>
                  </a:lnTo>
                  <a:lnTo>
                    <a:pt x="219" y="264"/>
                  </a:lnTo>
                  <a:lnTo>
                    <a:pt x="224" y="259"/>
                  </a:lnTo>
                  <a:lnTo>
                    <a:pt x="228" y="255"/>
                  </a:lnTo>
                  <a:lnTo>
                    <a:pt x="231" y="250"/>
                  </a:lnTo>
                  <a:lnTo>
                    <a:pt x="235" y="245"/>
                  </a:lnTo>
                  <a:lnTo>
                    <a:pt x="240" y="241"/>
                  </a:lnTo>
                  <a:lnTo>
                    <a:pt x="245" y="236"/>
                  </a:lnTo>
                  <a:lnTo>
                    <a:pt x="249" y="229"/>
                  </a:lnTo>
                  <a:lnTo>
                    <a:pt x="256" y="224"/>
                  </a:lnTo>
                  <a:lnTo>
                    <a:pt x="261" y="217"/>
                  </a:lnTo>
                  <a:lnTo>
                    <a:pt x="266" y="210"/>
                  </a:lnTo>
                  <a:lnTo>
                    <a:pt x="273" y="205"/>
                  </a:lnTo>
                  <a:lnTo>
                    <a:pt x="278" y="198"/>
                  </a:lnTo>
                  <a:lnTo>
                    <a:pt x="284" y="191"/>
                  </a:lnTo>
                  <a:lnTo>
                    <a:pt x="287" y="187"/>
                  </a:lnTo>
                  <a:lnTo>
                    <a:pt x="291" y="184"/>
                  </a:lnTo>
                  <a:lnTo>
                    <a:pt x="292" y="180"/>
                  </a:lnTo>
                  <a:lnTo>
                    <a:pt x="296" y="177"/>
                  </a:lnTo>
                  <a:lnTo>
                    <a:pt x="301" y="170"/>
                  </a:lnTo>
                  <a:lnTo>
                    <a:pt x="308" y="165"/>
                  </a:lnTo>
                  <a:lnTo>
                    <a:pt x="312" y="158"/>
                  </a:lnTo>
                  <a:lnTo>
                    <a:pt x="319" y="151"/>
                  </a:lnTo>
                  <a:lnTo>
                    <a:pt x="324" y="145"/>
                  </a:lnTo>
                  <a:lnTo>
                    <a:pt x="329" y="140"/>
                  </a:lnTo>
                  <a:lnTo>
                    <a:pt x="333" y="135"/>
                  </a:lnTo>
                  <a:lnTo>
                    <a:pt x="338" y="131"/>
                  </a:lnTo>
                  <a:lnTo>
                    <a:pt x="341" y="128"/>
                  </a:lnTo>
                  <a:lnTo>
                    <a:pt x="345" y="124"/>
                  </a:lnTo>
                  <a:lnTo>
                    <a:pt x="350" y="121"/>
                  </a:lnTo>
                  <a:lnTo>
                    <a:pt x="355" y="119"/>
                  </a:lnTo>
                  <a:lnTo>
                    <a:pt x="359" y="119"/>
                  </a:lnTo>
                  <a:lnTo>
                    <a:pt x="364" y="119"/>
                  </a:lnTo>
                  <a:lnTo>
                    <a:pt x="368" y="121"/>
                  </a:lnTo>
                  <a:lnTo>
                    <a:pt x="371" y="124"/>
                  </a:lnTo>
                  <a:lnTo>
                    <a:pt x="373" y="128"/>
                  </a:lnTo>
                  <a:lnTo>
                    <a:pt x="375" y="131"/>
                  </a:lnTo>
                  <a:lnTo>
                    <a:pt x="375" y="135"/>
                  </a:lnTo>
                  <a:lnTo>
                    <a:pt x="376" y="138"/>
                  </a:lnTo>
                  <a:lnTo>
                    <a:pt x="376" y="142"/>
                  </a:lnTo>
                  <a:lnTo>
                    <a:pt x="376" y="147"/>
                  </a:lnTo>
                  <a:lnTo>
                    <a:pt x="375" y="149"/>
                  </a:lnTo>
                  <a:lnTo>
                    <a:pt x="373" y="152"/>
                  </a:lnTo>
                  <a:lnTo>
                    <a:pt x="371" y="156"/>
                  </a:lnTo>
                  <a:lnTo>
                    <a:pt x="369" y="159"/>
                  </a:lnTo>
                  <a:lnTo>
                    <a:pt x="364" y="163"/>
                  </a:lnTo>
                  <a:lnTo>
                    <a:pt x="362" y="168"/>
                  </a:lnTo>
                  <a:lnTo>
                    <a:pt x="359" y="173"/>
                  </a:lnTo>
                  <a:lnTo>
                    <a:pt x="354" y="180"/>
                  </a:lnTo>
                  <a:lnTo>
                    <a:pt x="348" y="186"/>
                  </a:lnTo>
                  <a:lnTo>
                    <a:pt x="345" y="193"/>
                  </a:lnTo>
                  <a:lnTo>
                    <a:pt x="338" y="198"/>
                  </a:lnTo>
                  <a:lnTo>
                    <a:pt x="333" y="205"/>
                  </a:lnTo>
                  <a:lnTo>
                    <a:pt x="327" y="212"/>
                  </a:lnTo>
                  <a:lnTo>
                    <a:pt x="322" y="219"/>
                  </a:lnTo>
                  <a:lnTo>
                    <a:pt x="319" y="222"/>
                  </a:lnTo>
                  <a:lnTo>
                    <a:pt x="317" y="226"/>
                  </a:lnTo>
                  <a:lnTo>
                    <a:pt x="313" y="229"/>
                  </a:lnTo>
                  <a:lnTo>
                    <a:pt x="310" y="233"/>
                  </a:lnTo>
                  <a:lnTo>
                    <a:pt x="305" y="240"/>
                  </a:lnTo>
                  <a:lnTo>
                    <a:pt x="298" y="247"/>
                  </a:lnTo>
                  <a:lnTo>
                    <a:pt x="292" y="254"/>
                  </a:lnTo>
                  <a:lnTo>
                    <a:pt x="287" y="261"/>
                  </a:lnTo>
                  <a:lnTo>
                    <a:pt x="282" y="266"/>
                  </a:lnTo>
                  <a:lnTo>
                    <a:pt x="275" y="273"/>
                  </a:lnTo>
                  <a:lnTo>
                    <a:pt x="270" y="278"/>
                  </a:lnTo>
                  <a:lnTo>
                    <a:pt x="266" y="285"/>
                  </a:lnTo>
                  <a:lnTo>
                    <a:pt x="263" y="289"/>
                  </a:lnTo>
                  <a:lnTo>
                    <a:pt x="259" y="294"/>
                  </a:lnTo>
                  <a:lnTo>
                    <a:pt x="254" y="297"/>
                  </a:lnTo>
                  <a:lnTo>
                    <a:pt x="252" y="303"/>
                  </a:lnTo>
                  <a:lnTo>
                    <a:pt x="249" y="306"/>
                  </a:lnTo>
                  <a:lnTo>
                    <a:pt x="249" y="308"/>
                  </a:lnTo>
                  <a:lnTo>
                    <a:pt x="247" y="310"/>
                  </a:lnTo>
                  <a:lnTo>
                    <a:pt x="247" y="313"/>
                  </a:lnTo>
                  <a:lnTo>
                    <a:pt x="247" y="317"/>
                  </a:lnTo>
                  <a:lnTo>
                    <a:pt x="249" y="320"/>
                  </a:lnTo>
                  <a:lnTo>
                    <a:pt x="252" y="322"/>
                  </a:lnTo>
                  <a:lnTo>
                    <a:pt x="256" y="325"/>
                  </a:lnTo>
                  <a:lnTo>
                    <a:pt x="261" y="325"/>
                  </a:lnTo>
                  <a:lnTo>
                    <a:pt x="266" y="327"/>
                  </a:lnTo>
                  <a:lnTo>
                    <a:pt x="270" y="325"/>
                  </a:lnTo>
                  <a:lnTo>
                    <a:pt x="273" y="325"/>
                  </a:lnTo>
                  <a:lnTo>
                    <a:pt x="275" y="325"/>
                  </a:lnTo>
                  <a:lnTo>
                    <a:pt x="280" y="324"/>
                  </a:lnTo>
                  <a:lnTo>
                    <a:pt x="282" y="322"/>
                  </a:lnTo>
                  <a:lnTo>
                    <a:pt x="285" y="320"/>
                  </a:lnTo>
                  <a:lnTo>
                    <a:pt x="289" y="320"/>
                  </a:lnTo>
                  <a:lnTo>
                    <a:pt x="292" y="318"/>
                  </a:lnTo>
                  <a:lnTo>
                    <a:pt x="296" y="317"/>
                  </a:lnTo>
                  <a:lnTo>
                    <a:pt x="301" y="317"/>
                  </a:lnTo>
                  <a:lnTo>
                    <a:pt x="305" y="313"/>
                  </a:lnTo>
                  <a:lnTo>
                    <a:pt x="310" y="313"/>
                  </a:lnTo>
                  <a:lnTo>
                    <a:pt x="313" y="311"/>
                  </a:lnTo>
                  <a:lnTo>
                    <a:pt x="319" y="310"/>
                  </a:lnTo>
                  <a:lnTo>
                    <a:pt x="322" y="308"/>
                  </a:lnTo>
                  <a:lnTo>
                    <a:pt x="327" y="306"/>
                  </a:lnTo>
                  <a:lnTo>
                    <a:pt x="331" y="304"/>
                  </a:lnTo>
                  <a:lnTo>
                    <a:pt x="336" y="303"/>
                  </a:lnTo>
                  <a:lnTo>
                    <a:pt x="340" y="303"/>
                  </a:lnTo>
                  <a:lnTo>
                    <a:pt x="345" y="301"/>
                  </a:lnTo>
                  <a:lnTo>
                    <a:pt x="348" y="299"/>
                  </a:lnTo>
                  <a:lnTo>
                    <a:pt x="354" y="297"/>
                  </a:lnTo>
                  <a:lnTo>
                    <a:pt x="357" y="297"/>
                  </a:lnTo>
                  <a:lnTo>
                    <a:pt x="362" y="297"/>
                  </a:lnTo>
                  <a:lnTo>
                    <a:pt x="364" y="296"/>
                  </a:lnTo>
                  <a:lnTo>
                    <a:pt x="369" y="294"/>
                  </a:lnTo>
                  <a:lnTo>
                    <a:pt x="371" y="294"/>
                  </a:lnTo>
                  <a:lnTo>
                    <a:pt x="375" y="294"/>
                  </a:lnTo>
                  <a:lnTo>
                    <a:pt x="378" y="294"/>
                  </a:lnTo>
                  <a:lnTo>
                    <a:pt x="383" y="297"/>
                  </a:lnTo>
                  <a:lnTo>
                    <a:pt x="387" y="299"/>
                  </a:lnTo>
                  <a:lnTo>
                    <a:pt x="387" y="303"/>
                  </a:lnTo>
                  <a:lnTo>
                    <a:pt x="387" y="306"/>
                  </a:lnTo>
                  <a:lnTo>
                    <a:pt x="387" y="311"/>
                  </a:lnTo>
                  <a:lnTo>
                    <a:pt x="383" y="317"/>
                  </a:lnTo>
                  <a:lnTo>
                    <a:pt x="380" y="322"/>
                  </a:lnTo>
                  <a:lnTo>
                    <a:pt x="376" y="327"/>
                  </a:lnTo>
                  <a:lnTo>
                    <a:pt x="373" y="332"/>
                  </a:lnTo>
                  <a:lnTo>
                    <a:pt x="369" y="334"/>
                  </a:lnTo>
                  <a:lnTo>
                    <a:pt x="366" y="338"/>
                  </a:lnTo>
                  <a:lnTo>
                    <a:pt x="362" y="339"/>
                  </a:lnTo>
                  <a:lnTo>
                    <a:pt x="359" y="343"/>
                  </a:lnTo>
                  <a:lnTo>
                    <a:pt x="354" y="345"/>
                  </a:lnTo>
                  <a:lnTo>
                    <a:pt x="348" y="348"/>
                  </a:lnTo>
                  <a:lnTo>
                    <a:pt x="345" y="352"/>
                  </a:lnTo>
                  <a:lnTo>
                    <a:pt x="340" y="355"/>
                  </a:lnTo>
                  <a:lnTo>
                    <a:pt x="333" y="357"/>
                  </a:lnTo>
                  <a:lnTo>
                    <a:pt x="327" y="359"/>
                  </a:lnTo>
                  <a:lnTo>
                    <a:pt x="320" y="360"/>
                  </a:lnTo>
                  <a:lnTo>
                    <a:pt x="315" y="364"/>
                  </a:lnTo>
                  <a:lnTo>
                    <a:pt x="308" y="366"/>
                  </a:lnTo>
                  <a:lnTo>
                    <a:pt x="303" y="367"/>
                  </a:lnTo>
                  <a:lnTo>
                    <a:pt x="298" y="367"/>
                  </a:lnTo>
                  <a:lnTo>
                    <a:pt x="291" y="369"/>
                  </a:lnTo>
                  <a:lnTo>
                    <a:pt x="284" y="369"/>
                  </a:lnTo>
                  <a:lnTo>
                    <a:pt x="278" y="373"/>
                  </a:lnTo>
                  <a:lnTo>
                    <a:pt x="271" y="374"/>
                  </a:lnTo>
                  <a:lnTo>
                    <a:pt x="266" y="378"/>
                  </a:lnTo>
                  <a:lnTo>
                    <a:pt x="259" y="381"/>
                  </a:lnTo>
                  <a:lnTo>
                    <a:pt x="252" y="387"/>
                  </a:lnTo>
                  <a:lnTo>
                    <a:pt x="245" y="392"/>
                  </a:lnTo>
                  <a:lnTo>
                    <a:pt x="240" y="397"/>
                  </a:lnTo>
                  <a:lnTo>
                    <a:pt x="233" y="402"/>
                  </a:lnTo>
                  <a:lnTo>
                    <a:pt x="228" y="408"/>
                  </a:lnTo>
                  <a:lnTo>
                    <a:pt x="222" y="411"/>
                  </a:lnTo>
                  <a:lnTo>
                    <a:pt x="217" y="416"/>
                  </a:lnTo>
                  <a:lnTo>
                    <a:pt x="212" y="422"/>
                  </a:lnTo>
                  <a:lnTo>
                    <a:pt x="208" y="425"/>
                  </a:lnTo>
                  <a:lnTo>
                    <a:pt x="203" y="429"/>
                  </a:lnTo>
                  <a:lnTo>
                    <a:pt x="201" y="434"/>
                  </a:lnTo>
                  <a:lnTo>
                    <a:pt x="198" y="436"/>
                  </a:lnTo>
                  <a:lnTo>
                    <a:pt x="193" y="439"/>
                  </a:lnTo>
                  <a:lnTo>
                    <a:pt x="187" y="441"/>
                  </a:lnTo>
                  <a:lnTo>
                    <a:pt x="182" y="444"/>
                  </a:lnTo>
                  <a:lnTo>
                    <a:pt x="179" y="444"/>
                  </a:lnTo>
                  <a:lnTo>
                    <a:pt x="173" y="446"/>
                  </a:lnTo>
                  <a:lnTo>
                    <a:pt x="170" y="448"/>
                  </a:lnTo>
                  <a:lnTo>
                    <a:pt x="166" y="450"/>
                  </a:lnTo>
                  <a:lnTo>
                    <a:pt x="163" y="450"/>
                  </a:lnTo>
                  <a:lnTo>
                    <a:pt x="159" y="451"/>
                  </a:lnTo>
                  <a:lnTo>
                    <a:pt x="156" y="453"/>
                  </a:lnTo>
                  <a:lnTo>
                    <a:pt x="152" y="453"/>
                  </a:lnTo>
                  <a:lnTo>
                    <a:pt x="149" y="455"/>
                  </a:lnTo>
                  <a:lnTo>
                    <a:pt x="145" y="455"/>
                  </a:lnTo>
                  <a:lnTo>
                    <a:pt x="140" y="457"/>
                  </a:lnTo>
                  <a:lnTo>
                    <a:pt x="137" y="457"/>
                  </a:lnTo>
                  <a:lnTo>
                    <a:pt x="133" y="457"/>
                  </a:lnTo>
                  <a:lnTo>
                    <a:pt x="130" y="458"/>
                  </a:lnTo>
                  <a:lnTo>
                    <a:pt x="126" y="458"/>
                  </a:lnTo>
                  <a:lnTo>
                    <a:pt x="124" y="460"/>
                  </a:lnTo>
                  <a:lnTo>
                    <a:pt x="117" y="460"/>
                  </a:lnTo>
                  <a:lnTo>
                    <a:pt x="112" y="460"/>
                  </a:lnTo>
                  <a:lnTo>
                    <a:pt x="109" y="460"/>
                  </a:lnTo>
                  <a:lnTo>
                    <a:pt x="105" y="460"/>
                  </a:lnTo>
                  <a:lnTo>
                    <a:pt x="100" y="460"/>
                  </a:lnTo>
                  <a:lnTo>
                    <a:pt x="95" y="458"/>
                  </a:lnTo>
                  <a:lnTo>
                    <a:pt x="89" y="458"/>
                  </a:lnTo>
                  <a:lnTo>
                    <a:pt x="84" y="458"/>
                  </a:lnTo>
                  <a:lnTo>
                    <a:pt x="79" y="458"/>
                  </a:lnTo>
                  <a:lnTo>
                    <a:pt x="75" y="458"/>
                  </a:lnTo>
                  <a:lnTo>
                    <a:pt x="77" y="460"/>
                  </a:lnTo>
                  <a:lnTo>
                    <a:pt x="79" y="462"/>
                  </a:lnTo>
                  <a:lnTo>
                    <a:pt x="82" y="462"/>
                  </a:lnTo>
                  <a:lnTo>
                    <a:pt x="86" y="464"/>
                  </a:lnTo>
                  <a:lnTo>
                    <a:pt x="89" y="464"/>
                  </a:lnTo>
                  <a:lnTo>
                    <a:pt x="95" y="464"/>
                  </a:lnTo>
                  <a:lnTo>
                    <a:pt x="102" y="464"/>
                  </a:lnTo>
                  <a:lnTo>
                    <a:pt x="107" y="464"/>
                  </a:lnTo>
                  <a:lnTo>
                    <a:pt x="112" y="464"/>
                  </a:lnTo>
                  <a:lnTo>
                    <a:pt x="117" y="464"/>
                  </a:lnTo>
                  <a:lnTo>
                    <a:pt x="124" y="464"/>
                  </a:lnTo>
                  <a:lnTo>
                    <a:pt x="130" y="464"/>
                  </a:lnTo>
                  <a:lnTo>
                    <a:pt x="137" y="462"/>
                  </a:lnTo>
                  <a:lnTo>
                    <a:pt x="142" y="462"/>
                  </a:lnTo>
                  <a:lnTo>
                    <a:pt x="147" y="460"/>
                  </a:lnTo>
                  <a:lnTo>
                    <a:pt x="152" y="460"/>
                  </a:lnTo>
                  <a:lnTo>
                    <a:pt x="156" y="460"/>
                  </a:lnTo>
                  <a:lnTo>
                    <a:pt x="161" y="458"/>
                  </a:lnTo>
                  <a:lnTo>
                    <a:pt x="166" y="457"/>
                  </a:lnTo>
                  <a:lnTo>
                    <a:pt x="170" y="457"/>
                  </a:lnTo>
                  <a:lnTo>
                    <a:pt x="175" y="453"/>
                  </a:lnTo>
                  <a:lnTo>
                    <a:pt x="180" y="453"/>
                  </a:lnTo>
                  <a:lnTo>
                    <a:pt x="184" y="451"/>
                  </a:lnTo>
                  <a:lnTo>
                    <a:pt x="189" y="450"/>
                  </a:lnTo>
                  <a:lnTo>
                    <a:pt x="193" y="448"/>
                  </a:lnTo>
                  <a:lnTo>
                    <a:pt x="198" y="446"/>
                  </a:lnTo>
                  <a:lnTo>
                    <a:pt x="201" y="444"/>
                  </a:lnTo>
                  <a:lnTo>
                    <a:pt x="205" y="443"/>
                  </a:lnTo>
                  <a:lnTo>
                    <a:pt x="210" y="439"/>
                  </a:lnTo>
                  <a:lnTo>
                    <a:pt x="215" y="436"/>
                  </a:lnTo>
                  <a:lnTo>
                    <a:pt x="217" y="434"/>
                  </a:lnTo>
                  <a:lnTo>
                    <a:pt x="221" y="430"/>
                  </a:lnTo>
                  <a:lnTo>
                    <a:pt x="224" y="427"/>
                  </a:lnTo>
                  <a:lnTo>
                    <a:pt x="229" y="423"/>
                  </a:lnTo>
                  <a:lnTo>
                    <a:pt x="233" y="418"/>
                  </a:lnTo>
                  <a:lnTo>
                    <a:pt x="238" y="413"/>
                  </a:lnTo>
                  <a:lnTo>
                    <a:pt x="243" y="409"/>
                  </a:lnTo>
                  <a:lnTo>
                    <a:pt x="249" y="404"/>
                  </a:lnTo>
                  <a:lnTo>
                    <a:pt x="256" y="399"/>
                  </a:lnTo>
                  <a:lnTo>
                    <a:pt x="261" y="395"/>
                  </a:lnTo>
                  <a:lnTo>
                    <a:pt x="266" y="390"/>
                  </a:lnTo>
                  <a:lnTo>
                    <a:pt x="273" y="387"/>
                  </a:lnTo>
                  <a:lnTo>
                    <a:pt x="277" y="383"/>
                  </a:lnTo>
                  <a:lnTo>
                    <a:pt x="282" y="381"/>
                  </a:lnTo>
                  <a:lnTo>
                    <a:pt x="287" y="380"/>
                  </a:lnTo>
                  <a:lnTo>
                    <a:pt x="291" y="378"/>
                  </a:lnTo>
                  <a:lnTo>
                    <a:pt x="294" y="376"/>
                  </a:lnTo>
                  <a:lnTo>
                    <a:pt x="299" y="376"/>
                  </a:lnTo>
                  <a:lnTo>
                    <a:pt x="303" y="374"/>
                  </a:lnTo>
                  <a:lnTo>
                    <a:pt x="308" y="373"/>
                  </a:lnTo>
                  <a:lnTo>
                    <a:pt x="313" y="371"/>
                  </a:lnTo>
                  <a:lnTo>
                    <a:pt x="319" y="369"/>
                  </a:lnTo>
                  <a:lnTo>
                    <a:pt x="326" y="367"/>
                  </a:lnTo>
                  <a:lnTo>
                    <a:pt x="331" y="366"/>
                  </a:lnTo>
                  <a:lnTo>
                    <a:pt x="338" y="362"/>
                  </a:lnTo>
                  <a:lnTo>
                    <a:pt x="343" y="360"/>
                  </a:lnTo>
                  <a:lnTo>
                    <a:pt x="348" y="359"/>
                  </a:lnTo>
                  <a:lnTo>
                    <a:pt x="354" y="355"/>
                  </a:lnTo>
                  <a:lnTo>
                    <a:pt x="359" y="352"/>
                  </a:lnTo>
                  <a:lnTo>
                    <a:pt x="364" y="350"/>
                  </a:lnTo>
                  <a:lnTo>
                    <a:pt x="368" y="346"/>
                  </a:lnTo>
                  <a:lnTo>
                    <a:pt x="371" y="343"/>
                  </a:lnTo>
                  <a:lnTo>
                    <a:pt x="375" y="339"/>
                  </a:lnTo>
                  <a:lnTo>
                    <a:pt x="376" y="338"/>
                  </a:lnTo>
                  <a:lnTo>
                    <a:pt x="380" y="332"/>
                  </a:lnTo>
                  <a:lnTo>
                    <a:pt x="383" y="331"/>
                  </a:lnTo>
                  <a:lnTo>
                    <a:pt x="389" y="324"/>
                  </a:lnTo>
                  <a:lnTo>
                    <a:pt x="392" y="317"/>
                  </a:lnTo>
                  <a:lnTo>
                    <a:pt x="396" y="310"/>
                  </a:lnTo>
                  <a:lnTo>
                    <a:pt x="397" y="304"/>
                  </a:lnTo>
                  <a:lnTo>
                    <a:pt x="397" y="297"/>
                  </a:lnTo>
                  <a:lnTo>
                    <a:pt x="396" y="294"/>
                  </a:lnTo>
                  <a:lnTo>
                    <a:pt x="392" y="289"/>
                  </a:lnTo>
                  <a:lnTo>
                    <a:pt x="387" y="287"/>
                  </a:lnTo>
                  <a:lnTo>
                    <a:pt x="383" y="285"/>
                  </a:lnTo>
                  <a:lnTo>
                    <a:pt x="378" y="285"/>
                  </a:lnTo>
                  <a:lnTo>
                    <a:pt x="375" y="285"/>
                  </a:lnTo>
                  <a:lnTo>
                    <a:pt x="371" y="285"/>
                  </a:lnTo>
                  <a:lnTo>
                    <a:pt x="366" y="285"/>
                  </a:lnTo>
                  <a:lnTo>
                    <a:pt x="361" y="285"/>
                  </a:lnTo>
                  <a:lnTo>
                    <a:pt x="355" y="287"/>
                  </a:lnTo>
                  <a:lnTo>
                    <a:pt x="352" y="289"/>
                  </a:lnTo>
                  <a:lnTo>
                    <a:pt x="348" y="289"/>
                  </a:lnTo>
                  <a:lnTo>
                    <a:pt x="343" y="290"/>
                  </a:lnTo>
                  <a:lnTo>
                    <a:pt x="340" y="292"/>
                  </a:lnTo>
                  <a:lnTo>
                    <a:pt x="338" y="294"/>
                  </a:lnTo>
                  <a:lnTo>
                    <a:pt x="333" y="297"/>
                  </a:lnTo>
                  <a:lnTo>
                    <a:pt x="329" y="299"/>
                  </a:lnTo>
                  <a:lnTo>
                    <a:pt x="324" y="301"/>
                  </a:lnTo>
                  <a:lnTo>
                    <a:pt x="319" y="304"/>
                  </a:lnTo>
                  <a:lnTo>
                    <a:pt x="313" y="306"/>
                  </a:lnTo>
                  <a:lnTo>
                    <a:pt x="308" y="308"/>
                  </a:lnTo>
                  <a:lnTo>
                    <a:pt x="303" y="310"/>
                  </a:lnTo>
                  <a:lnTo>
                    <a:pt x="298" y="313"/>
                  </a:lnTo>
                  <a:lnTo>
                    <a:pt x="291" y="313"/>
                  </a:lnTo>
                  <a:lnTo>
                    <a:pt x="285" y="317"/>
                  </a:lnTo>
                  <a:lnTo>
                    <a:pt x="278" y="317"/>
                  </a:lnTo>
                  <a:lnTo>
                    <a:pt x="275" y="318"/>
                  </a:lnTo>
                  <a:lnTo>
                    <a:pt x="270" y="318"/>
                  </a:lnTo>
                  <a:lnTo>
                    <a:pt x="268" y="320"/>
                  </a:lnTo>
                  <a:lnTo>
                    <a:pt x="264" y="318"/>
                  </a:lnTo>
                  <a:lnTo>
                    <a:pt x="263" y="318"/>
                  </a:lnTo>
                  <a:lnTo>
                    <a:pt x="263" y="315"/>
                  </a:lnTo>
                  <a:lnTo>
                    <a:pt x="266" y="310"/>
                  </a:lnTo>
                  <a:lnTo>
                    <a:pt x="268" y="306"/>
                  </a:lnTo>
                  <a:lnTo>
                    <a:pt x="270" y="301"/>
                  </a:lnTo>
                  <a:lnTo>
                    <a:pt x="273" y="296"/>
                  </a:lnTo>
                  <a:lnTo>
                    <a:pt x="277" y="292"/>
                  </a:lnTo>
                  <a:lnTo>
                    <a:pt x="282" y="285"/>
                  </a:lnTo>
                  <a:lnTo>
                    <a:pt x="285" y="280"/>
                  </a:lnTo>
                  <a:lnTo>
                    <a:pt x="291" y="273"/>
                  </a:lnTo>
                  <a:lnTo>
                    <a:pt x="296" y="268"/>
                  </a:lnTo>
                  <a:lnTo>
                    <a:pt x="298" y="262"/>
                  </a:lnTo>
                  <a:lnTo>
                    <a:pt x="301" y="261"/>
                  </a:lnTo>
                  <a:lnTo>
                    <a:pt x="305" y="255"/>
                  </a:lnTo>
                  <a:lnTo>
                    <a:pt x="308" y="254"/>
                  </a:lnTo>
                  <a:lnTo>
                    <a:pt x="313" y="245"/>
                  </a:lnTo>
                  <a:lnTo>
                    <a:pt x="319" y="240"/>
                  </a:lnTo>
                  <a:lnTo>
                    <a:pt x="320" y="236"/>
                  </a:lnTo>
                  <a:lnTo>
                    <a:pt x="324" y="233"/>
                  </a:lnTo>
                  <a:lnTo>
                    <a:pt x="326" y="227"/>
                  </a:lnTo>
                  <a:lnTo>
                    <a:pt x="329" y="224"/>
                  </a:lnTo>
                  <a:lnTo>
                    <a:pt x="333" y="220"/>
                  </a:lnTo>
                  <a:lnTo>
                    <a:pt x="334" y="217"/>
                  </a:lnTo>
                  <a:lnTo>
                    <a:pt x="338" y="213"/>
                  </a:lnTo>
                  <a:lnTo>
                    <a:pt x="341" y="210"/>
                  </a:lnTo>
                  <a:lnTo>
                    <a:pt x="343" y="207"/>
                  </a:lnTo>
                  <a:lnTo>
                    <a:pt x="347" y="203"/>
                  </a:lnTo>
                  <a:lnTo>
                    <a:pt x="348" y="200"/>
                  </a:lnTo>
                  <a:lnTo>
                    <a:pt x="352" y="196"/>
                  </a:lnTo>
                  <a:lnTo>
                    <a:pt x="357" y="189"/>
                  </a:lnTo>
                  <a:lnTo>
                    <a:pt x="362" y="184"/>
                  </a:lnTo>
                  <a:lnTo>
                    <a:pt x="366" y="179"/>
                  </a:lnTo>
                  <a:lnTo>
                    <a:pt x="369" y="173"/>
                  </a:lnTo>
                  <a:lnTo>
                    <a:pt x="373" y="168"/>
                  </a:lnTo>
                  <a:lnTo>
                    <a:pt x="376" y="165"/>
                  </a:lnTo>
                  <a:lnTo>
                    <a:pt x="378" y="159"/>
                  </a:lnTo>
                  <a:lnTo>
                    <a:pt x="382" y="158"/>
                  </a:lnTo>
                  <a:lnTo>
                    <a:pt x="383" y="154"/>
                  </a:lnTo>
                  <a:lnTo>
                    <a:pt x="385" y="152"/>
                  </a:lnTo>
                  <a:lnTo>
                    <a:pt x="387" y="145"/>
                  </a:lnTo>
                  <a:lnTo>
                    <a:pt x="389" y="140"/>
                  </a:lnTo>
                  <a:lnTo>
                    <a:pt x="390" y="133"/>
                  </a:lnTo>
                  <a:lnTo>
                    <a:pt x="392" y="128"/>
                  </a:lnTo>
                  <a:lnTo>
                    <a:pt x="390" y="121"/>
                  </a:lnTo>
                  <a:lnTo>
                    <a:pt x="390" y="116"/>
                  </a:lnTo>
                  <a:lnTo>
                    <a:pt x="387" y="109"/>
                  </a:lnTo>
                  <a:lnTo>
                    <a:pt x="382" y="105"/>
                  </a:lnTo>
                  <a:lnTo>
                    <a:pt x="378" y="103"/>
                  </a:lnTo>
                  <a:lnTo>
                    <a:pt x="375" y="102"/>
                  </a:lnTo>
                  <a:lnTo>
                    <a:pt x="371" y="102"/>
                  </a:lnTo>
                  <a:lnTo>
                    <a:pt x="368" y="102"/>
                  </a:lnTo>
                  <a:lnTo>
                    <a:pt x="364" y="102"/>
                  </a:lnTo>
                  <a:lnTo>
                    <a:pt x="361" y="102"/>
                  </a:lnTo>
                  <a:lnTo>
                    <a:pt x="357" y="102"/>
                  </a:lnTo>
                  <a:lnTo>
                    <a:pt x="354" y="103"/>
                  </a:lnTo>
                  <a:lnTo>
                    <a:pt x="347" y="107"/>
                  </a:lnTo>
                  <a:lnTo>
                    <a:pt x="341" y="112"/>
                  </a:lnTo>
                  <a:lnTo>
                    <a:pt x="336" y="116"/>
                  </a:lnTo>
                  <a:lnTo>
                    <a:pt x="333" y="121"/>
                  </a:lnTo>
                  <a:lnTo>
                    <a:pt x="329" y="124"/>
                  </a:lnTo>
                  <a:lnTo>
                    <a:pt x="324" y="130"/>
                  </a:lnTo>
                  <a:lnTo>
                    <a:pt x="320" y="133"/>
                  </a:lnTo>
                  <a:lnTo>
                    <a:pt x="317" y="137"/>
                  </a:lnTo>
                  <a:lnTo>
                    <a:pt x="313" y="142"/>
                  </a:lnTo>
                  <a:lnTo>
                    <a:pt x="310" y="147"/>
                  </a:lnTo>
                  <a:lnTo>
                    <a:pt x="305" y="151"/>
                  </a:lnTo>
                  <a:lnTo>
                    <a:pt x="301" y="158"/>
                  </a:lnTo>
                  <a:lnTo>
                    <a:pt x="296" y="163"/>
                  </a:lnTo>
                  <a:lnTo>
                    <a:pt x="291" y="168"/>
                  </a:lnTo>
                  <a:lnTo>
                    <a:pt x="284" y="173"/>
                  </a:lnTo>
                  <a:lnTo>
                    <a:pt x="278" y="180"/>
                  </a:lnTo>
                  <a:lnTo>
                    <a:pt x="275" y="187"/>
                  </a:lnTo>
                  <a:lnTo>
                    <a:pt x="270" y="193"/>
                  </a:lnTo>
                  <a:lnTo>
                    <a:pt x="263" y="200"/>
                  </a:lnTo>
                  <a:lnTo>
                    <a:pt x="257" y="205"/>
                  </a:lnTo>
                  <a:lnTo>
                    <a:pt x="252" y="210"/>
                  </a:lnTo>
                  <a:lnTo>
                    <a:pt x="247" y="215"/>
                  </a:lnTo>
                  <a:lnTo>
                    <a:pt x="242" y="220"/>
                  </a:lnTo>
                  <a:lnTo>
                    <a:pt x="238" y="227"/>
                  </a:lnTo>
                  <a:lnTo>
                    <a:pt x="233" y="233"/>
                  </a:lnTo>
                  <a:lnTo>
                    <a:pt x="229" y="236"/>
                  </a:lnTo>
                  <a:lnTo>
                    <a:pt x="224" y="241"/>
                  </a:lnTo>
                  <a:lnTo>
                    <a:pt x="221" y="245"/>
                  </a:lnTo>
                  <a:lnTo>
                    <a:pt x="217" y="248"/>
                  </a:lnTo>
                  <a:lnTo>
                    <a:pt x="214" y="252"/>
                  </a:lnTo>
                  <a:lnTo>
                    <a:pt x="208" y="257"/>
                  </a:lnTo>
                  <a:lnTo>
                    <a:pt x="207" y="259"/>
                  </a:lnTo>
                  <a:lnTo>
                    <a:pt x="203" y="259"/>
                  </a:lnTo>
                  <a:lnTo>
                    <a:pt x="201" y="257"/>
                  </a:lnTo>
                  <a:lnTo>
                    <a:pt x="198" y="255"/>
                  </a:lnTo>
                  <a:lnTo>
                    <a:pt x="198" y="252"/>
                  </a:lnTo>
                  <a:lnTo>
                    <a:pt x="196" y="247"/>
                  </a:lnTo>
                  <a:lnTo>
                    <a:pt x="196" y="243"/>
                  </a:lnTo>
                  <a:lnTo>
                    <a:pt x="196" y="238"/>
                  </a:lnTo>
                  <a:lnTo>
                    <a:pt x="198" y="236"/>
                  </a:lnTo>
                  <a:lnTo>
                    <a:pt x="200" y="233"/>
                  </a:lnTo>
                  <a:lnTo>
                    <a:pt x="201" y="227"/>
                  </a:lnTo>
                  <a:lnTo>
                    <a:pt x="203" y="226"/>
                  </a:lnTo>
                  <a:lnTo>
                    <a:pt x="205" y="222"/>
                  </a:lnTo>
                  <a:lnTo>
                    <a:pt x="208" y="219"/>
                  </a:lnTo>
                  <a:lnTo>
                    <a:pt x="210" y="215"/>
                  </a:lnTo>
                  <a:lnTo>
                    <a:pt x="212" y="210"/>
                  </a:lnTo>
                  <a:lnTo>
                    <a:pt x="215" y="207"/>
                  </a:lnTo>
                  <a:lnTo>
                    <a:pt x="217" y="201"/>
                  </a:lnTo>
                  <a:lnTo>
                    <a:pt x="221" y="198"/>
                  </a:lnTo>
                  <a:lnTo>
                    <a:pt x="222" y="191"/>
                  </a:lnTo>
                  <a:lnTo>
                    <a:pt x="226" y="186"/>
                  </a:lnTo>
                  <a:lnTo>
                    <a:pt x="229" y="180"/>
                  </a:lnTo>
                  <a:lnTo>
                    <a:pt x="233" y="177"/>
                  </a:lnTo>
                  <a:lnTo>
                    <a:pt x="235" y="170"/>
                  </a:lnTo>
                  <a:lnTo>
                    <a:pt x="238" y="165"/>
                  </a:lnTo>
                  <a:lnTo>
                    <a:pt x="242" y="158"/>
                  </a:lnTo>
                  <a:lnTo>
                    <a:pt x="245" y="152"/>
                  </a:lnTo>
                  <a:lnTo>
                    <a:pt x="247" y="145"/>
                  </a:lnTo>
                  <a:lnTo>
                    <a:pt x="250" y="140"/>
                  </a:lnTo>
                  <a:lnTo>
                    <a:pt x="254" y="133"/>
                  </a:lnTo>
                  <a:lnTo>
                    <a:pt x="256" y="128"/>
                  </a:lnTo>
                  <a:lnTo>
                    <a:pt x="259" y="123"/>
                  </a:lnTo>
                  <a:lnTo>
                    <a:pt x="261" y="116"/>
                  </a:lnTo>
                  <a:lnTo>
                    <a:pt x="263" y="110"/>
                  </a:lnTo>
                  <a:lnTo>
                    <a:pt x="266" y="105"/>
                  </a:lnTo>
                  <a:lnTo>
                    <a:pt x="268" y="100"/>
                  </a:lnTo>
                  <a:lnTo>
                    <a:pt x="270" y="93"/>
                  </a:lnTo>
                  <a:lnTo>
                    <a:pt x="271" y="88"/>
                  </a:lnTo>
                  <a:lnTo>
                    <a:pt x="273" y="82"/>
                  </a:lnTo>
                  <a:lnTo>
                    <a:pt x="275" y="77"/>
                  </a:lnTo>
                  <a:lnTo>
                    <a:pt x="275" y="74"/>
                  </a:lnTo>
                  <a:lnTo>
                    <a:pt x="277" y="68"/>
                  </a:lnTo>
                  <a:lnTo>
                    <a:pt x="277" y="63"/>
                  </a:lnTo>
                  <a:lnTo>
                    <a:pt x="278" y="60"/>
                  </a:lnTo>
                  <a:lnTo>
                    <a:pt x="278" y="54"/>
                  </a:lnTo>
                  <a:lnTo>
                    <a:pt x="278" y="51"/>
                  </a:lnTo>
                  <a:lnTo>
                    <a:pt x="280" y="47"/>
                  </a:lnTo>
                  <a:lnTo>
                    <a:pt x="280" y="44"/>
                  </a:lnTo>
                  <a:lnTo>
                    <a:pt x="282" y="40"/>
                  </a:lnTo>
                  <a:lnTo>
                    <a:pt x="282" y="37"/>
                  </a:lnTo>
                  <a:lnTo>
                    <a:pt x="282" y="35"/>
                  </a:lnTo>
                  <a:lnTo>
                    <a:pt x="282" y="28"/>
                  </a:lnTo>
                  <a:lnTo>
                    <a:pt x="284" y="25"/>
                  </a:lnTo>
                  <a:lnTo>
                    <a:pt x="282" y="19"/>
                  </a:lnTo>
                  <a:lnTo>
                    <a:pt x="282" y="18"/>
                  </a:lnTo>
                  <a:lnTo>
                    <a:pt x="282" y="12"/>
                  </a:lnTo>
                  <a:lnTo>
                    <a:pt x="282" y="11"/>
                  </a:lnTo>
                  <a:lnTo>
                    <a:pt x="278" y="7"/>
                  </a:lnTo>
                  <a:lnTo>
                    <a:pt x="278" y="4"/>
                  </a:lnTo>
                  <a:lnTo>
                    <a:pt x="275" y="2"/>
                  </a:lnTo>
                  <a:lnTo>
                    <a:pt x="270" y="2"/>
                  </a:lnTo>
                  <a:lnTo>
                    <a:pt x="266" y="0"/>
                  </a:lnTo>
                  <a:lnTo>
                    <a:pt x="261" y="2"/>
                  </a:lnTo>
                  <a:lnTo>
                    <a:pt x="254" y="2"/>
                  </a:lnTo>
                  <a:lnTo>
                    <a:pt x="249" y="4"/>
                  </a:lnTo>
                  <a:lnTo>
                    <a:pt x="242" y="5"/>
                  </a:lnTo>
                  <a:lnTo>
                    <a:pt x="236" y="9"/>
                  </a:lnTo>
                  <a:lnTo>
                    <a:pt x="235" y="9"/>
                  </a:lnTo>
                  <a:lnTo>
                    <a:pt x="233" y="12"/>
                  </a:lnTo>
                  <a:lnTo>
                    <a:pt x="231" y="14"/>
                  </a:lnTo>
                  <a:lnTo>
                    <a:pt x="228" y="19"/>
                  </a:lnTo>
                  <a:lnTo>
                    <a:pt x="224" y="23"/>
                  </a:lnTo>
                  <a:lnTo>
                    <a:pt x="222" y="28"/>
                  </a:lnTo>
                  <a:lnTo>
                    <a:pt x="219" y="33"/>
                  </a:lnTo>
                  <a:lnTo>
                    <a:pt x="215" y="40"/>
                  </a:lnTo>
                  <a:lnTo>
                    <a:pt x="214" y="44"/>
                  </a:lnTo>
                  <a:lnTo>
                    <a:pt x="212" y="47"/>
                  </a:lnTo>
                  <a:lnTo>
                    <a:pt x="210" y="51"/>
                  </a:lnTo>
                  <a:lnTo>
                    <a:pt x="208" y="54"/>
                  </a:lnTo>
                  <a:lnTo>
                    <a:pt x="205" y="58"/>
                  </a:lnTo>
                  <a:lnTo>
                    <a:pt x="203" y="61"/>
                  </a:lnTo>
                  <a:lnTo>
                    <a:pt x="201" y="67"/>
                  </a:lnTo>
                  <a:lnTo>
                    <a:pt x="200" y="70"/>
                  </a:lnTo>
                  <a:lnTo>
                    <a:pt x="198" y="74"/>
                  </a:lnTo>
                  <a:lnTo>
                    <a:pt x="196" y="79"/>
                  </a:lnTo>
                  <a:lnTo>
                    <a:pt x="193" y="82"/>
                  </a:lnTo>
                  <a:lnTo>
                    <a:pt x="191" y="88"/>
                  </a:lnTo>
                  <a:lnTo>
                    <a:pt x="189" y="91"/>
                  </a:lnTo>
                  <a:lnTo>
                    <a:pt x="187" y="95"/>
                  </a:lnTo>
                  <a:lnTo>
                    <a:pt x="186" y="100"/>
                  </a:lnTo>
                  <a:lnTo>
                    <a:pt x="184" y="105"/>
                  </a:lnTo>
                  <a:lnTo>
                    <a:pt x="180" y="109"/>
                  </a:lnTo>
                  <a:lnTo>
                    <a:pt x="179" y="114"/>
                  </a:lnTo>
                  <a:lnTo>
                    <a:pt x="177" y="117"/>
                  </a:lnTo>
                  <a:lnTo>
                    <a:pt x="175" y="121"/>
                  </a:lnTo>
                  <a:lnTo>
                    <a:pt x="173" y="124"/>
                  </a:lnTo>
                  <a:lnTo>
                    <a:pt x="170" y="130"/>
                  </a:lnTo>
                  <a:lnTo>
                    <a:pt x="168" y="133"/>
                  </a:lnTo>
                  <a:lnTo>
                    <a:pt x="166" y="138"/>
                  </a:lnTo>
                  <a:lnTo>
                    <a:pt x="165" y="142"/>
                  </a:lnTo>
                  <a:lnTo>
                    <a:pt x="163" y="145"/>
                  </a:lnTo>
                  <a:lnTo>
                    <a:pt x="161" y="151"/>
                  </a:lnTo>
                  <a:lnTo>
                    <a:pt x="159" y="154"/>
                  </a:lnTo>
                  <a:lnTo>
                    <a:pt x="156" y="158"/>
                  </a:lnTo>
                  <a:lnTo>
                    <a:pt x="156" y="161"/>
                  </a:lnTo>
                  <a:lnTo>
                    <a:pt x="154" y="165"/>
                  </a:lnTo>
                  <a:lnTo>
                    <a:pt x="152" y="168"/>
                  </a:lnTo>
                  <a:lnTo>
                    <a:pt x="149" y="173"/>
                  </a:lnTo>
                  <a:lnTo>
                    <a:pt x="145" y="180"/>
                  </a:lnTo>
                  <a:lnTo>
                    <a:pt x="142" y="186"/>
                  </a:lnTo>
                  <a:lnTo>
                    <a:pt x="140" y="191"/>
                  </a:lnTo>
                  <a:lnTo>
                    <a:pt x="138" y="194"/>
                  </a:lnTo>
                  <a:lnTo>
                    <a:pt x="137" y="200"/>
                  </a:lnTo>
                  <a:lnTo>
                    <a:pt x="135" y="201"/>
                  </a:lnTo>
                  <a:lnTo>
                    <a:pt x="135" y="203"/>
                  </a:lnTo>
                  <a:lnTo>
                    <a:pt x="130" y="207"/>
                  </a:lnTo>
                  <a:lnTo>
                    <a:pt x="126" y="212"/>
                  </a:lnTo>
                  <a:lnTo>
                    <a:pt x="123" y="215"/>
                  </a:lnTo>
                  <a:lnTo>
                    <a:pt x="119" y="220"/>
                  </a:lnTo>
                  <a:lnTo>
                    <a:pt x="116" y="222"/>
                  </a:lnTo>
                  <a:lnTo>
                    <a:pt x="112" y="226"/>
                  </a:lnTo>
                  <a:lnTo>
                    <a:pt x="109" y="226"/>
                  </a:lnTo>
                  <a:lnTo>
                    <a:pt x="109" y="224"/>
                  </a:lnTo>
                  <a:lnTo>
                    <a:pt x="107" y="220"/>
                  </a:lnTo>
                  <a:lnTo>
                    <a:pt x="107" y="219"/>
                  </a:lnTo>
                  <a:lnTo>
                    <a:pt x="107" y="213"/>
                  </a:lnTo>
                  <a:lnTo>
                    <a:pt x="107" y="208"/>
                  </a:lnTo>
                  <a:lnTo>
                    <a:pt x="107" y="201"/>
                  </a:lnTo>
                  <a:lnTo>
                    <a:pt x="107" y="196"/>
                  </a:lnTo>
                  <a:lnTo>
                    <a:pt x="107" y="193"/>
                  </a:lnTo>
                  <a:lnTo>
                    <a:pt x="109" y="187"/>
                  </a:lnTo>
                  <a:lnTo>
                    <a:pt x="109" y="184"/>
                  </a:lnTo>
                  <a:lnTo>
                    <a:pt x="109" y="180"/>
                  </a:lnTo>
                  <a:lnTo>
                    <a:pt x="109" y="177"/>
                  </a:lnTo>
                  <a:lnTo>
                    <a:pt x="109" y="173"/>
                  </a:lnTo>
                  <a:lnTo>
                    <a:pt x="110" y="170"/>
                  </a:lnTo>
                  <a:lnTo>
                    <a:pt x="110" y="165"/>
                  </a:lnTo>
                  <a:lnTo>
                    <a:pt x="110" y="161"/>
                  </a:lnTo>
                  <a:lnTo>
                    <a:pt x="110" y="158"/>
                  </a:lnTo>
                  <a:lnTo>
                    <a:pt x="112" y="154"/>
                  </a:lnTo>
                  <a:lnTo>
                    <a:pt x="112" y="151"/>
                  </a:lnTo>
                  <a:lnTo>
                    <a:pt x="112" y="144"/>
                  </a:lnTo>
                  <a:lnTo>
                    <a:pt x="114" y="138"/>
                  </a:lnTo>
                  <a:lnTo>
                    <a:pt x="116" y="133"/>
                  </a:lnTo>
                  <a:lnTo>
                    <a:pt x="117" y="130"/>
                  </a:lnTo>
                  <a:lnTo>
                    <a:pt x="117" y="126"/>
                  </a:lnTo>
                  <a:lnTo>
                    <a:pt x="119" y="121"/>
                  </a:lnTo>
                  <a:lnTo>
                    <a:pt x="119" y="117"/>
                  </a:lnTo>
                  <a:lnTo>
                    <a:pt x="119" y="114"/>
                  </a:lnTo>
                  <a:lnTo>
                    <a:pt x="121" y="110"/>
                  </a:lnTo>
                  <a:lnTo>
                    <a:pt x="123" y="107"/>
                  </a:lnTo>
                  <a:lnTo>
                    <a:pt x="123" y="102"/>
                  </a:lnTo>
                  <a:lnTo>
                    <a:pt x="123" y="98"/>
                  </a:lnTo>
                  <a:lnTo>
                    <a:pt x="123" y="93"/>
                  </a:lnTo>
                  <a:lnTo>
                    <a:pt x="124" y="89"/>
                  </a:lnTo>
                  <a:lnTo>
                    <a:pt x="124" y="84"/>
                  </a:lnTo>
                  <a:lnTo>
                    <a:pt x="126" y="79"/>
                  </a:lnTo>
                  <a:lnTo>
                    <a:pt x="126" y="75"/>
                  </a:lnTo>
                  <a:lnTo>
                    <a:pt x="128" y="70"/>
                  </a:lnTo>
                  <a:lnTo>
                    <a:pt x="128" y="65"/>
                  </a:lnTo>
                  <a:lnTo>
                    <a:pt x="128" y="61"/>
                  </a:lnTo>
                  <a:lnTo>
                    <a:pt x="128" y="56"/>
                  </a:lnTo>
                  <a:lnTo>
                    <a:pt x="130" y="53"/>
                  </a:lnTo>
                  <a:lnTo>
                    <a:pt x="130" y="47"/>
                  </a:lnTo>
                  <a:lnTo>
                    <a:pt x="130" y="42"/>
                  </a:lnTo>
                  <a:lnTo>
                    <a:pt x="130" y="39"/>
                  </a:lnTo>
                  <a:lnTo>
                    <a:pt x="130" y="35"/>
                  </a:lnTo>
                  <a:lnTo>
                    <a:pt x="130" y="32"/>
                  </a:lnTo>
                  <a:lnTo>
                    <a:pt x="130" y="28"/>
                  </a:lnTo>
                  <a:lnTo>
                    <a:pt x="128" y="25"/>
                  </a:lnTo>
                  <a:lnTo>
                    <a:pt x="128" y="23"/>
                  </a:lnTo>
                  <a:lnTo>
                    <a:pt x="126" y="18"/>
                  </a:lnTo>
                  <a:lnTo>
                    <a:pt x="126" y="16"/>
                  </a:lnTo>
                  <a:lnTo>
                    <a:pt x="121" y="11"/>
                  </a:lnTo>
                  <a:lnTo>
                    <a:pt x="117" y="7"/>
                  </a:lnTo>
                  <a:lnTo>
                    <a:pt x="116" y="4"/>
                  </a:lnTo>
                  <a:lnTo>
                    <a:pt x="112" y="4"/>
                  </a:lnTo>
                  <a:lnTo>
                    <a:pt x="110" y="2"/>
                  </a:lnTo>
                  <a:lnTo>
                    <a:pt x="107" y="2"/>
                  </a:lnTo>
                  <a:lnTo>
                    <a:pt x="103" y="4"/>
                  </a:lnTo>
                  <a:lnTo>
                    <a:pt x="96" y="5"/>
                  </a:lnTo>
                  <a:lnTo>
                    <a:pt x="93" y="7"/>
                  </a:lnTo>
                  <a:lnTo>
                    <a:pt x="89" y="9"/>
                  </a:lnTo>
                  <a:lnTo>
                    <a:pt x="86" y="11"/>
                  </a:lnTo>
                  <a:lnTo>
                    <a:pt x="84" y="12"/>
                  </a:lnTo>
                  <a:lnTo>
                    <a:pt x="77" y="16"/>
                  </a:lnTo>
                  <a:lnTo>
                    <a:pt x="74" y="19"/>
                  </a:lnTo>
                  <a:lnTo>
                    <a:pt x="68" y="25"/>
                  </a:lnTo>
                  <a:lnTo>
                    <a:pt x="65" y="32"/>
                  </a:lnTo>
                  <a:lnTo>
                    <a:pt x="63" y="35"/>
                  </a:lnTo>
                  <a:lnTo>
                    <a:pt x="61" y="39"/>
                  </a:lnTo>
                  <a:lnTo>
                    <a:pt x="60" y="42"/>
                  </a:lnTo>
                  <a:lnTo>
                    <a:pt x="58" y="49"/>
                  </a:lnTo>
                  <a:lnTo>
                    <a:pt x="56" y="51"/>
                  </a:lnTo>
                  <a:lnTo>
                    <a:pt x="54" y="54"/>
                  </a:lnTo>
                  <a:lnTo>
                    <a:pt x="54" y="58"/>
                  </a:lnTo>
                  <a:lnTo>
                    <a:pt x="53" y="63"/>
                  </a:lnTo>
                  <a:lnTo>
                    <a:pt x="53" y="67"/>
                  </a:lnTo>
                  <a:lnTo>
                    <a:pt x="51" y="72"/>
                  </a:lnTo>
                  <a:lnTo>
                    <a:pt x="51" y="79"/>
                  </a:lnTo>
                  <a:lnTo>
                    <a:pt x="49" y="84"/>
                  </a:lnTo>
                  <a:lnTo>
                    <a:pt x="47" y="89"/>
                  </a:lnTo>
                  <a:lnTo>
                    <a:pt x="47" y="95"/>
                  </a:lnTo>
                  <a:lnTo>
                    <a:pt x="46" y="102"/>
                  </a:lnTo>
                  <a:lnTo>
                    <a:pt x="46" y="109"/>
                  </a:lnTo>
                  <a:lnTo>
                    <a:pt x="44" y="116"/>
                  </a:lnTo>
                  <a:lnTo>
                    <a:pt x="44" y="123"/>
                  </a:lnTo>
                  <a:lnTo>
                    <a:pt x="44" y="124"/>
                  </a:lnTo>
                  <a:lnTo>
                    <a:pt x="44" y="128"/>
                  </a:lnTo>
                  <a:lnTo>
                    <a:pt x="44" y="131"/>
                  </a:lnTo>
                  <a:lnTo>
                    <a:pt x="44" y="137"/>
                  </a:lnTo>
                  <a:lnTo>
                    <a:pt x="42" y="142"/>
                  </a:lnTo>
                  <a:lnTo>
                    <a:pt x="40" y="149"/>
                  </a:lnTo>
                  <a:lnTo>
                    <a:pt x="40" y="156"/>
                  </a:lnTo>
                  <a:lnTo>
                    <a:pt x="40" y="163"/>
                  </a:lnTo>
                  <a:lnTo>
                    <a:pt x="40" y="168"/>
                  </a:lnTo>
                  <a:lnTo>
                    <a:pt x="39" y="175"/>
                  </a:lnTo>
                  <a:lnTo>
                    <a:pt x="39" y="180"/>
                  </a:lnTo>
                  <a:lnTo>
                    <a:pt x="39" y="187"/>
                  </a:lnTo>
                  <a:lnTo>
                    <a:pt x="39" y="193"/>
                  </a:lnTo>
                  <a:lnTo>
                    <a:pt x="37" y="198"/>
                  </a:lnTo>
                  <a:lnTo>
                    <a:pt x="37" y="201"/>
                  </a:lnTo>
                  <a:lnTo>
                    <a:pt x="37" y="207"/>
                  </a:lnTo>
                  <a:lnTo>
                    <a:pt x="37" y="210"/>
                  </a:lnTo>
                  <a:lnTo>
                    <a:pt x="37" y="213"/>
                  </a:lnTo>
                  <a:lnTo>
                    <a:pt x="37" y="215"/>
                  </a:lnTo>
                  <a:lnTo>
                    <a:pt x="37" y="219"/>
                  </a:lnTo>
                  <a:lnTo>
                    <a:pt x="35" y="222"/>
                  </a:lnTo>
                  <a:lnTo>
                    <a:pt x="33" y="227"/>
                  </a:lnTo>
                  <a:lnTo>
                    <a:pt x="32" y="234"/>
                  </a:lnTo>
                  <a:lnTo>
                    <a:pt x="30" y="241"/>
                  </a:lnTo>
                  <a:lnTo>
                    <a:pt x="26" y="247"/>
                  </a:lnTo>
                  <a:lnTo>
                    <a:pt x="23" y="254"/>
                  </a:lnTo>
                  <a:lnTo>
                    <a:pt x="21" y="257"/>
                  </a:lnTo>
                  <a:lnTo>
                    <a:pt x="19" y="261"/>
                  </a:lnTo>
                  <a:lnTo>
                    <a:pt x="18" y="264"/>
                  </a:lnTo>
                  <a:lnTo>
                    <a:pt x="18" y="268"/>
                  </a:lnTo>
                  <a:lnTo>
                    <a:pt x="14" y="275"/>
                  </a:lnTo>
                  <a:lnTo>
                    <a:pt x="11" y="280"/>
                  </a:lnTo>
                  <a:lnTo>
                    <a:pt x="7" y="285"/>
                  </a:lnTo>
                  <a:lnTo>
                    <a:pt x="4" y="290"/>
                  </a:lnTo>
                  <a:lnTo>
                    <a:pt x="2" y="294"/>
                  </a:lnTo>
                  <a:lnTo>
                    <a:pt x="0" y="297"/>
                  </a:lnTo>
                  <a:lnTo>
                    <a:pt x="0" y="299"/>
                  </a:lnTo>
                  <a:lnTo>
                    <a:pt x="0" y="301"/>
                  </a:lnTo>
                  <a:lnTo>
                    <a:pt x="12" y="3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07" name="Freeform 71"/>
            <p:cNvSpPr>
              <a:spLocks/>
            </p:cNvSpPr>
            <p:nvPr/>
          </p:nvSpPr>
          <p:spPr bwMode="auto">
            <a:xfrm>
              <a:off x="5367" y="887"/>
              <a:ext cx="206" cy="61"/>
            </a:xfrm>
            <a:custGeom>
              <a:avLst/>
              <a:gdLst>
                <a:gd name="T0" fmla="*/ 17 w 206"/>
                <a:gd name="T1" fmla="*/ 21 h 61"/>
                <a:gd name="T2" fmla="*/ 17 w 206"/>
                <a:gd name="T3" fmla="*/ 29 h 61"/>
                <a:gd name="T4" fmla="*/ 21 w 206"/>
                <a:gd name="T5" fmla="*/ 36 h 61"/>
                <a:gd name="T6" fmla="*/ 29 w 206"/>
                <a:gd name="T7" fmla="*/ 43 h 61"/>
                <a:gd name="T8" fmla="*/ 40 w 206"/>
                <a:gd name="T9" fmla="*/ 47 h 61"/>
                <a:gd name="T10" fmla="*/ 49 w 206"/>
                <a:gd name="T11" fmla="*/ 49 h 61"/>
                <a:gd name="T12" fmla="*/ 56 w 206"/>
                <a:gd name="T13" fmla="*/ 50 h 61"/>
                <a:gd name="T14" fmla="*/ 63 w 206"/>
                <a:gd name="T15" fmla="*/ 50 h 61"/>
                <a:gd name="T16" fmla="*/ 71 w 206"/>
                <a:gd name="T17" fmla="*/ 52 h 61"/>
                <a:gd name="T18" fmla="*/ 78 w 206"/>
                <a:gd name="T19" fmla="*/ 52 h 61"/>
                <a:gd name="T20" fmla="*/ 87 w 206"/>
                <a:gd name="T21" fmla="*/ 52 h 61"/>
                <a:gd name="T22" fmla="*/ 96 w 206"/>
                <a:gd name="T23" fmla="*/ 54 h 61"/>
                <a:gd name="T24" fmla="*/ 105 w 206"/>
                <a:gd name="T25" fmla="*/ 54 h 61"/>
                <a:gd name="T26" fmla="*/ 113 w 206"/>
                <a:gd name="T27" fmla="*/ 52 h 61"/>
                <a:gd name="T28" fmla="*/ 120 w 206"/>
                <a:gd name="T29" fmla="*/ 52 h 61"/>
                <a:gd name="T30" fmla="*/ 127 w 206"/>
                <a:gd name="T31" fmla="*/ 50 h 61"/>
                <a:gd name="T32" fmla="*/ 136 w 206"/>
                <a:gd name="T33" fmla="*/ 50 h 61"/>
                <a:gd name="T34" fmla="*/ 145 w 206"/>
                <a:gd name="T35" fmla="*/ 47 h 61"/>
                <a:gd name="T36" fmla="*/ 155 w 206"/>
                <a:gd name="T37" fmla="*/ 43 h 61"/>
                <a:gd name="T38" fmla="*/ 164 w 206"/>
                <a:gd name="T39" fmla="*/ 38 h 61"/>
                <a:gd name="T40" fmla="*/ 173 w 206"/>
                <a:gd name="T41" fmla="*/ 35 h 61"/>
                <a:gd name="T42" fmla="*/ 182 w 206"/>
                <a:gd name="T43" fmla="*/ 28 h 61"/>
                <a:gd name="T44" fmla="*/ 187 w 206"/>
                <a:gd name="T45" fmla="*/ 21 h 61"/>
                <a:gd name="T46" fmla="*/ 189 w 206"/>
                <a:gd name="T47" fmla="*/ 14 h 61"/>
                <a:gd name="T48" fmla="*/ 206 w 206"/>
                <a:gd name="T49" fmla="*/ 0 h 61"/>
                <a:gd name="T50" fmla="*/ 206 w 206"/>
                <a:gd name="T51" fmla="*/ 7 h 61"/>
                <a:gd name="T52" fmla="*/ 204 w 206"/>
                <a:gd name="T53" fmla="*/ 14 h 61"/>
                <a:gd name="T54" fmla="*/ 201 w 206"/>
                <a:gd name="T55" fmla="*/ 22 h 61"/>
                <a:gd name="T56" fmla="*/ 194 w 206"/>
                <a:gd name="T57" fmla="*/ 31 h 61"/>
                <a:gd name="T58" fmla="*/ 187 w 206"/>
                <a:gd name="T59" fmla="*/ 36 h 61"/>
                <a:gd name="T60" fmla="*/ 182 w 206"/>
                <a:gd name="T61" fmla="*/ 42 h 61"/>
                <a:gd name="T62" fmla="*/ 173 w 206"/>
                <a:gd name="T63" fmla="*/ 45 h 61"/>
                <a:gd name="T64" fmla="*/ 162 w 206"/>
                <a:gd name="T65" fmla="*/ 49 h 61"/>
                <a:gd name="T66" fmla="*/ 150 w 206"/>
                <a:gd name="T67" fmla="*/ 52 h 61"/>
                <a:gd name="T68" fmla="*/ 138 w 206"/>
                <a:gd name="T69" fmla="*/ 56 h 61"/>
                <a:gd name="T70" fmla="*/ 129 w 206"/>
                <a:gd name="T71" fmla="*/ 57 h 61"/>
                <a:gd name="T72" fmla="*/ 122 w 206"/>
                <a:gd name="T73" fmla="*/ 57 h 61"/>
                <a:gd name="T74" fmla="*/ 108 w 206"/>
                <a:gd name="T75" fmla="*/ 59 h 61"/>
                <a:gd name="T76" fmla="*/ 101 w 206"/>
                <a:gd name="T77" fmla="*/ 59 h 61"/>
                <a:gd name="T78" fmla="*/ 96 w 206"/>
                <a:gd name="T79" fmla="*/ 59 h 61"/>
                <a:gd name="T80" fmla="*/ 84 w 206"/>
                <a:gd name="T81" fmla="*/ 61 h 61"/>
                <a:gd name="T82" fmla="*/ 70 w 206"/>
                <a:gd name="T83" fmla="*/ 59 h 61"/>
                <a:gd name="T84" fmla="*/ 59 w 206"/>
                <a:gd name="T85" fmla="*/ 59 h 61"/>
                <a:gd name="T86" fmla="*/ 49 w 206"/>
                <a:gd name="T87" fmla="*/ 57 h 61"/>
                <a:gd name="T88" fmla="*/ 40 w 206"/>
                <a:gd name="T89" fmla="*/ 56 h 61"/>
                <a:gd name="T90" fmla="*/ 29 w 206"/>
                <a:gd name="T91" fmla="*/ 52 h 61"/>
                <a:gd name="T92" fmla="*/ 22 w 206"/>
                <a:gd name="T93" fmla="*/ 49 h 61"/>
                <a:gd name="T94" fmla="*/ 15 w 206"/>
                <a:gd name="T95" fmla="*/ 45 h 61"/>
                <a:gd name="T96" fmla="*/ 10 w 206"/>
                <a:gd name="T97" fmla="*/ 42 h 61"/>
                <a:gd name="T98" fmla="*/ 3 w 206"/>
                <a:gd name="T99" fmla="*/ 29 h 61"/>
                <a:gd name="T100" fmla="*/ 0 w 206"/>
                <a:gd name="T101" fmla="*/ 17 h 61"/>
                <a:gd name="T102" fmla="*/ 17 w 206"/>
                <a:gd name="T103" fmla="*/ 19 h 6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06"/>
                <a:gd name="T157" fmla="*/ 0 h 61"/>
                <a:gd name="T158" fmla="*/ 206 w 206"/>
                <a:gd name="T159" fmla="*/ 61 h 6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06" h="61">
                  <a:moveTo>
                    <a:pt x="17" y="19"/>
                  </a:moveTo>
                  <a:lnTo>
                    <a:pt x="17" y="21"/>
                  </a:lnTo>
                  <a:lnTo>
                    <a:pt x="17" y="26"/>
                  </a:lnTo>
                  <a:lnTo>
                    <a:pt x="17" y="29"/>
                  </a:lnTo>
                  <a:lnTo>
                    <a:pt x="19" y="33"/>
                  </a:lnTo>
                  <a:lnTo>
                    <a:pt x="21" y="36"/>
                  </a:lnTo>
                  <a:lnTo>
                    <a:pt x="26" y="42"/>
                  </a:lnTo>
                  <a:lnTo>
                    <a:pt x="29" y="43"/>
                  </a:lnTo>
                  <a:lnTo>
                    <a:pt x="35" y="45"/>
                  </a:lnTo>
                  <a:lnTo>
                    <a:pt x="40" y="47"/>
                  </a:lnTo>
                  <a:lnTo>
                    <a:pt x="45" y="49"/>
                  </a:lnTo>
                  <a:lnTo>
                    <a:pt x="49" y="49"/>
                  </a:lnTo>
                  <a:lnTo>
                    <a:pt x="52" y="49"/>
                  </a:lnTo>
                  <a:lnTo>
                    <a:pt x="56" y="50"/>
                  </a:lnTo>
                  <a:lnTo>
                    <a:pt x="59" y="50"/>
                  </a:lnTo>
                  <a:lnTo>
                    <a:pt x="63" y="50"/>
                  </a:lnTo>
                  <a:lnTo>
                    <a:pt x="66" y="52"/>
                  </a:lnTo>
                  <a:lnTo>
                    <a:pt x="71" y="52"/>
                  </a:lnTo>
                  <a:lnTo>
                    <a:pt x="75" y="52"/>
                  </a:lnTo>
                  <a:lnTo>
                    <a:pt x="78" y="52"/>
                  </a:lnTo>
                  <a:lnTo>
                    <a:pt x="84" y="52"/>
                  </a:lnTo>
                  <a:lnTo>
                    <a:pt x="87" y="52"/>
                  </a:lnTo>
                  <a:lnTo>
                    <a:pt x="92" y="54"/>
                  </a:lnTo>
                  <a:lnTo>
                    <a:pt x="96" y="54"/>
                  </a:lnTo>
                  <a:lnTo>
                    <a:pt x="99" y="54"/>
                  </a:lnTo>
                  <a:lnTo>
                    <a:pt x="105" y="54"/>
                  </a:lnTo>
                  <a:lnTo>
                    <a:pt x="108" y="54"/>
                  </a:lnTo>
                  <a:lnTo>
                    <a:pt x="113" y="52"/>
                  </a:lnTo>
                  <a:lnTo>
                    <a:pt x="117" y="52"/>
                  </a:lnTo>
                  <a:lnTo>
                    <a:pt x="120" y="52"/>
                  </a:lnTo>
                  <a:lnTo>
                    <a:pt x="126" y="52"/>
                  </a:lnTo>
                  <a:lnTo>
                    <a:pt x="127" y="50"/>
                  </a:lnTo>
                  <a:lnTo>
                    <a:pt x="133" y="50"/>
                  </a:lnTo>
                  <a:lnTo>
                    <a:pt x="136" y="50"/>
                  </a:lnTo>
                  <a:lnTo>
                    <a:pt x="140" y="49"/>
                  </a:lnTo>
                  <a:lnTo>
                    <a:pt x="145" y="47"/>
                  </a:lnTo>
                  <a:lnTo>
                    <a:pt x="150" y="45"/>
                  </a:lnTo>
                  <a:lnTo>
                    <a:pt x="155" y="43"/>
                  </a:lnTo>
                  <a:lnTo>
                    <a:pt x="161" y="42"/>
                  </a:lnTo>
                  <a:lnTo>
                    <a:pt x="164" y="38"/>
                  </a:lnTo>
                  <a:lnTo>
                    <a:pt x="169" y="36"/>
                  </a:lnTo>
                  <a:lnTo>
                    <a:pt x="173" y="35"/>
                  </a:lnTo>
                  <a:lnTo>
                    <a:pt x="176" y="33"/>
                  </a:lnTo>
                  <a:lnTo>
                    <a:pt x="182" y="28"/>
                  </a:lnTo>
                  <a:lnTo>
                    <a:pt x="185" y="22"/>
                  </a:lnTo>
                  <a:lnTo>
                    <a:pt x="187" y="21"/>
                  </a:lnTo>
                  <a:lnTo>
                    <a:pt x="189" y="17"/>
                  </a:lnTo>
                  <a:lnTo>
                    <a:pt x="189" y="14"/>
                  </a:lnTo>
                  <a:lnTo>
                    <a:pt x="189" y="10"/>
                  </a:lnTo>
                  <a:lnTo>
                    <a:pt x="206" y="0"/>
                  </a:lnTo>
                  <a:lnTo>
                    <a:pt x="206" y="7"/>
                  </a:lnTo>
                  <a:lnTo>
                    <a:pt x="206" y="8"/>
                  </a:lnTo>
                  <a:lnTo>
                    <a:pt x="204" y="14"/>
                  </a:lnTo>
                  <a:lnTo>
                    <a:pt x="203" y="17"/>
                  </a:lnTo>
                  <a:lnTo>
                    <a:pt x="201" y="22"/>
                  </a:lnTo>
                  <a:lnTo>
                    <a:pt x="197" y="28"/>
                  </a:lnTo>
                  <a:lnTo>
                    <a:pt x="194" y="31"/>
                  </a:lnTo>
                  <a:lnTo>
                    <a:pt x="190" y="33"/>
                  </a:lnTo>
                  <a:lnTo>
                    <a:pt x="187" y="36"/>
                  </a:lnTo>
                  <a:lnTo>
                    <a:pt x="185" y="38"/>
                  </a:lnTo>
                  <a:lnTo>
                    <a:pt x="182" y="42"/>
                  </a:lnTo>
                  <a:lnTo>
                    <a:pt x="176" y="43"/>
                  </a:lnTo>
                  <a:lnTo>
                    <a:pt x="173" y="45"/>
                  </a:lnTo>
                  <a:lnTo>
                    <a:pt x="168" y="47"/>
                  </a:lnTo>
                  <a:lnTo>
                    <a:pt x="162" y="49"/>
                  </a:lnTo>
                  <a:lnTo>
                    <a:pt x="157" y="50"/>
                  </a:lnTo>
                  <a:lnTo>
                    <a:pt x="150" y="52"/>
                  </a:lnTo>
                  <a:lnTo>
                    <a:pt x="143" y="54"/>
                  </a:lnTo>
                  <a:lnTo>
                    <a:pt x="138" y="56"/>
                  </a:lnTo>
                  <a:lnTo>
                    <a:pt x="134" y="56"/>
                  </a:lnTo>
                  <a:lnTo>
                    <a:pt x="129" y="57"/>
                  </a:lnTo>
                  <a:lnTo>
                    <a:pt x="126" y="57"/>
                  </a:lnTo>
                  <a:lnTo>
                    <a:pt x="122" y="57"/>
                  </a:lnTo>
                  <a:lnTo>
                    <a:pt x="115" y="57"/>
                  </a:lnTo>
                  <a:lnTo>
                    <a:pt x="108" y="59"/>
                  </a:lnTo>
                  <a:lnTo>
                    <a:pt x="105" y="59"/>
                  </a:lnTo>
                  <a:lnTo>
                    <a:pt x="101" y="59"/>
                  </a:lnTo>
                  <a:lnTo>
                    <a:pt x="98" y="59"/>
                  </a:lnTo>
                  <a:lnTo>
                    <a:pt x="96" y="59"/>
                  </a:lnTo>
                  <a:lnTo>
                    <a:pt x="89" y="59"/>
                  </a:lnTo>
                  <a:lnTo>
                    <a:pt x="84" y="61"/>
                  </a:lnTo>
                  <a:lnTo>
                    <a:pt x="77" y="59"/>
                  </a:lnTo>
                  <a:lnTo>
                    <a:pt x="70" y="59"/>
                  </a:lnTo>
                  <a:lnTo>
                    <a:pt x="64" y="59"/>
                  </a:lnTo>
                  <a:lnTo>
                    <a:pt x="59" y="59"/>
                  </a:lnTo>
                  <a:lnTo>
                    <a:pt x="54" y="57"/>
                  </a:lnTo>
                  <a:lnTo>
                    <a:pt x="49" y="57"/>
                  </a:lnTo>
                  <a:lnTo>
                    <a:pt x="43" y="57"/>
                  </a:lnTo>
                  <a:lnTo>
                    <a:pt x="40" y="56"/>
                  </a:lnTo>
                  <a:lnTo>
                    <a:pt x="35" y="54"/>
                  </a:lnTo>
                  <a:lnTo>
                    <a:pt x="29" y="52"/>
                  </a:lnTo>
                  <a:lnTo>
                    <a:pt x="26" y="50"/>
                  </a:lnTo>
                  <a:lnTo>
                    <a:pt x="22" y="49"/>
                  </a:lnTo>
                  <a:lnTo>
                    <a:pt x="19" y="47"/>
                  </a:lnTo>
                  <a:lnTo>
                    <a:pt x="15" y="45"/>
                  </a:lnTo>
                  <a:lnTo>
                    <a:pt x="12" y="43"/>
                  </a:lnTo>
                  <a:lnTo>
                    <a:pt x="10" y="42"/>
                  </a:lnTo>
                  <a:lnTo>
                    <a:pt x="5" y="35"/>
                  </a:lnTo>
                  <a:lnTo>
                    <a:pt x="3" y="29"/>
                  </a:lnTo>
                  <a:lnTo>
                    <a:pt x="0" y="22"/>
                  </a:lnTo>
                  <a:lnTo>
                    <a:pt x="0" y="17"/>
                  </a:lnTo>
                  <a:lnTo>
                    <a:pt x="17"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|EOS~006|</a:t>
            </a:r>
            <a:endParaRPr lang="en-US" sz="100" dirty="0" err="1" smtClean="0">
              <a:solidFill>
                <a:srgbClr val="FFFFFF"/>
              </a:solidFill>
              <a:latin typeface="Arial"/>
              <a:cs typeface="Calibri" pitchFamily="34" charset="0"/>
            </a:endParaRPr>
          </a:p>
        </p:txBody>
      </p:sp>
      <p:sp>
        <p:nvSpPr>
          <p:cNvPr id="9218" name="Rectangle 2"/>
          <p:cNvSpPr>
            <a:spLocks noGrp="1" noChangeArrowheads="1"/>
          </p:cNvSpPr>
          <p:nvPr>
            <p:ph type="title"/>
          </p:nvPr>
        </p:nvSpPr>
        <p:spPr/>
        <p:txBody>
          <a:bodyPr/>
          <a:lstStyle/>
          <a:p>
            <a:pPr eaLnBrk="1" hangingPunct="1"/>
            <a:r>
              <a:rPr lang="en-US" smtClean="0"/>
              <a:t>Authority limits</a:t>
            </a:r>
          </a:p>
        </p:txBody>
      </p:sp>
      <p:sp>
        <p:nvSpPr>
          <p:cNvPr id="9219" name="Rectangle 3"/>
          <p:cNvSpPr>
            <a:spLocks noGrp="1" noChangeArrowheads="1"/>
          </p:cNvSpPr>
          <p:nvPr>
            <p:ph idx="1"/>
          </p:nvPr>
        </p:nvSpPr>
        <p:spPr>
          <a:xfrm>
            <a:off x="519113" y="4575175"/>
            <a:ext cx="8318500" cy="1722438"/>
          </a:xfrm>
        </p:spPr>
        <p:txBody>
          <a:bodyPr/>
          <a:lstStyle/>
          <a:p>
            <a:pPr>
              <a:buFont typeface="Arial" charset="0"/>
              <a:buChar char="•"/>
            </a:pPr>
            <a:r>
              <a:rPr lang="en-US" smtClean="0"/>
              <a:t>An authority limit is a rule which limits the transactions an adjuster can create without approval</a:t>
            </a:r>
          </a:p>
          <a:p>
            <a:pPr lvl="1"/>
            <a:r>
              <a:rPr lang="en-US" smtClean="0"/>
              <a:t>It consists of a criteria (such as "total reserves for the entire claim") and an amount (such as $15,000)</a:t>
            </a:r>
          </a:p>
        </p:txBody>
      </p:sp>
      <p:sp>
        <p:nvSpPr>
          <p:cNvPr id="9220" name="AutoShape 4"/>
          <p:cNvSpPr>
            <a:spLocks noChangeArrowheads="1"/>
          </p:cNvSpPr>
          <p:nvPr/>
        </p:nvSpPr>
        <p:spPr bwMode="auto">
          <a:xfrm>
            <a:off x="3406775" y="1692275"/>
            <a:ext cx="2755900" cy="758825"/>
          </a:xfrm>
          <a:prstGeom prst="rightArrow">
            <a:avLst>
              <a:gd name="adj1" fmla="val 50000"/>
              <a:gd name="adj2" fmla="val 9079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9221" name="Text Box 5"/>
          <p:cNvSpPr txBox="1">
            <a:spLocks noChangeArrowheads="1"/>
          </p:cNvSpPr>
          <p:nvPr/>
        </p:nvSpPr>
        <p:spPr bwMode="auto">
          <a:xfrm>
            <a:off x="3756025" y="2371725"/>
            <a:ext cx="884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$10K</a:t>
            </a:r>
          </a:p>
        </p:txBody>
      </p:sp>
      <p:sp>
        <p:nvSpPr>
          <p:cNvPr id="9222" name="Text Box 6"/>
          <p:cNvSpPr txBox="1">
            <a:spLocks noChangeArrowheads="1"/>
          </p:cNvSpPr>
          <p:nvPr/>
        </p:nvSpPr>
        <p:spPr bwMode="auto">
          <a:xfrm>
            <a:off x="4559300" y="2371725"/>
            <a:ext cx="884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$20K</a:t>
            </a:r>
          </a:p>
        </p:txBody>
      </p:sp>
      <p:sp>
        <p:nvSpPr>
          <p:cNvPr id="9223" name="Text Box 7"/>
          <p:cNvSpPr txBox="1">
            <a:spLocks noChangeArrowheads="1"/>
          </p:cNvSpPr>
          <p:nvPr/>
        </p:nvSpPr>
        <p:spPr bwMode="auto">
          <a:xfrm>
            <a:off x="3086100" y="2371725"/>
            <a:ext cx="5889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$0K</a:t>
            </a:r>
          </a:p>
        </p:txBody>
      </p:sp>
      <p:sp>
        <p:nvSpPr>
          <p:cNvPr id="9224" name="Line 8"/>
          <p:cNvSpPr>
            <a:spLocks noChangeShapeType="1"/>
          </p:cNvSpPr>
          <p:nvPr/>
        </p:nvSpPr>
        <p:spPr bwMode="auto">
          <a:xfrm flipV="1">
            <a:off x="4211638" y="1876425"/>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25" name="Line 9"/>
          <p:cNvSpPr>
            <a:spLocks noChangeShapeType="1"/>
          </p:cNvSpPr>
          <p:nvPr/>
        </p:nvSpPr>
        <p:spPr bwMode="auto">
          <a:xfrm flipV="1">
            <a:off x="5013325" y="1876425"/>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26" name="Line 10"/>
          <p:cNvSpPr>
            <a:spLocks noChangeShapeType="1"/>
          </p:cNvSpPr>
          <p:nvPr/>
        </p:nvSpPr>
        <p:spPr bwMode="auto">
          <a:xfrm flipV="1">
            <a:off x="3409950" y="1876425"/>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27" name="Line 11"/>
          <p:cNvSpPr>
            <a:spLocks noChangeShapeType="1"/>
          </p:cNvSpPr>
          <p:nvPr/>
        </p:nvSpPr>
        <p:spPr bwMode="auto">
          <a:xfrm flipV="1">
            <a:off x="4621213" y="1624013"/>
            <a:ext cx="0" cy="620712"/>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28" name="AutoShape 12"/>
          <p:cNvSpPr>
            <a:spLocks noChangeArrowheads="1"/>
          </p:cNvSpPr>
          <p:nvPr/>
        </p:nvSpPr>
        <p:spPr bwMode="auto">
          <a:xfrm>
            <a:off x="4387850" y="1397000"/>
            <a:ext cx="468313" cy="468313"/>
          </a:xfrm>
          <a:custGeom>
            <a:avLst/>
            <a:gdLst>
              <a:gd name="T0" fmla="*/ 5076794 w 21600"/>
              <a:gd name="T1" fmla="*/ 0 h 21600"/>
              <a:gd name="T2" fmla="*/ 1486829 w 21600"/>
              <a:gd name="T3" fmla="*/ 1486829 h 21600"/>
              <a:gd name="T4" fmla="*/ 0 w 21600"/>
              <a:gd name="T5" fmla="*/ 5076794 h 21600"/>
              <a:gd name="T6" fmla="*/ 1486829 w 21600"/>
              <a:gd name="T7" fmla="*/ 8666739 h 21600"/>
              <a:gd name="T8" fmla="*/ 5076794 w 21600"/>
              <a:gd name="T9" fmla="*/ 10153567 h 21600"/>
              <a:gd name="T10" fmla="*/ 8666739 w 21600"/>
              <a:gd name="T11" fmla="*/ 8666739 h 21600"/>
              <a:gd name="T12" fmla="*/ 10153567 w 21600"/>
              <a:gd name="T13" fmla="*/ 5076794 h 21600"/>
              <a:gd name="T14" fmla="*/ 8666739 w 21600"/>
              <a:gd name="T15" fmla="*/ 1486829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close/>
                <a:moveTo>
                  <a:pt x="4574" y="7082"/>
                </a:moveTo>
                <a:cubicBezTo>
                  <a:pt x="3903" y="8206"/>
                  <a:pt x="3549" y="9491"/>
                  <a:pt x="3549" y="10799"/>
                </a:cubicBezTo>
                <a:cubicBezTo>
                  <a:pt x="3549" y="14804"/>
                  <a:pt x="6795" y="18051"/>
                  <a:pt x="10800" y="18051"/>
                </a:cubicBezTo>
                <a:cubicBezTo>
                  <a:pt x="12108" y="18051"/>
                  <a:pt x="13393" y="17696"/>
                  <a:pt x="14517" y="17025"/>
                </a:cubicBez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229" name="Text Box 13"/>
          <p:cNvSpPr txBox="1">
            <a:spLocks noChangeArrowheads="1"/>
          </p:cNvSpPr>
          <p:nvPr/>
        </p:nvSpPr>
        <p:spPr bwMode="auto">
          <a:xfrm>
            <a:off x="6283325" y="1601788"/>
            <a:ext cx="16271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Claim Total</a:t>
            </a:r>
            <a:br>
              <a:rPr lang="en-US"/>
            </a:br>
            <a:r>
              <a:rPr lang="en-US"/>
              <a:t>Reserves:</a:t>
            </a:r>
            <a:br>
              <a:rPr lang="en-US"/>
            </a:br>
            <a:r>
              <a:rPr lang="en-US"/>
              <a:t>$15,000</a:t>
            </a:r>
          </a:p>
        </p:txBody>
      </p:sp>
      <p:sp>
        <p:nvSpPr>
          <p:cNvPr id="9230" name="Text Box 14"/>
          <p:cNvSpPr txBox="1">
            <a:spLocks noChangeArrowheads="1"/>
          </p:cNvSpPr>
          <p:nvPr/>
        </p:nvSpPr>
        <p:spPr bwMode="auto">
          <a:xfrm>
            <a:off x="3441700" y="914400"/>
            <a:ext cx="42005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bg1"/>
                </a:solidFill>
              </a:rPr>
              <a:t>Authority Limits</a:t>
            </a:r>
          </a:p>
        </p:txBody>
      </p:sp>
      <p:sp>
        <p:nvSpPr>
          <p:cNvPr id="9231" name="AutoShape 15"/>
          <p:cNvSpPr>
            <a:spLocks noChangeArrowheads="1"/>
          </p:cNvSpPr>
          <p:nvPr/>
        </p:nvSpPr>
        <p:spPr bwMode="auto">
          <a:xfrm>
            <a:off x="3406775" y="3082925"/>
            <a:ext cx="2755900" cy="758825"/>
          </a:xfrm>
          <a:prstGeom prst="rightArrow">
            <a:avLst>
              <a:gd name="adj1" fmla="val 50000"/>
              <a:gd name="adj2" fmla="val 9079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9232" name="Text Box 16"/>
          <p:cNvSpPr txBox="1">
            <a:spLocks noChangeArrowheads="1"/>
          </p:cNvSpPr>
          <p:nvPr/>
        </p:nvSpPr>
        <p:spPr bwMode="auto">
          <a:xfrm>
            <a:off x="3756025" y="3762375"/>
            <a:ext cx="884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$10K</a:t>
            </a:r>
          </a:p>
        </p:txBody>
      </p:sp>
      <p:sp>
        <p:nvSpPr>
          <p:cNvPr id="9233" name="Text Box 17"/>
          <p:cNvSpPr txBox="1">
            <a:spLocks noChangeArrowheads="1"/>
          </p:cNvSpPr>
          <p:nvPr/>
        </p:nvSpPr>
        <p:spPr bwMode="auto">
          <a:xfrm>
            <a:off x="4559300" y="3762375"/>
            <a:ext cx="884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$20K</a:t>
            </a:r>
          </a:p>
        </p:txBody>
      </p:sp>
      <p:sp>
        <p:nvSpPr>
          <p:cNvPr id="9234" name="Text Box 18"/>
          <p:cNvSpPr txBox="1">
            <a:spLocks noChangeArrowheads="1"/>
          </p:cNvSpPr>
          <p:nvPr/>
        </p:nvSpPr>
        <p:spPr bwMode="auto">
          <a:xfrm>
            <a:off x="3086100" y="3762375"/>
            <a:ext cx="5889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$0K</a:t>
            </a:r>
          </a:p>
        </p:txBody>
      </p:sp>
      <p:sp>
        <p:nvSpPr>
          <p:cNvPr id="9235" name="Line 19"/>
          <p:cNvSpPr>
            <a:spLocks noChangeShapeType="1"/>
          </p:cNvSpPr>
          <p:nvPr/>
        </p:nvSpPr>
        <p:spPr bwMode="auto">
          <a:xfrm flipV="1">
            <a:off x="4211638" y="3267075"/>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36" name="Line 20"/>
          <p:cNvSpPr>
            <a:spLocks noChangeShapeType="1"/>
          </p:cNvSpPr>
          <p:nvPr/>
        </p:nvSpPr>
        <p:spPr bwMode="auto">
          <a:xfrm flipV="1">
            <a:off x="5013325" y="3267075"/>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37" name="Line 21"/>
          <p:cNvSpPr>
            <a:spLocks noChangeShapeType="1"/>
          </p:cNvSpPr>
          <p:nvPr/>
        </p:nvSpPr>
        <p:spPr bwMode="auto">
          <a:xfrm flipV="1">
            <a:off x="3409950" y="3267075"/>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38" name="Line 22"/>
          <p:cNvSpPr>
            <a:spLocks noChangeShapeType="1"/>
          </p:cNvSpPr>
          <p:nvPr/>
        </p:nvSpPr>
        <p:spPr bwMode="auto">
          <a:xfrm flipV="1">
            <a:off x="4202113" y="3014663"/>
            <a:ext cx="0" cy="620712"/>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39" name="AutoShape 23"/>
          <p:cNvSpPr>
            <a:spLocks noChangeArrowheads="1"/>
          </p:cNvSpPr>
          <p:nvPr/>
        </p:nvSpPr>
        <p:spPr bwMode="auto">
          <a:xfrm>
            <a:off x="3968750" y="2787650"/>
            <a:ext cx="468313" cy="468313"/>
          </a:xfrm>
          <a:custGeom>
            <a:avLst/>
            <a:gdLst>
              <a:gd name="T0" fmla="*/ 5076794 w 21600"/>
              <a:gd name="T1" fmla="*/ 0 h 21600"/>
              <a:gd name="T2" fmla="*/ 1486829 w 21600"/>
              <a:gd name="T3" fmla="*/ 1486829 h 21600"/>
              <a:gd name="T4" fmla="*/ 0 w 21600"/>
              <a:gd name="T5" fmla="*/ 5076794 h 21600"/>
              <a:gd name="T6" fmla="*/ 1486829 w 21600"/>
              <a:gd name="T7" fmla="*/ 8666739 h 21600"/>
              <a:gd name="T8" fmla="*/ 5076794 w 21600"/>
              <a:gd name="T9" fmla="*/ 10153567 h 21600"/>
              <a:gd name="T10" fmla="*/ 8666739 w 21600"/>
              <a:gd name="T11" fmla="*/ 8666739 h 21600"/>
              <a:gd name="T12" fmla="*/ 10153567 w 21600"/>
              <a:gd name="T13" fmla="*/ 5076794 h 21600"/>
              <a:gd name="T14" fmla="*/ 8666739 w 21600"/>
              <a:gd name="T15" fmla="*/ 1486829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close/>
                <a:moveTo>
                  <a:pt x="4574" y="7082"/>
                </a:moveTo>
                <a:cubicBezTo>
                  <a:pt x="3903" y="8206"/>
                  <a:pt x="3549" y="9491"/>
                  <a:pt x="3549" y="10799"/>
                </a:cubicBezTo>
                <a:cubicBezTo>
                  <a:pt x="3549" y="14804"/>
                  <a:pt x="6795" y="18051"/>
                  <a:pt x="10800" y="18051"/>
                </a:cubicBezTo>
                <a:cubicBezTo>
                  <a:pt x="12108" y="18051"/>
                  <a:pt x="13393" y="17696"/>
                  <a:pt x="14517" y="17025"/>
                </a:cubicBez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240" name="Text Box 24"/>
          <p:cNvSpPr txBox="1">
            <a:spLocks noChangeArrowheads="1"/>
          </p:cNvSpPr>
          <p:nvPr/>
        </p:nvSpPr>
        <p:spPr bwMode="auto">
          <a:xfrm>
            <a:off x="6283325" y="2820988"/>
            <a:ext cx="17907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Exposure</a:t>
            </a:r>
            <a:br>
              <a:rPr lang="en-US"/>
            </a:br>
            <a:r>
              <a:rPr lang="en-US"/>
              <a:t>Reserves</a:t>
            </a:r>
            <a:br>
              <a:rPr lang="en-US"/>
            </a:br>
            <a:r>
              <a:rPr lang="en-US"/>
              <a:t>(for Collision):</a:t>
            </a:r>
            <a:br>
              <a:rPr lang="en-US"/>
            </a:br>
            <a:r>
              <a:rPr lang="en-US"/>
              <a:t>$10,000</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|EOS~007|</a:t>
            </a:r>
            <a:endParaRPr lang="en-US" sz="100" dirty="0" err="1" smtClean="0">
              <a:solidFill>
                <a:srgbClr val="FFFFFF"/>
              </a:solidFill>
              <a:latin typeface="Arial"/>
              <a:cs typeface="Calibri" pitchFamily="34" charset="0"/>
            </a:endParaRPr>
          </a:p>
        </p:txBody>
      </p:sp>
      <p:sp>
        <p:nvSpPr>
          <p:cNvPr id="10243" name="Rectangle 2"/>
          <p:cNvSpPr>
            <a:spLocks noGrp="1" noChangeArrowheads="1"/>
          </p:cNvSpPr>
          <p:nvPr>
            <p:ph type="title"/>
          </p:nvPr>
        </p:nvSpPr>
        <p:spPr/>
        <p:txBody>
          <a:bodyPr/>
          <a:lstStyle/>
          <a:p>
            <a:pPr eaLnBrk="1" hangingPunct="1"/>
            <a:r>
              <a:rPr lang="en-US" smtClean="0"/>
              <a:t>Authority limit options</a:t>
            </a:r>
          </a:p>
        </p:txBody>
      </p:sp>
      <p:sp>
        <p:nvSpPr>
          <p:cNvPr id="10244" name="Rectangle 3"/>
          <p:cNvSpPr>
            <a:spLocks noGrp="1" noChangeArrowheads="1"/>
          </p:cNvSpPr>
          <p:nvPr>
            <p:ph idx="1"/>
          </p:nvPr>
        </p:nvSpPr>
        <p:spPr>
          <a:xfrm>
            <a:off x="6179737" y="468313"/>
            <a:ext cx="2647828" cy="2159000"/>
          </a:xfrm>
        </p:spPr>
        <p:txBody>
          <a:bodyPr/>
          <a:lstStyle/>
          <a:p>
            <a:pPr>
              <a:buFont typeface="Arial" charset="0"/>
              <a:buChar char="•"/>
            </a:pPr>
            <a:r>
              <a:rPr lang="en-US" dirty="0" smtClean="0"/>
              <a:t>Each criteria is a combination of:</a:t>
            </a:r>
          </a:p>
          <a:p>
            <a:pPr lvl="1"/>
            <a:r>
              <a:rPr lang="en-US" dirty="0" smtClean="0"/>
              <a:t>A predefined limit type</a:t>
            </a:r>
          </a:p>
          <a:p>
            <a:pPr lvl="1"/>
            <a:r>
              <a:rPr lang="en-US" dirty="0" smtClean="0"/>
              <a:t>An optional coverage</a:t>
            </a:r>
          </a:p>
          <a:p>
            <a:pPr lvl="1"/>
            <a:r>
              <a:rPr lang="en-US" dirty="0" smtClean="0"/>
              <a:t>An optional cost type</a:t>
            </a:r>
          </a:p>
          <a:p>
            <a:pPr lvl="1"/>
            <a:r>
              <a:rPr lang="en-US" dirty="0" smtClean="0"/>
              <a:t>An amount threshold</a:t>
            </a:r>
          </a:p>
          <a:p>
            <a:pPr>
              <a:buFont typeface="Arial" charset="0"/>
              <a:buChar char="•"/>
            </a:pPr>
            <a:r>
              <a:rPr lang="en-US" dirty="0" smtClean="0"/>
              <a:t>Each limit is a criteria plus an amount</a:t>
            </a:r>
          </a:p>
        </p:txBody>
      </p:sp>
      <p:sp>
        <p:nvSpPr>
          <p:cNvPr id="10245" name="Text Box 6"/>
          <p:cNvSpPr txBox="1">
            <a:spLocks noChangeArrowheads="1"/>
          </p:cNvSpPr>
          <p:nvPr/>
        </p:nvSpPr>
        <p:spPr bwMode="auto">
          <a:xfrm>
            <a:off x="2177412" y="2249215"/>
            <a:ext cx="10795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dirty="0"/>
              <a:t>Criteria</a:t>
            </a:r>
          </a:p>
        </p:txBody>
      </p:sp>
      <p:sp>
        <p:nvSpPr>
          <p:cNvPr id="10247" name="Text Box 8"/>
          <p:cNvSpPr txBox="1">
            <a:spLocks noChangeArrowheads="1"/>
          </p:cNvSpPr>
          <p:nvPr/>
        </p:nvSpPr>
        <p:spPr bwMode="auto">
          <a:xfrm>
            <a:off x="4943788" y="2549253"/>
            <a:ext cx="10795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dirty="0"/>
              <a:t>Amount</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693" y="519269"/>
            <a:ext cx="1514475" cy="26384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600" y="2854053"/>
            <a:ext cx="5506218" cy="134512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0246" name="AutoShape 7"/>
          <p:cNvSpPr>
            <a:spLocks/>
          </p:cNvSpPr>
          <p:nvPr/>
        </p:nvSpPr>
        <p:spPr bwMode="auto">
          <a:xfrm rot="5400000">
            <a:off x="2567143" y="477408"/>
            <a:ext cx="300038" cy="4453252"/>
          </a:xfrm>
          <a:prstGeom prst="leftBrace">
            <a:avLst>
              <a:gd name="adj1" fmla="val 222432"/>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 name="Line 11"/>
          <p:cNvSpPr>
            <a:spLocks noChangeShapeType="1"/>
          </p:cNvSpPr>
          <p:nvPr/>
        </p:nvSpPr>
        <p:spPr bwMode="auto">
          <a:xfrm flipH="1">
            <a:off x="1579717" y="2052879"/>
            <a:ext cx="0" cy="99177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spAutoFit/>
          </a:bodyPr>
          <a:lstStyle/>
          <a:p>
            <a:endParaRPr lang="en-US"/>
          </a:p>
        </p:txBody>
      </p:sp>
      <p:pic>
        <p:nvPicPr>
          <p:cNvPr id="1033" name="Picture 9" descr="C:\Users\trhoades\AppData\Local\Temp\SNAGHTML1a3e5ba0.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7693" y="4513855"/>
            <a:ext cx="1638300" cy="1819276"/>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C:\Users\trhoades\AppData\Local\Temp\SNAGHTML1a3fec6a.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47262" y="4309068"/>
            <a:ext cx="2019300" cy="2228850"/>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descr="C:\Users\trhoades\AppData\Local\Temp\SNAGHTML1a405079.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32359" y="4513855"/>
            <a:ext cx="1333500" cy="847725"/>
          </a:xfrm>
          <a:prstGeom prst="rect">
            <a:avLst/>
          </a:prstGeom>
          <a:noFill/>
          <a:extLst>
            <a:ext uri="{909E8E84-426E-40DD-AFC4-6F175D3DCCD1}">
              <a14:hiddenFill xmlns:a14="http://schemas.microsoft.com/office/drawing/2010/main">
                <a:solidFill>
                  <a:srgbClr val="FFFFFF"/>
                </a:solidFill>
              </a14:hiddenFill>
            </a:ext>
          </a:extLst>
        </p:spPr>
      </p:pic>
      <p:sp>
        <p:nvSpPr>
          <p:cNvPr id="18" name="Line 11"/>
          <p:cNvSpPr>
            <a:spLocks noChangeShapeType="1"/>
          </p:cNvSpPr>
          <p:nvPr/>
        </p:nvSpPr>
        <p:spPr bwMode="auto">
          <a:xfrm flipH="1">
            <a:off x="713433" y="4096513"/>
            <a:ext cx="576557" cy="1470273"/>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spAutoFit/>
          </a:bodyPr>
          <a:lstStyle/>
          <a:p>
            <a:endParaRPr lang="en-US"/>
          </a:p>
        </p:txBody>
      </p:sp>
      <p:sp>
        <p:nvSpPr>
          <p:cNvPr id="19" name="Line 11"/>
          <p:cNvSpPr>
            <a:spLocks noChangeShapeType="1"/>
          </p:cNvSpPr>
          <p:nvPr/>
        </p:nvSpPr>
        <p:spPr bwMode="auto">
          <a:xfrm>
            <a:off x="3410192" y="4096513"/>
            <a:ext cx="0" cy="41734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spAutoFit/>
          </a:bodyPr>
          <a:lstStyle/>
          <a:p>
            <a:endParaRPr lang="en-US"/>
          </a:p>
        </p:txBody>
      </p:sp>
      <p:sp>
        <p:nvSpPr>
          <p:cNvPr id="20" name="Line 11"/>
          <p:cNvSpPr>
            <a:spLocks noChangeShapeType="1"/>
          </p:cNvSpPr>
          <p:nvPr/>
        </p:nvSpPr>
        <p:spPr bwMode="auto">
          <a:xfrm>
            <a:off x="4446847" y="4100397"/>
            <a:ext cx="607474" cy="73125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spAutoFit/>
          </a:bodyPr>
          <a:lstStyle/>
          <a:p>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|EOS~008|</a:t>
            </a:r>
            <a:endParaRPr lang="en-US" sz="100" dirty="0" err="1" smtClean="0">
              <a:solidFill>
                <a:srgbClr val="FFFFFF"/>
              </a:solidFill>
              <a:latin typeface="Arial"/>
              <a:cs typeface="Calibri" pitchFamily="34" charset="0"/>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413" y="725033"/>
            <a:ext cx="8610833" cy="168411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413" y="3544434"/>
            <a:ext cx="8610833" cy="181137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1267" name="Rectangle 2"/>
          <p:cNvSpPr>
            <a:spLocks noGrp="1" noChangeArrowheads="1"/>
          </p:cNvSpPr>
          <p:nvPr>
            <p:ph type="title"/>
          </p:nvPr>
        </p:nvSpPr>
        <p:spPr/>
        <p:txBody>
          <a:bodyPr/>
          <a:lstStyle/>
          <a:p>
            <a:pPr eaLnBrk="1" hangingPunct="1"/>
            <a:r>
              <a:rPr lang="en-US" smtClean="0"/>
              <a:t>Exceeding an authority limit</a:t>
            </a:r>
          </a:p>
        </p:txBody>
      </p:sp>
      <p:sp>
        <p:nvSpPr>
          <p:cNvPr id="11269" name="AutoShape 9"/>
          <p:cNvSpPr>
            <a:spLocks noChangeArrowheads="1"/>
          </p:cNvSpPr>
          <p:nvPr/>
        </p:nvSpPr>
        <p:spPr bwMode="auto">
          <a:xfrm>
            <a:off x="1848059" y="1849594"/>
            <a:ext cx="1829637" cy="33655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270" name="Text Box 10"/>
          <p:cNvSpPr txBox="1">
            <a:spLocks noChangeArrowheads="1"/>
          </p:cNvSpPr>
          <p:nvPr/>
        </p:nvSpPr>
        <p:spPr bwMode="auto">
          <a:xfrm>
            <a:off x="2368550" y="2934834"/>
            <a:ext cx="51355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dirty="0"/>
              <a:t>Transaction will increase exposure total reserves for collision to over </a:t>
            </a:r>
            <a:r>
              <a:rPr lang="en-US" dirty="0" smtClean="0"/>
              <a:t>$20,000 </a:t>
            </a:r>
            <a:endParaRPr lang="en-US" dirty="0"/>
          </a:p>
        </p:txBody>
      </p:sp>
      <p:sp>
        <p:nvSpPr>
          <p:cNvPr id="11271" name="Line 11"/>
          <p:cNvSpPr>
            <a:spLocks noChangeShapeType="1"/>
          </p:cNvSpPr>
          <p:nvPr/>
        </p:nvSpPr>
        <p:spPr bwMode="auto">
          <a:xfrm flipH="1">
            <a:off x="7277099" y="2186144"/>
            <a:ext cx="661098" cy="282514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spAutoFit/>
          </a:bodyPr>
          <a:lstStyle/>
          <a:p>
            <a:endParaRPr lang="en-US"/>
          </a:p>
        </p:txBody>
      </p:sp>
      <p:sp>
        <p:nvSpPr>
          <p:cNvPr id="9" name="AutoShape 9"/>
          <p:cNvSpPr>
            <a:spLocks noChangeArrowheads="1"/>
          </p:cNvSpPr>
          <p:nvPr/>
        </p:nvSpPr>
        <p:spPr bwMode="auto">
          <a:xfrm>
            <a:off x="478970" y="5011284"/>
            <a:ext cx="8511275" cy="33655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 name="AutoShape 9"/>
          <p:cNvSpPr>
            <a:spLocks noChangeArrowheads="1"/>
          </p:cNvSpPr>
          <p:nvPr/>
        </p:nvSpPr>
        <p:spPr bwMode="auto">
          <a:xfrm>
            <a:off x="6200670" y="1849594"/>
            <a:ext cx="2789575" cy="33655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|EOS~009|</a:t>
            </a:r>
            <a:endParaRPr lang="en-US" sz="100" dirty="0" err="1" smtClean="0">
              <a:solidFill>
                <a:srgbClr val="FFFFFF"/>
              </a:solidFill>
              <a:latin typeface="Arial"/>
              <a:cs typeface="Calibri" pitchFamily="34"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00" y="2774433"/>
            <a:ext cx="8260216" cy="312342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500" y="740944"/>
            <a:ext cx="8610833" cy="181137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2290" name="Rectangle 2"/>
          <p:cNvSpPr>
            <a:spLocks noGrp="1" noChangeArrowheads="1"/>
          </p:cNvSpPr>
          <p:nvPr>
            <p:ph type="title"/>
          </p:nvPr>
        </p:nvSpPr>
        <p:spPr/>
        <p:txBody>
          <a:bodyPr/>
          <a:lstStyle/>
          <a:p>
            <a:pPr eaLnBrk="1" hangingPunct="1"/>
            <a:r>
              <a:rPr lang="en-US" smtClean="0"/>
              <a:t>Viewing details about pending approval</a:t>
            </a:r>
          </a:p>
        </p:txBody>
      </p:sp>
      <p:sp>
        <p:nvSpPr>
          <p:cNvPr id="12293" name="AutoShape 7"/>
          <p:cNvSpPr>
            <a:spLocks noChangeArrowheads="1"/>
          </p:cNvSpPr>
          <p:nvPr/>
        </p:nvSpPr>
        <p:spPr bwMode="auto">
          <a:xfrm>
            <a:off x="766763" y="2241550"/>
            <a:ext cx="868362" cy="310766"/>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2294" name="Line 8"/>
          <p:cNvSpPr>
            <a:spLocks noChangeShapeType="1"/>
          </p:cNvSpPr>
          <p:nvPr/>
        </p:nvSpPr>
        <p:spPr bwMode="auto">
          <a:xfrm flipH="1">
            <a:off x="1347788" y="2344738"/>
            <a:ext cx="574675" cy="59055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295" name="AutoShape 9"/>
          <p:cNvSpPr>
            <a:spLocks noChangeArrowheads="1"/>
          </p:cNvSpPr>
          <p:nvPr/>
        </p:nvSpPr>
        <p:spPr bwMode="auto">
          <a:xfrm>
            <a:off x="2804154" y="5365821"/>
            <a:ext cx="5900562" cy="53203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|EOS~010|</a:t>
            </a:r>
            <a:endParaRPr lang="en-US" sz="100" dirty="0" err="1" smtClean="0">
              <a:solidFill>
                <a:srgbClr val="FFFFFF"/>
              </a:solidFill>
              <a:latin typeface="Arial"/>
              <a:cs typeface="Calibri" pitchFamily="34" charset="0"/>
            </a:endParaRPr>
          </a:p>
        </p:txBody>
      </p:sp>
      <p:sp>
        <p:nvSpPr>
          <p:cNvPr id="13314" name="Rectangle 2"/>
          <p:cNvSpPr>
            <a:spLocks noChangeArrowheads="1"/>
          </p:cNvSpPr>
          <p:nvPr/>
        </p:nvSpPr>
        <p:spPr bwMode="auto">
          <a:xfrm>
            <a:off x="3022600" y="1306513"/>
            <a:ext cx="5037138" cy="2914650"/>
          </a:xfrm>
          <a:prstGeom prst="rect">
            <a:avLst/>
          </a:prstGeom>
          <a:solidFill>
            <a:srgbClr val="CCFFCC">
              <a:alpha val="25098"/>
            </a:srgbClr>
          </a:solidFill>
          <a:ln w="28575" algn="ctr">
            <a:solidFill>
              <a:schemeClr val="bg1"/>
            </a:solidFill>
            <a:miter lim="800000"/>
            <a:headEnd/>
            <a:tailEnd/>
          </a:ln>
        </p:spPr>
        <p:txBody>
          <a:bodyPr lIns="0" tIns="0" rIns="0" bIns="0" anchor="ctr">
            <a:spAutoFit/>
          </a:bodyPr>
          <a:lstStyle/>
          <a:p>
            <a:endParaRPr lang="en-US"/>
          </a:p>
        </p:txBody>
      </p:sp>
      <p:sp>
        <p:nvSpPr>
          <p:cNvPr id="13315" name="Rectangle 3"/>
          <p:cNvSpPr>
            <a:spLocks noGrp="1" noChangeArrowheads="1"/>
          </p:cNvSpPr>
          <p:nvPr>
            <p:ph type="title"/>
          </p:nvPr>
        </p:nvSpPr>
        <p:spPr/>
        <p:txBody>
          <a:bodyPr/>
          <a:lstStyle/>
          <a:p>
            <a:pPr eaLnBrk="1" hangingPunct="1"/>
            <a:r>
              <a:rPr lang="en-US" smtClean="0"/>
              <a:t>Authority limit profiles</a:t>
            </a:r>
          </a:p>
        </p:txBody>
      </p:sp>
      <p:sp>
        <p:nvSpPr>
          <p:cNvPr id="13316" name="Rectangle 4"/>
          <p:cNvSpPr>
            <a:spLocks noGrp="1" noChangeArrowheads="1"/>
          </p:cNvSpPr>
          <p:nvPr>
            <p:ph idx="1"/>
          </p:nvPr>
        </p:nvSpPr>
        <p:spPr>
          <a:xfrm>
            <a:off x="519113" y="4575175"/>
            <a:ext cx="8318500" cy="1722438"/>
          </a:xfrm>
        </p:spPr>
        <p:txBody>
          <a:bodyPr/>
          <a:lstStyle/>
          <a:p>
            <a:pPr>
              <a:buFont typeface="Arial" charset="0"/>
              <a:buChar char="•"/>
            </a:pPr>
            <a:r>
              <a:rPr lang="en-US" smtClean="0"/>
              <a:t>An authority limit profile is a collection of authority limits assigned to one or more users</a:t>
            </a:r>
          </a:p>
          <a:p>
            <a:pPr lvl="1"/>
            <a:r>
              <a:rPr lang="en-US" smtClean="0"/>
              <a:t>Can be pre-defined (created once and shared across multiple users)</a:t>
            </a:r>
          </a:p>
          <a:p>
            <a:pPr lvl="1"/>
            <a:r>
              <a:rPr lang="en-US" smtClean="0"/>
              <a:t>Can be custom (created for a single user)</a:t>
            </a:r>
          </a:p>
        </p:txBody>
      </p:sp>
      <p:sp>
        <p:nvSpPr>
          <p:cNvPr id="13317" name="AutoShape 5"/>
          <p:cNvSpPr>
            <a:spLocks noChangeArrowheads="1"/>
          </p:cNvSpPr>
          <p:nvPr/>
        </p:nvSpPr>
        <p:spPr bwMode="auto">
          <a:xfrm>
            <a:off x="3406775" y="1692275"/>
            <a:ext cx="2755900" cy="758825"/>
          </a:xfrm>
          <a:prstGeom prst="rightArrow">
            <a:avLst>
              <a:gd name="adj1" fmla="val 50000"/>
              <a:gd name="adj2" fmla="val 9079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13318" name="Text Box 6"/>
          <p:cNvSpPr txBox="1">
            <a:spLocks noChangeArrowheads="1"/>
          </p:cNvSpPr>
          <p:nvPr/>
        </p:nvSpPr>
        <p:spPr bwMode="auto">
          <a:xfrm>
            <a:off x="3756025" y="2371725"/>
            <a:ext cx="884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$10K</a:t>
            </a:r>
          </a:p>
        </p:txBody>
      </p:sp>
      <p:sp>
        <p:nvSpPr>
          <p:cNvPr id="13319" name="Text Box 7"/>
          <p:cNvSpPr txBox="1">
            <a:spLocks noChangeArrowheads="1"/>
          </p:cNvSpPr>
          <p:nvPr/>
        </p:nvSpPr>
        <p:spPr bwMode="auto">
          <a:xfrm>
            <a:off x="4559300" y="2371725"/>
            <a:ext cx="884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$20K</a:t>
            </a:r>
          </a:p>
        </p:txBody>
      </p:sp>
      <p:sp>
        <p:nvSpPr>
          <p:cNvPr id="13320" name="Text Box 8"/>
          <p:cNvSpPr txBox="1">
            <a:spLocks noChangeArrowheads="1"/>
          </p:cNvSpPr>
          <p:nvPr/>
        </p:nvSpPr>
        <p:spPr bwMode="auto">
          <a:xfrm>
            <a:off x="3086100" y="2371725"/>
            <a:ext cx="5889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$0K</a:t>
            </a:r>
          </a:p>
        </p:txBody>
      </p:sp>
      <p:sp>
        <p:nvSpPr>
          <p:cNvPr id="13321" name="Line 9"/>
          <p:cNvSpPr>
            <a:spLocks noChangeShapeType="1"/>
          </p:cNvSpPr>
          <p:nvPr/>
        </p:nvSpPr>
        <p:spPr bwMode="auto">
          <a:xfrm flipV="1">
            <a:off x="4211638" y="1876425"/>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2" name="Line 10"/>
          <p:cNvSpPr>
            <a:spLocks noChangeShapeType="1"/>
          </p:cNvSpPr>
          <p:nvPr/>
        </p:nvSpPr>
        <p:spPr bwMode="auto">
          <a:xfrm flipV="1">
            <a:off x="5013325" y="1876425"/>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3" name="Line 11"/>
          <p:cNvSpPr>
            <a:spLocks noChangeShapeType="1"/>
          </p:cNvSpPr>
          <p:nvPr/>
        </p:nvSpPr>
        <p:spPr bwMode="auto">
          <a:xfrm flipV="1">
            <a:off x="3409950" y="1876425"/>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4" name="AutoShape 15"/>
          <p:cNvSpPr>
            <a:spLocks noChangeArrowheads="1"/>
          </p:cNvSpPr>
          <p:nvPr/>
        </p:nvSpPr>
        <p:spPr bwMode="auto">
          <a:xfrm>
            <a:off x="3406775" y="3009900"/>
            <a:ext cx="2755900" cy="758825"/>
          </a:xfrm>
          <a:prstGeom prst="rightArrow">
            <a:avLst>
              <a:gd name="adj1" fmla="val 50000"/>
              <a:gd name="adj2" fmla="val 9079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13325" name="Text Box 16"/>
          <p:cNvSpPr txBox="1">
            <a:spLocks noChangeArrowheads="1"/>
          </p:cNvSpPr>
          <p:nvPr/>
        </p:nvSpPr>
        <p:spPr bwMode="auto">
          <a:xfrm>
            <a:off x="3756025" y="3689350"/>
            <a:ext cx="884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$10K</a:t>
            </a:r>
          </a:p>
        </p:txBody>
      </p:sp>
      <p:sp>
        <p:nvSpPr>
          <p:cNvPr id="13326" name="Text Box 17"/>
          <p:cNvSpPr txBox="1">
            <a:spLocks noChangeArrowheads="1"/>
          </p:cNvSpPr>
          <p:nvPr/>
        </p:nvSpPr>
        <p:spPr bwMode="auto">
          <a:xfrm>
            <a:off x="4559300" y="3689350"/>
            <a:ext cx="884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$20K</a:t>
            </a:r>
          </a:p>
        </p:txBody>
      </p:sp>
      <p:sp>
        <p:nvSpPr>
          <p:cNvPr id="13327" name="Text Box 18"/>
          <p:cNvSpPr txBox="1">
            <a:spLocks noChangeArrowheads="1"/>
          </p:cNvSpPr>
          <p:nvPr/>
        </p:nvSpPr>
        <p:spPr bwMode="auto">
          <a:xfrm>
            <a:off x="3086100" y="3689350"/>
            <a:ext cx="5889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$0K</a:t>
            </a:r>
          </a:p>
        </p:txBody>
      </p:sp>
      <p:sp>
        <p:nvSpPr>
          <p:cNvPr id="13328" name="Line 19"/>
          <p:cNvSpPr>
            <a:spLocks noChangeShapeType="1"/>
          </p:cNvSpPr>
          <p:nvPr/>
        </p:nvSpPr>
        <p:spPr bwMode="auto">
          <a:xfrm flipV="1">
            <a:off x="4211638" y="3194050"/>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9" name="Line 20"/>
          <p:cNvSpPr>
            <a:spLocks noChangeShapeType="1"/>
          </p:cNvSpPr>
          <p:nvPr/>
        </p:nvSpPr>
        <p:spPr bwMode="auto">
          <a:xfrm flipV="1">
            <a:off x="5013325" y="3194050"/>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0" name="Line 21"/>
          <p:cNvSpPr>
            <a:spLocks noChangeShapeType="1"/>
          </p:cNvSpPr>
          <p:nvPr/>
        </p:nvSpPr>
        <p:spPr bwMode="auto">
          <a:xfrm flipV="1">
            <a:off x="3409950" y="3194050"/>
            <a:ext cx="0" cy="465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1" name="Line 22"/>
          <p:cNvSpPr>
            <a:spLocks noChangeShapeType="1"/>
          </p:cNvSpPr>
          <p:nvPr/>
        </p:nvSpPr>
        <p:spPr bwMode="auto">
          <a:xfrm flipV="1">
            <a:off x="4621213" y="2941638"/>
            <a:ext cx="0" cy="620712"/>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2" name="AutoShape 23"/>
          <p:cNvSpPr>
            <a:spLocks noChangeArrowheads="1"/>
          </p:cNvSpPr>
          <p:nvPr/>
        </p:nvSpPr>
        <p:spPr bwMode="auto">
          <a:xfrm>
            <a:off x="4387850" y="2714625"/>
            <a:ext cx="468313" cy="468313"/>
          </a:xfrm>
          <a:custGeom>
            <a:avLst/>
            <a:gdLst>
              <a:gd name="T0" fmla="*/ 5076794 w 21600"/>
              <a:gd name="T1" fmla="*/ 0 h 21600"/>
              <a:gd name="T2" fmla="*/ 1486829 w 21600"/>
              <a:gd name="T3" fmla="*/ 1486829 h 21600"/>
              <a:gd name="T4" fmla="*/ 0 w 21600"/>
              <a:gd name="T5" fmla="*/ 5076794 h 21600"/>
              <a:gd name="T6" fmla="*/ 1486829 w 21600"/>
              <a:gd name="T7" fmla="*/ 8666739 h 21600"/>
              <a:gd name="T8" fmla="*/ 5076794 w 21600"/>
              <a:gd name="T9" fmla="*/ 10153567 h 21600"/>
              <a:gd name="T10" fmla="*/ 8666739 w 21600"/>
              <a:gd name="T11" fmla="*/ 8666739 h 21600"/>
              <a:gd name="T12" fmla="*/ 10153567 w 21600"/>
              <a:gd name="T13" fmla="*/ 5076794 h 21600"/>
              <a:gd name="T14" fmla="*/ 8666739 w 21600"/>
              <a:gd name="T15" fmla="*/ 1486829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close/>
                <a:moveTo>
                  <a:pt x="4574" y="7082"/>
                </a:moveTo>
                <a:cubicBezTo>
                  <a:pt x="3903" y="8206"/>
                  <a:pt x="3549" y="9491"/>
                  <a:pt x="3549" y="10799"/>
                </a:cubicBezTo>
                <a:cubicBezTo>
                  <a:pt x="3549" y="14804"/>
                  <a:pt x="6795" y="18051"/>
                  <a:pt x="10800" y="18051"/>
                </a:cubicBezTo>
                <a:cubicBezTo>
                  <a:pt x="12108" y="18051"/>
                  <a:pt x="13393" y="17696"/>
                  <a:pt x="14517" y="17025"/>
                </a:cubicBez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3333" name="Text Box 24"/>
          <p:cNvSpPr txBox="1">
            <a:spLocks noChangeArrowheads="1"/>
          </p:cNvSpPr>
          <p:nvPr/>
        </p:nvSpPr>
        <p:spPr bwMode="auto">
          <a:xfrm>
            <a:off x="6283325" y="3125788"/>
            <a:ext cx="15652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Total</a:t>
            </a:r>
            <a:br>
              <a:rPr lang="en-US"/>
            </a:br>
            <a:r>
              <a:rPr lang="en-US"/>
              <a:t>Payments:</a:t>
            </a:r>
            <a:br>
              <a:rPr lang="en-US"/>
            </a:br>
            <a:r>
              <a:rPr lang="en-US"/>
              <a:t>$15,000</a:t>
            </a:r>
          </a:p>
        </p:txBody>
      </p:sp>
      <p:sp>
        <p:nvSpPr>
          <p:cNvPr id="13334" name="Text Box 25"/>
          <p:cNvSpPr txBox="1">
            <a:spLocks noChangeArrowheads="1"/>
          </p:cNvSpPr>
          <p:nvPr/>
        </p:nvSpPr>
        <p:spPr bwMode="auto">
          <a:xfrm>
            <a:off x="3441700" y="914400"/>
            <a:ext cx="42005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bg1"/>
                </a:solidFill>
              </a:rPr>
              <a:t>Adjuster Profile</a:t>
            </a:r>
          </a:p>
        </p:txBody>
      </p:sp>
      <p:grpSp>
        <p:nvGrpSpPr>
          <p:cNvPr id="13335" name="Group 26"/>
          <p:cNvGrpSpPr>
            <a:grpSpLocks/>
          </p:cNvGrpSpPr>
          <p:nvPr/>
        </p:nvGrpSpPr>
        <p:grpSpPr bwMode="auto">
          <a:xfrm>
            <a:off x="868363" y="1128713"/>
            <a:ext cx="1341437" cy="903287"/>
            <a:chOff x="2984" y="3331"/>
            <a:chExt cx="845" cy="569"/>
          </a:xfrm>
        </p:grpSpPr>
        <p:sp>
          <p:nvSpPr>
            <p:cNvPr id="13357" name="AutoShape 27"/>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3358" name="Group 28"/>
            <p:cNvGrpSpPr>
              <a:grpSpLocks/>
            </p:cNvGrpSpPr>
            <p:nvPr/>
          </p:nvGrpSpPr>
          <p:grpSpPr bwMode="auto">
            <a:xfrm>
              <a:off x="3386" y="3487"/>
              <a:ext cx="443" cy="398"/>
              <a:chOff x="4838" y="2218"/>
              <a:chExt cx="395" cy="355"/>
            </a:xfrm>
          </p:grpSpPr>
          <p:sp>
            <p:nvSpPr>
              <p:cNvPr id="13359" name="Freeform 29"/>
              <p:cNvSpPr>
                <a:spLocks/>
              </p:cNvSpPr>
              <p:nvPr/>
            </p:nvSpPr>
            <p:spPr bwMode="auto">
              <a:xfrm>
                <a:off x="4888" y="2251"/>
                <a:ext cx="294" cy="113"/>
              </a:xfrm>
              <a:custGeom>
                <a:avLst/>
                <a:gdLst>
                  <a:gd name="T0" fmla="*/ 292 w 839"/>
                  <a:gd name="T1" fmla="*/ 77 h 319"/>
                  <a:gd name="T2" fmla="*/ 285 w 839"/>
                  <a:gd name="T3" fmla="*/ 66 h 319"/>
                  <a:gd name="T4" fmla="*/ 272 w 839"/>
                  <a:gd name="T5" fmla="*/ 62 h 319"/>
                  <a:gd name="T6" fmla="*/ 260 w 839"/>
                  <a:gd name="T7" fmla="*/ 66 h 319"/>
                  <a:gd name="T8" fmla="*/ 252 w 839"/>
                  <a:gd name="T9" fmla="*/ 77 h 319"/>
                  <a:gd name="T10" fmla="*/ 250 w 839"/>
                  <a:gd name="T11" fmla="*/ 87 h 319"/>
                  <a:gd name="T12" fmla="*/ 251 w 839"/>
                  <a:gd name="T13" fmla="*/ 93 h 319"/>
                  <a:gd name="T14" fmla="*/ 242 w 839"/>
                  <a:gd name="T15" fmla="*/ 92 h 319"/>
                  <a:gd name="T16" fmla="*/ 232 w 839"/>
                  <a:gd name="T17" fmla="*/ 87 h 319"/>
                  <a:gd name="T18" fmla="*/ 224 w 839"/>
                  <a:gd name="T19" fmla="*/ 82 h 319"/>
                  <a:gd name="T20" fmla="*/ 214 w 839"/>
                  <a:gd name="T21" fmla="*/ 72 h 319"/>
                  <a:gd name="T22" fmla="*/ 204 w 839"/>
                  <a:gd name="T23" fmla="*/ 63 h 319"/>
                  <a:gd name="T24" fmla="*/ 190 w 839"/>
                  <a:gd name="T25" fmla="*/ 55 h 319"/>
                  <a:gd name="T26" fmla="*/ 170 w 839"/>
                  <a:gd name="T27" fmla="*/ 45 h 319"/>
                  <a:gd name="T28" fmla="*/ 148 w 839"/>
                  <a:gd name="T29" fmla="*/ 38 h 319"/>
                  <a:gd name="T30" fmla="*/ 127 w 839"/>
                  <a:gd name="T31" fmla="*/ 34 h 319"/>
                  <a:gd name="T32" fmla="*/ 104 w 839"/>
                  <a:gd name="T33" fmla="*/ 32 h 319"/>
                  <a:gd name="T34" fmla="*/ 89 w 839"/>
                  <a:gd name="T35" fmla="*/ 33 h 319"/>
                  <a:gd name="T36" fmla="*/ 76 w 839"/>
                  <a:gd name="T37" fmla="*/ 36 h 319"/>
                  <a:gd name="T38" fmla="*/ 64 w 839"/>
                  <a:gd name="T39" fmla="*/ 40 h 319"/>
                  <a:gd name="T40" fmla="*/ 55 w 839"/>
                  <a:gd name="T41" fmla="*/ 41 h 319"/>
                  <a:gd name="T42" fmla="*/ 47 w 839"/>
                  <a:gd name="T43" fmla="*/ 40 h 319"/>
                  <a:gd name="T44" fmla="*/ 39 w 839"/>
                  <a:gd name="T45" fmla="*/ 38 h 319"/>
                  <a:gd name="T46" fmla="*/ 43 w 839"/>
                  <a:gd name="T47" fmla="*/ 27 h 319"/>
                  <a:gd name="T48" fmla="*/ 42 w 839"/>
                  <a:gd name="T49" fmla="*/ 15 h 319"/>
                  <a:gd name="T50" fmla="*/ 35 w 839"/>
                  <a:gd name="T51" fmla="*/ 4 h 319"/>
                  <a:gd name="T52" fmla="*/ 22 w 839"/>
                  <a:gd name="T53" fmla="*/ 0 h 319"/>
                  <a:gd name="T54" fmla="*/ 10 w 839"/>
                  <a:gd name="T55" fmla="*/ 4 h 319"/>
                  <a:gd name="T56" fmla="*/ 2 w 839"/>
                  <a:gd name="T57" fmla="*/ 15 h 319"/>
                  <a:gd name="T58" fmla="*/ 1 w 839"/>
                  <a:gd name="T59" fmla="*/ 30 h 319"/>
                  <a:gd name="T60" fmla="*/ 13 w 839"/>
                  <a:gd name="T61" fmla="*/ 45 h 319"/>
                  <a:gd name="T62" fmla="*/ 22 w 839"/>
                  <a:gd name="T63" fmla="*/ 51 h 319"/>
                  <a:gd name="T64" fmla="*/ 33 w 839"/>
                  <a:gd name="T65" fmla="*/ 56 h 319"/>
                  <a:gd name="T66" fmla="*/ 46 w 839"/>
                  <a:gd name="T67" fmla="*/ 59 h 319"/>
                  <a:gd name="T68" fmla="*/ 66 w 839"/>
                  <a:gd name="T69" fmla="*/ 58 h 319"/>
                  <a:gd name="T70" fmla="*/ 85 w 839"/>
                  <a:gd name="T71" fmla="*/ 56 h 319"/>
                  <a:gd name="T72" fmla="*/ 98 w 839"/>
                  <a:gd name="T73" fmla="*/ 55 h 319"/>
                  <a:gd name="T74" fmla="*/ 114 w 839"/>
                  <a:gd name="T75" fmla="*/ 55 h 319"/>
                  <a:gd name="T76" fmla="*/ 144 w 839"/>
                  <a:gd name="T77" fmla="*/ 61 h 319"/>
                  <a:gd name="T78" fmla="*/ 173 w 839"/>
                  <a:gd name="T79" fmla="*/ 71 h 319"/>
                  <a:gd name="T80" fmla="*/ 188 w 839"/>
                  <a:gd name="T81" fmla="*/ 79 h 319"/>
                  <a:gd name="T82" fmla="*/ 200 w 839"/>
                  <a:gd name="T83" fmla="*/ 86 h 319"/>
                  <a:gd name="T84" fmla="*/ 216 w 839"/>
                  <a:gd name="T85" fmla="*/ 98 h 319"/>
                  <a:gd name="T86" fmla="*/ 234 w 839"/>
                  <a:gd name="T87" fmla="*/ 108 h 319"/>
                  <a:gd name="T88" fmla="*/ 251 w 839"/>
                  <a:gd name="T89" fmla="*/ 113 h 319"/>
                  <a:gd name="T90" fmla="*/ 266 w 839"/>
                  <a:gd name="T91" fmla="*/ 113 h 319"/>
                  <a:gd name="T92" fmla="*/ 280 w 839"/>
                  <a:gd name="T93" fmla="*/ 107 h 319"/>
                  <a:gd name="T94" fmla="*/ 293 w 839"/>
                  <a:gd name="T95" fmla="*/ 93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0" name="Freeform 30"/>
              <p:cNvSpPr>
                <a:spLocks/>
              </p:cNvSpPr>
              <p:nvPr/>
            </p:nvSpPr>
            <p:spPr bwMode="auto">
              <a:xfrm>
                <a:off x="4838" y="2408"/>
                <a:ext cx="145" cy="55"/>
              </a:xfrm>
              <a:custGeom>
                <a:avLst/>
                <a:gdLst>
                  <a:gd name="T0" fmla="*/ 0 w 413"/>
                  <a:gd name="T1" fmla="*/ 0 h 156"/>
                  <a:gd name="T2" fmla="*/ 2 w 413"/>
                  <a:gd name="T3" fmla="*/ 11 h 156"/>
                  <a:gd name="T4" fmla="*/ 8 w 413"/>
                  <a:gd name="T5" fmla="*/ 22 h 156"/>
                  <a:gd name="T6" fmla="*/ 15 w 413"/>
                  <a:gd name="T7" fmla="*/ 32 h 156"/>
                  <a:gd name="T8" fmla="*/ 24 w 413"/>
                  <a:gd name="T9" fmla="*/ 40 h 156"/>
                  <a:gd name="T10" fmla="*/ 34 w 413"/>
                  <a:gd name="T11" fmla="*/ 46 h 156"/>
                  <a:gd name="T12" fmla="*/ 46 w 413"/>
                  <a:gd name="T13" fmla="*/ 51 h 156"/>
                  <a:gd name="T14" fmla="*/ 59 w 413"/>
                  <a:gd name="T15" fmla="*/ 54 h 156"/>
                  <a:gd name="T16" fmla="*/ 72 w 413"/>
                  <a:gd name="T17" fmla="*/ 55 h 156"/>
                  <a:gd name="T18" fmla="*/ 86 w 413"/>
                  <a:gd name="T19" fmla="*/ 54 h 156"/>
                  <a:gd name="T20" fmla="*/ 99 w 413"/>
                  <a:gd name="T21" fmla="*/ 51 h 156"/>
                  <a:gd name="T22" fmla="*/ 111 w 413"/>
                  <a:gd name="T23" fmla="*/ 46 h 156"/>
                  <a:gd name="T24" fmla="*/ 121 w 413"/>
                  <a:gd name="T25" fmla="*/ 40 h 156"/>
                  <a:gd name="T26" fmla="*/ 131 w 413"/>
                  <a:gd name="T27" fmla="*/ 32 h 156"/>
                  <a:gd name="T28" fmla="*/ 137 w 413"/>
                  <a:gd name="T29" fmla="*/ 22 h 156"/>
                  <a:gd name="T30" fmla="*/ 142 w 413"/>
                  <a:gd name="T31" fmla="*/ 11 h 156"/>
                  <a:gd name="T32" fmla="*/ 145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1" name="Freeform 31"/>
              <p:cNvSpPr>
                <a:spLocks/>
              </p:cNvSpPr>
              <p:nvPr/>
            </p:nvSpPr>
            <p:spPr bwMode="auto">
              <a:xfrm>
                <a:off x="4854" y="2282"/>
                <a:ext cx="60" cy="131"/>
              </a:xfrm>
              <a:custGeom>
                <a:avLst/>
                <a:gdLst>
                  <a:gd name="T0" fmla="*/ 10 w 170"/>
                  <a:gd name="T1" fmla="*/ 131 h 373"/>
                  <a:gd name="T2" fmla="*/ 60 w 170"/>
                  <a:gd name="T3" fmla="*/ 4 h 373"/>
                  <a:gd name="T4" fmla="*/ 50 w 170"/>
                  <a:gd name="T5" fmla="*/ 0 h 373"/>
                  <a:gd name="T6" fmla="*/ 0 w 170"/>
                  <a:gd name="T7" fmla="*/ 127 h 373"/>
                  <a:gd name="T8" fmla="*/ 10 w 170"/>
                  <a:gd name="T9" fmla="*/ 131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2" name="Freeform 32"/>
              <p:cNvSpPr>
                <a:spLocks/>
              </p:cNvSpPr>
              <p:nvPr/>
            </p:nvSpPr>
            <p:spPr bwMode="auto">
              <a:xfrm>
                <a:off x="4908" y="2282"/>
                <a:ext cx="59" cy="131"/>
              </a:xfrm>
              <a:custGeom>
                <a:avLst/>
                <a:gdLst>
                  <a:gd name="T0" fmla="*/ 50 w 168"/>
                  <a:gd name="T1" fmla="*/ 131 h 373"/>
                  <a:gd name="T2" fmla="*/ 0 w 168"/>
                  <a:gd name="T3" fmla="*/ 4 h 373"/>
                  <a:gd name="T4" fmla="*/ 9 w 168"/>
                  <a:gd name="T5" fmla="*/ 0 h 373"/>
                  <a:gd name="T6" fmla="*/ 59 w 168"/>
                  <a:gd name="T7" fmla="*/ 127 h 373"/>
                  <a:gd name="T8" fmla="*/ 50 w 168"/>
                  <a:gd name="T9" fmla="*/ 131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3" name="Freeform 33"/>
              <p:cNvSpPr>
                <a:spLocks/>
              </p:cNvSpPr>
              <p:nvPr/>
            </p:nvSpPr>
            <p:spPr bwMode="auto">
              <a:xfrm>
                <a:off x="5087" y="2464"/>
                <a:ext cx="146" cy="55"/>
              </a:xfrm>
              <a:custGeom>
                <a:avLst/>
                <a:gdLst>
                  <a:gd name="T0" fmla="*/ 0 w 413"/>
                  <a:gd name="T1" fmla="*/ 0 h 158"/>
                  <a:gd name="T2" fmla="*/ 3 w 413"/>
                  <a:gd name="T3" fmla="*/ 11 h 158"/>
                  <a:gd name="T4" fmla="*/ 7 w 413"/>
                  <a:gd name="T5" fmla="*/ 22 h 158"/>
                  <a:gd name="T6" fmla="*/ 14 w 413"/>
                  <a:gd name="T7" fmla="*/ 31 h 158"/>
                  <a:gd name="T8" fmla="*/ 24 w 413"/>
                  <a:gd name="T9" fmla="*/ 39 h 158"/>
                  <a:gd name="T10" fmla="*/ 34 w 413"/>
                  <a:gd name="T11" fmla="*/ 45 h 158"/>
                  <a:gd name="T12" fmla="*/ 46 w 413"/>
                  <a:gd name="T13" fmla="*/ 51 h 158"/>
                  <a:gd name="T14" fmla="*/ 59 w 413"/>
                  <a:gd name="T15" fmla="*/ 54 h 158"/>
                  <a:gd name="T16" fmla="*/ 73 w 413"/>
                  <a:gd name="T17" fmla="*/ 55 h 158"/>
                  <a:gd name="T18" fmla="*/ 87 w 413"/>
                  <a:gd name="T19" fmla="*/ 54 h 158"/>
                  <a:gd name="T20" fmla="*/ 100 w 413"/>
                  <a:gd name="T21" fmla="*/ 51 h 158"/>
                  <a:gd name="T22" fmla="*/ 111 w 413"/>
                  <a:gd name="T23" fmla="*/ 45 h 158"/>
                  <a:gd name="T24" fmla="*/ 122 w 413"/>
                  <a:gd name="T25" fmla="*/ 39 h 158"/>
                  <a:gd name="T26" fmla="*/ 131 w 413"/>
                  <a:gd name="T27" fmla="*/ 31 h 158"/>
                  <a:gd name="T28" fmla="*/ 138 w 413"/>
                  <a:gd name="T29" fmla="*/ 22 h 158"/>
                  <a:gd name="T30" fmla="*/ 143 w 413"/>
                  <a:gd name="T31" fmla="*/ 11 h 158"/>
                  <a:gd name="T32" fmla="*/ 14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4" name="Freeform 34"/>
              <p:cNvSpPr>
                <a:spLocks/>
              </p:cNvSpPr>
              <p:nvPr/>
            </p:nvSpPr>
            <p:spPr bwMode="auto">
              <a:xfrm>
                <a:off x="5103" y="2338"/>
                <a:ext cx="60" cy="130"/>
              </a:xfrm>
              <a:custGeom>
                <a:avLst/>
                <a:gdLst>
                  <a:gd name="T0" fmla="*/ 10 w 170"/>
                  <a:gd name="T1" fmla="*/ 130 h 370"/>
                  <a:gd name="T2" fmla="*/ 60 w 170"/>
                  <a:gd name="T3" fmla="*/ 4 h 370"/>
                  <a:gd name="T4" fmla="*/ 50 w 170"/>
                  <a:gd name="T5" fmla="*/ 0 h 370"/>
                  <a:gd name="T6" fmla="*/ 0 w 170"/>
                  <a:gd name="T7" fmla="*/ 126 h 370"/>
                  <a:gd name="T8" fmla="*/ 10 w 170"/>
                  <a:gd name="T9" fmla="*/ 13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5" name="Freeform 35"/>
              <p:cNvSpPr>
                <a:spLocks/>
              </p:cNvSpPr>
              <p:nvPr/>
            </p:nvSpPr>
            <p:spPr bwMode="auto">
              <a:xfrm>
                <a:off x="5157" y="2338"/>
                <a:ext cx="60" cy="130"/>
              </a:xfrm>
              <a:custGeom>
                <a:avLst/>
                <a:gdLst>
                  <a:gd name="T0" fmla="*/ 50 w 170"/>
                  <a:gd name="T1" fmla="*/ 130 h 370"/>
                  <a:gd name="T2" fmla="*/ 0 w 170"/>
                  <a:gd name="T3" fmla="*/ 4 h 370"/>
                  <a:gd name="T4" fmla="*/ 10 w 170"/>
                  <a:gd name="T5" fmla="*/ 0 h 370"/>
                  <a:gd name="T6" fmla="*/ 60 w 170"/>
                  <a:gd name="T7" fmla="*/ 126 h 370"/>
                  <a:gd name="T8" fmla="*/ 50 w 170"/>
                  <a:gd name="T9" fmla="*/ 13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6" name="Rectangle 36"/>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67" name="Rectangle 37"/>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68" name="Freeform 38"/>
              <p:cNvSpPr>
                <a:spLocks/>
              </p:cNvSpPr>
              <p:nvPr/>
            </p:nvSpPr>
            <p:spPr bwMode="auto">
              <a:xfrm>
                <a:off x="5008" y="2218"/>
                <a:ext cx="45" cy="46"/>
              </a:xfrm>
              <a:custGeom>
                <a:avLst/>
                <a:gdLst>
                  <a:gd name="T0" fmla="*/ 22 w 129"/>
                  <a:gd name="T1" fmla="*/ 46 h 128"/>
                  <a:gd name="T2" fmla="*/ 27 w 129"/>
                  <a:gd name="T3" fmla="*/ 46 h 128"/>
                  <a:gd name="T4" fmla="*/ 31 w 129"/>
                  <a:gd name="T5" fmla="*/ 45 h 128"/>
                  <a:gd name="T6" fmla="*/ 35 w 129"/>
                  <a:gd name="T7" fmla="*/ 42 h 128"/>
                  <a:gd name="T8" fmla="*/ 39 w 129"/>
                  <a:gd name="T9" fmla="*/ 40 h 128"/>
                  <a:gd name="T10" fmla="*/ 42 w 129"/>
                  <a:gd name="T11" fmla="*/ 36 h 128"/>
                  <a:gd name="T12" fmla="*/ 44 w 129"/>
                  <a:gd name="T13" fmla="*/ 32 h 128"/>
                  <a:gd name="T14" fmla="*/ 45 w 129"/>
                  <a:gd name="T15" fmla="*/ 28 h 128"/>
                  <a:gd name="T16" fmla="*/ 45 w 129"/>
                  <a:gd name="T17" fmla="*/ 23 h 128"/>
                  <a:gd name="T18" fmla="*/ 45 w 129"/>
                  <a:gd name="T19" fmla="*/ 18 h 128"/>
                  <a:gd name="T20" fmla="*/ 44 w 129"/>
                  <a:gd name="T21" fmla="*/ 14 h 128"/>
                  <a:gd name="T22" fmla="*/ 42 w 129"/>
                  <a:gd name="T23" fmla="*/ 10 h 128"/>
                  <a:gd name="T24" fmla="*/ 39 w 129"/>
                  <a:gd name="T25" fmla="*/ 6 h 128"/>
                  <a:gd name="T26" fmla="*/ 35 w 129"/>
                  <a:gd name="T27" fmla="*/ 4 h 128"/>
                  <a:gd name="T28" fmla="*/ 31 w 129"/>
                  <a:gd name="T29" fmla="*/ 1 h 128"/>
                  <a:gd name="T30" fmla="*/ 27 w 129"/>
                  <a:gd name="T31" fmla="*/ 0 h 128"/>
                  <a:gd name="T32" fmla="*/ 22 w 129"/>
                  <a:gd name="T33" fmla="*/ 0 h 128"/>
                  <a:gd name="T34" fmla="*/ 18 w 129"/>
                  <a:gd name="T35" fmla="*/ 0 h 128"/>
                  <a:gd name="T36" fmla="*/ 14 w 129"/>
                  <a:gd name="T37" fmla="*/ 1 h 128"/>
                  <a:gd name="T38" fmla="*/ 10 w 129"/>
                  <a:gd name="T39" fmla="*/ 4 h 128"/>
                  <a:gd name="T40" fmla="*/ 7 w 129"/>
                  <a:gd name="T41" fmla="*/ 6 h 128"/>
                  <a:gd name="T42" fmla="*/ 4 w 129"/>
                  <a:gd name="T43" fmla="*/ 10 h 128"/>
                  <a:gd name="T44" fmla="*/ 2 w 129"/>
                  <a:gd name="T45" fmla="*/ 14 h 128"/>
                  <a:gd name="T46" fmla="*/ 1 w 129"/>
                  <a:gd name="T47" fmla="*/ 18 h 128"/>
                  <a:gd name="T48" fmla="*/ 0 w 129"/>
                  <a:gd name="T49" fmla="*/ 23 h 128"/>
                  <a:gd name="T50" fmla="*/ 1 w 129"/>
                  <a:gd name="T51" fmla="*/ 28 h 128"/>
                  <a:gd name="T52" fmla="*/ 2 w 129"/>
                  <a:gd name="T53" fmla="*/ 32 h 128"/>
                  <a:gd name="T54" fmla="*/ 4 w 129"/>
                  <a:gd name="T55" fmla="*/ 36 h 128"/>
                  <a:gd name="T56" fmla="*/ 7 w 129"/>
                  <a:gd name="T57" fmla="*/ 40 h 128"/>
                  <a:gd name="T58" fmla="*/ 10 w 129"/>
                  <a:gd name="T59" fmla="*/ 42 h 128"/>
                  <a:gd name="T60" fmla="*/ 14 w 129"/>
                  <a:gd name="T61" fmla="*/ 45 h 128"/>
                  <a:gd name="T62" fmla="*/ 18 w 129"/>
                  <a:gd name="T63" fmla="*/ 46 h 128"/>
                  <a:gd name="T64" fmla="*/ 22 w 129"/>
                  <a:gd name="T65" fmla="*/ 4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9" name="Rectangle 39"/>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3336" name="Text Box 40"/>
          <p:cNvSpPr txBox="1">
            <a:spLocks noChangeArrowheads="1"/>
          </p:cNvSpPr>
          <p:nvPr/>
        </p:nvSpPr>
        <p:spPr bwMode="auto">
          <a:xfrm>
            <a:off x="619125" y="2046288"/>
            <a:ext cx="16113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Dana Evans</a:t>
            </a:r>
          </a:p>
        </p:txBody>
      </p:sp>
      <p:grpSp>
        <p:nvGrpSpPr>
          <p:cNvPr id="13337" name="Group 41"/>
          <p:cNvGrpSpPr>
            <a:grpSpLocks/>
          </p:cNvGrpSpPr>
          <p:nvPr/>
        </p:nvGrpSpPr>
        <p:grpSpPr bwMode="auto">
          <a:xfrm>
            <a:off x="896938" y="2801938"/>
            <a:ext cx="1341437" cy="903287"/>
            <a:chOff x="2984" y="3331"/>
            <a:chExt cx="845" cy="569"/>
          </a:xfrm>
        </p:grpSpPr>
        <p:sp>
          <p:nvSpPr>
            <p:cNvPr id="13344" name="AutoShape 42"/>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3345" name="Group 43"/>
            <p:cNvGrpSpPr>
              <a:grpSpLocks/>
            </p:cNvGrpSpPr>
            <p:nvPr/>
          </p:nvGrpSpPr>
          <p:grpSpPr bwMode="auto">
            <a:xfrm>
              <a:off x="3386" y="3487"/>
              <a:ext cx="443" cy="398"/>
              <a:chOff x="4838" y="2218"/>
              <a:chExt cx="395" cy="355"/>
            </a:xfrm>
          </p:grpSpPr>
          <p:sp>
            <p:nvSpPr>
              <p:cNvPr id="13346" name="Freeform 44"/>
              <p:cNvSpPr>
                <a:spLocks/>
              </p:cNvSpPr>
              <p:nvPr/>
            </p:nvSpPr>
            <p:spPr bwMode="auto">
              <a:xfrm>
                <a:off x="4888" y="2251"/>
                <a:ext cx="294" cy="113"/>
              </a:xfrm>
              <a:custGeom>
                <a:avLst/>
                <a:gdLst>
                  <a:gd name="T0" fmla="*/ 292 w 839"/>
                  <a:gd name="T1" fmla="*/ 77 h 319"/>
                  <a:gd name="T2" fmla="*/ 285 w 839"/>
                  <a:gd name="T3" fmla="*/ 66 h 319"/>
                  <a:gd name="T4" fmla="*/ 272 w 839"/>
                  <a:gd name="T5" fmla="*/ 62 h 319"/>
                  <a:gd name="T6" fmla="*/ 260 w 839"/>
                  <a:gd name="T7" fmla="*/ 66 h 319"/>
                  <a:gd name="T8" fmla="*/ 252 w 839"/>
                  <a:gd name="T9" fmla="*/ 77 h 319"/>
                  <a:gd name="T10" fmla="*/ 250 w 839"/>
                  <a:gd name="T11" fmla="*/ 87 h 319"/>
                  <a:gd name="T12" fmla="*/ 251 w 839"/>
                  <a:gd name="T13" fmla="*/ 93 h 319"/>
                  <a:gd name="T14" fmla="*/ 242 w 839"/>
                  <a:gd name="T15" fmla="*/ 92 h 319"/>
                  <a:gd name="T16" fmla="*/ 232 w 839"/>
                  <a:gd name="T17" fmla="*/ 87 h 319"/>
                  <a:gd name="T18" fmla="*/ 224 w 839"/>
                  <a:gd name="T19" fmla="*/ 82 h 319"/>
                  <a:gd name="T20" fmla="*/ 214 w 839"/>
                  <a:gd name="T21" fmla="*/ 72 h 319"/>
                  <a:gd name="T22" fmla="*/ 204 w 839"/>
                  <a:gd name="T23" fmla="*/ 63 h 319"/>
                  <a:gd name="T24" fmla="*/ 190 w 839"/>
                  <a:gd name="T25" fmla="*/ 55 h 319"/>
                  <a:gd name="T26" fmla="*/ 170 w 839"/>
                  <a:gd name="T27" fmla="*/ 45 h 319"/>
                  <a:gd name="T28" fmla="*/ 148 w 839"/>
                  <a:gd name="T29" fmla="*/ 38 h 319"/>
                  <a:gd name="T30" fmla="*/ 127 w 839"/>
                  <a:gd name="T31" fmla="*/ 34 h 319"/>
                  <a:gd name="T32" fmla="*/ 104 w 839"/>
                  <a:gd name="T33" fmla="*/ 32 h 319"/>
                  <a:gd name="T34" fmla="*/ 89 w 839"/>
                  <a:gd name="T35" fmla="*/ 33 h 319"/>
                  <a:gd name="T36" fmla="*/ 76 w 839"/>
                  <a:gd name="T37" fmla="*/ 36 h 319"/>
                  <a:gd name="T38" fmla="*/ 64 w 839"/>
                  <a:gd name="T39" fmla="*/ 40 h 319"/>
                  <a:gd name="T40" fmla="*/ 55 w 839"/>
                  <a:gd name="T41" fmla="*/ 41 h 319"/>
                  <a:gd name="T42" fmla="*/ 47 w 839"/>
                  <a:gd name="T43" fmla="*/ 40 h 319"/>
                  <a:gd name="T44" fmla="*/ 39 w 839"/>
                  <a:gd name="T45" fmla="*/ 38 h 319"/>
                  <a:gd name="T46" fmla="*/ 43 w 839"/>
                  <a:gd name="T47" fmla="*/ 27 h 319"/>
                  <a:gd name="T48" fmla="*/ 42 w 839"/>
                  <a:gd name="T49" fmla="*/ 15 h 319"/>
                  <a:gd name="T50" fmla="*/ 35 w 839"/>
                  <a:gd name="T51" fmla="*/ 4 h 319"/>
                  <a:gd name="T52" fmla="*/ 22 w 839"/>
                  <a:gd name="T53" fmla="*/ 0 h 319"/>
                  <a:gd name="T54" fmla="*/ 10 w 839"/>
                  <a:gd name="T55" fmla="*/ 4 h 319"/>
                  <a:gd name="T56" fmla="*/ 2 w 839"/>
                  <a:gd name="T57" fmla="*/ 15 h 319"/>
                  <a:gd name="T58" fmla="*/ 1 w 839"/>
                  <a:gd name="T59" fmla="*/ 30 h 319"/>
                  <a:gd name="T60" fmla="*/ 13 w 839"/>
                  <a:gd name="T61" fmla="*/ 45 h 319"/>
                  <a:gd name="T62" fmla="*/ 22 w 839"/>
                  <a:gd name="T63" fmla="*/ 51 h 319"/>
                  <a:gd name="T64" fmla="*/ 33 w 839"/>
                  <a:gd name="T65" fmla="*/ 56 h 319"/>
                  <a:gd name="T66" fmla="*/ 46 w 839"/>
                  <a:gd name="T67" fmla="*/ 59 h 319"/>
                  <a:gd name="T68" fmla="*/ 66 w 839"/>
                  <a:gd name="T69" fmla="*/ 58 h 319"/>
                  <a:gd name="T70" fmla="*/ 85 w 839"/>
                  <a:gd name="T71" fmla="*/ 56 h 319"/>
                  <a:gd name="T72" fmla="*/ 98 w 839"/>
                  <a:gd name="T73" fmla="*/ 55 h 319"/>
                  <a:gd name="T74" fmla="*/ 114 w 839"/>
                  <a:gd name="T75" fmla="*/ 55 h 319"/>
                  <a:gd name="T76" fmla="*/ 144 w 839"/>
                  <a:gd name="T77" fmla="*/ 61 h 319"/>
                  <a:gd name="T78" fmla="*/ 173 w 839"/>
                  <a:gd name="T79" fmla="*/ 71 h 319"/>
                  <a:gd name="T80" fmla="*/ 188 w 839"/>
                  <a:gd name="T81" fmla="*/ 79 h 319"/>
                  <a:gd name="T82" fmla="*/ 200 w 839"/>
                  <a:gd name="T83" fmla="*/ 86 h 319"/>
                  <a:gd name="T84" fmla="*/ 216 w 839"/>
                  <a:gd name="T85" fmla="*/ 98 h 319"/>
                  <a:gd name="T86" fmla="*/ 234 w 839"/>
                  <a:gd name="T87" fmla="*/ 108 h 319"/>
                  <a:gd name="T88" fmla="*/ 251 w 839"/>
                  <a:gd name="T89" fmla="*/ 113 h 319"/>
                  <a:gd name="T90" fmla="*/ 266 w 839"/>
                  <a:gd name="T91" fmla="*/ 113 h 319"/>
                  <a:gd name="T92" fmla="*/ 280 w 839"/>
                  <a:gd name="T93" fmla="*/ 107 h 319"/>
                  <a:gd name="T94" fmla="*/ 293 w 839"/>
                  <a:gd name="T95" fmla="*/ 93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7" name="Freeform 45"/>
              <p:cNvSpPr>
                <a:spLocks/>
              </p:cNvSpPr>
              <p:nvPr/>
            </p:nvSpPr>
            <p:spPr bwMode="auto">
              <a:xfrm>
                <a:off x="4838" y="2408"/>
                <a:ext cx="145" cy="55"/>
              </a:xfrm>
              <a:custGeom>
                <a:avLst/>
                <a:gdLst>
                  <a:gd name="T0" fmla="*/ 0 w 413"/>
                  <a:gd name="T1" fmla="*/ 0 h 156"/>
                  <a:gd name="T2" fmla="*/ 2 w 413"/>
                  <a:gd name="T3" fmla="*/ 11 h 156"/>
                  <a:gd name="T4" fmla="*/ 8 w 413"/>
                  <a:gd name="T5" fmla="*/ 22 h 156"/>
                  <a:gd name="T6" fmla="*/ 15 w 413"/>
                  <a:gd name="T7" fmla="*/ 32 h 156"/>
                  <a:gd name="T8" fmla="*/ 24 w 413"/>
                  <a:gd name="T9" fmla="*/ 40 h 156"/>
                  <a:gd name="T10" fmla="*/ 34 w 413"/>
                  <a:gd name="T11" fmla="*/ 46 h 156"/>
                  <a:gd name="T12" fmla="*/ 46 w 413"/>
                  <a:gd name="T13" fmla="*/ 51 h 156"/>
                  <a:gd name="T14" fmla="*/ 59 w 413"/>
                  <a:gd name="T15" fmla="*/ 54 h 156"/>
                  <a:gd name="T16" fmla="*/ 72 w 413"/>
                  <a:gd name="T17" fmla="*/ 55 h 156"/>
                  <a:gd name="T18" fmla="*/ 86 w 413"/>
                  <a:gd name="T19" fmla="*/ 54 h 156"/>
                  <a:gd name="T20" fmla="*/ 99 w 413"/>
                  <a:gd name="T21" fmla="*/ 51 h 156"/>
                  <a:gd name="T22" fmla="*/ 111 w 413"/>
                  <a:gd name="T23" fmla="*/ 46 h 156"/>
                  <a:gd name="T24" fmla="*/ 121 w 413"/>
                  <a:gd name="T25" fmla="*/ 40 h 156"/>
                  <a:gd name="T26" fmla="*/ 131 w 413"/>
                  <a:gd name="T27" fmla="*/ 32 h 156"/>
                  <a:gd name="T28" fmla="*/ 137 w 413"/>
                  <a:gd name="T29" fmla="*/ 22 h 156"/>
                  <a:gd name="T30" fmla="*/ 142 w 413"/>
                  <a:gd name="T31" fmla="*/ 11 h 156"/>
                  <a:gd name="T32" fmla="*/ 145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8" name="Freeform 46"/>
              <p:cNvSpPr>
                <a:spLocks/>
              </p:cNvSpPr>
              <p:nvPr/>
            </p:nvSpPr>
            <p:spPr bwMode="auto">
              <a:xfrm>
                <a:off x="4854" y="2282"/>
                <a:ext cx="60" cy="131"/>
              </a:xfrm>
              <a:custGeom>
                <a:avLst/>
                <a:gdLst>
                  <a:gd name="T0" fmla="*/ 10 w 170"/>
                  <a:gd name="T1" fmla="*/ 131 h 373"/>
                  <a:gd name="T2" fmla="*/ 60 w 170"/>
                  <a:gd name="T3" fmla="*/ 4 h 373"/>
                  <a:gd name="T4" fmla="*/ 50 w 170"/>
                  <a:gd name="T5" fmla="*/ 0 h 373"/>
                  <a:gd name="T6" fmla="*/ 0 w 170"/>
                  <a:gd name="T7" fmla="*/ 127 h 373"/>
                  <a:gd name="T8" fmla="*/ 10 w 170"/>
                  <a:gd name="T9" fmla="*/ 131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9" name="Freeform 47"/>
              <p:cNvSpPr>
                <a:spLocks/>
              </p:cNvSpPr>
              <p:nvPr/>
            </p:nvSpPr>
            <p:spPr bwMode="auto">
              <a:xfrm>
                <a:off x="4908" y="2282"/>
                <a:ext cx="59" cy="131"/>
              </a:xfrm>
              <a:custGeom>
                <a:avLst/>
                <a:gdLst>
                  <a:gd name="T0" fmla="*/ 50 w 168"/>
                  <a:gd name="T1" fmla="*/ 131 h 373"/>
                  <a:gd name="T2" fmla="*/ 0 w 168"/>
                  <a:gd name="T3" fmla="*/ 4 h 373"/>
                  <a:gd name="T4" fmla="*/ 9 w 168"/>
                  <a:gd name="T5" fmla="*/ 0 h 373"/>
                  <a:gd name="T6" fmla="*/ 59 w 168"/>
                  <a:gd name="T7" fmla="*/ 127 h 373"/>
                  <a:gd name="T8" fmla="*/ 50 w 168"/>
                  <a:gd name="T9" fmla="*/ 131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0" name="Freeform 48"/>
              <p:cNvSpPr>
                <a:spLocks/>
              </p:cNvSpPr>
              <p:nvPr/>
            </p:nvSpPr>
            <p:spPr bwMode="auto">
              <a:xfrm>
                <a:off x="5087" y="2464"/>
                <a:ext cx="146" cy="55"/>
              </a:xfrm>
              <a:custGeom>
                <a:avLst/>
                <a:gdLst>
                  <a:gd name="T0" fmla="*/ 0 w 413"/>
                  <a:gd name="T1" fmla="*/ 0 h 158"/>
                  <a:gd name="T2" fmla="*/ 3 w 413"/>
                  <a:gd name="T3" fmla="*/ 11 h 158"/>
                  <a:gd name="T4" fmla="*/ 7 w 413"/>
                  <a:gd name="T5" fmla="*/ 22 h 158"/>
                  <a:gd name="T6" fmla="*/ 14 w 413"/>
                  <a:gd name="T7" fmla="*/ 31 h 158"/>
                  <a:gd name="T8" fmla="*/ 24 w 413"/>
                  <a:gd name="T9" fmla="*/ 39 h 158"/>
                  <a:gd name="T10" fmla="*/ 34 w 413"/>
                  <a:gd name="T11" fmla="*/ 45 h 158"/>
                  <a:gd name="T12" fmla="*/ 46 w 413"/>
                  <a:gd name="T13" fmla="*/ 51 h 158"/>
                  <a:gd name="T14" fmla="*/ 59 w 413"/>
                  <a:gd name="T15" fmla="*/ 54 h 158"/>
                  <a:gd name="T16" fmla="*/ 73 w 413"/>
                  <a:gd name="T17" fmla="*/ 55 h 158"/>
                  <a:gd name="T18" fmla="*/ 87 w 413"/>
                  <a:gd name="T19" fmla="*/ 54 h 158"/>
                  <a:gd name="T20" fmla="*/ 100 w 413"/>
                  <a:gd name="T21" fmla="*/ 51 h 158"/>
                  <a:gd name="T22" fmla="*/ 111 w 413"/>
                  <a:gd name="T23" fmla="*/ 45 h 158"/>
                  <a:gd name="T24" fmla="*/ 122 w 413"/>
                  <a:gd name="T25" fmla="*/ 39 h 158"/>
                  <a:gd name="T26" fmla="*/ 131 w 413"/>
                  <a:gd name="T27" fmla="*/ 31 h 158"/>
                  <a:gd name="T28" fmla="*/ 138 w 413"/>
                  <a:gd name="T29" fmla="*/ 22 h 158"/>
                  <a:gd name="T30" fmla="*/ 143 w 413"/>
                  <a:gd name="T31" fmla="*/ 11 h 158"/>
                  <a:gd name="T32" fmla="*/ 14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1" name="Freeform 49"/>
              <p:cNvSpPr>
                <a:spLocks/>
              </p:cNvSpPr>
              <p:nvPr/>
            </p:nvSpPr>
            <p:spPr bwMode="auto">
              <a:xfrm>
                <a:off x="5103" y="2338"/>
                <a:ext cx="60" cy="130"/>
              </a:xfrm>
              <a:custGeom>
                <a:avLst/>
                <a:gdLst>
                  <a:gd name="T0" fmla="*/ 10 w 170"/>
                  <a:gd name="T1" fmla="*/ 130 h 370"/>
                  <a:gd name="T2" fmla="*/ 60 w 170"/>
                  <a:gd name="T3" fmla="*/ 4 h 370"/>
                  <a:gd name="T4" fmla="*/ 50 w 170"/>
                  <a:gd name="T5" fmla="*/ 0 h 370"/>
                  <a:gd name="T6" fmla="*/ 0 w 170"/>
                  <a:gd name="T7" fmla="*/ 126 h 370"/>
                  <a:gd name="T8" fmla="*/ 10 w 170"/>
                  <a:gd name="T9" fmla="*/ 13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2" name="Freeform 50"/>
              <p:cNvSpPr>
                <a:spLocks/>
              </p:cNvSpPr>
              <p:nvPr/>
            </p:nvSpPr>
            <p:spPr bwMode="auto">
              <a:xfrm>
                <a:off x="5157" y="2338"/>
                <a:ext cx="60" cy="130"/>
              </a:xfrm>
              <a:custGeom>
                <a:avLst/>
                <a:gdLst>
                  <a:gd name="T0" fmla="*/ 50 w 170"/>
                  <a:gd name="T1" fmla="*/ 130 h 370"/>
                  <a:gd name="T2" fmla="*/ 0 w 170"/>
                  <a:gd name="T3" fmla="*/ 4 h 370"/>
                  <a:gd name="T4" fmla="*/ 10 w 170"/>
                  <a:gd name="T5" fmla="*/ 0 h 370"/>
                  <a:gd name="T6" fmla="*/ 60 w 170"/>
                  <a:gd name="T7" fmla="*/ 126 h 370"/>
                  <a:gd name="T8" fmla="*/ 50 w 170"/>
                  <a:gd name="T9" fmla="*/ 13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3" name="Rectangle 51"/>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54" name="Rectangle 52"/>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55" name="Freeform 53"/>
              <p:cNvSpPr>
                <a:spLocks/>
              </p:cNvSpPr>
              <p:nvPr/>
            </p:nvSpPr>
            <p:spPr bwMode="auto">
              <a:xfrm>
                <a:off x="5008" y="2218"/>
                <a:ext cx="45" cy="46"/>
              </a:xfrm>
              <a:custGeom>
                <a:avLst/>
                <a:gdLst>
                  <a:gd name="T0" fmla="*/ 22 w 129"/>
                  <a:gd name="T1" fmla="*/ 46 h 128"/>
                  <a:gd name="T2" fmla="*/ 27 w 129"/>
                  <a:gd name="T3" fmla="*/ 46 h 128"/>
                  <a:gd name="T4" fmla="*/ 31 w 129"/>
                  <a:gd name="T5" fmla="*/ 45 h 128"/>
                  <a:gd name="T6" fmla="*/ 35 w 129"/>
                  <a:gd name="T7" fmla="*/ 42 h 128"/>
                  <a:gd name="T8" fmla="*/ 39 w 129"/>
                  <a:gd name="T9" fmla="*/ 40 h 128"/>
                  <a:gd name="T10" fmla="*/ 42 w 129"/>
                  <a:gd name="T11" fmla="*/ 36 h 128"/>
                  <a:gd name="T12" fmla="*/ 44 w 129"/>
                  <a:gd name="T13" fmla="*/ 32 h 128"/>
                  <a:gd name="T14" fmla="*/ 45 w 129"/>
                  <a:gd name="T15" fmla="*/ 28 h 128"/>
                  <a:gd name="T16" fmla="*/ 45 w 129"/>
                  <a:gd name="T17" fmla="*/ 23 h 128"/>
                  <a:gd name="T18" fmla="*/ 45 w 129"/>
                  <a:gd name="T19" fmla="*/ 18 h 128"/>
                  <a:gd name="T20" fmla="*/ 44 w 129"/>
                  <a:gd name="T21" fmla="*/ 14 h 128"/>
                  <a:gd name="T22" fmla="*/ 42 w 129"/>
                  <a:gd name="T23" fmla="*/ 10 h 128"/>
                  <a:gd name="T24" fmla="*/ 39 w 129"/>
                  <a:gd name="T25" fmla="*/ 6 h 128"/>
                  <a:gd name="T26" fmla="*/ 35 w 129"/>
                  <a:gd name="T27" fmla="*/ 4 h 128"/>
                  <a:gd name="T28" fmla="*/ 31 w 129"/>
                  <a:gd name="T29" fmla="*/ 1 h 128"/>
                  <a:gd name="T30" fmla="*/ 27 w 129"/>
                  <a:gd name="T31" fmla="*/ 0 h 128"/>
                  <a:gd name="T32" fmla="*/ 22 w 129"/>
                  <a:gd name="T33" fmla="*/ 0 h 128"/>
                  <a:gd name="T34" fmla="*/ 18 w 129"/>
                  <a:gd name="T35" fmla="*/ 0 h 128"/>
                  <a:gd name="T36" fmla="*/ 14 w 129"/>
                  <a:gd name="T37" fmla="*/ 1 h 128"/>
                  <a:gd name="T38" fmla="*/ 10 w 129"/>
                  <a:gd name="T39" fmla="*/ 4 h 128"/>
                  <a:gd name="T40" fmla="*/ 7 w 129"/>
                  <a:gd name="T41" fmla="*/ 6 h 128"/>
                  <a:gd name="T42" fmla="*/ 4 w 129"/>
                  <a:gd name="T43" fmla="*/ 10 h 128"/>
                  <a:gd name="T44" fmla="*/ 2 w 129"/>
                  <a:gd name="T45" fmla="*/ 14 h 128"/>
                  <a:gd name="T46" fmla="*/ 1 w 129"/>
                  <a:gd name="T47" fmla="*/ 18 h 128"/>
                  <a:gd name="T48" fmla="*/ 0 w 129"/>
                  <a:gd name="T49" fmla="*/ 23 h 128"/>
                  <a:gd name="T50" fmla="*/ 1 w 129"/>
                  <a:gd name="T51" fmla="*/ 28 h 128"/>
                  <a:gd name="T52" fmla="*/ 2 w 129"/>
                  <a:gd name="T53" fmla="*/ 32 h 128"/>
                  <a:gd name="T54" fmla="*/ 4 w 129"/>
                  <a:gd name="T55" fmla="*/ 36 h 128"/>
                  <a:gd name="T56" fmla="*/ 7 w 129"/>
                  <a:gd name="T57" fmla="*/ 40 h 128"/>
                  <a:gd name="T58" fmla="*/ 10 w 129"/>
                  <a:gd name="T59" fmla="*/ 42 h 128"/>
                  <a:gd name="T60" fmla="*/ 14 w 129"/>
                  <a:gd name="T61" fmla="*/ 45 h 128"/>
                  <a:gd name="T62" fmla="*/ 18 w 129"/>
                  <a:gd name="T63" fmla="*/ 46 h 128"/>
                  <a:gd name="T64" fmla="*/ 22 w 129"/>
                  <a:gd name="T65" fmla="*/ 4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6" name="Rectangle 54"/>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3338" name="Text Box 55"/>
          <p:cNvSpPr txBox="1">
            <a:spLocks noChangeArrowheads="1"/>
          </p:cNvSpPr>
          <p:nvPr/>
        </p:nvSpPr>
        <p:spPr bwMode="auto">
          <a:xfrm>
            <a:off x="647700" y="3719513"/>
            <a:ext cx="16113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Peter Beebe</a:t>
            </a:r>
          </a:p>
        </p:txBody>
      </p:sp>
      <p:sp>
        <p:nvSpPr>
          <p:cNvPr id="13339" name="Line 56"/>
          <p:cNvSpPr>
            <a:spLocks noChangeShapeType="1"/>
          </p:cNvSpPr>
          <p:nvPr/>
        </p:nvSpPr>
        <p:spPr bwMode="auto">
          <a:xfrm>
            <a:off x="1751013" y="1503363"/>
            <a:ext cx="1271587" cy="0"/>
          </a:xfrm>
          <a:prstGeom prst="line">
            <a:avLst/>
          </a:prstGeom>
          <a:noFill/>
          <a:ln w="28575">
            <a:solidFill>
              <a:srgbClr val="777777"/>
            </a:solidFill>
            <a:round/>
            <a:headEnd type="diamond" w="med" len="med"/>
            <a:tailEnd type="diamond"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40" name="Line 57"/>
          <p:cNvSpPr>
            <a:spLocks noChangeShapeType="1"/>
          </p:cNvSpPr>
          <p:nvPr/>
        </p:nvSpPr>
        <p:spPr bwMode="auto">
          <a:xfrm>
            <a:off x="1747838" y="3144838"/>
            <a:ext cx="1271587" cy="0"/>
          </a:xfrm>
          <a:prstGeom prst="line">
            <a:avLst/>
          </a:prstGeom>
          <a:noFill/>
          <a:ln w="28575">
            <a:solidFill>
              <a:srgbClr val="777777"/>
            </a:solidFill>
            <a:round/>
            <a:headEnd type="diamond" w="med" len="med"/>
            <a:tailEnd type="diamond"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41" name="Text Box 67"/>
          <p:cNvSpPr txBox="1">
            <a:spLocks noChangeArrowheads="1"/>
          </p:cNvSpPr>
          <p:nvPr/>
        </p:nvSpPr>
        <p:spPr bwMode="auto">
          <a:xfrm>
            <a:off x="6283325" y="1458913"/>
            <a:ext cx="17907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Exposure</a:t>
            </a:r>
            <a:br>
              <a:rPr lang="en-US"/>
            </a:br>
            <a:r>
              <a:rPr lang="en-US"/>
              <a:t>Reserves</a:t>
            </a:r>
            <a:br>
              <a:rPr lang="en-US"/>
            </a:br>
            <a:r>
              <a:rPr lang="en-US"/>
              <a:t>(for Collision):</a:t>
            </a:r>
            <a:br>
              <a:rPr lang="en-US"/>
            </a:br>
            <a:r>
              <a:rPr lang="en-US"/>
              <a:t>$10,000</a:t>
            </a:r>
          </a:p>
        </p:txBody>
      </p:sp>
      <p:sp>
        <p:nvSpPr>
          <p:cNvPr id="13342" name="Line 69"/>
          <p:cNvSpPr>
            <a:spLocks noChangeShapeType="1"/>
          </p:cNvSpPr>
          <p:nvPr/>
        </p:nvSpPr>
        <p:spPr bwMode="auto">
          <a:xfrm flipV="1">
            <a:off x="4213225" y="1639888"/>
            <a:ext cx="0" cy="620712"/>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43" name="AutoShape 70"/>
          <p:cNvSpPr>
            <a:spLocks noChangeArrowheads="1"/>
          </p:cNvSpPr>
          <p:nvPr/>
        </p:nvSpPr>
        <p:spPr bwMode="auto">
          <a:xfrm>
            <a:off x="3979863" y="1412875"/>
            <a:ext cx="468312" cy="468313"/>
          </a:xfrm>
          <a:custGeom>
            <a:avLst/>
            <a:gdLst>
              <a:gd name="T0" fmla="*/ 5076762 w 21600"/>
              <a:gd name="T1" fmla="*/ 0 h 21600"/>
              <a:gd name="T2" fmla="*/ 1486826 w 21600"/>
              <a:gd name="T3" fmla="*/ 1486829 h 21600"/>
              <a:gd name="T4" fmla="*/ 0 w 21600"/>
              <a:gd name="T5" fmla="*/ 5076794 h 21600"/>
              <a:gd name="T6" fmla="*/ 1486826 w 21600"/>
              <a:gd name="T7" fmla="*/ 8666739 h 21600"/>
              <a:gd name="T8" fmla="*/ 5076762 w 21600"/>
              <a:gd name="T9" fmla="*/ 10153567 h 21600"/>
              <a:gd name="T10" fmla="*/ 8666699 w 21600"/>
              <a:gd name="T11" fmla="*/ 8666739 h 21600"/>
              <a:gd name="T12" fmla="*/ 10153524 w 21600"/>
              <a:gd name="T13" fmla="*/ 5076794 h 21600"/>
              <a:gd name="T14" fmla="*/ 8666699 w 21600"/>
              <a:gd name="T15" fmla="*/ 1486829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close/>
                <a:moveTo>
                  <a:pt x="4574" y="7082"/>
                </a:moveTo>
                <a:cubicBezTo>
                  <a:pt x="3903" y="8206"/>
                  <a:pt x="3549" y="9491"/>
                  <a:pt x="3549" y="10799"/>
                </a:cubicBezTo>
                <a:cubicBezTo>
                  <a:pt x="3549" y="14804"/>
                  <a:pt x="6795" y="18051"/>
                  <a:pt x="10800" y="18051"/>
                </a:cubicBezTo>
                <a:cubicBezTo>
                  <a:pt x="12108" y="18051"/>
                  <a:pt x="13393" y="17696"/>
                  <a:pt x="14517" y="17025"/>
                </a:cubicBez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|EOS~011|</a:t>
            </a:r>
            <a:endParaRPr lang="en-US" sz="100" dirty="0" err="1" smtClean="0">
              <a:solidFill>
                <a:srgbClr val="FFFFFF"/>
              </a:solidFill>
              <a:latin typeface="Arial"/>
              <a:cs typeface="Calibri" pitchFamily="34" charset="0"/>
            </a:endParaRPr>
          </a:p>
        </p:txBody>
      </p:sp>
      <p:sp>
        <p:nvSpPr>
          <p:cNvPr id="14338" name="Rectangle 2"/>
          <p:cNvSpPr>
            <a:spLocks noGrp="1" noChangeArrowheads="1"/>
          </p:cNvSpPr>
          <p:nvPr>
            <p:ph type="title"/>
          </p:nvPr>
        </p:nvSpPr>
        <p:spPr/>
        <p:txBody>
          <a:bodyPr/>
          <a:lstStyle/>
          <a:p>
            <a:pPr eaLnBrk="1" hangingPunct="1"/>
            <a:r>
              <a:rPr lang="en-US" smtClean="0"/>
              <a:t>Creating pre-defined profiles</a:t>
            </a:r>
          </a:p>
        </p:txBody>
      </p:sp>
      <p:sp>
        <p:nvSpPr>
          <p:cNvPr id="14340" name="AutoShape 6"/>
          <p:cNvSpPr>
            <a:spLocks noChangeArrowheads="1"/>
          </p:cNvSpPr>
          <p:nvPr/>
        </p:nvSpPr>
        <p:spPr bwMode="auto">
          <a:xfrm>
            <a:off x="773113" y="2138363"/>
            <a:ext cx="858837" cy="32385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693" y="519269"/>
            <a:ext cx="1514475" cy="26384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1550" y="900113"/>
            <a:ext cx="5113843" cy="22799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409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1550" y="3458692"/>
            <a:ext cx="5543550" cy="21145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4341" name="Line 7"/>
          <p:cNvSpPr>
            <a:spLocks noChangeShapeType="1"/>
          </p:cNvSpPr>
          <p:nvPr/>
        </p:nvSpPr>
        <p:spPr bwMode="auto">
          <a:xfrm>
            <a:off x="3354667" y="2497363"/>
            <a:ext cx="832739" cy="180333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0" name="AutoShape 7"/>
          <p:cNvSpPr>
            <a:spLocks noChangeArrowheads="1"/>
          </p:cNvSpPr>
          <p:nvPr/>
        </p:nvSpPr>
        <p:spPr bwMode="auto">
          <a:xfrm>
            <a:off x="2716143" y="2186598"/>
            <a:ext cx="868362" cy="310766"/>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 name="Line 7"/>
          <p:cNvSpPr>
            <a:spLocks noChangeShapeType="1"/>
          </p:cNvSpPr>
          <p:nvPr/>
        </p:nvSpPr>
        <p:spPr bwMode="auto">
          <a:xfrm flipV="1">
            <a:off x="1782168" y="1222774"/>
            <a:ext cx="689727" cy="703507"/>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|EOS~012|</a:t>
            </a:r>
            <a:endParaRPr lang="en-US" sz="100" dirty="0" err="1" smtClean="0">
              <a:solidFill>
                <a:srgbClr val="FFFFFF"/>
              </a:solidFill>
              <a:latin typeface="Arial"/>
              <a:cs typeface="Calibri" pitchFamily="34" charset="0"/>
            </a:endParaRPr>
          </a:p>
        </p:txBody>
      </p:sp>
      <p:sp>
        <p:nvSpPr>
          <p:cNvPr id="15362" name="Rectangle 2"/>
          <p:cNvSpPr>
            <a:spLocks noGrp="1" noChangeArrowheads="1"/>
          </p:cNvSpPr>
          <p:nvPr>
            <p:ph type="title"/>
          </p:nvPr>
        </p:nvSpPr>
        <p:spPr/>
        <p:txBody>
          <a:bodyPr/>
          <a:lstStyle/>
          <a:p>
            <a:pPr eaLnBrk="1" hangingPunct="1"/>
            <a:r>
              <a:rPr lang="en-US" smtClean="0"/>
              <a:t>Assigning pre-defined profiles to users</a:t>
            </a:r>
          </a:p>
        </p:txBody>
      </p:sp>
      <p:sp>
        <p:nvSpPr>
          <p:cNvPr id="15363" name="Rectangle 3"/>
          <p:cNvSpPr>
            <a:spLocks noGrp="1" noChangeArrowheads="1"/>
          </p:cNvSpPr>
          <p:nvPr>
            <p:ph idx="1"/>
          </p:nvPr>
        </p:nvSpPr>
        <p:spPr>
          <a:xfrm>
            <a:off x="519113" y="5257800"/>
            <a:ext cx="8318500" cy="1131888"/>
          </a:xfrm>
        </p:spPr>
        <p:txBody>
          <a:bodyPr/>
          <a:lstStyle/>
          <a:p>
            <a:pPr>
              <a:buFont typeface="Arial" charset="0"/>
              <a:buChar char="•"/>
            </a:pPr>
            <a:r>
              <a:rPr lang="en-US" smtClean="0"/>
              <a:t>Each user can have at most one authority profile</a:t>
            </a:r>
          </a:p>
          <a:p>
            <a:pPr lvl="1"/>
            <a:r>
              <a:rPr lang="en-US" smtClean="0"/>
              <a:t>Profile is assigned through the User screen</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1787" y="1218241"/>
            <a:ext cx="6608278" cy="371091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6" name="AutoShape 7"/>
          <p:cNvSpPr>
            <a:spLocks noChangeArrowheads="1"/>
          </p:cNvSpPr>
          <p:nvPr/>
        </p:nvSpPr>
        <p:spPr bwMode="auto">
          <a:xfrm>
            <a:off x="3359237" y="2638774"/>
            <a:ext cx="2398467" cy="310766"/>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|EOS~013|</a:t>
            </a:r>
            <a:endParaRPr lang="en-US" sz="100" dirty="0" err="1" smtClean="0">
              <a:solidFill>
                <a:srgbClr val="FFFFFF"/>
              </a:solidFill>
              <a:latin typeface="Arial"/>
              <a:cs typeface="Calibri" pitchFamily="34" charset="0"/>
            </a:endParaRP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8602" y="737630"/>
            <a:ext cx="6218097" cy="434117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6386" name="Rectangle 2"/>
          <p:cNvSpPr>
            <a:spLocks noGrp="1" noChangeArrowheads="1"/>
          </p:cNvSpPr>
          <p:nvPr>
            <p:ph type="title"/>
          </p:nvPr>
        </p:nvSpPr>
        <p:spPr/>
        <p:txBody>
          <a:bodyPr/>
          <a:lstStyle/>
          <a:p>
            <a:pPr eaLnBrk="1" hangingPunct="1"/>
            <a:r>
              <a:rPr lang="en-US" smtClean="0"/>
              <a:t>Assigning custom profiles to users</a:t>
            </a:r>
          </a:p>
        </p:txBody>
      </p:sp>
      <p:sp>
        <p:nvSpPr>
          <p:cNvPr id="16387" name="Rectangle 3"/>
          <p:cNvSpPr>
            <a:spLocks noGrp="1" noChangeArrowheads="1"/>
          </p:cNvSpPr>
          <p:nvPr>
            <p:ph idx="1"/>
          </p:nvPr>
        </p:nvSpPr>
        <p:spPr>
          <a:xfrm>
            <a:off x="519113" y="5087938"/>
            <a:ext cx="8318500" cy="1301750"/>
          </a:xfrm>
        </p:spPr>
        <p:txBody>
          <a:bodyPr/>
          <a:lstStyle/>
          <a:p>
            <a:pPr>
              <a:buFont typeface="Arial" charset="0"/>
              <a:buChar char="•"/>
            </a:pPr>
            <a:r>
              <a:rPr lang="en-US" smtClean="0"/>
              <a:t>Can also assign a custom profile to a user</a:t>
            </a:r>
          </a:p>
          <a:p>
            <a:pPr lvl="1"/>
            <a:r>
              <a:rPr lang="en-US" smtClean="0"/>
              <a:t>Specifies set of authority limits that are not shared with other users</a:t>
            </a:r>
          </a:p>
        </p:txBody>
      </p:sp>
      <p:sp>
        <p:nvSpPr>
          <p:cNvPr id="16389" name="AutoShape 6"/>
          <p:cNvSpPr>
            <a:spLocks noChangeArrowheads="1"/>
          </p:cNvSpPr>
          <p:nvPr/>
        </p:nvSpPr>
        <p:spPr bwMode="auto">
          <a:xfrm>
            <a:off x="3102272" y="2291024"/>
            <a:ext cx="2374080" cy="587114"/>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7" name="AutoShape 6"/>
          <p:cNvSpPr>
            <a:spLocks noChangeArrowheads="1"/>
          </p:cNvSpPr>
          <p:nvPr/>
        </p:nvSpPr>
        <p:spPr bwMode="auto">
          <a:xfrm>
            <a:off x="4289311" y="4392804"/>
            <a:ext cx="3226855" cy="29355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8" name="AutoShape 6"/>
          <p:cNvSpPr>
            <a:spLocks noChangeArrowheads="1"/>
          </p:cNvSpPr>
          <p:nvPr/>
        </p:nvSpPr>
        <p:spPr bwMode="auto">
          <a:xfrm>
            <a:off x="1909526" y="4691982"/>
            <a:ext cx="5606640" cy="29355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|EOS~014|</a:t>
            </a:r>
            <a:endParaRPr lang="en-US" sz="100" dirty="0" err="1" smtClean="0">
              <a:solidFill>
                <a:srgbClr val="FFFFFF"/>
              </a:solidFill>
              <a:latin typeface="Arial"/>
              <a:cs typeface="Calibri" pitchFamily="34" charset="0"/>
            </a:endParaRPr>
          </a:p>
        </p:txBody>
      </p:sp>
      <p:sp>
        <p:nvSpPr>
          <p:cNvPr id="16386" name="Rectangle 2"/>
          <p:cNvSpPr>
            <a:spLocks noGrp="1" noChangeArrowheads="1"/>
          </p:cNvSpPr>
          <p:nvPr>
            <p:ph type="title"/>
          </p:nvPr>
        </p:nvSpPr>
        <p:spPr/>
        <p:txBody>
          <a:bodyPr/>
          <a:lstStyle/>
          <a:p>
            <a:pPr eaLnBrk="1" hangingPunct="1"/>
            <a:r>
              <a:rPr lang="en-US" dirty="0" smtClean="0"/>
              <a:t>Limiting by Coverage/Cost Type</a:t>
            </a:r>
          </a:p>
        </p:txBody>
      </p:sp>
      <p:sp>
        <p:nvSpPr>
          <p:cNvPr id="16387" name="Rectangle 3"/>
          <p:cNvSpPr>
            <a:spLocks noGrp="1" noChangeArrowheads="1"/>
          </p:cNvSpPr>
          <p:nvPr>
            <p:ph idx="1"/>
          </p:nvPr>
        </p:nvSpPr>
        <p:spPr>
          <a:xfrm>
            <a:off x="4859855" y="574939"/>
            <a:ext cx="4060861" cy="1636633"/>
          </a:xfrm>
        </p:spPr>
        <p:txBody>
          <a:bodyPr/>
          <a:lstStyle/>
          <a:p>
            <a:pPr>
              <a:buFont typeface="Arial" charset="0"/>
              <a:buChar char="•"/>
            </a:pPr>
            <a:r>
              <a:rPr lang="en-US" sz="2000" dirty="0" smtClean="0"/>
              <a:t>Limiting by coverage or cost type will </a:t>
            </a:r>
            <a:r>
              <a:rPr lang="en-US" sz="2000" b="1" dirty="0" smtClean="0"/>
              <a:t>prevent</a:t>
            </a:r>
            <a:r>
              <a:rPr lang="en-US" sz="2000" dirty="0" smtClean="0"/>
              <a:t> </a:t>
            </a:r>
            <a:r>
              <a:rPr lang="en-US" sz="2000" b="1" dirty="0" smtClean="0"/>
              <a:t>any transaction </a:t>
            </a:r>
            <a:r>
              <a:rPr lang="en-US" sz="2000" dirty="0" smtClean="0"/>
              <a:t>that doesn’t match the coverage or cost type with an </a:t>
            </a:r>
            <a:r>
              <a:rPr lang="en-US" sz="2000" b="1" dirty="0" smtClean="0"/>
              <a:t>error</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9650" y="2465538"/>
            <a:ext cx="5857875" cy="38195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407" y="574939"/>
            <a:ext cx="4591050" cy="13144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1" name="AutoShape 9"/>
          <p:cNvSpPr>
            <a:spLocks noChangeArrowheads="1"/>
          </p:cNvSpPr>
          <p:nvPr/>
        </p:nvSpPr>
        <p:spPr bwMode="auto">
          <a:xfrm>
            <a:off x="2402958" y="1371602"/>
            <a:ext cx="865004" cy="263636"/>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buClr>
                <a:srgbClr val="FFFFFF"/>
              </a:buClr>
            </a:pPr>
            <a:endParaRPr lang="en-US" b="0" dirty="0"/>
          </a:p>
        </p:txBody>
      </p:sp>
      <p:sp>
        <p:nvSpPr>
          <p:cNvPr id="20" name="AutoShape 9"/>
          <p:cNvSpPr>
            <a:spLocks noChangeArrowheads="1"/>
          </p:cNvSpPr>
          <p:nvPr/>
        </p:nvSpPr>
        <p:spPr bwMode="auto">
          <a:xfrm>
            <a:off x="5142614" y="5767755"/>
            <a:ext cx="865004" cy="263636"/>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a:buClr>
                <a:srgbClr val="FFFFFF"/>
              </a:buClr>
            </a:pPr>
            <a:endParaRPr lang="en-US" b="0" dirty="0"/>
          </a:p>
        </p:txBody>
      </p:sp>
      <p:sp>
        <p:nvSpPr>
          <p:cNvPr id="31" name="AutoShape 15"/>
          <p:cNvSpPr>
            <a:spLocks noChangeArrowheads="1"/>
          </p:cNvSpPr>
          <p:nvPr/>
        </p:nvSpPr>
        <p:spPr bwMode="auto">
          <a:xfrm>
            <a:off x="1878528" y="3235455"/>
            <a:ext cx="914400" cy="755650"/>
          </a:xfrm>
          <a:prstGeom prst="cube">
            <a:avLst>
              <a:gd name="adj" fmla="val 13926"/>
            </a:avLst>
          </a:prstGeom>
          <a:solidFill>
            <a:schemeClr val="tx1"/>
          </a:solidFill>
          <a:ln w="12700">
            <a:solidFill>
              <a:schemeClr val="bg1"/>
            </a:solidFill>
            <a:miter lim="800000"/>
            <a:headEnd/>
            <a:tailEnd/>
          </a:ln>
        </p:spPr>
        <p:txBody>
          <a:bodyPr wrap="none" lIns="0" tIns="0" rIns="0" bIns="0" anchor="ctr">
            <a:spAutoFit/>
          </a:bodyPr>
          <a:lstStyle/>
          <a:p>
            <a:pPr>
              <a:buClr>
                <a:srgbClr val="FFFFFF"/>
              </a:buClr>
            </a:pPr>
            <a:endParaRPr lang="en-US"/>
          </a:p>
        </p:txBody>
      </p:sp>
      <p:sp>
        <p:nvSpPr>
          <p:cNvPr id="32" name="AutoShape 16"/>
          <p:cNvSpPr>
            <a:spLocks noChangeArrowheads="1"/>
          </p:cNvSpPr>
          <p:nvPr/>
        </p:nvSpPr>
        <p:spPr bwMode="auto">
          <a:xfrm>
            <a:off x="2023209" y="3425161"/>
            <a:ext cx="469900" cy="376237"/>
          </a:xfrm>
          <a:prstGeom prst="rightArrow">
            <a:avLst>
              <a:gd name="adj1" fmla="val 50000"/>
              <a:gd name="adj2" fmla="val 31224"/>
            </a:avLst>
          </a:prstGeom>
          <a:solidFill>
            <a:srgbClr val="CCFFCC"/>
          </a:solidFill>
          <a:ln w="12700" algn="ctr">
            <a:solidFill>
              <a:schemeClr val="bg1"/>
            </a:solidFill>
            <a:miter lim="800000"/>
            <a:headEnd/>
            <a:tailEnd/>
          </a:ln>
        </p:spPr>
        <p:txBody>
          <a:bodyPr lIns="0" tIns="0" rIns="0" bIns="0" anchor="ctr">
            <a:spAutoFit/>
          </a:bodyPr>
          <a:lstStyle/>
          <a:p>
            <a:pPr>
              <a:buClr>
                <a:srgbClr val="FFFFFF"/>
              </a:buClr>
            </a:pPr>
            <a:endParaRPr lang="en-US"/>
          </a:p>
        </p:txBody>
      </p:sp>
      <p:sp>
        <p:nvSpPr>
          <p:cNvPr id="10" name="AutoShape 57"/>
          <p:cNvSpPr>
            <a:spLocks noChangeArrowheads="1"/>
          </p:cNvSpPr>
          <p:nvPr/>
        </p:nvSpPr>
        <p:spPr bwMode="auto">
          <a:xfrm>
            <a:off x="2044962" y="3432058"/>
            <a:ext cx="357996" cy="357997"/>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lnTo>
                  <a:pt x="17025" y="14517"/>
                </a:lnTo>
                <a:close/>
                <a:moveTo>
                  <a:pt x="4574" y="7082"/>
                </a:moveTo>
                <a:cubicBezTo>
                  <a:pt x="3903" y="8206"/>
                  <a:pt x="3549" y="9491"/>
                  <a:pt x="3549" y="10799"/>
                </a:cubicBezTo>
                <a:cubicBezTo>
                  <a:pt x="3549" y="14804"/>
                  <a:pt x="6795" y="18051"/>
                  <a:pt x="10800" y="18051"/>
                </a:cubicBezTo>
                <a:cubicBezTo>
                  <a:pt x="12108" y="18051"/>
                  <a:pt x="13393" y="17696"/>
                  <a:pt x="14517" y="17025"/>
                </a:cubicBezTo>
                <a:lnTo>
                  <a:pt x="4574" y="7082"/>
                </a:ln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nchor="ctr">
            <a:spAutoFit/>
          </a:bodyPr>
          <a:lstStyle/>
          <a:p>
            <a:pPr>
              <a:buClr>
                <a:srgbClr val="FFFFFF"/>
              </a:buClr>
            </a:pPr>
            <a:endParaRPr lang="en-US"/>
          </a:p>
        </p:txBody>
      </p:sp>
      <p:cxnSp>
        <p:nvCxnSpPr>
          <p:cNvPr id="15" name="Elbow Connector 14"/>
          <p:cNvCxnSpPr/>
          <p:nvPr/>
        </p:nvCxnSpPr>
        <p:spPr bwMode="auto">
          <a:xfrm rot="16200000" flipH="1">
            <a:off x="1693551" y="2582328"/>
            <a:ext cx="4396151" cy="2501973"/>
          </a:xfrm>
          <a:prstGeom prst="bentConnector3">
            <a:avLst>
              <a:gd name="adj1" fmla="val 99340"/>
            </a:avLst>
          </a:prstGeom>
          <a:noFill/>
          <a:ln w="12700" cap="flat" cmpd="sng" algn="ctr">
            <a:solidFill>
              <a:srgbClr val="FF0000"/>
            </a:solidFill>
            <a:prstDash val="solid"/>
            <a:round/>
            <a:headEnd type="none" w="med" len="med"/>
            <a:tailEnd type="none"/>
          </a:ln>
          <a:effectLst/>
        </p:spPr>
      </p:cxnSp>
    </p:spTree>
    <p:extLst>
      <p:ext uri="{BB962C8B-B14F-4D97-AF65-F5344CB8AC3E}">
        <p14:creationId xmlns:p14="http://schemas.microsoft.com/office/powerpoint/2010/main" val="1879086736"/>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|EOS~015|</a:t>
            </a:r>
            <a:endParaRPr lang="en-US" sz="100" dirty="0" err="1" smtClean="0">
              <a:solidFill>
                <a:srgbClr val="FFFFFF"/>
              </a:solidFill>
              <a:latin typeface="Arial"/>
              <a:cs typeface="Calibri" pitchFamily="34" charset="0"/>
            </a:endParaRPr>
          </a:p>
        </p:txBody>
      </p:sp>
      <p:sp>
        <p:nvSpPr>
          <p:cNvPr id="17410" name="Rectangle 2"/>
          <p:cNvSpPr>
            <a:spLocks noGrp="1" noChangeArrowheads="1"/>
          </p:cNvSpPr>
          <p:nvPr>
            <p:ph type="title"/>
          </p:nvPr>
        </p:nvSpPr>
        <p:spPr/>
        <p:txBody>
          <a:bodyPr/>
          <a:lstStyle/>
          <a:p>
            <a:pPr eaLnBrk="1" hangingPunct="1"/>
            <a:r>
              <a:rPr lang="en-US" smtClean="0"/>
              <a:t>Lesson outline</a:t>
            </a:r>
          </a:p>
        </p:txBody>
      </p:sp>
      <p:sp>
        <p:nvSpPr>
          <p:cNvPr id="17411" name="Rectangle 3"/>
          <p:cNvSpPr>
            <a:spLocks noGrp="1" noChangeArrowheads="1"/>
          </p:cNvSpPr>
          <p:nvPr>
            <p:ph idx="1"/>
          </p:nvPr>
        </p:nvSpPr>
        <p:spPr/>
        <p:txBody>
          <a:bodyPr/>
          <a:lstStyle/>
          <a:p>
            <a:pPr>
              <a:lnSpc>
                <a:spcPct val="150000"/>
              </a:lnSpc>
              <a:buFont typeface="Arial" charset="0"/>
              <a:buChar char="•"/>
            </a:pPr>
            <a:r>
              <a:rPr lang="en-US" sz="2800" smtClean="0">
                <a:solidFill>
                  <a:srgbClr val="C0C0C0"/>
                </a:solidFill>
              </a:rPr>
              <a:t>Authority limits</a:t>
            </a:r>
          </a:p>
          <a:p>
            <a:pPr>
              <a:lnSpc>
                <a:spcPct val="150000"/>
              </a:lnSpc>
              <a:buFont typeface="Arial" charset="0"/>
              <a:buChar char="•"/>
            </a:pPr>
            <a:r>
              <a:rPr lang="en-US" sz="2800" smtClean="0"/>
              <a:t>Transaction approval rules</a:t>
            </a:r>
          </a:p>
          <a:p>
            <a:pPr>
              <a:lnSpc>
                <a:spcPct val="150000"/>
              </a:lnSpc>
              <a:buFont typeface="Arial" charset="0"/>
              <a:buChar char="•"/>
            </a:pPr>
            <a:r>
              <a:rPr lang="en-US" sz="2800" smtClean="0">
                <a:solidFill>
                  <a:srgbClr val="C0C0C0"/>
                </a:solidFill>
              </a:rPr>
              <a:t>Approving transactions</a:t>
            </a: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|EOS~016|</a:t>
            </a:r>
            <a:endParaRPr lang="en-US" sz="100" dirty="0" err="1" smtClean="0">
              <a:solidFill>
                <a:srgbClr val="FFFFFF"/>
              </a:solidFill>
              <a:latin typeface="Arial"/>
              <a:cs typeface="Calibri" pitchFamily="34" charset="0"/>
            </a:endParaRPr>
          </a:p>
        </p:txBody>
      </p:sp>
      <p:sp>
        <p:nvSpPr>
          <p:cNvPr id="18434" name="Rectangle 2"/>
          <p:cNvSpPr>
            <a:spLocks noGrp="1" noChangeArrowheads="1"/>
          </p:cNvSpPr>
          <p:nvPr>
            <p:ph type="title"/>
          </p:nvPr>
        </p:nvSpPr>
        <p:spPr/>
        <p:txBody>
          <a:bodyPr/>
          <a:lstStyle/>
          <a:p>
            <a:pPr eaLnBrk="1" hangingPunct="1"/>
            <a:r>
              <a:rPr lang="en-US" smtClean="0"/>
              <a:t>Transaction approval rules</a:t>
            </a:r>
          </a:p>
        </p:txBody>
      </p:sp>
      <p:sp>
        <p:nvSpPr>
          <p:cNvPr id="18435" name="Rectangle 3"/>
          <p:cNvSpPr>
            <a:spLocks noGrp="1" noChangeArrowheads="1"/>
          </p:cNvSpPr>
          <p:nvPr>
            <p:ph idx="1"/>
          </p:nvPr>
        </p:nvSpPr>
        <p:spPr>
          <a:xfrm>
            <a:off x="519113" y="3740150"/>
            <a:ext cx="8318500" cy="2649538"/>
          </a:xfrm>
        </p:spPr>
        <p:txBody>
          <a:bodyPr/>
          <a:lstStyle/>
          <a:p>
            <a:pPr>
              <a:buFont typeface="Arial" charset="0"/>
              <a:buChar char="•"/>
            </a:pPr>
            <a:r>
              <a:rPr lang="en-US" smtClean="0"/>
              <a:t>Transaction approval rules implement approval logic that cannot be captured in an authority limit, such as</a:t>
            </a:r>
          </a:p>
          <a:p>
            <a:pPr lvl="1"/>
            <a:r>
              <a:rPr lang="en-US" smtClean="0"/>
              <a:t>Logic beyond the given limit types</a:t>
            </a:r>
          </a:p>
          <a:p>
            <a:pPr lvl="1"/>
            <a:r>
              <a:rPr lang="en-US" smtClean="0"/>
              <a:t>Logic tied to attributes other than coverage and cost type</a:t>
            </a:r>
          </a:p>
          <a:p>
            <a:pPr lvl="1"/>
            <a:r>
              <a:rPr lang="en-US" smtClean="0"/>
              <a:t>Logic that cannot easily be associated to given users</a:t>
            </a:r>
          </a:p>
        </p:txBody>
      </p:sp>
      <p:sp>
        <p:nvSpPr>
          <p:cNvPr id="18436" name="Line 4"/>
          <p:cNvSpPr>
            <a:spLocks noChangeShapeType="1"/>
          </p:cNvSpPr>
          <p:nvPr/>
        </p:nvSpPr>
        <p:spPr bwMode="auto">
          <a:xfrm flipH="1">
            <a:off x="2063750" y="2282825"/>
            <a:ext cx="3698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37" name="Line 5"/>
          <p:cNvSpPr>
            <a:spLocks noChangeShapeType="1"/>
          </p:cNvSpPr>
          <p:nvPr/>
        </p:nvSpPr>
        <p:spPr bwMode="auto">
          <a:xfrm flipV="1">
            <a:off x="2063750" y="1414463"/>
            <a:ext cx="0" cy="8763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18438" name="Picture 6" descr="icon - rule se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1963" y="1174750"/>
            <a:ext cx="8001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9" name="Text Box 7"/>
          <p:cNvSpPr txBox="1">
            <a:spLocks noChangeArrowheads="1"/>
          </p:cNvSpPr>
          <p:nvPr/>
        </p:nvSpPr>
        <p:spPr bwMode="auto">
          <a:xfrm>
            <a:off x="2555875" y="1363663"/>
            <a:ext cx="44942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Transaction Approval Rules</a:t>
            </a:r>
            <a:endParaRPr lang="en-US"/>
          </a:p>
        </p:txBody>
      </p:sp>
      <p:pic>
        <p:nvPicPr>
          <p:cNvPr id="18440" name="Picture 8" descr="icon - ru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0938" y="1965325"/>
            <a:ext cx="66675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1" name="Text Box 9"/>
          <p:cNvSpPr txBox="1">
            <a:spLocks noChangeArrowheads="1"/>
          </p:cNvSpPr>
          <p:nvPr/>
        </p:nvSpPr>
        <p:spPr bwMode="auto">
          <a:xfrm>
            <a:off x="3135313" y="1933575"/>
            <a:ext cx="45497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574675" algn="l"/>
              </a:tabLst>
              <a:defRPr sz="2000" b="1">
                <a:solidFill>
                  <a:srgbClr val="FF0000"/>
                </a:solidFill>
                <a:latin typeface="Arial" charset="0"/>
              </a:defRPr>
            </a:lvl1pPr>
            <a:lvl2pPr marL="742950" indent="-285750" eaLnBrk="0" hangingPunct="0">
              <a:tabLst>
                <a:tab pos="574675" algn="l"/>
              </a:tabLst>
              <a:defRPr sz="2000" b="1">
                <a:solidFill>
                  <a:srgbClr val="FF0000"/>
                </a:solidFill>
                <a:latin typeface="Arial" charset="0"/>
              </a:defRPr>
            </a:lvl2pPr>
            <a:lvl3pPr marL="1143000" indent="-228600" eaLnBrk="0" hangingPunct="0">
              <a:tabLst>
                <a:tab pos="574675" algn="l"/>
              </a:tabLst>
              <a:defRPr sz="2000" b="1">
                <a:solidFill>
                  <a:srgbClr val="FF0000"/>
                </a:solidFill>
                <a:latin typeface="Arial" charset="0"/>
              </a:defRPr>
            </a:lvl3pPr>
            <a:lvl4pPr marL="1600200" indent="-228600" eaLnBrk="0" hangingPunct="0">
              <a:tabLst>
                <a:tab pos="574675" algn="l"/>
              </a:tabLst>
              <a:defRPr sz="2000" b="1">
                <a:solidFill>
                  <a:srgbClr val="FF0000"/>
                </a:solidFill>
                <a:latin typeface="Arial" charset="0"/>
              </a:defRPr>
            </a:lvl4pPr>
            <a:lvl5pPr marL="2057400" indent="-228600" eaLnBrk="0" hangingPunct="0">
              <a:tabLst>
                <a:tab pos="574675" algn="l"/>
              </a:tabLst>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tabLst>
                <a:tab pos="574675" algn="l"/>
              </a:tabLst>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tabLst>
                <a:tab pos="574675" algn="l"/>
              </a:tabLst>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tabLst>
                <a:tab pos="574675" algn="l"/>
              </a:tabLst>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tabLst>
                <a:tab pos="574675" algn="l"/>
              </a:tabLst>
              <a:defRPr sz="2000" b="1">
                <a:solidFill>
                  <a:srgbClr val="FF0000"/>
                </a:solidFill>
                <a:latin typeface="Arial" charset="0"/>
              </a:defRPr>
            </a:lvl9pPr>
          </a:lstStyle>
          <a:p>
            <a:pPr algn="l" eaLnBrk="1" hangingPunct="1"/>
            <a:r>
              <a:rPr lang="en-US"/>
              <a:t>if 	segment is low complexity</a:t>
            </a:r>
            <a:br>
              <a:rPr lang="en-US"/>
            </a:br>
            <a:r>
              <a:rPr lang="en-US"/>
              <a:t>	AND total reserves &gt; $30,000</a:t>
            </a:r>
            <a:br>
              <a:rPr lang="en-US"/>
            </a:br>
            <a:r>
              <a:rPr lang="en-US"/>
              <a:t>then require approval</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|EOS~017|</a:t>
            </a:r>
            <a:endParaRPr lang="en-US" sz="100" dirty="0" err="1" smtClean="0">
              <a:solidFill>
                <a:srgbClr val="FFFFFF"/>
              </a:solidFill>
              <a:latin typeface="Arial"/>
              <a:cs typeface="Calibri" pitchFamily="34" charset="0"/>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296" y="1026451"/>
            <a:ext cx="8607457" cy="383695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9458" name="Rectangle 2"/>
          <p:cNvSpPr>
            <a:spLocks noGrp="1" noChangeArrowheads="1"/>
          </p:cNvSpPr>
          <p:nvPr>
            <p:ph type="title"/>
          </p:nvPr>
        </p:nvSpPr>
        <p:spPr/>
        <p:txBody>
          <a:bodyPr/>
          <a:lstStyle/>
          <a:p>
            <a:pPr eaLnBrk="1" hangingPunct="1"/>
            <a:r>
              <a:rPr lang="en-US" smtClean="0"/>
              <a:t>Transaction approval rules in the user interface</a:t>
            </a:r>
          </a:p>
        </p:txBody>
      </p:sp>
      <p:sp>
        <p:nvSpPr>
          <p:cNvPr id="19459" name="Rectangle 3"/>
          <p:cNvSpPr>
            <a:spLocks noGrp="1" noChangeArrowheads="1"/>
          </p:cNvSpPr>
          <p:nvPr>
            <p:ph idx="1"/>
          </p:nvPr>
        </p:nvSpPr>
        <p:spPr>
          <a:xfrm>
            <a:off x="519113" y="5089525"/>
            <a:ext cx="8318500" cy="1300163"/>
          </a:xfrm>
        </p:spPr>
        <p:txBody>
          <a:bodyPr/>
          <a:lstStyle/>
          <a:p>
            <a:pPr>
              <a:buFont typeface="Arial" charset="0"/>
              <a:buChar char="•"/>
            </a:pPr>
            <a:r>
              <a:rPr lang="en-US" smtClean="0"/>
              <a:t>No distinction in the user interface between transactions which exceed authority limits and transactions which triggered transaction approval rules</a:t>
            </a:r>
          </a:p>
        </p:txBody>
      </p:sp>
      <p:sp>
        <p:nvSpPr>
          <p:cNvPr id="19461" name="AutoShape 5"/>
          <p:cNvSpPr>
            <a:spLocks noChangeArrowheads="1"/>
          </p:cNvSpPr>
          <p:nvPr/>
        </p:nvSpPr>
        <p:spPr bwMode="auto">
          <a:xfrm>
            <a:off x="5004202" y="4497423"/>
            <a:ext cx="3770312" cy="28098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|EOS~018|</a:t>
            </a:r>
            <a:endParaRPr lang="en-US" sz="100" dirty="0" err="1" smtClean="0">
              <a:solidFill>
                <a:srgbClr val="FFFFFF"/>
              </a:solidFill>
              <a:latin typeface="Arial"/>
              <a:cs typeface="Calibri" pitchFamily="34" charset="0"/>
            </a:endParaRPr>
          </a:p>
        </p:txBody>
      </p:sp>
      <p:sp>
        <p:nvSpPr>
          <p:cNvPr id="20482" name="Rectangle 2"/>
          <p:cNvSpPr>
            <a:spLocks noGrp="1" noChangeArrowheads="1"/>
          </p:cNvSpPr>
          <p:nvPr>
            <p:ph type="title"/>
          </p:nvPr>
        </p:nvSpPr>
        <p:spPr/>
        <p:txBody>
          <a:bodyPr/>
          <a:lstStyle/>
          <a:p>
            <a:pPr eaLnBrk="1" hangingPunct="1"/>
            <a:r>
              <a:rPr lang="en-US" smtClean="0"/>
              <a:t>Lesson outline</a:t>
            </a:r>
          </a:p>
        </p:txBody>
      </p:sp>
      <p:sp>
        <p:nvSpPr>
          <p:cNvPr id="20483" name="Rectangle 3"/>
          <p:cNvSpPr>
            <a:spLocks noGrp="1" noChangeArrowheads="1"/>
          </p:cNvSpPr>
          <p:nvPr>
            <p:ph idx="1"/>
          </p:nvPr>
        </p:nvSpPr>
        <p:spPr/>
        <p:txBody>
          <a:bodyPr/>
          <a:lstStyle/>
          <a:p>
            <a:pPr>
              <a:lnSpc>
                <a:spcPct val="150000"/>
              </a:lnSpc>
              <a:buFont typeface="Arial" charset="0"/>
              <a:buChar char="•"/>
            </a:pPr>
            <a:r>
              <a:rPr lang="en-US" sz="2800" smtClean="0">
                <a:solidFill>
                  <a:srgbClr val="C0C0C0"/>
                </a:solidFill>
              </a:rPr>
              <a:t>Authority limits</a:t>
            </a:r>
          </a:p>
          <a:p>
            <a:pPr>
              <a:lnSpc>
                <a:spcPct val="150000"/>
              </a:lnSpc>
              <a:buFont typeface="Arial" charset="0"/>
              <a:buChar char="•"/>
            </a:pPr>
            <a:r>
              <a:rPr lang="en-US" sz="2800" smtClean="0">
                <a:solidFill>
                  <a:srgbClr val="C0C0C0"/>
                </a:solidFill>
              </a:rPr>
              <a:t>Transaction approval rules</a:t>
            </a:r>
          </a:p>
          <a:p>
            <a:pPr>
              <a:lnSpc>
                <a:spcPct val="150000"/>
              </a:lnSpc>
              <a:buFont typeface="Arial" charset="0"/>
              <a:buChar char="•"/>
            </a:pPr>
            <a:r>
              <a:rPr lang="en-US" sz="2800" smtClean="0"/>
              <a:t>Approving transactions</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|EOS~019|</a:t>
            </a:r>
            <a:endParaRPr lang="en-US" sz="100" dirty="0" err="1" smtClean="0">
              <a:solidFill>
                <a:srgbClr val="FFFFFF"/>
              </a:solidFill>
              <a:latin typeface="Arial"/>
              <a:cs typeface="Calibri" pitchFamily="34" charset="0"/>
            </a:endParaRPr>
          </a:p>
        </p:txBody>
      </p:sp>
      <p:sp>
        <p:nvSpPr>
          <p:cNvPr id="21506" name="Rectangle 2"/>
          <p:cNvSpPr>
            <a:spLocks noGrp="1" noChangeArrowheads="1"/>
          </p:cNvSpPr>
          <p:nvPr>
            <p:ph type="title"/>
          </p:nvPr>
        </p:nvSpPr>
        <p:spPr/>
        <p:txBody>
          <a:bodyPr/>
          <a:lstStyle/>
          <a:p>
            <a:pPr eaLnBrk="1" hangingPunct="1"/>
            <a:r>
              <a:rPr lang="en-US" smtClean="0"/>
              <a:t>Review: Objects that require attention</a:t>
            </a:r>
          </a:p>
        </p:txBody>
      </p:sp>
      <p:sp>
        <p:nvSpPr>
          <p:cNvPr id="21507" name="Rectangle 3"/>
          <p:cNvSpPr>
            <a:spLocks noGrp="1" noChangeArrowheads="1"/>
          </p:cNvSpPr>
          <p:nvPr>
            <p:ph idx="1"/>
          </p:nvPr>
        </p:nvSpPr>
        <p:spPr>
          <a:xfrm>
            <a:off x="519113" y="1192213"/>
            <a:ext cx="5362575" cy="5197475"/>
          </a:xfrm>
        </p:spPr>
        <p:txBody>
          <a:bodyPr/>
          <a:lstStyle/>
          <a:p>
            <a:pPr>
              <a:buFont typeface="Arial" charset="0"/>
              <a:buChar char="•"/>
            </a:pPr>
            <a:r>
              <a:rPr lang="en-US" smtClean="0"/>
              <a:t>Claims, when important activity on claim has occurred, such as:</a:t>
            </a:r>
          </a:p>
          <a:p>
            <a:pPr lvl="2"/>
            <a:r>
              <a:rPr lang="en-US" smtClean="0"/>
              <a:t>Claim reported two weeks ago and fault rating has not be specified</a:t>
            </a:r>
          </a:p>
          <a:p>
            <a:pPr lvl="2"/>
            <a:r>
              <a:rPr lang="en-US" smtClean="0"/>
              <a:t>Auto is total loss and salvage is now required</a:t>
            </a:r>
          </a:p>
          <a:p>
            <a:pPr lvl="2"/>
            <a:r>
              <a:rPr lang="en-US" smtClean="0"/>
              <a:t>Lawyer for third-party claimant has been added</a:t>
            </a:r>
          </a:p>
          <a:p>
            <a:pPr>
              <a:buFont typeface="Arial" charset="0"/>
              <a:buChar char="•"/>
            </a:pPr>
            <a:r>
              <a:rPr lang="en-US" smtClean="0"/>
              <a:t>Activities, when still open as of escalation date </a:t>
            </a:r>
          </a:p>
          <a:p>
            <a:pPr>
              <a:buFont typeface="Arial" charset="0"/>
              <a:buChar char="•"/>
            </a:pPr>
            <a:r>
              <a:rPr lang="en-US" smtClean="0"/>
              <a:t>Transactions, when either:</a:t>
            </a:r>
          </a:p>
          <a:p>
            <a:pPr lvl="1"/>
            <a:r>
              <a:rPr lang="en-US" smtClean="0"/>
              <a:t>Amount exceeds a given threshold</a:t>
            </a:r>
          </a:p>
          <a:p>
            <a:pPr lvl="1"/>
            <a:r>
              <a:rPr lang="en-US" smtClean="0"/>
              <a:t>Given condition occurs</a:t>
            </a:r>
          </a:p>
        </p:txBody>
      </p:sp>
      <p:grpSp>
        <p:nvGrpSpPr>
          <p:cNvPr id="21508" name="Group 4"/>
          <p:cNvGrpSpPr>
            <a:grpSpLocks/>
          </p:cNvGrpSpPr>
          <p:nvPr/>
        </p:nvGrpSpPr>
        <p:grpSpPr bwMode="auto">
          <a:xfrm>
            <a:off x="6108700" y="998538"/>
            <a:ext cx="1095375" cy="808037"/>
            <a:chOff x="2083" y="1606"/>
            <a:chExt cx="1489" cy="1097"/>
          </a:xfrm>
        </p:grpSpPr>
        <p:sp>
          <p:nvSpPr>
            <p:cNvPr id="21527" name="Rectangle 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1528" name="Freeform 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1529" name="Freeform 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1530" name="Freeform 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1531" name="Freeform 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1532" name="Rectangle 1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1533" name="Rectangle 1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1534" name="AutoShape 1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1535" name="Freeform 13"/>
            <p:cNvSpPr>
              <a:spLocks/>
            </p:cNvSpPr>
            <p:nvPr/>
          </p:nvSpPr>
          <p:spPr bwMode="auto">
            <a:xfrm>
              <a:off x="2219" y="2561"/>
              <a:ext cx="369" cy="104"/>
            </a:xfrm>
            <a:custGeom>
              <a:avLst/>
              <a:gdLst>
                <a:gd name="T0" fmla="*/ 0 w 992"/>
                <a:gd name="T1" fmla="*/ 0 h 280"/>
                <a:gd name="T2" fmla="*/ 369 w 992"/>
                <a:gd name="T3" fmla="*/ 89 h 280"/>
                <a:gd name="T4" fmla="*/ 348 w 992"/>
                <a:gd name="T5" fmla="*/ 104 h 280"/>
                <a:gd name="T6" fmla="*/ 6 w 992"/>
                <a:gd name="T7" fmla="*/ 2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1536" name="Freeform 14"/>
            <p:cNvSpPr>
              <a:spLocks/>
            </p:cNvSpPr>
            <p:nvPr/>
          </p:nvSpPr>
          <p:spPr bwMode="auto">
            <a:xfrm>
              <a:off x="3429" y="2008"/>
              <a:ext cx="51" cy="375"/>
            </a:xfrm>
            <a:custGeom>
              <a:avLst/>
              <a:gdLst>
                <a:gd name="T0" fmla="*/ 0 w 136"/>
                <a:gd name="T1" fmla="*/ 0 h 1008"/>
                <a:gd name="T2" fmla="*/ 30 w 136"/>
                <a:gd name="T3" fmla="*/ 375 h 1008"/>
                <a:gd name="T4" fmla="*/ 51 w 136"/>
                <a:gd name="T5" fmla="*/ 342 h 1008"/>
                <a:gd name="T6" fmla="*/ 21 w 136"/>
                <a:gd name="T7" fmla="*/ 18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1537" name="Rectangle 1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1538" name="Rectangle 1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1539" name="Rectangle 1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1540" name="Group 18"/>
            <p:cNvGrpSpPr>
              <a:grpSpLocks/>
            </p:cNvGrpSpPr>
            <p:nvPr/>
          </p:nvGrpSpPr>
          <p:grpSpPr bwMode="auto">
            <a:xfrm>
              <a:off x="2221" y="1871"/>
              <a:ext cx="518" cy="782"/>
              <a:chOff x="2400" y="1656"/>
              <a:chExt cx="752" cy="1136"/>
            </a:xfrm>
          </p:grpSpPr>
          <p:sp>
            <p:nvSpPr>
              <p:cNvPr id="21553" name="Freeform 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1554" name="Freeform 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1555" name="Freeform 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1556" name="Freeform 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1557" name="Freeform 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1558" name="Line 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59" name="Line 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1541" name="Group 26"/>
            <p:cNvGrpSpPr>
              <a:grpSpLocks/>
            </p:cNvGrpSpPr>
            <p:nvPr/>
          </p:nvGrpSpPr>
          <p:grpSpPr bwMode="auto">
            <a:xfrm rot="-6511945">
              <a:off x="2834" y="1842"/>
              <a:ext cx="518" cy="783"/>
              <a:chOff x="2400" y="1656"/>
              <a:chExt cx="752" cy="1136"/>
            </a:xfrm>
          </p:grpSpPr>
          <p:sp>
            <p:nvSpPr>
              <p:cNvPr id="21546" name="Freeform 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lIns="0" tIns="0" rIns="0" bIns="0" anchor="ctr">
                <a:spAutoFit/>
              </a:bodyPr>
              <a:lstStyle/>
              <a:p>
                <a:endParaRPr lang="en-US"/>
              </a:p>
            </p:txBody>
          </p:sp>
          <p:sp>
            <p:nvSpPr>
              <p:cNvPr id="21547" name="Freeform 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1548" name="Freeform 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1549" name="Freeform 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1550" name="Freeform 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1551" name="Line 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52" name="Line 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1542" name="Freeform 34"/>
            <p:cNvSpPr>
              <a:spLocks/>
            </p:cNvSpPr>
            <p:nvPr/>
          </p:nvSpPr>
          <p:spPr bwMode="auto">
            <a:xfrm>
              <a:off x="2689" y="2097"/>
              <a:ext cx="62" cy="351"/>
            </a:xfrm>
            <a:custGeom>
              <a:avLst/>
              <a:gdLst>
                <a:gd name="T0" fmla="*/ 62 w 168"/>
                <a:gd name="T1" fmla="*/ 351 h 944"/>
                <a:gd name="T2" fmla="*/ 9 w 168"/>
                <a:gd name="T3" fmla="*/ 0 h 944"/>
                <a:gd name="T4" fmla="*/ 0 w 168"/>
                <a:gd name="T5" fmla="*/ 18 h 944"/>
                <a:gd name="T6" fmla="*/ 47 w 168"/>
                <a:gd name="T7" fmla="*/ 342 h 944"/>
                <a:gd name="T8" fmla="*/ 62 w 168"/>
                <a:gd name="T9" fmla="*/ 35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1543" name="Freeform 35"/>
            <p:cNvSpPr>
              <a:spLocks/>
            </p:cNvSpPr>
            <p:nvPr/>
          </p:nvSpPr>
          <p:spPr bwMode="auto">
            <a:xfrm>
              <a:off x="2382" y="1853"/>
              <a:ext cx="354" cy="78"/>
            </a:xfrm>
            <a:custGeom>
              <a:avLst/>
              <a:gdLst>
                <a:gd name="T0" fmla="*/ 0 w 952"/>
                <a:gd name="T1" fmla="*/ 15 h 208"/>
                <a:gd name="T2" fmla="*/ 33 w 952"/>
                <a:gd name="T3" fmla="*/ 0 h 208"/>
                <a:gd name="T4" fmla="*/ 348 w 952"/>
                <a:gd name="T5" fmla="*/ 60 h 208"/>
                <a:gd name="T6" fmla="*/ 354 w 952"/>
                <a:gd name="T7" fmla="*/ 78 h 208"/>
                <a:gd name="T8" fmla="*/ 0 w 952"/>
                <a:gd name="T9" fmla="*/ 15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1544" name="Rectangle 3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1545" name="Rectangle 3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1509" name="Group 38"/>
          <p:cNvGrpSpPr>
            <a:grpSpLocks/>
          </p:cNvGrpSpPr>
          <p:nvPr/>
        </p:nvGrpSpPr>
        <p:grpSpPr bwMode="auto">
          <a:xfrm>
            <a:off x="6319838" y="4040188"/>
            <a:ext cx="758825" cy="965200"/>
            <a:chOff x="2401" y="425"/>
            <a:chExt cx="907" cy="1154"/>
          </a:xfrm>
        </p:grpSpPr>
        <p:sp>
          <p:nvSpPr>
            <p:cNvPr id="21521" name="Rectangle 39"/>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1522" name="Line 40"/>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23" name="Line 41"/>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24" name="Rectangle 42"/>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1525" name="Freeform 43"/>
            <p:cNvSpPr>
              <a:spLocks/>
            </p:cNvSpPr>
            <p:nvPr/>
          </p:nvSpPr>
          <p:spPr bwMode="auto">
            <a:xfrm>
              <a:off x="2643" y="789"/>
              <a:ext cx="309" cy="257"/>
            </a:xfrm>
            <a:custGeom>
              <a:avLst/>
              <a:gdLst>
                <a:gd name="T0" fmla="*/ 162 w 234"/>
                <a:gd name="T1" fmla="*/ 0 h 195"/>
                <a:gd name="T2" fmla="*/ 36 w 234"/>
                <a:gd name="T3" fmla="*/ 55 h 195"/>
                <a:gd name="T4" fmla="*/ 0 w 234"/>
                <a:gd name="T5" fmla="*/ 257 h 195"/>
                <a:gd name="T6" fmla="*/ 238 w 234"/>
                <a:gd name="T7" fmla="*/ 257 h 195"/>
                <a:gd name="T8" fmla="*/ 309 w 234"/>
                <a:gd name="T9" fmla="*/ 146 h 195"/>
                <a:gd name="T10" fmla="*/ 162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21526" name="Line 44"/>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1510" name="AutoShape 45"/>
          <p:cNvSpPr>
            <a:spLocks noChangeArrowheads="1"/>
          </p:cNvSpPr>
          <p:nvPr/>
        </p:nvSpPr>
        <p:spPr bwMode="auto">
          <a:xfrm>
            <a:off x="6097588" y="5519738"/>
            <a:ext cx="1570037" cy="665162"/>
          </a:xfrm>
          <a:prstGeom prst="rightArrow">
            <a:avLst>
              <a:gd name="adj1" fmla="val 50000"/>
              <a:gd name="adj2" fmla="val 59010"/>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1511" name="Group 46"/>
          <p:cNvGrpSpPr>
            <a:grpSpLocks/>
          </p:cNvGrpSpPr>
          <p:nvPr/>
        </p:nvGrpSpPr>
        <p:grpSpPr bwMode="auto">
          <a:xfrm>
            <a:off x="7500938" y="2617788"/>
            <a:ext cx="1225550" cy="1720850"/>
            <a:chOff x="3870" y="2092"/>
            <a:chExt cx="570" cy="800"/>
          </a:xfrm>
        </p:grpSpPr>
        <p:sp>
          <p:nvSpPr>
            <p:cNvPr id="21516" name="Line 47"/>
            <p:cNvSpPr>
              <a:spLocks noChangeShapeType="1"/>
            </p:cNvSpPr>
            <p:nvPr/>
          </p:nvSpPr>
          <p:spPr bwMode="auto">
            <a:xfrm>
              <a:off x="4238"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17" name="Line 48"/>
            <p:cNvSpPr>
              <a:spLocks noChangeShapeType="1"/>
            </p:cNvSpPr>
            <p:nvPr/>
          </p:nvSpPr>
          <p:spPr bwMode="auto">
            <a:xfrm flipH="1">
              <a:off x="3870"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18" name="AutoShape 49"/>
            <p:cNvSpPr>
              <a:spLocks noChangeArrowheads="1"/>
            </p:cNvSpPr>
            <p:nvPr/>
          </p:nvSpPr>
          <p:spPr bwMode="auto">
            <a:xfrm rot="10800000">
              <a:off x="4122" y="2645"/>
              <a:ext cx="89" cy="70"/>
            </a:xfrm>
            <a:prstGeom prst="pentagon">
              <a:avLst/>
            </a:prstGeom>
            <a:solidFill>
              <a:srgbClr val="CC9900"/>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en-US"/>
            </a:p>
          </p:txBody>
        </p:sp>
        <p:sp>
          <p:nvSpPr>
            <p:cNvPr id="21519" name="Freeform 50"/>
            <p:cNvSpPr>
              <a:spLocks/>
            </p:cNvSpPr>
            <p:nvPr/>
          </p:nvSpPr>
          <p:spPr bwMode="auto">
            <a:xfrm>
              <a:off x="4114" y="2691"/>
              <a:ext cx="97" cy="201"/>
            </a:xfrm>
            <a:custGeom>
              <a:avLst/>
              <a:gdLst>
                <a:gd name="T0" fmla="*/ 35 w 75"/>
                <a:gd name="T1" fmla="*/ 4 h 156"/>
                <a:gd name="T2" fmla="*/ 0 w 75"/>
                <a:gd name="T3" fmla="*/ 147 h 156"/>
                <a:gd name="T4" fmla="*/ 50 w 75"/>
                <a:gd name="T5" fmla="*/ 201 h 156"/>
                <a:gd name="T6" fmla="*/ 97 w 75"/>
                <a:gd name="T7" fmla="*/ 147 h 156"/>
                <a:gd name="T8" fmla="*/ 62 w 75"/>
                <a:gd name="T9" fmla="*/ 0 h 156"/>
                <a:gd name="T10" fmla="*/ 0 60000 65536"/>
                <a:gd name="T11" fmla="*/ 0 60000 65536"/>
                <a:gd name="T12" fmla="*/ 0 60000 65536"/>
                <a:gd name="T13" fmla="*/ 0 60000 65536"/>
                <a:gd name="T14" fmla="*/ 0 60000 65536"/>
                <a:gd name="T15" fmla="*/ 0 w 75"/>
                <a:gd name="T16" fmla="*/ 0 h 156"/>
                <a:gd name="T17" fmla="*/ 75 w 75"/>
                <a:gd name="T18" fmla="*/ 156 h 156"/>
              </a:gdLst>
              <a:ahLst/>
              <a:cxnLst>
                <a:cxn ang="T10">
                  <a:pos x="T0" y="T1"/>
                </a:cxn>
                <a:cxn ang="T11">
                  <a:pos x="T2" y="T3"/>
                </a:cxn>
                <a:cxn ang="T12">
                  <a:pos x="T4" y="T5"/>
                </a:cxn>
                <a:cxn ang="T13">
                  <a:pos x="T6" y="T7"/>
                </a:cxn>
                <a:cxn ang="T14">
                  <a:pos x="T8" y="T9"/>
                </a:cxn>
              </a:cxnLst>
              <a:rect l="T15" t="T16" r="T17" b="T18"/>
              <a:pathLst>
                <a:path w="75" h="156">
                  <a:moveTo>
                    <a:pt x="27" y="3"/>
                  </a:moveTo>
                  <a:lnTo>
                    <a:pt x="0" y="114"/>
                  </a:lnTo>
                  <a:lnTo>
                    <a:pt x="39" y="156"/>
                  </a:lnTo>
                  <a:lnTo>
                    <a:pt x="75" y="114"/>
                  </a:lnTo>
                  <a:lnTo>
                    <a:pt x="48" y="0"/>
                  </a:lnTo>
                </a:path>
              </a:pathLst>
            </a:custGeom>
            <a:solidFill>
              <a:srgbClr val="CC99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endParaRPr lang="en-US"/>
            </a:p>
          </p:txBody>
        </p:sp>
        <p:sp>
          <p:nvSpPr>
            <p:cNvPr id="21520" name="AutoShape 51"/>
            <p:cNvSpPr>
              <a:spLocks noChangeArrowheads="1"/>
            </p:cNvSpPr>
            <p:nvPr/>
          </p:nvSpPr>
          <p:spPr bwMode="auto">
            <a:xfrm>
              <a:off x="3887" y="2092"/>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sp>
        <p:nvSpPr>
          <p:cNvPr id="21512" name="Text Box 52"/>
          <p:cNvSpPr txBox="1">
            <a:spLocks noChangeArrowheads="1"/>
          </p:cNvSpPr>
          <p:nvPr/>
        </p:nvSpPr>
        <p:spPr bwMode="auto">
          <a:xfrm>
            <a:off x="6342063" y="5691188"/>
            <a:ext cx="1404937"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2400"/>
              <a:t>-$10,000</a:t>
            </a:r>
          </a:p>
        </p:txBody>
      </p:sp>
      <p:sp>
        <p:nvSpPr>
          <p:cNvPr id="21513" name="Line 53"/>
          <p:cNvSpPr>
            <a:spLocks noChangeShapeType="1"/>
          </p:cNvSpPr>
          <p:nvPr/>
        </p:nvSpPr>
        <p:spPr bwMode="auto">
          <a:xfrm>
            <a:off x="7010400" y="1889125"/>
            <a:ext cx="685800" cy="823913"/>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14" name="Line 54"/>
          <p:cNvSpPr>
            <a:spLocks noChangeShapeType="1"/>
          </p:cNvSpPr>
          <p:nvPr/>
        </p:nvSpPr>
        <p:spPr bwMode="auto">
          <a:xfrm flipV="1">
            <a:off x="7127875" y="3992563"/>
            <a:ext cx="660400" cy="56832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5" name="Line 55"/>
          <p:cNvSpPr>
            <a:spLocks noChangeShapeType="1"/>
          </p:cNvSpPr>
          <p:nvPr/>
        </p:nvSpPr>
        <p:spPr bwMode="auto">
          <a:xfrm flipV="1">
            <a:off x="7527925" y="4175125"/>
            <a:ext cx="427038" cy="138747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|EOS~020|</a:t>
            </a:r>
            <a:endParaRPr lang="en-US" sz="100" dirty="0" err="1" smtClean="0">
              <a:solidFill>
                <a:srgbClr val="FFFFFF"/>
              </a:solidFill>
              <a:latin typeface="Arial"/>
              <a:cs typeface="Calibri" pitchFamily="34" charset="0"/>
            </a:endParaRPr>
          </a:p>
        </p:txBody>
      </p:sp>
      <p:sp>
        <p:nvSpPr>
          <p:cNvPr id="22530" name="Rectangle 2"/>
          <p:cNvSpPr>
            <a:spLocks noGrp="1" noChangeArrowheads="1"/>
          </p:cNvSpPr>
          <p:nvPr>
            <p:ph type="title"/>
          </p:nvPr>
        </p:nvSpPr>
        <p:spPr/>
        <p:txBody>
          <a:bodyPr/>
          <a:lstStyle/>
          <a:p>
            <a:pPr eaLnBrk="1" hangingPunct="1"/>
            <a:r>
              <a:rPr lang="en-US" smtClean="0"/>
              <a:t>What causes a transaction to need attention?</a:t>
            </a:r>
          </a:p>
        </p:txBody>
      </p:sp>
      <p:sp>
        <p:nvSpPr>
          <p:cNvPr id="22531" name="Rectangle 3"/>
          <p:cNvSpPr>
            <a:spLocks noGrp="1" noChangeArrowheads="1"/>
          </p:cNvSpPr>
          <p:nvPr>
            <p:ph idx="1"/>
          </p:nvPr>
        </p:nvSpPr>
        <p:spPr>
          <a:xfrm>
            <a:off x="519113" y="4918075"/>
            <a:ext cx="8318500" cy="1471613"/>
          </a:xfrm>
        </p:spPr>
        <p:txBody>
          <a:bodyPr/>
          <a:lstStyle/>
          <a:p>
            <a:pPr>
              <a:buFont typeface="Arial" charset="0"/>
              <a:buChar char="•"/>
            </a:pPr>
            <a:r>
              <a:rPr lang="en-US" smtClean="0"/>
              <a:t>New transactions are checked against the user's authority limit profile and against transaction approval rules</a:t>
            </a:r>
          </a:p>
          <a:p>
            <a:pPr lvl="1"/>
            <a:r>
              <a:rPr lang="en-US" smtClean="0"/>
              <a:t>Either set of logic can set the transaction to requiring approval</a:t>
            </a:r>
          </a:p>
        </p:txBody>
      </p:sp>
      <p:sp>
        <p:nvSpPr>
          <p:cNvPr id="22532" name="Line 4"/>
          <p:cNvSpPr>
            <a:spLocks noChangeShapeType="1"/>
          </p:cNvSpPr>
          <p:nvPr/>
        </p:nvSpPr>
        <p:spPr bwMode="auto">
          <a:xfrm flipH="1">
            <a:off x="3214688" y="3919538"/>
            <a:ext cx="36988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33" name="Line 5"/>
          <p:cNvSpPr>
            <a:spLocks noChangeShapeType="1"/>
          </p:cNvSpPr>
          <p:nvPr/>
        </p:nvSpPr>
        <p:spPr bwMode="auto">
          <a:xfrm flipV="1">
            <a:off x="3214688" y="3051175"/>
            <a:ext cx="0" cy="8763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22534" name="Picture 6" descr="icon - rule se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2900" y="2811463"/>
            <a:ext cx="8001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5" name="Text Box 7"/>
          <p:cNvSpPr txBox="1">
            <a:spLocks noChangeArrowheads="1"/>
          </p:cNvSpPr>
          <p:nvPr/>
        </p:nvSpPr>
        <p:spPr bwMode="auto">
          <a:xfrm>
            <a:off x="3706813" y="3000375"/>
            <a:ext cx="44942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Transaction Approval Rules</a:t>
            </a:r>
            <a:endParaRPr lang="en-US"/>
          </a:p>
        </p:txBody>
      </p:sp>
      <p:pic>
        <p:nvPicPr>
          <p:cNvPr id="22536" name="Picture 8" descr="icon - ru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1875" y="3602038"/>
            <a:ext cx="66675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7" name="Text Box 9"/>
          <p:cNvSpPr txBox="1">
            <a:spLocks noChangeArrowheads="1"/>
          </p:cNvSpPr>
          <p:nvPr/>
        </p:nvSpPr>
        <p:spPr bwMode="auto">
          <a:xfrm>
            <a:off x="4286250" y="3570288"/>
            <a:ext cx="45497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574675" algn="l"/>
              </a:tabLst>
              <a:defRPr sz="2000" b="1">
                <a:solidFill>
                  <a:srgbClr val="FF0000"/>
                </a:solidFill>
                <a:latin typeface="Arial" charset="0"/>
              </a:defRPr>
            </a:lvl1pPr>
            <a:lvl2pPr marL="742950" indent="-285750" eaLnBrk="0" hangingPunct="0">
              <a:tabLst>
                <a:tab pos="574675" algn="l"/>
              </a:tabLst>
              <a:defRPr sz="2000" b="1">
                <a:solidFill>
                  <a:srgbClr val="FF0000"/>
                </a:solidFill>
                <a:latin typeface="Arial" charset="0"/>
              </a:defRPr>
            </a:lvl2pPr>
            <a:lvl3pPr marL="1143000" indent="-228600" eaLnBrk="0" hangingPunct="0">
              <a:tabLst>
                <a:tab pos="574675" algn="l"/>
              </a:tabLst>
              <a:defRPr sz="2000" b="1">
                <a:solidFill>
                  <a:srgbClr val="FF0000"/>
                </a:solidFill>
                <a:latin typeface="Arial" charset="0"/>
              </a:defRPr>
            </a:lvl3pPr>
            <a:lvl4pPr marL="1600200" indent="-228600" eaLnBrk="0" hangingPunct="0">
              <a:tabLst>
                <a:tab pos="574675" algn="l"/>
              </a:tabLst>
              <a:defRPr sz="2000" b="1">
                <a:solidFill>
                  <a:srgbClr val="FF0000"/>
                </a:solidFill>
                <a:latin typeface="Arial" charset="0"/>
              </a:defRPr>
            </a:lvl4pPr>
            <a:lvl5pPr marL="2057400" indent="-228600" eaLnBrk="0" hangingPunct="0">
              <a:tabLst>
                <a:tab pos="574675" algn="l"/>
              </a:tabLst>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tabLst>
                <a:tab pos="574675" algn="l"/>
              </a:tabLst>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tabLst>
                <a:tab pos="574675" algn="l"/>
              </a:tabLst>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tabLst>
                <a:tab pos="574675" algn="l"/>
              </a:tabLst>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tabLst>
                <a:tab pos="574675" algn="l"/>
              </a:tabLst>
              <a:defRPr sz="2000" b="1">
                <a:solidFill>
                  <a:srgbClr val="FF0000"/>
                </a:solidFill>
                <a:latin typeface="Arial" charset="0"/>
              </a:defRPr>
            </a:lvl9pPr>
          </a:lstStyle>
          <a:p>
            <a:pPr algn="l" eaLnBrk="1" hangingPunct="1"/>
            <a:r>
              <a:rPr lang="en-US"/>
              <a:t>if 	segment is low complexity</a:t>
            </a:r>
            <a:br>
              <a:rPr lang="en-US"/>
            </a:br>
            <a:r>
              <a:rPr lang="en-US"/>
              <a:t>	AND total reserves &gt; $30,000</a:t>
            </a:r>
            <a:br>
              <a:rPr lang="en-US"/>
            </a:br>
            <a:r>
              <a:rPr lang="en-US"/>
              <a:t>then require approval</a:t>
            </a:r>
          </a:p>
        </p:txBody>
      </p:sp>
      <p:sp>
        <p:nvSpPr>
          <p:cNvPr id="22538" name="Text Box 10"/>
          <p:cNvSpPr txBox="1">
            <a:spLocks noChangeArrowheads="1"/>
          </p:cNvSpPr>
          <p:nvPr/>
        </p:nvSpPr>
        <p:spPr bwMode="auto">
          <a:xfrm>
            <a:off x="808038" y="2084388"/>
            <a:ext cx="13604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new transaction</a:t>
            </a:r>
          </a:p>
        </p:txBody>
      </p:sp>
      <p:sp>
        <p:nvSpPr>
          <p:cNvPr id="22539" name="AutoShape 11"/>
          <p:cNvSpPr>
            <a:spLocks noChangeArrowheads="1"/>
          </p:cNvSpPr>
          <p:nvPr/>
        </p:nvSpPr>
        <p:spPr bwMode="auto">
          <a:xfrm>
            <a:off x="863600" y="1460500"/>
            <a:ext cx="1512888" cy="825500"/>
          </a:xfrm>
          <a:prstGeom prst="rightArrow">
            <a:avLst>
              <a:gd name="adj1" fmla="val 50000"/>
              <a:gd name="adj2" fmla="val 45817"/>
            </a:avLst>
          </a:prstGeom>
          <a:gradFill rotWithShape="1">
            <a:gsLst>
              <a:gs pos="0">
                <a:schemeClr val="tx1"/>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2540" name="AutoShape 12"/>
          <p:cNvSpPr>
            <a:spLocks noChangeArrowheads="1"/>
          </p:cNvSpPr>
          <p:nvPr/>
        </p:nvSpPr>
        <p:spPr bwMode="auto">
          <a:xfrm rot="2186541">
            <a:off x="1900238" y="1271588"/>
            <a:ext cx="636587" cy="636587"/>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2541" name="Rectangle 13"/>
          <p:cNvSpPr>
            <a:spLocks noChangeArrowheads="1"/>
          </p:cNvSpPr>
          <p:nvPr/>
        </p:nvSpPr>
        <p:spPr bwMode="auto">
          <a:xfrm>
            <a:off x="3994150" y="854075"/>
            <a:ext cx="3259138" cy="1427163"/>
          </a:xfrm>
          <a:prstGeom prst="rect">
            <a:avLst/>
          </a:prstGeom>
          <a:solidFill>
            <a:srgbClr val="CCFFCC">
              <a:alpha val="25098"/>
            </a:srgbClr>
          </a:solidFill>
          <a:ln w="28575" algn="ctr">
            <a:solidFill>
              <a:schemeClr val="bg1"/>
            </a:solidFill>
            <a:miter lim="800000"/>
            <a:headEnd/>
            <a:tailEnd/>
          </a:ln>
        </p:spPr>
        <p:txBody>
          <a:bodyPr lIns="0" tIns="0" rIns="0" bIns="0" anchor="ctr">
            <a:spAutoFit/>
          </a:bodyPr>
          <a:lstStyle/>
          <a:p>
            <a:endParaRPr lang="en-US"/>
          </a:p>
        </p:txBody>
      </p:sp>
      <p:sp>
        <p:nvSpPr>
          <p:cNvPr id="22542" name="AutoShape 14"/>
          <p:cNvSpPr>
            <a:spLocks noChangeArrowheads="1"/>
          </p:cNvSpPr>
          <p:nvPr/>
        </p:nvSpPr>
        <p:spPr bwMode="auto">
          <a:xfrm>
            <a:off x="4365625" y="1246188"/>
            <a:ext cx="2755900" cy="758825"/>
          </a:xfrm>
          <a:prstGeom prst="rightArrow">
            <a:avLst>
              <a:gd name="adj1" fmla="val 50000"/>
              <a:gd name="adj2" fmla="val 9079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2543" name="Text Box 15"/>
          <p:cNvSpPr txBox="1">
            <a:spLocks noChangeArrowheads="1"/>
          </p:cNvSpPr>
          <p:nvPr/>
        </p:nvSpPr>
        <p:spPr bwMode="auto">
          <a:xfrm>
            <a:off x="4714875" y="1925638"/>
            <a:ext cx="884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$10K</a:t>
            </a:r>
          </a:p>
        </p:txBody>
      </p:sp>
      <p:sp>
        <p:nvSpPr>
          <p:cNvPr id="22544" name="Text Box 16"/>
          <p:cNvSpPr txBox="1">
            <a:spLocks noChangeArrowheads="1"/>
          </p:cNvSpPr>
          <p:nvPr/>
        </p:nvSpPr>
        <p:spPr bwMode="auto">
          <a:xfrm>
            <a:off x="5518150" y="1925638"/>
            <a:ext cx="884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$20K</a:t>
            </a:r>
          </a:p>
        </p:txBody>
      </p:sp>
      <p:sp>
        <p:nvSpPr>
          <p:cNvPr id="22545" name="Text Box 17"/>
          <p:cNvSpPr txBox="1">
            <a:spLocks noChangeArrowheads="1"/>
          </p:cNvSpPr>
          <p:nvPr/>
        </p:nvSpPr>
        <p:spPr bwMode="auto">
          <a:xfrm>
            <a:off x="4044950" y="1925638"/>
            <a:ext cx="58896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$0K</a:t>
            </a:r>
          </a:p>
        </p:txBody>
      </p:sp>
      <p:sp>
        <p:nvSpPr>
          <p:cNvPr id="22546" name="Line 18"/>
          <p:cNvSpPr>
            <a:spLocks noChangeShapeType="1"/>
          </p:cNvSpPr>
          <p:nvPr/>
        </p:nvSpPr>
        <p:spPr bwMode="auto">
          <a:xfrm flipV="1">
            <a:off x="5170488" y="1430338"/>
            <a:ext cx="0" cy="46513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47" name="Line 19"/>
          <p:cNvSpPr>
            <a:spLocks noChangeShapeType="1"/>
          </p:cNvSpPr>
          <p:nvPr/>
        </p:nvSpPr>
        <p:spPr bwMode="auto">
          <a:xfrm flipV="1">
            <a:off x="5972175" y="1430338"/>
            <a:ext cx="0" cy="46513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48" name="Line 20"/>
          <p:cNvSpPr>
            <a:spLocks noChangeShapeType="1"/>
          </p:cNvSpPr>
          <p:nvPr/>
        </p:nvSpPr>
        <p:spPr bwMode="auto">
          <a:xfrm flipV="1">
            <a:off x="4368800" y="1430338"/>
            <a:ext cx="0" cy="46513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49" name="Line 21"/>
          <p:cNvSpPr>
            <a:spLocks noChangeShapeType="1"/>
          </p:cNvSpPr>
          <p:nvPr/>
        </p:nvSpPr>
        <p:spPr bwMode="auto">
          <a:xfrm flipV="1">
            <a:off x="5180013" y="1177925"/>
            <a:ext cx="0" cy="620713"/>
          </a:xfrm>
          <a:prstGeom prst="line">
            <a:avLst/>
          </a:prstGeom>
          <a:noFill/>
          <a:ln w="28575">
            <a:solidFill>
              <a:srgbClr val="FF0000"/>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50" name="AutoShape 22"/>
          <p:cNvSpPr>
            <a:spLocks noChangeArrowheads="1"/>
          </p:cNvSpPr>
          <p:nvPr/>
        </p:nvSpPr>
        <p:spPr bwMode="auto">
          <a:xfrm>
            <a:off x="4946650" y="950913"/>
            <a:ext cx="468313" cy="468312"/>
          </a:xfrm>
          <a:custGeom>
            <a:avLst/>
            <a:gdLst>
              <a:gd name="T0" fmla="*/ 5076794 w 21600"/>
              <a:gd name="T1" fmla="*/ 0 h 21600"/>
              <a:gd name="T2" fmla="*/ 1486829 w 21600"/>
              <a:gd name="T3" fmla="*/ 1486826 h 21600"/>
              <a:gd name="T4" fmla="*/ 0 w 21600"/>
              <a:gd name="T5" fmla="*/ 5076762 h 21600"/>
              <a:gd name="T6" fmla="*/ 1486829 w 21600"/>
              <a:gd name="T7" fmla="*/ 8666699 h 21600"/>
              <a:gd name="T8" fmla="*/ 5076794 w 21600"/>
              <a:gd name="T9" fmla="*/ 10153524 h 21600"/>
              <a:gd name="T10" fmla="*/ 8666739 w 21600"/>
              <a:gd name="T11" fmla="*/ 8666699 h 21600"/>
              <a:gd name="T12" fmla="*/ 10153567 w 21600"/>
              <a:gd name="T13" fmla="*/ 5076762 h 21600"/>
              <a:gd name="T14" fmla="*/ 8666739 w 21600"/>
              <a:gd name="T15" fmla="*/ 148682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close/>
                <a:moveTo>
                  <a:pt x="4574" y="7082"/>
                </a:moveTo>
                <a:cubicBezTo>
                  <a:pt x="3903" y="8206"/>
                  <a:pt x="3549" y="9491"/>
                  <a:pt x="3549" y="10799"/>
                </a:cubicBezTo>
                <a:cubicBezTo>
                  <a:pt x="3549" y="14804"/>
                  <a:pt x="6795" y="18051"/>
                  <a:pt x="10800" y="18051"/>
                </a:cubicBezTo>
                <a:cubicBezTo>
                  <a:pt x="12108" y="18051"/>
                  <a:pt x="13393" y="17696"/>
                  <a:pt x="14517" y="17025"/>
                </a:cubicBez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nvGrpSpPr>
          <p:cNvPr id="22551" name="Group 23"/>
          <p:cNvGrpSpPr>
            <a:grpSpLocks/>
          </p:cNvGrpSpPr>
          <p:nvPr/>
        </p:nvGrpSpPr>
        <p:grpSpPr bwMode="auto">
          <a:xfrm>
            <a:off x="5346700" y="2403475"/>
            <a:ext cx="481013" cy="481013"/>
            <a:chOff x="906" y="2148"/>
            <a:chExt cx="371" cy="371"/>
          </a:xfrm>
        </p:grpSpPr>
        <p:sp>
          <p:nvSpPr>
            <p:cNvPr id="22552" name="Rectangle 24"/>
            <p:cNvSpPr>
              <a:spLocks noChangeArrowheads="1"/>
            </p:cNvSpPr>
            <p:nvPr/>
          </p:nvSpPr>
          <p:spPr bwMode="auto">
            <a:xfrm>
              <a:off x="1022" y="2148"/>
              <a:ext cx="137" cy="371"/>
            </a:xfrm>
            <a:prstGeom prst="rect">
              <a:avLst/>
            </a:prstGeom>
            <a:solidFill>
              <a:srgbClr val="777777"/>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2553" name="Rectangle 25"/>
            <p:cNvSpPr>
              <a:spLocks noChangeArrowheads="1"/>
            </p:cNvSpPr>
            <p:nvPr/>
          </p:nvSpPr>
          <p:spPr bwMode="auto">
            <a:xfrm rot="-5400000">
              <a:off x="1023" y="2149"/>
              <a:ext cx="137" cy="371"/>
            </a:xfrm>
            <a:prstGeom prst="rect">
              <a:avLst/>
            </a:prstGeom>
            <a:solidFill>
              <a:srgbClr val="777777"/>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|EOS~021|</a:t>
            </a:r>
            <a:endParaRPr lang="en-US" sz="100" dirty="0" err="1" smtClean="0">
              <a:solidFill>
                <a:srgbClr val="FFFFFF"/>
              </a:solidFill>
              <a:latin typeface="Arial"/>
              <a:cs typeface="Calibri" pitchFamily="34" charset="0"/>
            </a:endParaRPr>
          </a:p>
        </p:txBody>
      </p:sp>
      <p:pic>
        <p:nvPicPr>
          <p:cNvPr id="1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075" y="735476"/>
            <a:ext cx="8610833" cy="181137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3556" name="Rectangle 2"/>
          <p:cNvSpPr>
            <a:spLocks noGrp="1" noChangeArrowheads="1"/>
          </p:cNvSpPr>
          <p:nvPr>
            <p:ph type="title"/>
          </p:nvPr>
        </p:nvSpPr>
        <p:spPr/>
        <p:txBody>
          <a:bodyPr/>
          <a:lstStyle/>
          <a:p>
            <a:pPr eaLnBrk="1" hangingPunct="1"/>
            <a:r>
              <a:rPr lang="en-US" smtClean="0"/>
              <a:t>How does ClaimCenter respond?</a:t>
            </a:r>
          </a:p>
        </p:txBody>
      </p:sp>
      <p:sp>
        <p:nvSpPr>
          <p:cNvPr id="23557" name="AutoShape 4"/>
          <p:cNvSpPr>
            <a:spLocks noChangeArrowheads="1"/>
          </p:cNvSpPr>
          <p:nvPr/>
        </p:nvSpPr>
        <p:spPr bwMode="auto">
          <a:xfrm>
            <a:off x="493172" y="2180495"/>
            <a:ext cx="8540296" cy="39689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3558" name="AutoShape 6"/>
          <p:cNvSpPr>
            <a:spLocks noChangeArrowheads="1"/>
          </p:cNvSpPr>
          <p:nvPr/>
        </p:nvSpPr>
        <p:spPr bwMode="auto">
          <a:xfrm>
            <a:off x="455613" y="935038"/>
            <a:ext cx="1512887" cy="825500"/>
          </a:xfrm>
          <a:prstGeom prst="rightArrow">
            <a:avLst>
              <a:gd name="adj1" fmla="val 50000"/>
              <a:gd name="adj2" fmla="val 45817"/>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452" y="4014961"/>
            <a:ext cx="8706007" cy="152540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grpSp>
        <p:nvGrpSpPr>
          <p:cNvPr id="23559" name="Group 7"/>
          <p:cNvGrpSpPr>
            <a:grpSpLocks/>
          </p:cNvGrpSpPr>
          <p:nvPr/>
        </p:nvGrpSpPr>
        <p:grpSpPr bwMode="auto">
          <a:xfrm>
            <a:off x="1735132" y="3202744"/>
            <a:ext cx="841375" cy="1069975"/>
            <a:chOff x="2401" y="425"/>
            <a:chExt cx="907" cy="1154"/>
          </a:xfrm>
        </p:grpSpPr>
        <p:sp>
          <p:nvSpPr>
            <p:cNvPr id="23561" name="Rectangle 8"/>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3562" name="Line 9"/>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63" name="Line 10"/>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64" name="Rectangle 11"/>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3565" name="Freeform 12"/>
            <p:cNvSpPr>
              <a:spLocks/>
            </p:cNvSpPr>
            <p:nvPr/>
          </p:nvSpPr>
          <p:spPr bwMode="auto">
            <a:xfrm>
              <a:off x="2643" y="789"/>
              <a:ext cx="309" cy="257"/>
            </a:xfrm>
            <a:custGeom>
              <a:avLst/>
              <a:gdLst>
                <a:gd name="T0" fmla="*/ 162 w 234"/>
                <a:gd name="T1" fmla="*/ 0 h 195"/>
                <a:gd name="T2" fmla="*/ 36 w 234"/>
                <a:gd name="T3" fmla="*/ 55 h 195"/>
                <a:gd name="T4" fmla="*/ 0 w 234"/>
                <a:gd name="T5" fmla="*/ 257 h 195"/>
                <a:gd name="T6" fmla="*/ 238 w 234"/>
                <a:gd name="T7" fmla="*/ 257 h 195"/>
                <a:gd name="T8" fmla="*/ 309 w 234"/>
                <a:gd name="T9" fmla="*/ 146 h 195"/>
                <a:gd name="T10" fmla="*/ 162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23566" name="Line 13"/>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3560" name="AutoShape 14"/>
          <p:cNvSpPr>
            <a:spLocks noChangeArrowheads="1"/>
          </p:cNvSpPr>
          <p:nvPr/>
        </p:nvSpPr>
        <p:spPr bwMode="auto">
          <a:xfrm rot="2186541">
            <a:off x="2305388" y="2969679"/>
            <a:ext cx="636587" cy="636587"/>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|EOS~022|</a:t>
            </a:r>
            <a:endParaRPr lang="en-US" sz="100" dirty="0" err="1" smtClean="0">
              <a:solidFill>
                <a:srgbClr val="FFFFFF"/>
              </a:solidFill>
              <a:latin typeface="Arial"/>
              <a:cs typeface="Calibri" pitchFamily="34" charset="0"/>
            </a:endParaRPr>
          </a:p>
        </p:txBody>
      </p:sp>
      <p:sp>
        <p:nvSpPr>
          <p:cNvPr id="24579" name="Rectangle 2"/>
          <p:cNvSpPr>
            <a:spLocks noGrp="1" noChangeArrowheads="1"/>
          </p:cNvSpPr>
          <p:nvPr>
            <p:ph type="title"/>
          </p:nvPr>
        </p:nvSpPr>
        <p:spPr/>
        <p:txBody>
          <a:bodyPr/>
          <a:lstStyle/>
          <a:p>
            <a:pPr eaLnBrk="1" hangingPunct="1"/>
            <a:r>
              <a:rPr lang="en-US" smtClean="0"/>
              <a:t>How does the supervisor respond?</a:t>
            </a:r>
          </a:p>
        </p:txBody>
      </p:sp>
      <p:sp>
        <p:nvSpPr>
          <p:cNvPr id="24580" name="Rectangle 3"/>
          <p:cNvSpPr>
            <a:spLocks noGrp="1" noChangeArrowheads="1"/>
          </p:cNvSpPr>
          <p:nvPr>
            <p:ph idx="1"/>
          </p:nvPr>
        </p:nvSpPr>
        <p:spPr>
          <a:xfrm>
            <a:off x="519113" y="4630738"/>
            <a:ext cx="8318500" cy="1758950"/>
          </a:xfrm>
        </p:spPr>
        <p:txBody>
          <a:bodyPr/>
          <a:lstStyle/>
          <a:p>
            <a:pPr>
              <a:buFont typeface="Arial" charset="0"/>
              <a:buChar char="•"/>
            </a:pPr>
            <a:r>
              <a:rPr lang="en-US" smtClean="0"/>
              <a:t>Supervisor should:</a:t>
            </a:r>
          </a:p>
          <a:p>
            <a:pPr lvl="1"/>
            <a:r>
              <a:rPr lang="en-US" smtClean="0"/>
              <a:t>Approve or reject transaction</a:t>
            </a:r>
          </a:p>
          <a:p>
            <a:pPr lvl="2"/>
            <a:r>
              <a:rPr lang="en-US" smtClean="0"/>
              <a:t>Closes activity</a:t>
            </a:r>
          </a:p>
          <a:p>
            <a:pPr lvl="1"/>
            <a:r>
              <a:rPr lang="en-US" smtClean="0"/>
              <a:t>Take action as appropriate if transaction is rejected</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525" y="789162"/>
            <a:ext cx="8361363" cy="28479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6" name="AutoShape 4"/>
          <p:cNvSpPr>
            <a:spLocks noChangeArrowheads="1"/>
          </p:cNvSpPr>
          <p:nvPr/>
        </p:nvSpPr>
        <p:spPr bwMode="auto">
          <a:xfrm>
            <a:off x="390525" y="1396723"/>
            <a:ext cx="1106679" cy="27130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|EOS~023|</a:t>
            </a:r>
            <a:endParaRPr lang="en-US" sz="100" dirty="0" err="1" smtClean="0">
              <a:solidFill>
                <a:srgbClr val="FFFFFF"/>
              </a:solidFill>
              <a:latin typeface="Arial"/>
              <a:cs typeface="Calibri" pitchFamily="34" charset="0"/>
            </a:endParaRPr>
          </a:p>
        </p:txBody>
      </p:sp>
      <p:sp>
        <p:nvSpPr>
          <p:cNvPr id="25602" name="Rectangle 2"/>
          <p:cNvSpPr>
            <a:spLocks noGrp="1" noChangeArrowheads="1"/>
          </p:cNvSpPr>
          <p:nvPr>
            <p:ph type="title"/>
          </p:nvPr>
        </p:nvSpPr>
        <p:spPr/>
        <p:txBody>
          <a:bodyPr/>
          <a:lstStyle/>
          <a:p>
            <a:pPr eaLnBrk="1" hangingPunct="1"/>
            <a:r>
              <a:rPr lang="en-US" smtClean="0"/>
              <a:t>Transactions that require attention</a:t>
            </a:r>
          </a:p>
        </p:txBody>
      </p:sp>
      <p:graphicFrame>
        <p:nvGraphicFramePr>
          <p:cNvPr id="2654211" name="Group 3"/>
          <p:cNvGraphicFramePr>
            <a:graphicFrameLocks noGrp="1"/>
          </p:cNvGraphicFramePr>
          <p:nvPr/>
        </p:nvGraphicFramePr>
        <p:xfrm>
          <a:off x="538163" y="935038"/>
          <a:ext cx="8266112" cy="5535612"/>
        </p:xfrm>
        <a:graphic>
          <a:graphicData uri="http://schemas.openxmlformats.org/drawingml/2006/table">
            <a:tbl>
              <a:tblPr/>
              <a:tblGrid>
                <a:gridCol w="1198562"/>
                <a:gridCol w="2133600"/>
                <a:gridCol w="2895600"/>
                <a:gridCol w="2038350"/>
              </a:tblGrid>
              <a:tr h="731604">
                <a:tc>
                  <a:txBody>
                    <a:bodyPr/>
                    <a:lstStyle/>
                    <a:p>
                      <a:pPr marL="0" marR="0" lvl="0" indent="0"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endParaRPr kumimoji="0" lang="en-US" sz="2000" b="0" i="0" u="none" strike="noStrike" cap="none" normalizeH="0" baseline="0" smtClean="0">
                        <a:ln>
                          <a:noFill/>
                        </a:ln>
                        <a:solidFill>
                          <a:schemeClr val="bg1"/>
                        </a:solidFill>
                        <a:effectLst/>
                        <a:latin typeface="Arial"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1200" b="1" i="0" u="none" strike="noStrike" cap="none" normalizeH="0" baseline="0" smtClean="0">
                          <a:ln>
                            <a:noFill/>
                          </a:ln>
                          <a:solidFill>
                            <a:schemeClr val="bg1"/>
                          </a:solidFill>
                          <a:effectLst/>
                          <a:latin typeface="Arial" charset="0"/>
                        </a:rPr>
                        <a:t/>
                      </a:r>
                      <a:br>
                        <a:rPr kumimoji="0" lang="en-US" sz="1200" b="1" i="0" u="none" strike="noStrike" cap="none" normalizeH="0" baseline="0" smtClean="0">
                          <a:ln>
                            <a:noFill/>
                          </a:ln>
                          <a:solidFill>
                            <a:schemeClr val="bg1"/>
                          </a:solidFill>
                          <a:effectLst/>
                          <a:latin typeface="Arial" charset="0"/>
                        </a:rPr>
                      </a:br>
                      <a:r>
                        <a:rPr kumimoji="0" lang="en-US" sz="2400" b="1" i="0" u="none" strike="noStrike" cap="none" normalizeH="0" baseline="0" smtClean="0">
                          <a:ln>
                            <a:noFill/>
                          </a:ln>
                          <a:solidFill>
                            <a:schemeClr val="bg1"/>
                          </a:solidFill>
                          <a:effectLst/>
                          <a:latin typeface="Arial" charset="0"/>
                        </a:rPr>
                        <a:t>Cause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1" i="0" u="none" strike="noStrike" cap="none" normalizeH="0" baseline="0" smtClean="0">
                          <a:ln>
                            <a:noFill/>
                          </a:ln>
                          <a:solidFill>
                            <a:schemeClr val="bg1"/>
                          </a:solidFill>
                          <a:effectLst/>
                          <a:latin typeface="Arial" charset="0"/>
                        </a:rPr>
                        <a:t>System</a:t>
                      </a:r>
                      <a:br>
                        <a:rPr kumimoji="0" lang="en-US" sz="2400" b="1" i="0" u="none" strike="noStrike" cap="none" normalizeH="0" baseline="0" smtClean="0">
                          <a:ln>
                            <a:noFill/>
                          </a:ln>
                          <a:solidFill>
                            <a:schemeClr val="bg1"/>
                          </a:solidFill>
                          <a:effectLst/>
                          <a:latin typeface="Arial" charset="0"/>
                        </a:rPr>
                      </a:br>
                      <a:r>
                        <a:rPr kumimoji="0" lang="en-US" sz="2400" b="1" i="0" u="none" strike="noStrike" cap="none" normalizeH="0" baseline="0" smtClean="0">
                          <a:ln>
                            <a:noFill/>
                          </a:ln>
                          <a:solidFill>
                            <a:schemeClr val="bg1"/>
                          </a:solidFill>
                          <a:effectLst/>
                          <a:latin typeface="Arial" charset="0"/>
                        </a:rPr>
                        <a:t>Response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1" i="0" u="none" strike="noStrike" cap="none" normalizeH="0" baseline="0" smtClean="0">
                          <a:ln>
                            <a:noFill/>
                          </a:ln>
                          <a:solidFill>
                            <a:schemeClr val="bg1"/>
                          </a:solidFill>
                          <a:effectLst/>
                          <a:latin typeface="Arial" charset="0"/>
                        </a:rPr>
                        <a:t>Supervisor</a:t>
                      </a:r>
                      <a:br>
                        <a:rPr kumimoji="0" lang="en-US" sz="2400" b="1" i="0" u="none" strike="noStrike" cap="none" normalizeH="0" baseline="0" smtClean="0">
                          <a:ln>
                            <a:noFill/>
                          </a:ln>
                          <a:solidFill>
                            <a:schemeClr val="bg1"/>
                          </a:solidFill>
                          <a:effectLst/>
                          <a:latin typeface="Arial" charset="0"/>
                        </a:rPr>
                      </a:br>
                      <a:r>
                        <a:rPr kumimoji="0" lang="en-US" sz="2400" b="1" i="0" u="none" strike="noStrike" cap="none" normalizeH="0" baseline="0" smtClean="0">
                          <a:ln>
                            <a:noFill/>
                          </a:ln>
                          <a:solidFill>
                            <a:schemeClr val="bg1"/>
                          </a:solidFill>
                          <a:effectLst/>
                          <a:latin typeface="Arial" charset="0"/>
                        </a:rPr>
                        <a:t>Response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r>
              <a:tr h="1376521">
                <a:tc>
                  <a:txBody>
                    <a:bodyPr/>
                    <a:lstStyle/>
                    <a:p>
                      <a:pPr marL="61913"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3200" b="1" i="0" u="none" strike="noStrike" cap="none" normalizeH="0" baseline="0" smtClean="0">
                          <a:ln>
                            <a:noFill/>
                          </a:ln>
                          <a:solidFill>
                            <a:schemeClr val="bg1"/>
                          </a:solidFill>
                          <a:effectLst/>
                          <a:latin typeface="Arial" charset="0"/>
                        </a:rPr>
                        <a:t/>
                      </a:r>
                      <a:br>
                        <a:rPr kumimoji="0" lang="en-US" sz="3200" b="1" i="0" u="none" strike="noStrike" cap="none" normalizeH="0" baseline="0" smtClean="0">
                          <a:ln>
                            <a:noFill/>
                          </a:ln>
                          <a:solidFill>
                            <a:schemeClr val="bg1"/>
                          </a:solidFill>
                          <a:effectLst/>
                          <a:latin typeface="Arial" charset="0"/>
                        </a:rPr>
                      </a:br>
                      <a:r>
                        <a:rPr kumimoji="0" lang="en-US" sz="2400" b="1" i="0" u="none" strike="noStrike" cap="none" normalizeH="0" baseline="0" smtClean="0">
                          <a:ln>
                            <a:noFill/>
                          </a:ln>
                          <a:solidFill>
                            <a:schemeClr val="bg1"/>
                          </a:solidFill>
                          <a:effectLst/>
                          <a:latin typeface="Arial" charset="0"/>
                        </a:rPr>
                        <a:t>Claim</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228600" marR="0" lvl="0" indent="-1682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smtClean="0">
                          <a:ln>
                            <a:noFill/>
                          </a:ln>
                          <a:solidFill>
                            <a:schemeClr val="bg1"/>
                          </a:solidFill>
                          <a:effectLst/>
                          <a:latin typeface="Arial" charset="0"/>
                        </a:rPr>
                        <a:t>- Exception rules set claim to flagged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228600" marR="0" lvl="0" indent="-1682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smtClean="0">
                          <a:ln>
                            <a:noFill/>
                          </a:ln>
                          <a:solidFill>
                            <a:schemeClr val="bg1"/>
                          </a:solidFill>
                          <a:effectLst/>
                          <a:latin typeface="Arial" charset="0"/>
                        </a:rPr>
                        <a:t>- Flag icon displayed in info bar and list views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228600" marR="0" lvl="0" indent="-1682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smtClean="0">
                          <a:ln>
                            <a:noFill/>
                          </a:ln>
                          <a:solidFill>
                            <a:schemeClr val="bg1"/>
                          </a:solidFill>
                          <a:effectLst/>
                          <a:latin typeface="Arial" charset="0"/>
                        </a:rPr>
                        <a:t>- Attend to the issue, THEN</a:t>
                      </a:r>
                    </a:p>
                    <a:p>
                      <a:pPr marL="228600" marR="0" lvl="0" indent="-1682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smtClean="0">
                          <a:ln>
                            <a:noFill/>
                          </a:ln>
                          <a:solidFill>
                            <a:schemeClr val="bg1"/>
                          </a:solidFill>
                          <a:effectLst/>
                          <a:latin typeface="Arial" charset="0"/>
                        </a:rPr>
                        <a:t>- Remove claim flag</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1476544">
                <a:tc>
                  <a:txBody>
                    <a:bodyPr/>
                    <a:lstStyle/>
                    <a:p>
                      <a:pPr marL="61913"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3600" b="1" i="0" u="none" strike="noStrike" cap="none" normalizeH="0" baseline="0" smtClean="0">
                          <a:ln>
                            <a:noFill/>
                          </a:ln>
                          <a:solidFill>
                            <a:schemeClr val="bg1"/>
                          </a:solidFill>
                          <a:effectLst/>
                          <a:latin typeface="Arial" charset="0"/>
                        </a:rPr>
                        <a:t/>
                      </a:r>
                      <a:br>
                        <a:rPr kumimoji="0" lang="en-US" sz="3600" b="1" i="0" u="none" strike="noStrike" cap="none" normalizeH="0" baseline="0" smtClean="0">
                          <a:ln>
                            <a:noFill/>
                          </a:ln>
                          <a:solidFill>
                            <a:schemeClr val="bg1"/>
                          </a:solidFill>
                          <a:effectLst/>
                          <a:latin typeface="Arial" charset="0"/>
                        </a:rPr>
                      </a:br>
                      <a:r>
                        <a:rPr kumimoji="0" lang="en-US" sz="2400" b="1" i="0" u="none" strike="noStrike" cap="none" normalizeH="0" baseline="0" smtClean="0">
                          <a:ln>
                            <a:noFill/>
                          </a:ln>
                          <a:solidFill>
                            <a:schemeClr val="bg1"/>
                          </a:solidFill>
                          <a:effectLst/>
                          <a:latin typeface="Arial" charset="0"/>
                        </a:rPr>
                        <a:t>Activity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228600" marR="0" lvl="0" indent="-1682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smtClean="0">
                          <a:ln>
                            <a:noFill/>
                          </a:ln>
                          <a:solidFill>
                            <a:schemeClr val="bg1"/>
                          </a:solidFill>
                          <a:effectLst/>
                          <a:latin typeface="Arial" charset="0"/>
                        </a:rPr>
                        <a:t>- Activity is open on or after escalation date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228600" marR="0" lvl="0" indent="-1682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smtClean="0">
                          <a:ln>
                            <a:noFill/>
                          </a:ln>
                          <a:solidFill>
                            <a:schemeClr val="bg1"/>
                          </a:solidFill>
                          <a:effectLst/>
                          <a:latin typeface="Arial" charset="0"/>
                        </a:rPr>
                        <a:t>- Escalation rules executed</a:t>
                      </a:r>
                    </a:p>
                    <a:p>
                      <a:pPr marL="228600" marR="0" lvl="0" indent="-1682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smtClean="0">
                          <a:ln>
                            <a:noFill/>
                          </a:ln>
                          <a:solidFill>
                            <a:schemeClr val="bg1"/>
                          </a:solidFill>
                          <a:effectLst/>
                          <a:latin typeface="Arial" charset="0"/>
                        </a:rPr>
                        <a:t>- Escalated icon displayed in list views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228600" marR="0" lvl="0" indent="-1682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smtClean="0">
                          <a:ln>
                            <a:noFill/>
                          </a:ln>
                          <a:solidFill>
                            <a:schemeClr val="bg1"/>
                          </a:solidFill>
                          <a:effectLst/>
                          <a:latin typeface="Arial" charset="0"/>
                        </a:rPr>
                        <a:t>- Attend to the issue (such as reassign activity)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1950943">
                <a:tc>
                  <a:txBody>
                    <a:bodyPr/>
                    <a:lstStyle/>
                    <a:p>
                      <a:pPr marL="61913"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3600" b="1" i="0" u="none" strike="noStrike" cap="none" normalizeH="0" baseline="0" smtClean="0">
                          <a:ln>
                            <a:noFill/>
                          </a:ln>
                          <a:solidFill>
                            <a:schemeClr val="bg1"/>
                          </a:solidFill>
                          <a:effectLst/>
                          <a:latin typeface="Arial" charset="0"/>
                        </a:rPr>
                        <a:t/>
                      </a:r>
                      <a:br>
                        <a:rPr kumimoji="0" lang="en-US" sz="3600" b="1" i="0" u="none" strike="noStrike" cap="none" normalizeH="0" baseline="0" smtClean="0">
                          <a:ln>
                            <a:noFill/>
                          </a:ln>
                          <a:solidFill>
                            <a:schemeClr val="bg1"/>
                          </a:solidFill>
                          <a:effectLst/>
                          <a:latin typeface="Arial" charset="0"/>
                        </a:rPr>
                      </a:br>
                      <a:r>
                        <a:rPr kumimoji="0" lang="en-US" sz="2400" b="1" i="0" u="none" strike="noStrike" cap="none" normalizeH="0" baseline="0" smtClean="0">
                          <a:ln>
                            <a:noFill/>
                          </a:ln>
                          <a:solidFill>
                            <a:schemeClr val="bg1"/>
                          </a:solidFill>
                          <a:effectLst/>
                          <a:latin typeface="Arial" charset="0"/>
                        </a:rPr>
                        <a:t>Trans-</a:t>
                      </a:r>
                      <a:br>
                        <a:rPr kumimoji="0" lang="en-US" sz="2400" b="1" i="0" u="none" strike="noStrike" cap="none" normalizeH="0" baseline="0" smtClean="0">
                          <a:ln>
                            <a:noFill/>
                          </a:ln>
                          <a:solidFill>
                            <a:schemeClr val="bg1"/>
                          </a:solidFill>
                          <a:effectLst/>
                          <a:latin typeface="Arial" charset="0"/>
                        </a:rPr>
                      </a:br>
                      <a:r>
                        <a:rPr kumimoji="0" lang="en-US" sz="2400" b="1" i="0" u="none" strike="noStrike" cap="none" normalizeH="0" baseline="0" smtClean="0">
                          <a:ln>
                            <a:noFill/>
                          </a:ln>
                          <a:solidFill>
                            <a:schemeClr val="bg1"/>
                          </a:solidFill>
                          <a:effectLst/>
                          <a:latin typeface="Arial" charset="0"/>
                        </a:rPr>
                        <a:t>action</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228600" marR="0" lvl="0" indent="-1682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smtClean="0">
                          <a:ln>
                            <a:noFill/>
                          </a:ln>
                          <a:solidFill>
                            <a:srgbClr val="FF0000"/>
                          </a:solidFill>
                          <a:effectLst/>
                          <a:latin typeface="Arial" charset="0"/>
                        </a:rPr>
                        <a:t>- Amount exceeds authority limit profile, OR</a:t>
                      </a:r>
                    </a:p>
                    <a:p>
                      <a:pPr marL="228600" marR="0" lvl="0" indent="-1682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smtClean="0">
                          <a:ln>
                            <a:noFill/>
                          </a:ln>
                          <a:solidFill>
                            <a:srgbClr val="FF0000"/>
                          </a:solidFill>
                          <a:effectLst/>
                          <a:latin typeface="Arial" charset="0"/>
                        </a:rPr>
                        <a:t>- Rules determine  approval is required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228600" marR="0" lvl="0" indent="-1682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smtClean="0">
                          <a:ln>
                            <a:noFill/>
                          </a:ln>
                          <a:solidFill>
                            <a:srgbClr val="FF0000"/>
                          </a:solidFill>
                          <a:effectLst/>
                          <a:latin typeface="Arial" charset="0"/>
                        </a:rPr>
                        <a:t>- Transaction status set to "pending approval"</a:t>
                      </a:r>
                    </a:p>
                    <a:p>
                      <a:pPr marL="228600" marR="0" lvl="0" indent="-1682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smtClean="0">
                          <a:ln>
                            <a:noFill/>
                          </a:ln>
                          <a:solidFill>
                            <a:srgbClr val="FF0000"/>
                          </a:solidFill>
                          <a:effectLst/>
                          <a:latin typeface="Arial" charset="0"/>
                        </a:rPr>
                        <a:t>- Approval activity created and routed to supervisor</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228600" marR="0" lvl="0" indent="-1682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smtClean="0">
                          <a:ln>
                            <a:noFill/>
                          </a:ln>
                          <a:solidFill>
                            <a:srgbClr val="FF0000"/>
                          </a:solidFill>
                          <a:effectLst/>
                          <a:latin typeface="Arial" charset="0"/>
                        </a:rPr>
                        <a:t>- Approve or deny activity</a:t>
                      </a:r>
                    </a:p>
                    <a:p>
                      <a:pPr marL="228600" marR="0" lvl="0" indent="-1682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smtClean="0">
                          <a:ln>
                            <a:noFill/>
                          </a:ln>
                          <a:solidFill>
                            <a:srgbClr val="FF0000"/>
                          </a:solidFill>
                          <a:effectLst/>
                          <a:latin typeface="Arial" charset="0"/>
                        </a:rPr>
                        <a:t>- If denied, address as appropriate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|EOS~024|</a:t>
            </a:r>
            <a:endParaRPr lang="en-US" sz="100" dirty="0" err="1" smtClean="0">
              <a:solidFill>
                <a:srgbClr val="FFFFFF"/>
              </a:solidFill>
              <a:latin typeface="Arial"/>
              <a:cs typeface="Calibri" pitchFamily="34" charset="0"/>
            </a:endParaRPr>
          </a:p>
        </p:txBody>
      </p:sp>
      <p:sp>
        <p:nvSpPr>
          <p:cNvPr id="26626" name="Rectangle 2"/>
          <p:cNvSpPr>
            <a:spLocks noGrp="1" noChangeArrowheads="1"/>
          </p:cNvSpPr>
          <p:nvPr>
            <p:ph type="title"/>
          </p:nvPr>
        </p:nvSpPr>
        <p:spPr/>
        <p:txBody>
          <a:bodyPr/>
          <a:lstStyle/>
          <a:p>
            <a:pPr eaLnBrk="1" hangingPunct="1"/>
            <a:r>
              <a:rPr lang="en-US" smtClean="0"/>
              <a:t>Lesson objectives review</a:t>
            </a:r>
          </a:p>
        </p:txBody>
      </p:sp>
      <p:sp>
        <p:nvSpPr>
          <p:cNvPr id="26627" name="Rectangle 3"/>
          <p:cNvSpPr>
            <a:spLocks noGrp="1" noChangeArrowheads="1"/>
          </p:cNvSpPr>
          <p:nvPr>
            <p:ph idx="1"/>
          </p:nvPr>
        </p:nvSpPr>
        <p:spPr/>
        <p:txBody>
          <a:bodyPr/>
          <a:lstStyle/>
          <a:p>
            <a:pPr>
              <a:buFont typeface="Wingdings 3" pitchFamily="18" charset="2"/>
              <a:buNone/>
            </a:pPr>
            <a:r>
              <a:rPr lang="en-US" smtClean="0"/>
              <a:t>You should now be able to:</a:t>
            </a:r>
          </a:p>
          <a:p>
            <a:pPr lvl="1"/>
            <a:r>
              <a:rPr lang="en-US" smtClean="0"/>
              <a:t>Describe the functionality of authority limits</a:t>
            </a:r>
          </a:p>
          <a:p>
            <a:pPr lvl="1"/>
            <a:r>
              <a:rPr lang="en-US" smtClean="0"/>
              <a:t>Describe the purpose of transaction approval rules</a:t>
            </a:r>
          </a:p>
          <a:p>
            <a:pPr lvl="1"/>
            <a:r>
              <a:rPr lang="en-US" smtClean="0"/>
              <a:t>Describe how supervisors approve transactions</a:t>
            </a: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|EOS~025|</a:t>
            </a:r>
            <a:endParaRPr lang="en-US" sz="100" dirty="0" err="1" smtClean="0">
              <a:solidFill>
                <a:srgbClr val="FFFFFF"/>
              </a:solidFill>
              <a:latin typeface="Arial"/>
              <a:cs typeface="Calibri" pitchFamily="34" charset="0"/>
            </a:endParaRPr>
          </a:p>
        </p:txBody>
      </p:sp>
      <p:sp>
        <p:nvSpPr>
          <p:cNvPr id="27650" name="Rectangle 2"/>
          <p:cNvSpPr>
            <a:spLocks noGrp="1" noChangeArrowheads="1"/>
          </p:cNvSpPr>
          <p:nvPr>
            <p:ph type="title"/>
          </p:nvPr>
        </p:nvSpPr>
        <p:spPr/>
        <p:txBody>
          <a:bodyPr/>
          <a:lstStyle/>
          <a:p>
            <a:pPr eaLnBrk="1" hangingPunct="1"/>
            <a:r>
              <a:rPr lang="en-US" smtClean="0"/>
              <a:t>Review questions</a:t>
            </a:r>
          </a:p>
        </p:txBody>
      </p:sp>
      <p:sp>
        <p:nvSpPr>
          <p:cNvPr id="27651" name="Rectangle 3"/>
          <p:cNvSpPr>
            <a:spLocks noGrp="1" noChangeArrowheads="1"/>
          </p:cNvSpPr>
          <p:nvPr>
            <p:ph idx="1"/>
          </p:nvPr>
        </p:nvSpPr>
        <p:spPr>
          <a:xfrm>
            <a:off x="495300" y="1022350"/>
            <a:ext cx="8318500" cy="5176838"/>
          </a:xfrm>
        </p:spPr>
        <p:txBody>
          <a:bodyPr/>
          <a:lstStyle/>
          <a:p>
            <a:pPr marL="457200" indent="-457200">
              <a:buFont typeface="Webdings" pitchFamily="18" charset="2"/>
              <a:buAutoNum type="arabicPeriod"/>
            </a:pPr>
            <a:r>
              <a:rPr lang="en-US" smtClean="0"/>
              <a:t>Does a transaction require approval when it:</a:t>
            </a:r>
          </a:p>
          <a:p>
            <a:pPr marL="909638" lvl="1" indent="-457200">
              <a:buSzTx/>
              <a:buFont typeface="Webdings" pitchFamily="18" charset="2"/>
              <a:buAutoNum type="alphaLcParenR"/>
            </a:pPr>
            <a:r>
              <a:rPr lang="en-US" smtClean="0"/>
              <a:t>Is not flagged by transaction approval rules but exceeds the user's authority limits?</a:t>
            </a:r>
          </a:p>
          <a:p>
            <a:pPr marL="909638" lvl="1" indent="-457200">
              <a:buSzTx/>
              <a:buFont typeface="Webdings" pitchFamily="18" charset="2"/>
              <a:buAutoNum type="alphaLcParenR"/>
            </a:pPr>
            <a:r>
              <a:rPr lang="en-US" smtClean="0"/>
              <a:t>Does not exceed the user's authority limits but is flagged by transaction approval rules?</a:t>
            </a:r>
          </a:p>
          <a:p>
            <a:pPr marL="909638" lvl="1" indent="-457200">
              <a:buSzTx/>
              <a:buFont typeface="Webdings" pitchFamily="18" charset="2"/>
              <a:buAutoNum type="alphaLcParenR"/>
            </a:pPr>
            <a:r>
              <a:rPr lang="en-US" smtClean="0"/>
              <a:t>Exceeds the user's authority limits and is flagged by transaction approval rules?</a:t>
            </a:r>
          </a:p>
          <a:p>
            <a:pPr marL="457200" indent="-457200">
              <a:buFont typeface="Webdings" pitchFamily="18" charset="2"/>
              <a:buAutoNum type="arabicPeriod"/>
            </a:pPr>
            <a:r>
              <a:rPr lang="en-US" smtClean="0"/>
              <a:t>An authority limit consists of a criteria and an amount. What three values can optionally be specified to create the condition?</a:t>
            </a:r>
          </a:p>
          <a:p>
            <a:pPr marL="457200" indent="-457200">
              <a:buFont typeface="Webdings" pitchFamily="18" charset="2"/>
              <a:buAutoNum type="arabicPeriod"/>
            </a:pPr>
            <a:r>
              <a:rPr lang="en-US" smtClean="0"/>
              <a:t>What two things does ClaimCenter do when it determines that a transaction requires approval?</a:t>
            </a: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|EOS~026|</a:t>
            </a:r>
            <a:endParaRPr lang="en-US" sz="100" dirty="0" err="1" smtClean="0">
              <a:solidFill>
                <a:srgbClr val="FFFFFF"/>
              </a:solidFill>
              <a:latin typeface="Arial"/>
              <a:cs typeface="Calibri" pitchFamily="34" charset="0"/>
            </a:endParaRPr>
          </a:p>
        </p:txBody>
      </p:sp>
      <p:sp>
        <p:nvSpPr>
          <p:cNvPr id="51202" name="Rectangle 2"/>
          <p:cNvSpPr>
            <a:spLocks noGrp="1" noChangeArrowheads="1"/>
          </p:cNvSpPr>
          <p:nvPr>
            <p:ph type="title"/>
          </p:nvPr>
        </p:nvSpPr>
        <p:spPr/>
        <p:txBody>
          <a:bodyPr/>
          <a:lstStyle/>
          <a:p>
            <a:pPr eaLnBrk="1" hangingPunct="1"/>
            <a:r>
              <a:rPr lang="en-US" smtClean="0"/>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dirty="0" smtClean="0"/>
              <a:t>Copyright </a:t>
            </a:r>
            <a:r>
              <a:rPr lang="en-US" sz="1600" b="1" smtClean="0"/>
              <a:t>© 2001-2014 </a:t>
            </a:r>
            <a:r>
              <a:rPr lang="en-US" sz="1600" b="1" dirty="0" smtClean="0"/>
              <a:t>Guidewire Software, Inc. All rights reserved.</a:t>
            </a:r>
          </a:p>
          <a:p>
            <a:pPr marL="0" indent="0">
              <a:buNone/>
            </a:pPr>
            <a:r>
              <a:rPr lang="en-US" sz="1600" dirty="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a:t>
            </a:r>
            <a:r>
              <a:rPr lang="en-US" sz="1600"/>
              <a:t>, Guidewire ExampleCenter, Guidewire Account Manager Portal, Guidewire </a:t>
            </a:r>
            <a:r>
              <a:rPr lang="en-US" sz="1600" smtClean="0"/>
              <a:t>Claim </a:t>
            </a:r>
            <a:r>
              <a:rPr lang="en-US" sz="1600"/>
              <a:t>Portal, Guidewire Policyholder Portal, ClaimCenter, BillingCenter, PolicyCenter, InsuranceSuite, Gosu, </a:t>
            </a:r>
            <a:r>
              <a:rPr lang="en-US" sz="1600" smtClean="0"/>
              <a:t>Deliver </a:t>
            </a:r>
            <a:r>
              <a:rPr lang="en-US" sz="1600" dirty="0"/>
              <a:t>Insurance Your Way, and the Guidewire logo are trademarks, service marks, or registered trademarks of Guidewire Software, Inc. </a:t>
            </a:r>
            <a:r>
              <a:rPr lang="en-US" sz="1600"/>
              <a:t>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a:t>
            </a:r>
            <a:r>
              <a:rPr lang="en-US" sz="1600" dirty="0"/>
              <a:t>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1861141954"/>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98BF74D-1088-492A-9E30-4A02AE154860}"/>
</file>

<file path=customXml/itemProps2.xml><?xml version="1.0" encoding="utf-8"?>
<ds:datastoreItem xmlns:ds="http://schemas.openxmlformats.org/officeDocument/2006/customXml" ds:itemID="{BE7162E7-8674-4A6B-B311-BE67066F1A31}"/>
</file>

<file path=customXml/itemProps3.xml><?xml version="1.0" encoding="utf-8"?>
<ds:datastoreItem xmlns:ds="http://schemas.openxmlformats.org/officeDocument/2006/customXml" ds:itemID="{134504AA-86EC-4488-8B64-F8D32E041D5F}"/>
</file>

<file path=docProps/app.xml><?xml version="1.0" encoding="utf-8"?>
<Properties xmlns="http://schemas.openxmlformats.org/officeDocument/2006/extended-properties" xmlns:vt="http://schemas.openxmlformats.org/officeDocument/2006/docPropsVTypes">
  <Template/>
  <TotalTime>18433</TotalTime>
  <Words>2853</Words>
  <Application>Microsoft Office PowerPoint</Application>
  <PresentationFormat>On-screen Show (4:3)</PresentationFormat>
  <Paragraphs>312</Paragraphs>
  <Slides>26</Slides>
  <Notes>26</Notes>
  <HiddenSlides>0</HiddenSlides>
  <MMClips>0</MMClips>
  <ScaleCrop>false</ScaleCrop>
  <HeadingPairs>
    <vt:vector size="4" baseType="variant">
      <vt:variant>
        <vt:lpstr>Theme</vt:lpstr>
      </vt:variant>
      <vt:variant>
        <vt:i4>2</vt:i4>
      </vt:variant>
      <vt:variant>
        <vt:lpstr>Slide Titles</vt:lpstr>
      </vt:variant>
      <vt:variant>
        <vt:i4>26</vt:i4>
      </vt:variant>
    </vt:vector>
  </HeadingPairs>
  <TitlesOfParts>
    <vt:vector size="28" baseType="lpstr">
      <vt:lpstr>1_test-template</vt:lpstr>
      <vt:lpstr>2_test-template</vt:lpstr>
      <vt:lpstr>Financials Approval</vt:lpstr>
      <vt:lpstr>Lesson objectives</vt:lpstr>
      <vt:lpstr>Lesson outline</vt:lpstr>
      <vt:lpstr>Review: Objects that implement financials</vt:lpstr>
      <vt:lpstr>Financials approval</vt:lpstr>
      <vt:lpstr>Authority limits</vt:lpstr>
      <vt:lpstr>Authority limit options</vt:lpstr>
      <vt:lpstr>Exceeding an authority limit</vt:lpstr>
      <vt:lpstr>Viewing details about pending approval</vt:lpstr>
      <vt:lpstr>Authority limit profiles</vt:lpstr>
      <vt:lpstr>Creating pre-defined profiles</vt:lpstr>
      <vt:lpstr>Assigning pre-defined profiles to users</vt:lpstr>
      <vt:lpstr>Assigning custom profiles to users</vt:lpstr>
      <vt:lpstr>Limiting by Coverage/Cost Type</vt:lpstr>
      <vt:lpstr>Lesson outline</vt:lpstr>
      <vt:lpstr>Transaction approval rules</vt:lpstr>
      <vt:lpstr>Transaction approval rules in the user interface</vt:lpstr>
      <vt:lpstr>Lesson outline</vt:lpstr>
      <vt:lpstr>Review: Objects that require attention</vt:lpstr>
      <vt:lpstr>What causes a transaction to need attention?</vt:lpstr>
      <vt:lpstr>How does ClaimCenter respond?</vt:lpstr>
      <vt:lpstr>How does the supervisor respond?</vt:lpstr>
      <vt:lpstr>Transactions that require attention</vt:lpstr>
      <vt:lpstr>Lesson objectives review</vt:lpstr>
      <vt:lpstr>Review questions</vt:lpstr>
      <vt:lpstr>Notices</vt:lpstr>
    </vt:vector>
  </TitlesOfParts>
  <Company>Guidewire Software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Financials Approval</dc:title>
  <dc:creator>Tom Rhoades</dc:creator>
  <dc:description>1210</dc:description>
  <cp:lastModifiedBy>Guidewire Education</cp:lastModifiedBy>
  <cp:revision>1719</cp:revision>
  <dcterms:created xsi:type="dcterms:W3CDTF">2007-08-02T20:13:16Z</dcterms:created>
  <dcterms:modified xsi:type="dcterms:W3CDTF">2015-01-12T23:29:59Z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_MarkAsFinal">
    <vt:bool>true</vt:bool>
  </property>
  <property fmtid="{D5CDD505-2E9C-101B-9397-08002B2CF9AE}" pid="5" name="ContentTypeId">
    <vt:lpwstr>0x010100E519429F521E9142A0249EFDF4D90F58</vt:lpwstr>
  </property>
  <property fmtid="{D5CDD505-2E9C-101B-9397-08002B2CF9AE}" pid="6" name="Order">
    <vt:r8>70800</vt:r8>
  </property>
  <property fmtid="{D5CDD505-2E9C-101B-9397-08002B2CF9AE}" pid="7" name="xd_Signature">
    <vt:bool>false</vt:bool>
  </property>
  <property fmtid="{D5CDD505-2E9C-101B-9397-08002B2CF9AE}" pid="8" name="xd_ProgID">
    <vt:lpwstr/>
  </property>
  <property fmtid="{D5CDD505-2E9C-101B-9397-08002B2CF9AE}" pid="9" name="TriggerFlowInfo">
    <vt:lpwstr/>
  </property>
  <property fmtid="{D5CDD505-2E9C-101B-9397-08002B2CF9AE}" pid="10" name="_SourceUrl">
    <vt:lpwstr/>
  </property>
  <property fmtid="{D5CDD505-2E9C-101B-9397-08002B2CF9AE}" pid="11" name="_SharedFileIndex">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MediaServiceImageTags">
    <vt:lpwstr/>
  </property>
</Properties>
</file>