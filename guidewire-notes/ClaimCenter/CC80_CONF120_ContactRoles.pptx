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4"/>
  </p:sldMasterIdLst>
  <p:notesMasterIdLst>
    <p:notesMasterId r:id="rId54"/>
  </p:notesMasterIdLst>
  <p:handoutMasterIdLst>
    <p:handoutMasterId r:id="rId55"/>
  </p:handoutMasterIdLst>
  <p:sldIdLst>
    <p:sldId id="1192" r:id="rId5"/>
    <p:sldId id="1299" r:id="rId6"/>
    <p:sldId id="1745" r:id="rId7"/>
    <p:sldId id="1738" r:id="rId8"/>
    <p:sldId id="1751" r:id="rId9"/>
    <p:sldId id="1758" r:id="rId10"/>
    <p:sldId id="1752" r:id="rId11"/>
    <p:sldId id="1753" r:id="rId12"/>
    <p:sldId id="1754" r:id="rId13"/>
    <p:sldId id="1755" r:id="rId14"/>
    <p:sldId id="1675" r:id="rId15"/>
    <p:sldId id="1725" r:id="rId16"/>
    <p:sldId id="1726" r:id="rId17"/>
    <p:sldId id="1756" r:id="rId18"/>
    <p:sldId id="1727" r:id="rId19"/>
    <p:sldId id="1733" r:id="rId20"/>
    <p:sldId id="1734" r:id="rId21"/>
    <p:sldId id="1735" r:id="rId22"/>
    <p:sldId id="1728" r:id="rId23"/>
    <p:sldId id="1691" r:id="rId24"/>
    <p:sldId id="1692" r:id="rId25"/>
    <p:sldId id="1693" r:id="rId26"/>
    <p:sldId id="1720" r:id="rId27"/>
    <p:sldId id="1696" r:id="rId28"/>
    <p:sldId id="1729" r:id="rId29"/>
    <p:sldId id="1698" r:id="rId30"/>
    <p:sldId id="1699" r:id="rId31"/>
    <p:sldId id="1700" r:id="rId32"/>
    <p:sldId id="1701" r:id="rId33"/>
    <p:sldId id="1702" r:id="rId34"/>
    <p:sldId id="1703" r:id="rId35"/>
    <p:sldId id="1730" r:id="rId36"/>
    <p:sldId id="1705" r:id="rId37"/>
    <p:sldId id="1706" r:id="rId38"/>
    <p:sldId id="1731" r:id="rId39"/>
    <p:sldId id="1708" r:id="rId40"/>
    <p:sldId id="1709" r:id="rId41"/>
    <p:sldId id="1710" r:id="rId42"/>
    <p:sldId id="1711" r:id="rId43"/>
    <p:sldId id="1749" r:id="rId44"/>
    <p:sldId id="1712" r:id="rId45"/>
    <p:sldId id="1713" r:id="rId46"/>
    <p:sldId id="1714" r:id="rId47"/>
    <p:sldId id="1715" r:id="rId48"/>
    <p:sldId id="1716" r:id="rId49"/>
    <p:sldId id="1722" r:id="rId50"/>
    <p:sldId id="1551" r:id="rId51"/>
    <p:sldId id="1717" r:id="rId52"/>
    <p:sldId id="1750" r:id="rId53"/>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pitchFamily="34"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pitchFamily="34"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pitchFamily="34"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pitchFamily="34"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pitchFamily="34" charset="0"/>
        <a:ea typeface="+mn-ea"/>
        <a:cs typeface="+mn-cs"/>
      </a:defRPr>
    </a:lvl5pPr>
    <a:lvl6pPr marL="2286000" algn="l" defTabSz="914400" rtl="0" eaLnBrk="1" latinLnBrk="0" hangingPunct="1">
      <a:defRPr sz="2000" b="1" kern="1200">
        <a:solidFill>
          <a:srgbClr val="FF0000"/>
        </a:solidFill>
        <a:latin typeface="Arial" pitchFamily="34" charset="0"/>
        <a:ea typeface="+mn-ea"/>
        <a:cs typeface="+mn-cs"/>
      </a:defRPr>
    </a:lvl6pPr>
    <a:lvl7pPr marL="2743200" algn="l" defTabSz="914400" rtl="0" eaLnBrk="1" latinLnBrk="0" hangingPunct="1">
      <a:defRPr sz="2000" b="1" kern="1200">
        <a:solidFill>
          <a:srgbClr val="FF0000"/>
        </a:solidFill>
        <a:latin typeface="Arial" pitchFamily="34" charset="0"/>
        <a:ea typeface="+mn-ea"/>
        <a:cs typeface="+mn-cs"/>
      </a:defRPr>
    </a:lvl7pPr>
    <a:lvl8pPr marL="3200400" algn="l" defTabSz="914400" rtl="0" eaLnBrk="1" latinLnBrk="0" hangingPunct="1">
      <a:defRPr sz="2000" b="1" kern="1200">
        <a:solidFill>
          <a:srgbClr val="FF0000"/>
        </a:solidFill>
        <a:latin typeface="Arial" pitchFamily="34" charset="0"/>
        <a:ea typeface="+mn-ea"/>
        <a:cs typeface="+mn-cs"/>
      </a:defRPr>
    </a:lvl8pPr>
    <a:lvl9pPr marL="3657600" algn="l" defTabSz="914400" rtl="0" eaLnBrk="1" latinLnBrk="0" hangingPunct="1">
      <a:defRPr sz="2000" b="1" kern="1200">
        <a:solidFill>
          <a:srgbClr val="FF0000"/>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3366FF"/>
    <a:srgbClr val="0033CC"/>
    <a:srgbClr val="FF0000"/>
    <a:srgbClr val="FFFF00"/>
    <a:srgbClr val="CCFFCC"/>
    <a:srgbClr val="CC0099"/>
    <a:srgbClr val="0099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E1E687-E465-6D15-4D27-64E7CB883EBB}" v="1" dt="2023-03-08T18:20:56.392"/>
    <p1510:client id="{A0722272-5CAE-D28B-32B6-9DE32B4BF73C}" v="1" dt="2023-03-12T13:00:30.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 Nisarga" userId="30f0e15f-2e34-423e-b4d9-b8d8ed63b483" providerId="ADAL" clId="{8A33AEB9-1DC8-4054-8C5E-024549AC0FF5}"/>
    <pc:docChg chg="modSld">
      <pc:chgData name="R, Nisarga" userId="30f0e15f-2e34-423e-b4d9-b8d8ed63b483" providerId="ADAL" clId="{8A33AEB9-1DC8-4054-8C5E-024549AC0FF5}" dt="2021-11-29T09:27:24.013" v="1" actId="1076"/>
      <pc:docMkLst>
        <pc:docMk/>
      </pc:docMkLst>
      <pc:sldChg chg="modSp">
        <pc:chgData name="R, Nisarga" userId="30f0e15f-2e34-423e-b4d9-b8d8ed63b483" providerId="ADAL" clId="{8A33AEB9-1DC8-4054-8C5E-024549AC0FF5}" dt="2021-11-29T09:19:40.901" v="0" actId="1076"/>
        <pc:sldMkLst>
          <pc:docMk/>
          <pc:sldMk cId="0" sldId="1703"/>
        </pc:sldMkLst>
        <pc:spChg chg="mod">
          <ac:chgData name="R, Nisarga" userId="30f0e15f-2e34-423e-b4d9-b8d8ed63b483" providerId="ADAL" clId="{8A33AEB9-1DC8-4054-8C5E-024549AC0FF5}" dt="2021-11-29T09:19:40.901" v="0" actId="1076"/>
          <ac:spMkLst>
            <pc:docMk/>
            <pc:sldMk cId="0" sldId="1703"/>
            <ac:spMk id="35869" creationId="{00000000-0000-0000-0000-000000000000}"/>
          </ac:spMkLst>
        </pc:spChg>
        <pc:grpChg chg="mod">
          <ac:chgData name="R, Nisarga" userId="30f0e15f-2e34-423e-b4d9-b8d8ed63b483" providerId="ADAL" clId="{8A33AEB9-1DC8-4054-8C5E-024549AC0FF5}" dt="2021-11-29T09:19:40.901" v="0" actId="1076"/>
          <ac:grpSpMkLst>
            <pc:docMk/>
            <pc:sldMk cId="0" sldId="1703"/>
            <ac:grpSpMk id="35849" creationId="{00000000-0000-0000-0000-000000000000}"/>
          </ac:grpSpMkLst>
        </pc:grpChg>
        <pc:picChg chg="mod">
          <ac:chgData name="R, Nisarga" userId="30f0e15f-2e34-423e-b4d9-b8d8ed63b483" providerId="ADAL" clId="{8A33AEB9-1DC8-4054-8C5E-024549AC0FF5}" dt="2021-11-29T09:19:40.901" v="0" actId="1076"/>
          <ac:picMkLst>
            <pc:docMk/>
            <pc:sldMk cId="0" sldId="1703"/>
            <ac:picMk id="35870" creationId="{00000000-0000-0000-0000-000000000000}"/>
          </ac:picMkLst>
        </pc:picChg>
      </pc:sldChg>
      <pc:sldChg chg="modSp">
        <pc:chgData name="R, Nisarga" userId="30f0e15f-2e34-423e-b4d9-b8d8ed63b483" providerId="ADAL" clId="{8A33AEB9-1DC8-4054-8C5E-024549AC0FF5}" dt="2021-11-29T09:27:24.013" v="1" actId="1076"/>
        <pc:sldMkLst>
          <pc:docMk/>
          <pc:sldMk cId="0" sldId="1709"/>
        </pc:sldMkLst>
        <pc:picChg chg="mod">
          <ac:chgData name="R, Nisarga" userId="30f0e15f-2e34-423e-b4d9-b8d8ed63b483" providerId="ADAL" clId="{8A33AEB9-1DC8-4054-8C5E-024549AC0FF5}" dt="2021-11-29T09:27:24.013" v="1" actId="1076"/>
          <ac:picMkLst>
            <pc:docMk/>
            <pc:sldMk cId="0" sldId="1709"/>
            <ac:picMk id="9219" creationId="{00000000-0000-0000-0000-000000000000}"/>
          </ac:picMkLst>
        </pc:picChg>
      </pc:sldChg>
    </pc:docChg>
  </pc:docChgLst>
  <pc:docChgLst>
    <pc:chgData name="Das, Reshmi" userId="S::reshmi.a.das@capgemini.com::c8de4428-4825-4691-97a1-faf51270a0a7" providerId="AD" clId="Web-{A0722272-5CAE-D28B-32B6-9DE32B4BF73C}"/>
    <pc:docChg chg="modSld">
      <pc:chgData name="Das, Reshmi" userId="S::reshmi.a.das@capgemini.com::c8de4428-4825-4691-97a1-faf51270a0a7" providerId="AD" clId="Web-{A0722272-5CAE-D28B-32B6-9DE32B4BF73C}" dt="2023-03-12T13:00:05.908" v="0"/>
      <pc:docMkLst>
        <pc:docMk/>
      </pc:docMkLst>
      <pc:sldChg chg="modNotes">
        <pc:chgData name="Das, Reshmi" userId="S::reshmi.a.das@capgemini.com::c8de4428-4825-4691-97a1-faf51270a0a7" providerId="AD" clId="Web-{A0722272-5CAE-D28B-32B6-9DE32B4BF73C}" dt="2023-03-12T13:00:05.908" v="0"/>
        <pc:sldMkLst>
          <pc:docMk/>
          <pc:sldMk cId="1224740680" sldId="1758"/>
        </pc:sldMkLst>
      </pc:sldChg>
    </pc:docChg>
  </pc:docChgLst>
  <pc:docChgLst>
    <pc:chgData name="Somineni, Jhansi" userId="50099ca3-bf74-401f-838b-7362698ececb" providerId="ADAL" clId="{201A9290-7BC5-4E54-8173-904D70B80D21}"/>
    <pc:docChg chg="modSld">
      <pc:chgData name="Somineni, Jhansi" userId="50099ca3-bf74-401f-838b-7362698ececb" providerId="ADAL" clId="{201A9290-7BC5-4E54-8173-904D70B80D21}" dt="2021-11-26T04:57:36.430" v="0" actId="1036"/>
      <pc:docMkLst>
        <pc:docMk/>
      </pc:docMkLst>
      <pc:sldChg chg="modSp">
        <pc:chgData name="Somineni, Jhansi" userId="50099ca3-bf74-401f-838b-7362698ececb" providerId="ADAL" clId="{201A9290-7BC5-4E54-8173-904D70B80D21}" dt="2021-11-26T04:57:36.430" v="0" actId="1036"/>
        <pc:sldMkLst>
          <pc:docMk/>
          <pc:sldMk cId="0" sldId="1709"/>
        </pc:sldMkLst>
        <pc:picChg chg="mod">
          <ac:chgData name="Somineni, Jhansi" userId="50099ca3-bf74-401f-838b-7362698ececb" providerId="ADAL" clId="{201A9290-7BC5-4E54-8173-904D70B80D21}" dt="2021-11-26T04:57:36.430" v="0" actId="1036"/>
          <ac:picMkLst>
            <pc:docMk/>
            <pc:sldMk cId="0" sldId="1709"/>
            <ac:picMk id="9219" creationId="{00000000-0000-0000-0000-000000000000}"/>
          </ac:picMkLst>
        </pc:picChg>
      </pc:sldChg>
    </pc:docChg>
  </pc:docChgLst>
  <pc:docChgLst>
    <pc:chgData name="Ravutla, Praneeth" userId="S::praneeth.ravutla@capgemini.com::e01581ee-42b5-49bb-a19e-0d420663b8cd" providerId="AD" clId="Web-{56337764-F8FC-5A6E-8646-711C3E8ED38C}"/>
    <pc:docChg chg="modSld">
      <pc:chgData name="Ravutla, Praneeth" userId="S::praneeth.ravutla@capgemini.com::e01581ee-42b5-49bb-a19e-0d420663b8cd" providerId="AD" clId="Web-{56337764-F8FC-5A6E-8646-711C3E8ED38C}" dt="2022-11-21T10:45:24.238" v="1" actId="1076"/>
      <pc:docMkLst>
        <pc:docMk/>
      </pc:docMkLst>
      <pc:sldChg chg="modSp">
        <pc:chgData name="Ravutla, Praneeth" userId="S::praneeth.ravutla@capgemini.com::e01581ee-42b5-49bb-a19e-0d420663b8cd" providerId="AD" clId="Web-{56337764-F8FC-5A6E-8646-711C3E8ED38C}" dt="2022-11-21T10:45:24.238" v="1" actId="1076"/>
        <pc:sldMkLst>
          <pc:docMk/>
          <pc:sldMk cId="0" sldId="1696"/>
        </pc:sldMkLst>
        <pc:grpChg chg="mod">
          <ac:chgData name="Ravutla, Praneeth" userId="S::praneeth.ravutla@capgemini.com::e01581ee-42b5-49bb-a19e-0d420663b8cd" providerId="AD" clId="Web-{56337764-F8FC-5A6E-8646-711C3E8ED38C}" dt="2022-11-21T10:45:24.238" v="1" actId="1076"/>
          <ac:grpSpMkLst>
            <pc:docMk/>
            <pc:sldMk cId="0" sldId="1696"/>
            <ac:grpSpMk id="28689" creationId="{00000000-0000-0000-0000-000000000000}"/>
          </ac:grpSpMkLst>
        </pc:grpChg>
      </pc:sldChg>
    </pc:docChg>
  </pc:docChgLst>
  <pc:docChgLst>
    <pc:chgData name="., G Deeksha" userId="S::g-deeksha.g-deeksha@capgemini.com::8cc3569b-de6e-4a07-93a3-6a7296046cd9" providerId="AD" clId="Web-{319A4B35-56DC-792B-85F1-ABA28742BC6C}"/>
    <pc:docChg chg="modSld">
      <pc:chgData name="., G Deeksha" userId="S::g-deeksha.g-deeksha@capgemini.com::8cc3569b-de6e-4a07-93a3-6a7296046cd9" providerId="AD" clId="Web-{319A4B35-56DC-792B-85F1-ABA28742BC6C}" dt="2023-02-13T10:53:10.499" v="0" actId="1076"/>
      <pc:docMkLst>
        <pc:docMk/>
      </pc:docMkLst>
      <pc:sldChg chg="modSp">
        <pc:chgData name="., G Deeksha" userId="S::g-deeksha.g-deeksha@capgemini.com::8cc3569b-de6e-4a07-93a3-6a7296046cd9" providerId="AD" clId="Web-{319A4B35-56DC-792B-85F1-ABA28742BC6C}" dt="2023-02-13T10:53:10.499" v="0" actId="1076"/>
        <pc:sldMkLst>
          <pc:docMk/>
          <pc:sldMk cId="0" sldId="1715"/>
        </pc:sldMkLst>
        <pc:picChg chg="mod">
          <ac:chgData name="., G Deeksha" userId="S::g-deeksha.g-deeksha@capgemini.com::8cc3569b-de6e-4a07-93a3-6a7296046cd9" providerId="AD" clId="Web-{319A4B35-56DC-792B-85F1-ABA28742BC6C}" dt="2023-02-13T10:53:10.499" v="0" actId="1076"/>
          <ac:picMkLst>
            <pc:docMk/>
            <pc:sldMk cId="0" sldId="1715"/>
            <ac:picMk id="16388" creationId="{00000000-0000-0000-0000-000000000000}"/>
          </ac:picMkLst>
        </pc:picChg>
      </pc:sldChg>
    </pc:docChg>
  </pc:docChgLst>
  <pc:docChgLst>
    <pc:chgData name="Shinde, Rushikesh Anil" userId="S::rushikesh-anil.shinde@capgemini.com::b886c0aa-7470-40f9-8529-f5bfd801f5b4" providerId="AD" clId="Web-{4933CB01-AE93-440F-B588-83285843C196}"/>
    <pc:docChg chg="modSld">
      <pc:chgData name="Shinde, Rushikesh Anil" userId="S::rushikesh-anil.shinde@capgemini.com::b886c0aa-7470-40f9-8529-f5bfd801f5b4" providerId="AD" clId="Web-{4933CB01-AE93-440F-B588-83285843C196}" dt="2022-09-22T10:38:19.031" v="1" actId="1076"/>
      <pc:docMkLst>
        <pc:docMk/>
      </pc:docMkLst>
      <pc:sldChg chg="modSp">
        <pc:chgData name="Shinde, Rushikesh Anil" userId="S::rushikesh-anil.shinde@capgemini.com::b886c0aa-7470-40f9-8529-f5bfd801f5b4" providerId="AD" clId="Web-{4933CB01-AE93-440F-B588-83285843C196}" dt="2022-09-22T10:38:19.031" v="1" actId="1076"/>
        <pc:sldMkLst>
          <pc:docMk/>
          <pc:sldMk cId="0" sldId="1738"/>
        </pc:sldMkLst>
        <pc:spChg chg="mod">
          <ac:chgData name="Shinde, Rushikesh Anil" userId="S::rushikesh-anil.shinde@capgemini.com::b886c0aa-7470-40f9-8529-f5bfd801f5b4" providerId="AD" clId="Web-{4933CB01-AE93-440F-B588-83285843C196}" dt="2022-09-22T10:38:19.031" v="1" actId="1076"/>
          <ac:spMkLst>
            <pc:docMk/>
            <pc:sldMk cId="0" sldId="1738"/>
            <ac:spMk id="7172" creationId="{00000000-0000-0000-0000-000000000000}"/>
          </ac:spMkLst>
        </pc:spChg>
      </pc:sldChg>
    </pc:docChg>
  </pc:docChgLst>
  <pc:docChgLst>
    <pc:chgData name="R, Nisarga" userId="S::nisarga.r@capgemini.com::30f0e15f-2e34-423e-b4d9-b8d8ed63b483" providerId="AD" clId="Web-{38B889FF-C1BD-4351-BE64-CF8397168BD5}"/>
    <pc:docChg chg="modSld">
      <pc:chgData name="R, Nisarga" userId="S::nisarga.r@capgemini.com::30f0e15f-2e34-423e-b4d9-b8d8ed63b483" providerId="AD" clId="Web-{38B889FF-C1BD-4351-BE64-CF8397168BD5}" dt="2021-12-13T03:24:57.464" v="0"/>
      <pc:docMkLst>
        <pc:docMk/>
      </pc:docMkLst>
      <pc:sldChg chg="delSp">
        <pc:chgData name="R, Nisarga" userId="S::nisarga.r@capgemini.com::30f0e15f-2e34-423e-b4d9-b8d8ed63b483" providerId="AD" clId="Web-{38B889FF-C1BD-4351-BE64-CF8397168BD5}" dt="2021-12-13T03:24:57.464" v="0"/>
        <pc:sldMkLst>
          <pc:docMk/>
          <pc:sldMk cId="3712961562" sldId="1752"/>
        </pc:sldMkLst>
        <pc:spChg chg="del">
          <ac:chgData name="R, Nisarga" userId="S::nisarga.r@capgemini.com::30f0e15f-2e34-423e-b4d9-b8d8ed63b483" providerId="AD" clId="Web-{38B889FF-C1BD-4351-BE64-CF8397168BD5}" dt="2021-12-13T03:24:57.464" v="0"/>
          <ac:spMkLst>
            <pc:docMk/>
            <pc:sldMk cId="3712961562" sldId="1752"/>
            <ac:spMk id="2" creationId="{4AAF2A5D-39A2-4A2B-8A38-9CD9926B5BF3}"/>
          </ac:spMkLst>
        </pc:spChg>
      </pc:sldChg>
    </pc:docChg>
  </pc:docChgLst>
  <pc:docChgLst>
    <pc:chgData name="Reshmi Das" userId="c8de4428-4825-4691-97a1-faf51270a0a7" providerId="ADAL" clId="{6E2E0E93-C921-DB4B-9D12-3B23290B2F2A}"/>
    <pc:docChg chg="modSld">
      <pc:chgData name="Reshmi Das" userId="c8de4428-4825-4691-97a1-faf51270a0a7" providerId="ADAL" clId="{6E2E0E93-C921-DB4B-9D12-3B23290B2F2A}" dt="2023-03-05T04:28:10.113" v="8" actId="12"/>
      <pc:docMkLst>
        <pc:docMk/>
      </pc:docMkLst>
      <pc:sldChg chg="modNotesTx">
        <pc:chgData name="Reshmi Das" userId="c8de4428-4825-4691-97a1-faf51270a0a7" providerId="ADAL" clId="{6E2E0E93-C921-DB4B-9D12-3B23290B2F2A}" dt="2023-03-05T04:28:10.113" v="8" actId="12"/>
        <pc:sldMkLst>
          <pc:docMk/>
          <pc:sldMk cId="3262269266" sldId="1751"/>
        </pc:sldMkLst>
      </pc:sldChg>
    </pc:docChg>
  </pc:docChgLst>
  <pc:docChgLst>
    <pc:chgData name="Veer Sai, Malleshwarpu Charan" userId="e31c49cd-0919-4352-bd6c-8bc1991d6eb7" providerId="ADAL" clId="{437A510D-8640-4BBB-821D-0D7C6C4FB632}"/>
    <pc:docChg chg="modSld">
      <pc:chgData name="Veer Sai, Malleshwarpu Charan" userId="e31c49cd-0919-4352-bd6c-8bc1991d6eb7" providerId="ADAL" clId="{437A510D-8640-4BBB-821D-0D7C6C4FB632}" dt="2022-09-22T04:11:25.416" v="0" actId="1076"/>
      <pc:docMkLst>
        <pc:docMk/>
      </pc:docMkLst>
      <pc:sldChg chg="modSp mod">
        <pc:chgData name="Veer Sai, Malleshwarpu Charan" userId="e31c49cd-0919-4352-bd6c-8bc1991d6eb7" providerId="ADAL" clId="{437A510D-8640-4BBB-821D-0D7C6C4FB632}" dt="2022-09-22T04:11:25.416" v="0" actId="1076"/>
        <pc:sldMkLst>
          <pc:docMk/>
          <pc:sldMk cId="0" sldId="1725"/>
        </pc:sldMkLst>
        <pc:spChg chg="mod">
          <ac:chgData name="Veer Sai, Malleshwarpu Charan" userId="e31c49cd-0919-4352-bd6c-8bc1991d6eb7" providerId="ADAL" clId="{437A510D-8640-4BBB-821D-0D7C6C4FB632}" dt="2022-09-22T04:11:25.416" v="0" actId="1076"/>
          <ac:spMkLst>
            <pc:docMk/>
            <pc:sldMk cId="0" sldId="1725"/>
            <ac:spMk id="15381" creationId="{00000000-0000-0000-0000-000000000000}"/>
          </ac:spMkLst>
        </pc:spChg>
      </pc:sldChg>
    </pc:docChg>
  </pc:docChgLst>
  <pc:docChgLst>
    <pc:chgData name="NIMMAGADDA, SANTHOSH" userId="S::santhosh.nimmagadda@capgemini.com::dec23e93-ad71-4dcf-b0bd-0aa233903d88" providerId="AD" clId="Web-{81E412FC-F342-4452-A578-759B29E43BB4}"/>
    <pc:docChg chg="modSld">
      <pc:chgData name="NIMMAGADDA, SANTHOSH" userId="S::santhosh.nimmagadda@capgemini.com::dec23e93-ad71-4dcf-b0bd-0aa233903d88" providerId="AD" clId="Web-{81E412FC-F342-4452-A578-759B29E43BB4}" dt="2022-05-20T04:34:32.311" v="0" actId="1076"/>
      <pc:docMkLst>
        <pc:docMk/>
      </pc:docMkLst>
      <pc:sldChg chg="modSp">
        <pc:chgData name="NIMMAGADDA, SANTHOSH" userId="S::santhosh.nimmagadda@capgemini.com::dec23e93-ad71-4dcf-b0bd-0aa233903d88" providerId="AD" clId="Web-{81E412FC-F342-4452-A578-759B29E43BB4}" dt="2022-05-20T04:34:32.311" v="0" actId="1076"/>
        <pc:sldMkLst>
          <pc:docMk/>
          <pc:sldMk cId="0" sldId="1711"/>
        </pc:sldMkLst>
        <pc:spChg chg="mod">
          <ac:chgData name="NIMMAGADDA, SANTHOSH" userId="S::santhosh.nimmagadda@capgemini.com::dec23e93-ad71-4dcf-b0bd-0aa233903d88" providerId="AD" clId="Web-{81E412FC-F342-4452-A578-759B29E43BB4}" dt="2022-05-20T04:34:32.311" v="0" actId="1076"/>
          <ac:spMkLst>
            <pc:docMk/>
            <pc:sldMk cId="0" sldId="1711"/>
            <ac:spMk id="44036" creationId="{00000000-0000-0000-0000-000000000000}"/>
          </ac:spMkLst>
        </pc:spChg>
      </pc:sldChg>
    </pc:docChg>
  </pc:docChgLst>
  <pc:docChgLst>
    <pc:chgData name="Sandeep, Mullapati" userId="S::mullapati.sandeep@capgemini.com::71e64f6b-cce0-4a88-9479-3464c2b03103" providerId="AD" clId="Web-{C2CAC23B-CDBC-4751-B842-8B1C7A3658CA}"/>
    <pc:docChg chg="modSld">
      <pc:chgData name="Sandeep, Mullapati" userId="S::mullapati.sandeep@capgemini.com::71e64f6b-cce0-4a88-9479-3464c2b03103" providerId="AD" clId="Web-{C2CAC23B-CDBC-4751-B842-8B1C7A3658CA}" dt="2021-12-12T11:39:31.399" v="0"/>
      <pc:docMkLst>
        <pc:docMk/>
      </pc:docMkLst>
      <pc:sldChg chg="addSp">
        <pc:chgData name="Sandeep, Mullapati" userId="S::mullapati.sandeep@capgemini.com::71e64f6b-cce0-4a88-9479-3464c2b03103" providerId="AD" clId="Web-{C2CAC23B-CDBC-4751-B842-8B1C7A3658CA}" dt="2021-12-12T11:39:31.399" v="0"/>
        <pc:sldMkLst>
          <pc:docMk/>
          <pc:sldMk cId="3712961562" sldId="1752"/>
        </pc:sldMkLst>
        <pc:spChg chg="add">
          <ac:chgData name="Sandeep, Mullapati" userId="S::mullapati.sandeep@capgemini.com::71e64f6b-cce0-4a88-9479-3464c2b03103" providerId="AD" clId="Web-{C2CAC23B-CDBC-4751-B842-8B1C7A3658CA}" dt="2021-12-12T11:39:31.399" v="0"/>
          <ac:spMkLst>
            <pc:docMk/>
            <pc:sldMk cId="3712961562" sldId="1752"/>
            <ac:spMk id="2" creationId="{4AAF2A5D-39A2-4A2B-8A38-9CD9926B5BF3}"/>
          </ac:spMkLst>
        </pc:spChg>
      </pc:sldChg>
    </pc:docChg>
  </pc:docChgLst>
  <pc:docChgLst>
    <pc:chgData name="Kaur, Sukhpreet" userId="S::sukhpreet.a.kaur@capgemini.com::d89ead39-1d12-48ad-bb65-e2efefaaf534" providerId="AD" clId="Web-{18E1E687-E465-6D15-4D27-64E7CB883EBB}"/>
    <pc:docChg chg="modSld">
      <pc:chgData name="Kaur, Sukhpreet" userId="S::sukhpreet.a.kaur@capgemini.com::d89ead39-1d12-48ad-bb65-e2efefaaf534" providerId="AD" clId="Web-{18E1E687-E465-6D15-4D27-64E7CB883EBB}" dt="2023-03-08T18:20:56.392" v="0" actId="1076"/>
      <pc:docMkLst>
        <pc:docMk/>
      </pc:docMkLst>
      <pc:sldChg chg="modSp">
        <pc:chgData name="Kaur, Sukhpreet" userId="S::sukhpreet.a.kaur@capgemini.com::d89ead39-1d12-48ad-bb65-e2efefaaf534" providerId="AD" clId="Web-{18E1E687-E465-6D15-4D27-64E7CB883EBB}" dt="2023-03-08T18:20:56.392" v="0" actId="1076"/>
        <pc:sldMkLst>
          <pc:docMk/>
          <pc:sldMk cId="3712961562" sldId="1752"/>
        </pc:sldMkLst>
        <pc:spChg chg="mod">
          <ac:chgData name="Kaur, Sukhpreet" userId="S::sukhpreet.a.kaur@capgemini.com::d89ead39-1d12-48ad-bb65-e2efefaaf534" providerId="AD" clId="Web-{18E1E687-E465-6D15-4D27-64E7CB883EBB}" dt="2023-03-08T18:20:56.392" v="0" actId="1076"/>
          <ac:spMkLst>
            <pc:docMk/>
            <pc:sldMk cId="3712961562" sldId="1752"/>
            <ac:spMk id="12291" creationId="{00000000-0000-0000-0000-000000000000}"/>
          </ac:spMkLst>
        </pc:spChg>
      </pc:sldChg>
    </pc:docChg>
  </pc:docChgLst>
  <pc:docChgLst>
    <pc:chgData name="Das, Reshmi" userId="S::reshmi.a.das@capgemini.com::c8de4428-4825-4691-97a1-faf51270a0a7" providerId="AD" clId="Web-{2E696B79-8FFC-DF65-8FC9-9B300E6EFCE3}"/>
    <pc:docChg chg="delSld">
      <pc:chgData name="Das, Reshmi" userId="S::reshmi.a.das@capgemini.com::c8de4428-4825-4691-97a1-faf51270a0a7" providerId="AD" clId="Web-{2E696B79-8FFC-DF65-8FC9-9B300E6EFCE3}" dt="2023-03-04T19:53:28.105" v="0"/>
      <pc:docMkLst>
        <pc:docMk/>
      </pc:docMkLst>
      <pc:sldChg chg="del">
        <pc:chgData name="Das, Reshmi" userId="S::reshmi.a.das@capgemini.com::c8de4428-4825-4691-97a1-faf51270a0a7" providerId="AD" clId="Web-{2E696B79-8FFC-DF65-8FC9-9B300E6EFCE3}" dt="2023-03-04T19:53:28.105" v="0"/>
        <pc:sldMkLst>
          <pc:docMk/>
          <pc:sldMk cId="0" sldId="1695"/>
        </pc:sldMkLst>
      </pc:sldChg>
    </pc:docChg>
  </pc:docChgLst>
  <pc:docChgLst>
    <pc:chgData name="Karwa, Krishna" userId="S::krishna-rajgopal.karwa@capgemini.com::80821415-ce30-4be0-8391-d00a7871b853" providerId="AD" clId="Web-{A175036D-9A6F-46FE-86A9-8A31320BDD59}"/>
    <pc:docChg chg="modSld">
      <pc:chgData name="Karwa, Krishna" userId="S::krishna-rajgopal.karwa@capgemini.com::80821415-ce30-4be0-8391-d00a7871b853" providerId="AD" clId="Web-{A175036D-9A6F-46FE-86A9-8A31320BDD59}" dt="2023-01-16T10:16:12.006" v="0" actId="1076"/>
      <pc:docMkLst>
        <pc:docMk/>
      </pc:docMkLst>
      <pc:sldChg chg="modSp">
        <pc:chgData name="Karwa, Krishna" userId="S::krishna-rajgopal.karwa@capgemini.com::80821415-ce30-4be0-8391-d00a7871b853" providerId="AD" clId="Web-{A175036D-9A6F-46FE-86A9-8A31320BDD59}" dt="2023-01-16T10:16:12.006" v="0" actId="1076"/>
        <pc:sldMkLst>
          <pc:docMk/>
          <pc:sldMk cId="0" sldId="1716"/>
        </pc:sldMkLst>
        <pc:spChg chg="mod">
          <ac:chgData name="Karwa, Krishna" userId="S::krishna-rajgopal.karwa@capgemini.com::80821415-ce30-4be0-8391-d00a7871b853" providerId="AD" clId="Web-{A175036D-9A6F-46FE-86A9-8A31320BDD59}" dt="2023-01-16T10:16:12.006" v="0" actId="1076"/>
          <ac:spMkLst>
            <pc:docMk/>
            <pc:sldMk cId="0" sldId="1716"/>
            <ac:spMk id="5018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2152F3AA-969A-45D3-83F6-9971BEEFDF91}" type="slidenum">
              <a:rPr lang="en-US" altLang="en-US"/>
              <a:pPr>
                <a:defRPr/>
              </a:pPr>
              <a:t>‹#›</a:t>
            </a:fld>
            <a:endParaRPr lang="en-US" altLang="en-US"/>
          </a:p>
        </p:txBody>
      </p:sp>
    </p:spTree>
    <p:extLst>
      <p:ext uri="{BB962C8B-B14F-4D97-AF65-F5344CB8AC3E}">
        <p14:creationId xmlns:p14="http://schemas.microsoft.com/office/powerpoint/2010/main" val="12961371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8DC9E5C4-B5DE-4C3F-8267-D62ED5FDC829}"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latin typeface="Arial" charset="0"/>
            </a:endParaRPr>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latin typeface="Arial" charset="0"/>
              </a:defRPr>
            </a:lvl1pPr>
          </a:lstStyle>
          <a:p>
            <a:pPr>
              <a:defRPr/>
            </a:pPr>
            <a:r>
              <a:rPr lang="en-US" altLang="en-US"/>
              <a:t>	Contact Roles - </a:t>
            </a:r>
            <a:fld id="{F30175F9-B77C-4D31-9688-6A50F6DCDABA}" type="slidenum">
              <a:rPr lang="en-US" altLang="en-US"/>
              <a:pPr>
                <a:defRPr/>
              </a:pPr>
              <a:t>‹#›</a:t>
            </a:fld>
            <a:endParaRPr lang="en-US" altLang="en-US"/>
          </a:p>
        </p:txBody>
      </p:sp>
    </p:spTree>
    <p:extLst>
      <p:ext uri="{BB962C8B-B14F-4D97-AF65-F5344CB8AC3E}">
        <p14:creationId xmlns:p14="http://schemas.microsoft.com/office/powerpoint/2010/main" val="505564227"/>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557BFCAF-FCFC-497E-B81E-EF3B05BF8F2A}" type="slidenum">
              <a:rPr lang="en-US" altLang="en-US" sz="1200" b="0" smtClean="0">
                <a:solidFill>
                  <a:schemeClr val="tx1"/>
                </a:solidFill>
              </a:rPr>
              <a:pPr eaLnBrk="1" hangingPunct="1"/>
              <a:t>1</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xfrm>
            <a:off x="715963" y="630238"/>
            <a:ext cx="5430837"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err="1">
                <a:latin typeface="Arial" pitchFamily="34" charset="0"/>
              </a:rPr>
              <a:t>Guidewire</a:t>
            </a:r>
            <a:r>
              <a:rPr lang="en-US" dirty="0">
                <a:latin typeface="Arial" pitchFamily="34" charset="0"/>
              </a:rPr>
              <a:t> training materials contain </a:t>
            </a:r>
            <a:r>
              <a:rPr lang="en-US" dirty="0" err="1">
                <a:latin typeface="Arial" pitchFamily="34" charset="0"/>
              </a:rPr>
              <a:t>Guidewire</a:t>
            </a:r>
            <a:r>
              <a:rPr lang="en-US" dirty="0">
                <a:latin typeface="Arial" pitchFamily="34" charset="0"/>
              </a:rPr>
              <a:t> proprietary information that is subject to confidentiality and non-disclosure agreements. You agree to use the information in this manual solely for the purpose of training to implement </a:t>
            </a:r>
            <a:r>
              <a:rPr lang="en-US" dirty="0" err="1">
                <a:latin typeface="Arial" pitchFamily="34" charset="0"/>
              </a:rPr>
              <a:t>Guidewire</a:t>
            </a:r>
            <a:r>
              <a:rPr lang="en-US" dirty="0">
                <a:latin typeface="Arial" pitchFamily="34" charset="0"/>
              </a:rPr>
              <a:t> software solutions. You also agree not to disclose the information in this manual to third parties or copy this manual without prior written consent from </a:t>
            </a:r>
            <a:r>
              <a:rPr lang="en-US" dirty="0" err="1">
                <a:latin typeface="Arial" pitchFamily="34" charset="0"/>
              </a:rPr>
              <a:t>Guidewire</a:t>
            </a:r>
            <a:r>
              <a:rPr lang="en-US" dirty="0">
                <a:latin typeface="Arial" pitchFamily="34" charset="0"/>
              </a:rPr>
              <a:t>. </a:t>
            </a:r>
            <a:r>
              <a:rPr lang="en-US" dirty="0" err="1">
                <a:latin typeface="Arial" pitchFamily="34" charset="0"/>
              </a:rPr>
              <a:t>Guidewire</a:t>
            </a:r>
            <a:r>
              <a:rPr lang="en-US" dirty="0">
                <a:latin typeface="Arial" pitchFamily="34" charset="0"/>
              </a:rPr>
              <a:t> training may be given only by </a:t>
            </a:r>
            <a:r>
              <a:rPr lang="en-US" dirty="0" err="1">
                <a:latin typeface="Arial" pitchFamily="34" charset="0"/>
              </a:rPr>
              <a:t>Guidewire</a:t>
            </a:r>
            <a:r>
              <a:rPr lang="en-US" dirty="0">
                <a:latin typeface="Arial" pitchFamily="34" charset="0"/>
              </a:rPr>
              <a:t> employees or certified </a:t>
            </a:r>
            <a:r>
              <a:rPr lang="en-US" dirty="0" err="1">
                <a:latin typeface="Arial" pitchFamily="34" charset="0"/>
              </a:rPr>
              <a:t>Guidewire</a:t>
            </a:r>
            <a:r>
              <a:rPr lang="en-US" dirty="0">
                <a:latin typeface="Arial" pitchFamily="34" charset="0"/>
              </a:rPr>
              <a:t> partners under the appropriate agreement with </a:t>
            </a:r>
            <a:r>
              <a:rPr lang="en-US" dirty="0" err="1">
                <a:latin typeface="Arial" pitchFamily="34" charset="0"/>
              </a:rPr>
              <a:t>Guidewire</a:t>
            </a:r>
            <a:r>
              <a:rPr lang="en-US" dirty="0">
                <a:latin typeface="Arial" pitchFamily="34" charset="0"/>
              </a:rPr>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77F7F3AE-7549-4A5B-A1AF-2DDCBA720846}" type="slidenum">
              <a:rPr lang="en-US" altLang="en-US" sz="1200" b="0" smtClean="0">
                <a:solidFill>
                  <a:schemeClr val="tx1"/>
                </a:solidFill>
              </a:rPr>
              <a:pPr eaLnBrk="1" hangingPunct="1"/>
              <a:t>2</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86DACD93-97B5-4936-B7B4-8E541E1A3E92}" type="slidenum">
              <a:rPr lang="en-US" altLang="en-US" sz="1200" b="0" smtClean="0">
                <a:solidFill>
                  <a:schemeClr val="tx1"/>
                </a:solidFill>
              </a:rPr>
              <a:pPr eaLnBrk="1" hangingPunct="1"/>
              <a:t>3</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211496B9-53DD-4CB2-ADC7-85F3ECFAC60A}" type="slidenum">
              <a:rPr lang="en-US" altLang="en-US" sz="1200" b="0" smtClean="0">
                <a:solidFill>
                  <a:schemeClr val="tx1"/>
                </a:solidFill>
              </a:rPr>
              <a:pPr eaLnBrk="1" hangingPunct="1"/>
              <a:t>4</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Arial" pitchFamily="34" charset="0"/>
              </a:rPr>
              <a:t>A venue is a location for a scheduled event relevant to claims processing. Typically, venues are places where dispute resolution occurs, such as a courthouse or a conference room used for arbitration.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a:solidFill>
                  <a:schemeClr val="tx1"/>
                </a:solidFill>
              </a:rPr>
              <a:t>	</a:t>
            </a:r>
            <a:endParaRPr lang="en-US" sz="120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a:solidFill>
                  <a:schemeClr val="tx1"/>
                </a:solidFill>
              </a:rPr>
              <a:t>	Contact Roles - </a:t>
            </a:r>
            <a:fld id="{A08383D0-C5FA-44C5-80AE-6D886718242B}" type="slidenum">
              <a:rPr lang="en-US" altLang="en-US" sz="1200" smtClean="0">
                <a:solidFill>
                  <a:schemeClr val="tx1"/>
                </a:solidFill>
              </a:rPr>
              <a:pPr eaLnBrk="1" hangingPunct="1"/>
              <a:t>5</a:t>
            </a:fld>
            <a:endParaRPr lang="en-US" altLang="en-US" sz="1200">
              <a:solidFill>
                <a:schemeClr val="tx1"/>
              </a:solidFill>
            </a:endParaRPr>
          </a:p>
        </p:txBody>
      </p:sp>
      <p:sp>
        <p:nvSpPr>
          <p:cNvPr id="72708" name="Rectangle 2"/>
          <p:cNvSpPr>
            <a:spLocks noGrp="1" noRot="1" noChangeAspect="1" noChangeArrowheads="1" noTextEdit="1"/>
          </p:cNvSpPr>
          <p:nvPr>
            <p:ph type="sldImg"/>
          </p:nvPr>
        </p:nvSpPr>
        <p:spPr>
          <a:xfrm>
            <a:off x="715963" y="630238"/>
            <a:ext cx="5432425" cy="4073525"/>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lvl="2" indent="0" eaLnBrk="1" hangingPunct="1">
              <a:buNone/>
            </a:pPr>
            <a:r>
              <a:rPr lang="en-US" dirty="0">
                <a:latin typeface="Arial" pitchFamily="34" charset="0"/>
              </a:rPr>
              <a:t>Contacts within </a:t>
            </a:r>
            <a:r>
              <a:rPr lang="en-US" dirty="0" err="1">
                <a:latin typeface="Arial" pitchFamily="34" charset="0"/>
              </a:rPr>
              <a:t>ClaimCenter</a:t>
            </a:r>
            <a:r>
              <a:rPr lang="en-US" dirty="0">
                <a:latin typeface="Arial" pitchFamily="34" charset="0"/>
              </a:rPr>
              <a:t> are my all into a specific</a:t>
            </a:r>
            <a:r>
              <a:rPr lang="en-US" baseline="0" dirty="0">
                <a:latin typeface="Arial" pitchFamily="34" charset="0"/>
              </a:rPr>
              <a:t> subtype hierarchy</a:t>
            </a:r>
            <a:r>
              <a:rPr lang="en-US" dirty="0">
                <a:latin typeface="Arial" pitchFamily="34" charset="0"/>
              </a:rPr>
              <a:t>. The organization of the hierarchy helps to specify and enable certain types of functionality. For example:</a:t>
            </a:r>
          </a:p>
          <a:p>
            <a:pPr lvl="1" eaLnBrk="1" hangingPunct="1"/>
            <a:r>
              <a:rPr lang="en-US" dirty="0">
                <a:latin typeface="Arial" pitchFamily="34" charset="0"/>
              </a:rPr>
              <a:t>The hierarchy helps to define the sorts of searches users can pp. You can easily configure search screens for any node in the hierarchy. The search results will include matching contacts at or below that node. In the example above, a user could do a search for attorneys (which will return just attorneys), or for doctors (which will return just doctors), or for person vendors (which will return both attorneys and doctors, but not law firms or medical care organizations because they are not underneath the "Person Vendor" node of the hierarchy).</a:t>
            </a:r>
          </a:p>
          <a:p>
            <a:pPr lvl="1" eaLnBrk="1" hangingPunct="1"/>
            <a:r>
              <a:rPr lang="en-US" dirty="0">
                <a:latin typeface="Arial" pitchFamily="34" charset="0"/>
              </a:rPr>
              <a:t>The hierarchy helps to define the criteria for identifying two objects as possible matches. For example, if the matching logic for law firms, medical care organizations, auto towing and auto repair shops is identical (the tax ID for the two objects must match), then this logic can be specified at the Company Vendor level.</a:t>
            </a:r>
          </a:p>
          <a:p>
            <a:pPr eaLnBrk="1" hangingPunct="1"/>
            <a:br>
              <a:rPr lang="en-US" dirty="0">
                <a:latin typeface="Arial" pitchFamily="34" charset="0"/>
              </a:rPr>
            </a:br>
            <a:r>
              <a:rPr lang="en-US" dirty="0">
                <a:latin typeface="Arial" pitchFamily="34" charset="0"/>
              </a:rPr>
              <a:t>There are three primary subtypes in the contact subtype hierarchy: person, company, and place. Below these three primary subtypes are several “child” subtypes. It is recommended that no</a:t>
            </a:r>
            <a:r>
              <a:rPr lang="en-US" baseline="0" dirty="0">
                <a:latin typeface="Arial" pitchFamily="34" charset="0"/>
              </a:rPr>
              <a:t> new subtypes should be created. However, customization such as adding properties/fields is acceptable. Instead of creating new subtypes, use other configuration capabilities in </a:t>
            </a:r>
            <a:r>
              <a:rPr lang="en-US" baseline="0" dirty="0" err="1">
                <a:latin typeface="Arial" pitchFamily="34" charset="0"/>
              </a:rPr>
              <a:t>ClaimCenter</a:t>
            </a:r>
            <a:r>
              <a:rPr lang="en-US" baseline="0" dirty="0">
                <a:latin typeface="Arial" pitchFamily="34" charset="0"/>
              </a:rPr>
              <a:t> such as adding new contact roles, configuring contact tags (in </a:t>
            </a:r>
            <a:r>
              <a:rPr lang="en-US" baseline="0" dirty="0" err="1">
                <a:latin typeface="Arial" pitchFamily="34" charset="0"/>
              </a:rPr>
              <a:t>ContactManager</a:t>
            </a:r>
            <a:r>
              <a:rPr lang="en-US" baseline="0" dirty="0">
                <a:latin typeface="Arial" pitchFamily="34" charset="0"/>
              </a:rPr>
              <a:t>), or configuring the list of vendor services provided (for example, adding services under a category of “Landscaping” (lawn repair, tree repair, gardening, etc.)). That way, a new subtype of vendor such as “Landscaping Vendor” is not needed.</a:t>
            </a:r>
            <a:endParaRPr lang="en-US" dirty="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a:solidFill>
                  <a:schemeClr val="tx1"/>
                </a:solidFill>
              </a:rPr>
              <a:t>	</a:t>
            </a:r>
            <a:endParaRPr lang="en-US" sz="120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a:solidFill>
                  <a:schemeClr val="tx1"/>
                </a:solidFill>
              </a:rPr>
              <a:t>	Contact Roles - </a:t>
            </a:r>
            <a:fld id="{D53067C7-B16A-44CE-97EC-2EAE17ED83F2}" type="slidenum">
              <a:rPr lang="en-US" altLang="en-US" sz="1200" smtClean="0">
                <a:solidFill>
                  <a:schemeClr val="tx1"/>
                </a:solidFill>
              </a:rPr>
              <a:pPr eaLnBrk="1" hangingPunct="1"/>
              <a:t>6</a:t>
            </a:fld>
            <a:endParaRPr lang="en-US" altLang="en-US" sz="1200">
              <a:solidFill>
                <a:schemeClr val="tx1"/>
              </a:solidFill>
            </a:endParaRPr>
          </a:p>
        </p:txBody>
      </p:sp>
      <p:sp>
        <p:nvSpPr>
          <p:cNvPr id="77828" name="Rectangle 2"/>
          <p:cNvSpPr>
            <a:spLocks noGrp="1" noChangeArrowheads="1"/>
          </p:cNvSpPr>
          <p:nvPr>
            <p:ph type="body" idx="1"/>
          </p:nvPr>
        </p:nvSpPr>
        <p:spPr>
          <a:xfrm>
            <a:off x="406400" y="620713"/>
            <a:ext cx="6069013" cy="8113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Arial"/>
                <a:cs typeface="Arial"/>
              </a:rPr>
              <a:t>/</a:t>
            </a:r>
            <a:r>
              <a:rPr lang="en-US" baseline="0" dirty="0">
                <a:latin typeface="Arial"/>
                <a:cs typeface="Arial"/>
              </a:rPr>
              <a:t>Contact role configuration is discussed in this lesson. Configuring contact tags is discussed in the </a:t>
            </a:r>
            <a:r>
              <a:rPr lang="en-US" b="1" dirty="0" err="1">
                <a:effectLst/>
                <a:latin typeface="Arial"/>
                <a:cs typeface="Arial"/>
              </a:rPr>
              <a:t>ContactManager</a:t>
            </a:r>
            <a:r>
              <a:rPr lang="en-US" b="1" dirty="0">
                <a:effectLst/>
                <a:latin typeface="Arial"/>
                <a:cs typeface="Arial"/>
              </a:rPr>
              <a:t> 8.0 Configuration for </a:t>
            </a:r>
            <a:r>
              <a:rPr lang="en-US" b="1" dirty="0" err="1">
                <a:effectLst/>
                <a:latin typeface="Arial"/>
                <a:cs typeface="Arial"/>
              </a:rPr>
              <a:t>ClaimCenter</a:t>
            </a:r>
            <a:r>
              <a:rPr lang="en-US" b="1" dirty="0">
                <a:effectLst/>
                <a:latin typeface="Arial"/>
                <a:cs typeface="Arial"/>
              </a:rPr>
              <a:t> 8.0</a:t>
            </a:r>
            <a:r>
              <a:rPr lang="en-US" b="1" baseline="0" dirty="0">
                <a:effectLst/>
                <a:latin typeface="Arial"/>
                <a:cs typeface="Arial"/>
              </a:rPr>
              <a:t> </a:t>
            </a:r>
            <a:r>
              <a:rPr lang="en-US" baseline="0" dirty="0">
                <a:latin typeface="Arial"/>
                <a:cs typeface="Arial"/>
              </a:rPr>
              <a:t>training course. Configuring vendor services is discussed in the </a:t>
            </a:r>
            <a:r>
              <a:rPr lang="en-US" b="1" baseline="0" dirty="0" err="1">
                <a:latin typeface="Arial"/>
                <a:cs typeface="Arial"/>
              </a:rPr>
              <a:t>ClaimCenter</a:t>
            </a:r>
            <a:r>
              <a:rPr lang="en-US" b="1" baseline="0" dirty="0">
                <a:latin typeface="Arial"/>
                <a:cs typeface="Arial"/>
              </a:rPr>
              <a:t> 8.0 New Configuration Features </a:t>
            </a:r>
            <a:r>
              <a:rPr lang="en-US" baseline="0" dirty="0">
                <a:latin typeface="Arial"/>
                <a:cs typeface="Arial"/>
              </a:rPr>
              <a:t>training course.</a:t>
            </a:r>
          </a:p>
          <a:p>
            <a:pPr eaLnBrk="1" hangingPunct="1"/>
            <a:br>
              <a:rPr lang="en-US" dirty="0">
                <a:latin typeface="Arial" pitchFamily="34" charset="0"/>
                <a:cs typeface="Arial"/>
              </a:rPr>
            </a:br>
            <a:r>
              <a:rPr lang="en-US" dirty="0">
                <a:latin typeface="Arial"/>
                <a:cs typeface="Arial"/>
              </a:rPr>
              <a:t>An adjudicator is not a claims adjuster. An adjudicator is a judge or arbitrator as a type of Person. An adjudicator may have a specific adjudicative domain. </a:t>
            </a:r>
            <a:endParaRPr lang="en-US" dirty="0">
              <a:latin typeface="Arial" pitchFamily="34" charset="0"/>
              <a:cs typeface="Arial"/>
            </a:endParaRPr>
          </a:p>
          <a:p>
            <a:pPr eaLnBrk="1" hangingPunct="1"/>
            <a:endParaRPr lang="en-US">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a:solidFill>
                  <a:schemeClr val="tx1"/>
                </a:solidFill>
              </a:rPr>
              <a:t>	</a:t>
            </a:r>
            <a:endParaRPr lang="en-US" sz="120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a:solidFill>
                  <a:schemeClr val="tx1"/>
                </a:solidFill>
              </a:rPr>
              <a:t>	Contact Roles - </a:t>
            </a:r>
            <a:fld id="{588B76F8-6C55-4A19-A2B4-C5665BE1B65A}" type="slidenum">
              <a:rPr lang="en-US" altLang="en-US" sz="1200" smtClean="0">
                <a:solidFill>
                  <a:schemeClr val="tx1"/>
                </a:solidFill>
              </a:rPr>
              <a:pPr eaLnBrk="1" hangingPunct="1"/>
              <a:t>7</a:t>
            </a:fld>
            <a:endParaRPr lang="en-US" altLang="en-US" sz="120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Most carriers with claims processing systems have a contact management application, which is often referred to in the industry as the "address book".</a:t>
            </a:r>
          </a:p>
          <a:p>
            <a:pPr eaLnBrk="1" hangingPunct="1"/>
            <a:r>
              <a:rPr lang="en-US">
                <a:latin typeface="Arial" pitchFamily="34" charset="0"/>
              </a:rPr>
              <a:t>ClaimCenter comes with a separate contact management application called ContactManager. ClaimCenter and ContactManager are integrated, and most of the functionality belonging to ContactManager appears seamlessly in ClaimCenter. The ContactManager application functionality is typically referenced within ClaimCenter using the term "Address Book".</a:t>
            </a:r>
          </a:p>
          <a:p>
            <a:pPr eaLnBrk="1" hangingPunct="1"/>
            <a:r>
              <a:rPr lang="en-US">
                <a:latin typeface="Arial" pitchFamily="34" charset="0"/>
              </a:rPr>
              <a:t>This course uses the term "Address Book" to reference functionality found in ContactManager.</a:t>
            </a:r>
          </a:p>
          <a:p>
            <a:pPr eaLnBrk="1" hangingPunct="1"/>
            <a:endParaRPr lang="en-US">
              <a:latin typeface="Arial" pitchFamily="34" charset="0"/>
            </a:endParaRPr>
          </a:p>
          <a:p>
            <a:pPr marL="0" marR="0" indent="0" algn="l" defTabSz="914400" rtl="0" eaLnBrk="1" fontAlgn="base" latinLnBrk="0" hangingPunct="1">
              <a:lnSpc>
                <a:spcPct val="100000"/>
              </a:lnSpc>
              <a:spcBef>
                <a:spcPct val="10000"/>
              </a:spcBef>
              <a:spcAft>
                <a:spcPct val="0"/>
              </a:spcAft>
              <a:buClrTx/>
              <a:buSzTx/>
              <a:buFontTx/>
              <a:buNone/>
              <a:tabLst/>
              <a:defRPr/>
            </a:pPr>
            <a:r>
              <a:rPr lang="en-US" baseline="0">
                <a:latin typeface="Arial" pitchFamily="34" charset="0"/>
              </a:rPr>
              <a:t>The functionality of how contacts are shared and synced across both applications is discussed in the </a:t>
            </a:r>
            <a:r>
              <a:rPr lang="en-US" b="1" baseline="0">
                <a:latin typeface="Arial" pitchFamily="34" charset="0"/>
              </a:rPr>
              <a:t>ClaimCenter 8.0 Introduction </a:t>
            </a:r>
            <a:r>
              <a:rPr lang="en-US" baseline="0">
                <a:latin typeface="Arial" pitchFamily="34" charset="0"/>
              </a:rPr>
              <a:t>training course.</a:t>
            </a:r>
          </a:p>
          <a:p>
            <a:pPr eaLnBrk="1" hangingPunct="1"/>
            <a:endParaRPr lang="en-US">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a:solidFill>
                  <a:schemeClr val="tx1"/>
                </a:solidFill>
              </a:rPr>
              <a:t>	</a:t>
            </a:r>
            <a:endParaRPr lang="en-US" sz="120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a:solidFill>
                  <a:schemeClr val="tx1"/>
                </a:solidFill>
              </a:rPr>
              <a:t>	Contact Roles - </a:t>
            </a:r>
            <a:fld id="{FE2125DA-567A-4243-87D3-3834C831F734}" type="slidenum">
              <a:rPr lang="en-US" altLang="en-US" sz="1200" smtClean="0">
                <a:solidFill>
                  <a:schemeClr val="tx1"/>
                </a:solidFill>
              </a:rPr>
              <a:pPr eaLnBrk="1" hangingPunct="1"/>
              <a:t>8</a:t>
            </a:fld>
            <a:endParaRPr lang="en-US" altLang="en-US" sz="1200">
              <a:solidFill>
                <a:schemeClr val="tx1"/>
              </a:solidFill>
            </a:endParaRPr>
          </a:p>
        </p:txBody>
      </p:sp>
      <p:sp>
        <p:nvSpPr>
          <p:cNvPr id="74756" name="Rectangle 2"/>
          <p:cNvSpPr>
            <a:spLocks noGrp="1" noRot="1" noChangeAspect="1" noChangeArrowheads="1" noTextEdit="1"/>
          </p:cNvSpPr>
          <p:nvPr>
            <p:ph type="sldImg"/>
          </p:nvPr>
        </p:nvSpPr>
        <p:spPr>
          <a:xfrm>
            <a:off x="715963" y="630238"/>
            <a:ext cx="5432425" cy="4073525"/>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A ClaimCenter contact may exist only in ClaimCenter (and not in Address Book). This is typical when the contact is not expected to be used for any other claim (such as a witness or a third-party claimant), which is typically true for a contact which is not a vendor or a venue. There is no need for contact information to be shared across multiple claims, so the contact is not stored in the address book. This is also known</a:t>
            </a:r>
            <a:r>
              <a:rPr lang="en-US" baseline="0">
                <a:latin typeface="Arial" pitchFamily="34" charset="0"/>
              </a:rPr>
              <a:t> as a “local” contact (local to ClaimCenter). </a:t>
            </a:r>
            <a:endParaRPr lang="en-US">
              <a:latin typeface="Arial" pitchFamily="34" charset="0"/>
            </a:endParaRPr>
          </a:p>
          <a:p>
            <a:pPr eaLnBrk="1" hangingPunct="1"/>
            <a:endParaRPr lang="en-US">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a:solidFill>
                  <a:schemeClr val="tx1"/>
                </a:solidFill>
              </a:rPr>
              <a:t>	</a:t>
            </a:r>
            <a:endParaRPr lang="en-US" sz="120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a:solidFill>
                  <a:schemeClr val="tx1"/>
                </a:solidFill>
              </a:rPr>
              <a:t>	Contact Roles - </a:t>
            </a:r>
            <a:fld id="{E9B2A67B-E9EE-401D-AEDE-7822023F93A7}" type="slidenum">
              <a:rPr lang="en-US" altLang="en-US" sz="1200" smtClean="0">
                <a:solidFill>
                  <a:schemeClr val="tx1"/>
                </a:solidFill>
              </a:rPr>
              <a:pPr eaLnBrk="1" hangingPunct="1"/>
              <a:t>9</a:t>
            </a:fld>
            <a:endParaRPr lang="en-US" altLang="en-US" sz="120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A ClaimCenter contact may also exist in the address book. This is typical when the contact is used or is expected to be used for multiple claims. This is typically true for person vendors such as doctors, company vendors such as hospitals, or venues such as courts. Theoretically, it could also include a policy holder with a large number of potential claims, such as a large business with a workers' comp policy. Because there is a need for contact information to be shared across multiple claims, the contact is stored in the address book. (In the diagram above, the "AB" after the Address Book Matt Sawyer stands for "address book".)</a:t>
            </a:r>
          </a:p>
          <a:p>
            <a:pPr eaLnBrk="1" hangingPunct="1"/>
            <a:endParaRPr lang="en-US">
              <a:latin typeface="Arial" pitchFamily="34" charset="0"/>
            </a:endParaRPr>
          </a:p>
          <a:p>
            <a:pPr marL="0" marR="0" indent="0" algn="l" defTabSz="914400" rtl="0" eaLnBrk="1" fontAlgn="base" latinLnBrk="0" hangingPunct="1">
              <a:lnSpc>
                <a:spcPct val="100000"/>
              </a:lnSpc>
              <a:spcBef>
                <a:spcPct val="10000"/>
              </a:spcBef>
              <a:spcAft>
                <a:spcPct val="0"/>
              </a:spcAft>
              <a:buClrTx/>
              <a:buSzTx/>
              <a:buFontTx/>
              <a:buNone/>
              <a:tabLst/>
              <a:defRPr/>
            </a:pPr>
            <a:r>
              <a:rPr lang="en-US"/>
              <a:t>ContactManager is often referred to by the two-letter abbreviation AB, which stands for Address Book.</a:t>
            </a:r>
            <a:endParaRPr lang="en-US">
              <a:latin typeface="Arial" pitchFamily="34" charset="0"/>
            </a:endParaRPr>
          </a:p>
          <a:p>
            <a:pPr eaLnBrk="1" hangingPunct="1"/>
            <a:endParaRPr lang="en-US">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a:solidFill>
                  <a:schemeClr val="tx1"/>
                </a:solidFill>
              </a:rPr>
              <a:t>	</a:t>
            </a:r>
            <a:endParaRPr lang="en-US" sz="120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a:solidFill>
                  <a:schemeClr val="tx1"/>
                </a:solidFill>
              </a:rPr>
              <a:t>	Contact Roles - </a:t>
            </a:r>
            <a:fld id="{D53067C7-B16A-44CE-97EC-2EAE17ED83F2}" type="slidenum">
              <a:rPr lang="en-US" altLang="en-US" sz="1200" smtClean="0">
                <a:solidFill>
                  <a:schemeClr val="tx1"/>
                </a:solidFill>
              </a:rPr>
              <a:pPr eaLnBrk="1" hangingPunct="1"/>
              <a:t>10</a:t>
            </a:fld>
            <a:endParaRPr lang="en-US" altLang="en-US" sz="1200">
              <a:solidFill>
                <a:schemeClr val="tx1"/>
              </a:solidFill>
            </a:endParaRPr>
          </a:p>
        </p:txBody>
      </p:sp>
      <p:sp>
        <p:nvSpPr>
          <p:cNvPr id="77828" name="Rectangle 2"/>
          <p:cNvSpPr>
            <a:spLocks noGrp="1" noChangeArrowheads="1"/>
          </p:cNvSpPr>
          <p:nvPr>
            <p:ph type="body" idx="1"/>
          </p:nvPr>
        </p:nvSpPr>
        <p:spPr>
          <a:xfrm>
            <a:off x="406400" y="620713"/>
            <a:ext cx="6069013" cy="8113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When two objects (contacts) are linked, modifications to one of the objects are generally replicated to the other linked objects. For example, a change made to the contact in ClaimCenter is copied to the address book (and may require approval). A change made to the contact in the address book is immediately copied to all instances of the contact in ClaimCenter. </a:t>
            </a:r>
          </a:p>
          <a:p>
            <a:pPr eaLnBrk="1" hangingPunct="1"/>
            <a:r>
              <a:rPr lang="en-US">
                <a:latin typeface="Arial" pitchFamily="34" charset="0"/>
              </a:rPr>
              <a:t>These behaviors depend on user permissions. Contact changes or additions made in ClaimCenter by an adjuster user are not immediately replicated because they are placed in a “pending approval” state. But the object is still linked and awaiting approval.</a:t>
            </a:r>
          </a:p>
          <a:p>
            <a:pPr eaLnBrk="1" hangingPunct="1"/>
            <a:endParaRPr lang="en-US">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55D978A3-1BEB-46C0-8AA9-5C68310678D1}" type="slidenum">
              <a:rPr lang="en-US" altLang="en-US" sz="1200" b="0" smtClean="0">
                <a:solidFill>
                  <a:schemeClr val="tx1"/>
                </a:solidFill>
              </a:rPr>
              <a:pPr eaLnBrk="1" hangingPunct="1"/>
              <a:t>11</a:t>
            </a:fld>
            <a:endParaRPr lang="en-US" altLang="en-US" sz="1200" b="0">
              <a:solidFill>
                <a:schemeClr val="tx1"/>
              </a:solidFill>
            </a:endParaRPr>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DFCBD708-6211-43BD-9198-820366E57BD0}" type="slidenum">
              <a:rPr lang="en-US" altLang="en-US" sz="1200" b="0" smtClean="0">
                <a:solidFill>
                  <a:schemeClr val="tx1"/>
                </a:solidFill>
              </a:rPr>
              <a:pPr eaLnBrk="1" hangingPunct="1"/>
              <a:t>12</a:t>
            </a:fld>
            <a:endParaRPr lang="en-US" altLang="en-US" sz="1200" b="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Whenever a contact is associated to a claim, the contact has one or more roles on the claim. Each role identifies a relationship between the contact and the claim. Each role can be “related to” the claim or one of its parts. This relationship designates if the contact has this role for the entire claim, for the policy, for a specific exposure, or for a specific incident.</a:t>
            </a:r>
          </a:p>
          <a:p>
            <a:pPr eaLnBrk="1" hangingPunct="1"/>
            <a:r>
              <a:rPr lang="en-US">
                <a:latin typeface="Arial" pitchFamily="34" charset="0"/>
              </a:rPr>
              <a:t>Keep in mind that every contact object in ClaimCenter is unique. It is possible for a single person to be a contact on multiple claims. (In the example above, Matt Sawyer is a doctor for the auto claim and the workers' comp claim.) In this case, there are two unique objects corresponding to the same person. Fields within one object may have the same values as or different values than the corresponding fields in the other object. For example, Matt Sawyer's address may be the same in both contact objects, but his "okay to contact" field may be different. (It could be okay to contact him for the workers' comp claim but not okay to contact him for the auto claim.)</a:t>
            </a:r>
          </a:p>
          <a:p>
            <a:pPr algn="ctr" eaLnBrk="1" hangingPunct="1"/>
            <a:r>
              <a:rPr lang="en-US">
                <a:latin typeface="Arial" pitchFamily="34" charset="0"/>
              </a:rPr>
              <a:t>(continued)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E5337E53-C69B-4103-AE9E-AF0986FEC20F}" type="slidenum">
              <a:rPr lang="en-US" altLang="en-US" sz="1200" b="0" smtClean="0">
                <a:solidFill>
                  <a:schemeClr val="tx1"/>
                </a:solidFill>
              </a:rPr>
              <a:pPr eaLnBrk="1" hangingPunct="1"/>
              <a:t>13</a:t>
            </a:fld>
            <a:endParaRPr lang="en-US" altLang="en-US" sz="1200" b="0">
              <a:solidFill>
                <a:schemeClr val="tx1"/>
              </a:solidFill>
            </a:endParaRPr>
          </a:p>
        </p:txBody>
      </p:sp>
      <p:sp>
        <p:nvSpPr>
          <p:cNvPr id="68612" name="Rectangle 2"/>
          <p:cNvSpPr>
            <a:spLocks noGrp="1" noChangeArrowheads="1"/>
          </p:cNvSpPr>
          <p:nvPr>
            <p:ph type="body" idx="1"/>
          </p:nvPr>
        </p:nvSpPr>
        <p:spPr>
          <a:xfrm>
            <a:off x="406400" y="620713"/>
            <a:ext cx="6069013" cy="8113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ClaimCenter has a "role constraint" feature which adds additional business logic around contact roles. Role constraints can be used to:</a:t>
            </a:r>
          </a:p>
          <a:p>
            <a:pPr lvl="1" eaLnBrk="1" hangingPunct="1"/>
            <a:r>
              <a:rPr lang="en-US">
                <a:latin typeface="Arial" pitchFamily="34" charset="0"/>
              </a:rPr>
              <a:t>Identify which contact subtypes can hold a given role (such as a contact must be of subtype "person vendor" to hold to role of inspector")</a:t>
            </a:r>
          </a:p>
          <a:p>
            <a:pPr lvl="1" eaLnBrk="1" hangingPunct="1"/>
            <a:r>
              <a:rPr lang="en-US">
                <a:latin typeface="Arial" pitchFamily="34" charset="0"/>
              </a:rPr>
              <a:t>Identify if there must be a contact on the claim with a given role (such as every claim must have a "reporter" and at least one "claimant")</a:t>
            </a:r>
          </a:p>
          <a:p>
            <a:pPr lvl="1" eaLnBrk="1" hangingPunct="1"/>
            <a:r>
              <a:rPr lang="en-US">
                <a:latin typeface="Arial" pitchFamily="34" charset="0"/>
              </a:rPr>
              <a:t>Identify the cardinality of the claim to the role (which identifies if there can only be one contact with that role for a given claim, such as "reporter", or whether there can be many contacts with that role for a given claim, such as "claimants")</a:t>
            </a:r>
          </a:p>
          <a:p>
            <a:pPr lvl="1" eaLnBrk="1" hangingPunct="1"/>
            <a:r>
              <a:rPr lang="en-US">
                <a:latin typeface="Arial" pitchFamily="34" charset="0"/>
              </a:rPr>
              <a:t>Identify whether a contact with a given role can be related to a given entity (such as the role of "driver", which can be related to a vehicle but cannot be related to an exposure)</a:t>
            </a:r>
          </a:p>
          <a:p>
            <a:pPr eaLnBrk="1" hangingPunct="1">
              <a:buFontTx/>
              <a:buChar char="•"/>
            </a:pPr>
            <a:endParaRPr lang="en-US">
              <a:latin typeface="Arial" pitchFamily="34" charset="0"/>
            </a:endParaRPr>
          </a:p>
          <a:p>
            <a:pPr eaLnBrk="1" hangingPunct="1"/>
            <a:endParaRPr lang="en-US">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a:solidFill>
                  <a:schemeClr val="tx1"/>
                </a:solidFill>
              </a:rPr>
              <a:t>	</a:t>
            </a:r>
            <a:endParaRPr lang="en-US" sz="120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a:solidFill>
                  <a:schemeClr val="tx1"/>
                </a:solidFill>
              </a:rPr>
              <a:t>	Contact Roles - </a:t>
            </a:r>
            <a:fld id="{3AEE8485-A22B-4859-A5B5-E7E1C9C35FEA}" type="slidenum">
              <a:rPr lang="en-US" altLang="en-US" sz="1200" smtClean="0">
                <a:solidFill>
                  <a:schemeClr val="tx1"/>
                </a:solidFill>
              </a:rPr>
              <a:pPr eaLnBrk="1" hangingPunct="1"/>
              <a:t>14</a:t>
            </a:fld>
            <a:endParaRPr lang="en-US" altLang="en-US" sz="1200">
              <a:solidFill>
                <a:schemeClr val="tx1"/>
              </a:solidFill>
            </a:endParaRPr>
          </a:p>
        </p:txBody>
      </p:sp>
      <p:sp>
        <p:nvSpPr>
          <p:cNvPr id="91140" name="Rectangle 2"/>
          <p:cNvSpPr>
            <a:spLocks noGrp="1" noRot="1" noChangeAspect="1" noChangeArrowheads="1" noTextEdit="1"/>
          </p:cNvSpPr>
          <p:nvPr>
            <p:ph type="sldImg"/>
          </p:nvPr>
        </p:nvSpPr>
        <p:spPr>
          <a:xfrm>
            <a:off x="715963" y="630238"/>
            <a:ext cx="5432425" cy="4073525"/>
          </a:xfrm>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During the New Claim wizard, you can add contacts to a claim at multiple points, including the Basic Information step and the Parties Involved step.</a:t>
            </a:r>
          </a:p>
          <a:p>
            <a:pPr lvl="1" eaLnBrk="1" hangingPunct="1"/>
            <a:r>
              <a:rPr lang="en-US">
                <a:latin typeface="Arial" pitchFamily="34" charset="0"/>
              </a:rPr>
              <a:t>In some places, such as the Basic Information step, a given contact has a pre-defined role. For example, the contact specified in the Reported By section has the role "reporter". The contact specified in the Main Contact section has the role "main contact".</a:t>
            </a:r>
          </a:p>
          <a:p>
            <a:pPr lvl="1" eaLnBrk="1" hangingPunct="1"/>
            <a:r>
              <a:rPr lang="en-US">
                <a:latin typeface="Arial" pitchFamily="34" charset="0"/>
              </a:rPr>
              <a:t>In some places, such as the Parties Involved step, a given contact can have any role. For example, a contact added here could be "insured", "witness", "doctor" and so on.</a:t>
            </a:r>
          </a:p>
          <a:p>
            <a:pPr lvl="1" eaLnBrk="1" hangingPunct="1"/>
            <a:endParaRPr lang="en-US">
              <a:latin typeface="Arial" pitchFamily="34" charset="0"/>
            </a:endParaRPr>
          </a:p>
          <a:p>
            <a:pPr marL="0" lvl="0" indent="-114300" eaLnBrk="1" hangingPunct="1">
              <a:buNone/>
            </a:pPr>
            <a:r>
              <a:rPr lang="en-US">
                <a:latin typeface="Arial" pitchFamily="34" charset="0"/>
              </a:rPr>
              <a:t>You may also create contacts in the New Claim Wizard when adding service requests to a claim. This topic is covered in the “</a:t>
            </a:r>
            <a:r>
              <a:rPr lang="en-US" baseline="0">
                <a:latin typeface="Arial" pitchFamily="34" charset="0"/>
              </a:rPr>
              <a:t>Vendor Service Requests” lesson (in the </a:t>
            </a:r>
            <a:r>
              <a:rPr lang="en-US" b="1" baseline="0">
                <a:latin typeface="Arial" pitchFamily="34" charset="0"/>
              </a:rPr>
              <a:t>ClaimCenter 8.0 Introduction</a:t>
            </a:r>
            <a:r>
              <a:rPr lang="en-US" b="0" baseline="0">
                <a:latin typeface="Arial" pitchFamily="34" charset="0"/>
              </a:rPr>
              <a:t> training course).</a:t>
            </a:r>
            <a:endParaRPr lang="en-US">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698D2DED-88FE-41BA-99E6-5DC4F1B84AB0}" type="slidenum">
              <a:rPr lang="en-US" altLang="en-US" sz="1200" b="0" smtClean="0">
                <a:solidFill>
                  <a:schemeClr val="tx1"/>
                </a:solidFill>
              </a:rPr>
              <a:pPr eaLnBrk="1" hangingPunct="1"/>
              <a:t>15</a:t>
            </a:fld>
            <a:endParaRPr lang="en-US" altLang="en-US" sz="1200" b="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Recall that a contact may have more than one role and that each role is held in relation to the entire claim or to a specific exposure, incident, or policy.</a:t>
            </a:r>
          </a:p>
          <a:p>
            <a:pPr eaLnBrk="1" hangingPunct="1"/>
            <a:r>
              <a:rPr lang="en-US">
                <a:latin typeface="Arial" pitchFamily="34" charset="0"/>
              </a:rPr>
              <a:t>The default relationship for each role is the entire claim, which appears in the Owner dropdown as the claim number.</a:t>
            </a:r>
          </a:p>
          <a:p>
            <a:pPr eaLnBrk="1" hangingPunct="1"/>
            <a:r>
              <a:rPr lang="en-US">
                <a:latin typeface="Arial" pitchFamily="34" charset="0"/>
              </a:rPr>
              <a:t>In the example above, Helen Nixon:</a:t>
            </a:r>
          </a:p>
          <a:p>
            <a:pPr lvl="1" eaLnBrk="1" hangingPunct="1"/>
            <a:r>
              <a:rPr lang="en-US">
                <a:latin typeface="Arial" pitchFamily="34" charset="0"/>
              </a:rPr>
              <a:t>Has the role of witness for the entire claim.</a:t>
            </a:r>
          </a:p>
          <a:p>
            <a:pPr lvl="1" eaLnBrk="1" hangingPunct="1"/>
            <a:r>
              <a:rPr lang="en-US">
                <a:latin typeface="Arial" pitchFamily="34" charset="0"/>
              </a:rPr>
              <a:t>Has the role of passenger only for the 2003 BMW 355i incident.</a:t>
            </a:r>
          </a:p>
          <a:p>
            <a:pPr eaLnBrk="1" hangingPunct="1"/>
            <a:endParaRPr lang="en-US">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36708175-5044-47AB-AF1B-A8DD0EA26246}" type="slidenum">
              <a:rPr lang="en-US" altLang="en-US" sz="1200" b="0" smtClean="0">
                <a:solidFill>
                  <a:schemeClr val="tx1"/>
                </a:solidFill>
              </a:rPr>
              <a:pPr eaLnBrk="1" hangingPunct="1"/>
              <a:t>16</a:t>
            </a:fld>
            <a:endParaRPr lang="en-US" altLang="en-US" sz="1200" b="0">
              <a:solidFill>
                <a:schemeClr val="tx1"/>
              </a:solidFill>
            </a:endParaRPr>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itchFamily="34" charset="0"/>
              </a:rPr>
              <a:t>When a given contact is selected, you can find the </a:t>
            </a:r>
            <a:r>
              <a:rPr lang="en-US" i="1">
                <a:latin typeface="Arial" pitchFamily="34" charset="0"/>
              </a:rPr>
              <a:t>Transfer roles from other contacts… </a:t>
            </a:r>
            <a:r>
              <a:rPr lang="en-US">
                <a:latin typeface="Arial" pitchFamily="34" charset="0"/>
              </a:rPr>
              <a:t>button on the Basics card for that contact. </a:t>
            </a:r>
          </a:p>
          <a:p>
            <a:r>
              <a:rPr lang="en-US">
                <a:latin typeface="Arial" pitchFamily="34" charset="0"/>
              </a:rPr>
              <a:t>This button takes you to a popup where you can decide what other contact(s)’ roles to transfer to this contact. </a:t>
            </a:r>
          </a:p>
          <a:p>
            <a:r>
              <a:rPr lang="en-US">
                <a:latin typeface="Arial" pitchFamily="34" charset="0"/>
              </a:rPr>
              <a:t>This contact (the "survivor") remains on the claim and inherits all roles of the other selected contacts. The other selected contacts are then removed from the claim.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marL="228600" indent="-228600">
              <a:buFont typeface="+mj-lt"/>
              <a:buAutoNum type="arabicPeriod"/>
              <a:defRPr/>
            </a:pPr>
            <a:r>
              <a:rPr lang="en-US"/>
              <a:t>Select the checkboxes for one or more other contacts by checking the checkboxes. These contacts will be removed from the claim, and their roles added to the surviving contact. </a:t>
            </a:r>
          </a:p>
          <a:p>
            <a:pPr marL="228600" indent="-228600">
              <a:buFont typeface="+mj-lt"/>
              <a:buAutoNum type="arabicPeriod"/>
              <a:defRPr/>
            </a:pPr>
            <a:r>
              <a:rPr lang="en-US"/>
              <a:t>Click Select. The contacts selected in step 1 are moves to a “to be removed” list view, and all roles from these contacts are added to the new list of roles for the surviving contact.</a:t>
            </a:r>
          </a:p>
          <a:p>
            <a:pPr marL="228600" indent="-228600">
              <a:buFont typeface="+mj-lt"/>
              <a:buNone/>
              <a:defRPr/>
            </a:pPr>
            <a:r>
              <a:rPr lang="en-US"/>
              <a:t>Note that the title of this screen highlights the name of the surviving contact.</a:t>
            </a:r>
          </a:p>
          <a:p>
            <a:pPr>
              <a:defRPr/>
            </a:pPr>
            <a:endParaRPr lang="en-US"/>
          </a:p>
          <a:p>
            <a:pPr>
              <a:defRPr/>
            </a:pPr>
            <a:endParaRPr lang="en-US"/>
          </a:p>
        </p:txBody>
      </p:sp>
      <p:sp>
        <p:nvSpPr>
          <p:cNvPr id="72708"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270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F1A7AAC6-C65F-49AE-83BE-3A28662A3B40}" type="slidenum">
              <a:rPr lang="en-US" altLang="en-US" sz="1200" b="0" smtClean="0">
                <a:solidFill>
                  <a:schemeClr val="tx1"/>
                </a:solidFill>
              </a:rPr>
              <a:pPr eaLnBrk="1" hangingPunct="1"/>
              <a:t>17</a:t>
            </a:fld>
            <a:endParaRPr lang="en-US" altLang="en-US" sz="1200" b="0">
              <a:solidFill>
                <a:schemeClr val="tx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endParaRPr>
          </a:p>
        </p:txBody>
      </p:sp>
      <p:sp>
        <p:nvSpPr>
          <p:cNvPr id="73732"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373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9646F203-5C2C-4179-92A0-FBC2A9E5CD6F}" type="slidenum">
              <a:rPr lang="en-US" altLang="en-US" sz="1200" b="0" smtClean="0">
                <a:solidFill>
                  <a:schemeClr val="tx1"/>
                </a:solidFill>
              </a:rPr>
              <a:pPr eaLnBrk="1" hangingPunct="1"/>
              <a:t>18</a:t>
            </a:fld>
            <a:endParaRPr lang="en-US" altLang="en-US" sz="1200" b="0">
              <a:solidFill>
                <a:schemeClr val="tx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A2C2EBBC-7923-48B0-9155-77BE529A21FE}" type="slidenum">
              <a:rPr lang="en-US" altLang="en-US" sz="1200" b="0" smtClean="0">
                <a:solidFill>
                  <a:schemeClr val="tx1"/>
                </a:solidFill>
              </a:rPr>
              <a:pPr eaLnBrk="1" hangingPunct="1"/>
              <a:t>19</a:t>
            </a:fld>
            <a:endParaRPr lang="en-US" altLang="en-US" sz="1200" b="0">
              <a:solidFill>
                <a:schemeClr val="tx1"/>
              </a:solidFill>
            </a:endParaRPr>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5B6AE254-4121-4AB8-BE5B-C36ADC26ECED}" type="slidenum">
              <a:rPr lang="en-US" altLang="en-US" sz="1200" b="0" smtClean="0">
                <a:solidFill>
                  <a:schemeClr val="tx1"/>
                </a:solidFill>
              </a:rPr>
              <a:pPr eaLnBrk="1" hangingPunct="1"/>
              <a:t>20</a:t>
            </a:fld>
            <a:endParaRPr lang="en-US" altLang="en-US" sz="1200" b="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C646B707-CAF1-4FCD-88F9-6A72F6D70FCB}" type="slidenum">
              <a:rPr lang="en-US" altLang="en-US" sz="1200" b="0" smtClean="0">
                <a:solidFill>
                  <a:schemeClr val="tx1"/>
                </a:solidFill>
              </a:rPr>
              <a:pPr eaLnBrk="1" hangingPunct="1"/>
              <a:t>21</a:t>
            </a:fld>
            <a:endParaRPr lang="en-US" altLang="en-US" sz="1200" b="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0B945680-82FA-463E-8C95-FB743A66E0BD}" type="slidenum">
              <a:rPr lang="en-US" altLang="en-US" sz="1200" b="0" smtClean="0">
                <a:solidFill>
                  <a:schemeClr val="tx1"/>
                </a:solidFill>
              </a:rPr>
              <a:pPr eaLnBrk="1" hangingPunct="1"/>
              <a:t>22</a:t>
            </a:fld>
            <a:endParaRPr lang="en-US" altLang="en-US" sz="1200" b="0">
              <a:solidFill>
                <a:schemeClr val="tx1"/>
              </a:solidFill>
            </a:endParaRPr>
          </a:p>
        </p:txBody>
      </p:sp>
      <p:sp>
        <p:nvSpPr>
          <p:cNvPr id="77828" name="Rectangle 2"/>
          <p:cNvSpPr>
            <a:spLocks noGrp="1" noRot="1" noChangeAspect="1" noChangeArrowheads="1" noTextEdit="1"/>
          </p:cNvSpPr>
          <p:nvPr>
            <p:ph type="sldImg"/>
          </p:nvPr>
        </p:nvSpPr>
        <p:spPr>
          <a:xfrm>
            <a:off x="715963" y="630238"/>
            <a:ext cx="5432425" cy="4073525"/>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Role configuration involves specifying how roles and the "Related To" entities interact</a:t>
            </a:r>
          </a:p>
          <a:p>
            <a:pPr lvl="1" eaLnBrk="1" hangingPunct="1"/>
            <a:r>
              <a:rPr lang="en-US">
                <a:latin typeface="Arial" pitchFamily="34" charset="0"/>
              </a:rPr>
              <a:t>For example, a claim must have exactly one reporter and can have zero to many claimants</a:t>
            </a:r>
          </a:p>
          <a:p>
            <a:pPr eaLnBrk="1" hangingPunct="1"/>
            <a:endParaRPr lang="en-US">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565A1C8E-6EA7-4715-A1AE-1B2771668EA1}" type="slidenum">
              <a:rPr lang="en-US" altLang="en-US" sz="1200" b="0" smtClean="0">
                <a:solidFill>
                  <a:schemeClr val="tx1"/>
                </a:solidFill>
              </a:rPr>
              <a:pPr eaLnBrk="1" hangingPunct="1"/>
              <a:t>23</a:t>
            </a:fld>
            <a:endParaRPr lang="en-US" altLang="en-US" sz="1200" b="0">
              <a:solidFill>
                <a:schemeClr val="tx1"/>
              </a:solidFill>
            </a:endParaRPr>
          </a:p>
        </p:txBody>
      </p:sp>
      <p:sp>
        <p:nvSpPr>
          <p:cNvPr id="78852" name="Rectangle 2"/>
          <p:cNvSpPr>
            <a:spLocks noGrp="1" noRot="1" noChangeAspect="1" noChangeArrowheads="1" noTextEdit="1"/>
          </p:cNvSpPr>
          <p:nvPr>
            <p:ph type="sldImg"/>
          </p:nvPr>
        </p:nvSpPr>
        <p:spPr>
          <a:xfrm>
            <a:off x="715963" y="630238"/>
            <a:ext cx="5432425" cy="4073525"/>
          </a:xfrm>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In the base application, matters and evaluations can also be role owners. (For example, a contact could be the "assessor" for an evaluation or the "primary defense attorney" for a matter.)</a:t>
            </a:r>
          </a:p>
          <a:p>
            <a:pPr eaLnBrk="1" hangingPunct="1"/>
            <a:r>
              <a:rPr lang="en-US">
                <a:latin typeface="Arial" pitchFamily="34" charset="0"/>
              </a:rPr>
              <a:t>Claim.RoleOwners is an array of all Role Owners.</a:t>
            </a:r>
          </a:p>
          <a:p>
            <a:pPr eaLnBrk="1" hangingPunct="1"/>
            <a:r>
              <a:rPr lang="en-US">
                <a:latin typeface="Arial" pitchFamily="34" charset="0"/>
              </a:rPr>
              <a:t>Categorization "by subtype" occurs within the Contact entity. When a contact is created, it is created as one of the subtypes, which in turn categorizes the kind of contact it is.</a:t>
            </a:r>
          </a:p>
          <a:p>
            <a:pPr eaLnBrk="1" hangingPunct="1"/>
            <a:r>
              <a:rPr lang="en-US">
                <a:latin typeface="Arial" pitchFamily="34" charset="0"/>
              </a:rPr>
              <a:t>Categorization "by role" occurs within the ClaimContactRole and ClaimContactRoleOwner entities. When a contact is associated with a claim, it must have at least one role (which is linked to the contact through the ClaimContact entity), and this role has a role owner (the entity for which the contact's role is relevant).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A052A20E-391C-4196-A453-C24A2B5D4C81}" type="slidenum">
              <a:rPr lang="en-US" altLang="en-US" sz="1200" b="0" smtClean="0">
                <a:solidFill>
                  <a:schemeClr val="tx1"/>
                </a:solidFill>
              </a:rPr>
              <a:pPr eaLnBrk="1" hangingPunct="1"/>
              <a:t>24</a:t>
            </a:fld>
            <a:endParaRPr lang="en-US" altLang="en-US" sz="1200" b="0">
              <a:solidFill>
                <a:schemeClr val="tx1"/>
              </a:solidFill>
            </a:endParaRPr>
          </a:p>
        </p:txBody>
      </p:sp>
      <p:sp>
        <p:nvSpPr>
          <p:cNvPr id="80900" name="Rectangle 2"/>
          <p:cNvSpPr>
            <a:spLocks noGrp="1" noRot="1" noChangeAspect="1" noChangeArrowheads="1" noTextEdit="1"/>
          </p:cNvSpPr>
          <p:nvPr>
            <p:ph type="sldImg"/>
          </p:nvPr>
        </p:nvSpPr>
        <p:spPr>
          <a:xfrm>
            <a:off x="715963" y="630238"/>
            <a:ext cx="5432425" cy="4073525"/>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Roles and subtypes classify contacts in different ways. This raises the question of whether or not you can have two contacts which have the same subtype but different roles and vice versa.</a:t>
            </a:r>
          </a:p>
          <a:p>
            <a:pPr lvl="1" eaLnBrk="1" hangingPunct="1"/>
            <a:r>
              <a:rPr lang="en-US">
                <a:latin typeface="Arial" pitchFamily="34" charset="0"/>
              </a:rPr>
              <a:t>It is common for two contacts to have the same subtype but different roles. For example, two contacts of subtype Doctor could be associated with a claim, one with the role of primary doctor, the other with physical therapist. (This could occur if a claim involved an injury in which the primary doctor referred the injured party to a physical therapist.)</a:t>
            </a:r>
          </a:p>
          <a:p>
            <a:pPr lvl="1" eaLnBrk="1" hangingPunct="1"/>
            <a:r>
              <a:rPr lang="en-US">
                <a:latin typeface="Arial" pitchFamily="34" charset="0"/>
              </a:rPr>
              <a:t>As a general practice, each role can only be assigned to contacts of a single subtype. Therefore, it is rare to have two contacts of different subtype with the same role. (The one exception to this in the base application is the role "claimant". A "claimant" is always of subtype person, except when it is on an exposure, in which case it can also be of subtype company. So a claimant must be either a Person or, if being assigned to an exposure, a Person or Company.)</a:t>
            </a:r>
          </a:p>
          <a:p>
            <a:pPr eaLnBrk="1" hangingPunct="1"/>
            <a:r>
              <a:rPr lang="en-US">
                <a:latin typeface="Arial" pitchFamily="34" charset="0"/>
              </a:rPr>
              <a:t>One thing to keep in mind is that a contact has a subtype inherently, but a contact has a role only with relationship to a given claim. A contact of subtype adjudicator is always of subtype adjudicator, regardless of the claims it may or may not be associated to. A contact with role "arbitrator" on a given claim is (potentially) an arbitrator only for that claim and only by virtue of being associated with that claim.</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2D7EB98C-8ABE-404E-8F2D-B38C64B03CDA}" type="slidenum">
              <a:rPr lang="en-US" altLang="en-US" sz="1200" b="0" smtClean="0">
                <a:solidFill>
                  <a:schemeClr val="tx1"/>
                </a:solidFill>
              </a:rPr>
              <a:pPr eaLnBrk="1" hangingPunct="1"/>
              <a:t>25</a:t>
            </a:fld>
            <a:endParaRPr lang="en-US" altLang="en-US" sz="1200" b="0">
              <a:solidFill>
                <a:schemeClr val="tx1"/>
              </a:solidFill>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76B8FF44-9DBB-43A2-8111-E142E81C2414}" type="slidenum">
              <a:rPr lang="en-US" altLang="en-US" sz="1200" b="0" smtClean="0">
                <a:solidFill>
                  <a:schemeClr val="tx1"/>
                </a:solidFill>
              </a:rPr>
              <a:pPr eaLnBrk="1" hangingPunct="1"/>
              <a:t>26</a:t>
            </a:fld>
            <a:endParaRPr lang="en-US" altLang="en-US" sz="1200" b="0">
              <a:solidFill>
                <a:schemeClr val="tx1"/>
              </a:solidFill>
            </a:endParaRPr>
          </a:p>
        </p:txBody>
      </p:sp>
      <p:sp>
        <p:nvSpPr>
          <p:cNvPr id="82948" name="Rectangle 2"/>
          <p:cNvSpPr>
            <a:spLocks noGrp="1" noRot="1" noChangeAspect="1" noChangeArrowheads="1" noTextEdit="1"/>
          </p:cNvSpPr>
          <p:nvPr>
            <p:ph type="sldImg"/>
          </p:nvPr>
        </p:nvSpPr>
        <p:spPr>
          <a:xfrm>
            <a:off x="715963" y="630238"/>
            <a:ext cx="5432425" cy="4073525"/>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7A84F269-DE8E-4108-AE55-D02D32AED9FA}" type="slidenum">
              <a:rPr lang="en-US" altLang="en-US" sz="1200" b="0" smtClean="0">
                <a:solidFill>
                  <a:schemeClr val="tx1"/>
                </a:solidFill>
              </a:rPr>
              <a:pPr eaLnBrk="1" hangingPunct="1"/>
              <a:t>27</a:t>
            </a:fld>
            <a:endParaRPr lang="en-US" altLang="en-US" sz="1200" b="0">
              <a:solidFill>
                <a:schemeClr val="tx1"/>
              </a:solidFill>
            </a:endParaRPr>
          </a:p>
        </p:txBody>
      </p:sp>
      <p:sp>
        <p:nvSpPr>
          <p:cNvPr id="83972" name="Rectangle 2"/>
          <p:cNvSpPr>
            <a:spLocks noGrp="1" noRot="1" noChangeAspect="1" noChangeArrowheads="1" noTextEdit="1"/>
          </p:cNvSpPr>
          <p:nvPr>
            <p:ph type="sldImg"/>
          </p:nvPr>
        </p:nvSpPr>
        <p:spPr>
          <a:xfrm>
            <a:off x="715963" y="630238"/>
            <a:ext cx="5432425" cy="4073525"/>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The contacts list view has a filter in the toolbar that can be used to filter the contacts listed in the list. There are two types of filters:</a:t>
            </a:r>
          </a:p>
          <a:p>
            <a:pPr lvl="1" eaLnBrk="1" hangingPunct="1"/>
            <a:r>
              <a:rPr lang="en-US">
                <a:latin typeface="Arial" pitchFamily="34" charset="0"/>
              </a:rPr>
              <a:t>Entity filters let the user select the claim or one of its exposures. The list then contains only contacts who have a role that is owned by the selected entity.</a:t>
            </a:r>
          </a:p>
          <a:p>
            <a:pPr lvl="1" eaLnBrk="1" hangingPunct="1"/>
            <a:r>
              <a:rPr lang="en-US">
                <a:latin typeface="Arial" pitchFamily="34" charset="0"/>
              </a:rPr>
              <a:t>Role category filters let the user select a role category. The list then contains only contacts that have a role that fits the selected category.</a:t>
            </a:r>
          </a:p>
          <a:p>
            <a:pPr eaLnBrk="1" hangingPunct="1"/>
            <a:r>
              <a:rPr lang="en-US">
                <a:latin typeface="Arial" pitchFamily="34" charset="0"/>
              </a:rPr>
              <a:t>Roles are assigned to categories through the ContactRoleCategory typelist, which is discussed on the next slide.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FD95DBBA-41C0-4619-A547-F963A98A069A}" type="slidenum">
              <a:rPr lang="en-US" altLang="en-US" sz="1200" b="0" smtClean="0">
                <a:solidFill>
                  <a:schemeClr val="tx1"/>
                </a:solidFill>
              </a:rPr>
              <a:pPr eaLnBrk="1" hangingPunct="1"/>
              <a:t>28</a:t>
            </a:fld>
            <a:endParaRPr lang="en-US" altLang="en-US" sz="1200" b="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a:latin typeface="Arial" pitchFamily="34" charset="0"/>
              </a:rPr>
              <a:t>To assign a </a:t>
            </a:r>
            <a:r>
              <a:rPr lang="en-US" err="1">
                <a:latin typeface="Arial" pitchFamily="34" charset="0"/>
              </a:rPr>
              <a:t>ContactRole</a:t>
            </a:r>
            <a:r>
              <a:rPr lang="en-US">
                <a:latin typeface="Arial" pitchFamily="34" charset="0"/>
              </a:rPr>
              <a:t> </a:t>
            </a:r>
            <a:r>
              <a:rPr lang="en-US" err="1">
                <a:latin typeface="Arial" pitchFamily="34" charset="0"/>
              </a:rPr>
              <a:t>typecode</a:t>
            </a:r>
            <a:r>
              <a:rPr lang="en-US">
                <a:latin typeface="Arial" pitchFamily="34" charset="0"/>
              </a:rPr>
              <a:t> to a given category:</a:t>
            </a:r>
          </a:p>
          <a:p>
            <a:pPr marL="438150" lvl="1" indent="-209550" eaLnBrk="1" hangingPunct="1">
              <a:buFontTx/>
              <a:buAutoNum type="arabicPeriod"/>
            </a:pPr>
            <a:r>
              <a:rPr lang="en-US">
                <a:latin typeface="Arial" pitchFamily="34" charset="0"/>
              </a:rPr>
              <a:t>Go to the </a:t>
            </a:r>
            <a:r>
              <a:rPr lang="en-US" err="1">
                <a:latin typeface="Arial" pitchFamily="34" charset="0"/>
              </a:rPr>
              <a:t>ContactRoleCategory</a:t>
            </a:r>
            <a:r>
              <a:rPr lang="en-US">
                <a:latin typeface="Arial" pitchFamily="34" charset="0"/>
              </a:rPr>
              <a:t> typelist.</a:t>
            </a:r>
          </a:p>
          <a:p>
            <a:pPr marL="438150" lvl="1" indent="-209550" eaLnBrk="1" hangingPunct="1">
              <a:buFontTx/>
              <a:buAutoNum type="arabicPeriod"/>
            </a:pPr>
            <a:r>
              <a:rPr lang="en-US">
                <a:latin typeface="Arial" pitchFamily="34" charset="0"/>
              </a:rPr>
              <a:t>Select the desired category </a:t>
            </a:r>
            <a:r>
              <a:rPr lang="en-US" err="1">
                <a:latin typeface="Arial" pitchFamily="34" charset="0"/>
              </a:rPr>
              <a:t>typecode</a:t>
            </a:r>
            <a:r>
              <a:rPr lang="en-US">
                <a:latin typeface="Arial" pitchFamily="34" charset="0"/>
              </a:rPr>
              <a:t>.</a:t>
            </a:r>
          </a:p>
          <a:p>
            <a:pPr marL="438150" lvl="1" indent="-209550" eaLnBrk="1" hangingPunct="1">
              <a:buFontTx/>
              <a:buAutoNum type="arabicPeriod"/>
            </a:pPr>
            <a:r>
              <a:rPr lang="en-US">
                <a:latin typeface="Arial" pitchFamily="34" charset="0"/>
              </a:rPr>
              <a:t>Add the desired role using</a:t>
            </a:r>
            <a:r>
              <a:rPr lang="en-US" baseline="0">
                <a:latin typeface="Arial" pitchFamily="34" charset="0"/>
              </a:rPr>
              <a:t> the right-click context menu shown above</a:t>
            </a:r>
            <a:r>
              <a:rPr lang="en-US">
                <a:latin typeface="Arial" pitchFamily="34" charset="0"/>
              </a:rPr>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ED89A575-E339-4912-92F3-32F700C94B91}" type="slidenum">
              <a:rPr lang="en-US" altLang="en-US" sz="1200" b="0" smtClean="0">
                <a:solidFill>
                  <a:schemeClr val="tx1"/>
                </a:solidFill>
              </a:rPr>
              <a:pPr eaLnBrk="1" hangingPunct="1"/>
              <a:t>29</a:t>
            </a:fld>
            <a:endParaRPr lang="en-US" altLang="en-US" sz="1200" b="0">
              <a:solidFill>
                <a:schemeClr val="tx1"/>
              </a:solidFill>
            </a:endParaRPr>
          </a:p>
        </p:txBody>
      </p:sp>
      <p:sp>
        <p:nvSpPr>
          <p:cNvPr id="86020" name="Rectangle 2"/>
          <p:cNvSpPr>
            <a:spLocks noGrp="1" noRot="1" noChangeAspect="1" noChangeArrowheads="1" noTextEdit="1"/>
          </p:cNvSpPr>
          <p:nvPr>
            <p:ph type="sldImg"/>
          </p:nvPr>
        </p:nvSpPr>
        <p:spPr>
          <a:xfrm>
            <a:off x="715963" y="630238"/>
            <a:ext cx="5432425" cy="4073525"/>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4F7BC870-96D7-4EC3-BDED-61DCE62063A1}" type="slidenum">
              <a:rPr lang="en-US" altLang="en-US" sz="1200" b="0" smtClean="0">
                <a:solidFill>
                  <a:schemeClr val="tx1"/>
                </a:solidFill>
              </a:rPr>
              <a:pPr eaLnBrk="1" hangingPunct="1"/>
              <a:t>30</a:t>
            </a:fld>
            <a:endParaRPr lang="en-US" altLang="en-US" sz="1200" b="0">
              <a:solidFill>
                <a:schemeClr val="tx1"/>
              </a:solidFill>
            </a:endParaRPr>
          </a:p>
        </p:txBody>
      </p:sp>
      <p:sp>
        <p:nvSpPr>
          <p:cNvPr id="87044" name="Rectangle 2"/>
          <p:cNvSpPr>
            <a:spLocks noGrp="1" noRot="1" noChangeAspect="1" noChangeArrowheads="1" noTextEdit="1"/>
          </p:cNvSpPr>
          <p:nvPr>
            <p:ph type="sldImg"/>
          </p:nvPr>
        </p:nvSpPr>
        <p:spPr>
          <a:xfrm>
            <a:off x="715963" y="630238"/>
            <a:ext cx="5432425" cy="4073525"/>
          </a:xfrm>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A contact role type constraint can be thought of as a "which subtype" constraint. It identifies the subtype for which a given role is allowed. In the example above, the role primary doctor can be held by anyone of the subtype doctor but not by someone of the subtype attorney.</a:t>
            </a:r>
          </a:p>
          <a:p>
            <a:pPr eaLnBrk="1" hangingPunct="1"/>
            <a:r>
              <a:rPr lang="en-US">
                <a:latin typeface="Arial" pitchFamily="34" charset="0"/>
              </a:rPr>
              <a:t>An entity role constraint can be thought of as both a "which owner" constraint and a "how many" constraint. It identifies which entities can be the owner of a role, and how many contacts can be associated with that entity with that role (exactly one, at least one, at most one, or unlimited). In the example (on the right) above, an exposure (for a non-workers' comp claim) must have exactly one claimant. A policy cannot have any claimants.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79DCDE3E-A062-4D04-8196-BE5BABC80CFA}" type="slidenum">
              <a:rPr lang="en-US" altLang="en-US" sz="1200" b="0" smtClean="0">
                <a:solidFill>
                  <a:schemeClr val="tx1"/>
                </a:solidFill>
              </a:rPr>
              <a:pPr eaLnBrk="1" hangingPunct="1"/>
              <a:t>31</a:t>
            </a:fld>
            <a:endParaRPr lang="en-US" altLang="en-US" sz="1200" b="0">
              <a:solidFill>
                <a:schemeClr val="tx1"/>
              </a:solidFill>
            </a:endParaRPr>
          </a:p>
        </p:txBody>
      </p:sp>
      <p:sp>
        <p:nvSpPr>
          <p:cNvPr id="88068" name="Rectangle 2"/>
          <p:cNvSpPr>
            <a:spLocks noGrp="1" noRot="1" noChangeAspect="1" noChangeArrowheads="1" noTextEdit="1"/>
          </p:cNvSpPr>
          <p:nvPr>
            <p:ph type="sldImg"/>
          </p:nvPr>
        </p:nvSpPr>
        <p:spPr>
          <a:xfrm>
            <a:off x="715963" y="630238"/>
            <a:ext cx="5432425" cy="4073525"/>
          </a:xfrm>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The following sections of this lesson discuss how to configure each type of role constraints</a:t>
            </a:r>
            <a:r>
              <a:rPr lang="en-US" baseline="0">
                <a:latin typeface="Arial" pitchFamily="34" charset="0"/>
              </a:rPr>
              <a:t> in entityroleconstraints-config.xml. The file starts with a list of all Contact Role Type constraints, then, about line 56, lists all Entity Role constraints.</a:t>
            </a:r>
            <a:endParaRPr lang="en-US">
              <a:latin typeface="Arial" pitchFamily="34" charset="0"/>
            </a:endParaRPr>
          </a:p>
          <a:p>
            <a:pPr eaLnBrk="1" hangingPunct="1"/>
            <a:endParaRPr lang="en-US">
              <a:latin typeface="Arial" pitchFamily="34" charset="0"/>
            </a:endParaRPr>
          </a:p>
          <a:p>
            <a:pPr eaLnBrk="1" hangingPunct="1"/>
            <a:r>
              <a:rPr lang="en-US">
                <a:latin typeface="Arial" pitchFamily="34" charset="0"/>
              </a:rPr>
              <a:t>Recall you can use CTRL+SHIFT+N to search for and open xml files by name in Studio for</a:t>
            </a:r>
            <a:r>
              <a:rPr lang="en-US" baseline="0">
                <a:latin typeface="Arial" pitchFamily="34" charset="0"/>
              </a:rPr>
              <a:t> editing</a:t>
            </a:r>
            <a:r>
              <a:rPr lang="en-US">
                <a:latin typeface="Arial" pitchFamily="34" charset="0"/>
              </a:rPr>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70F8CE32-2EE9-4BFE-9600-E515665F4504}" type="slidenum">
              <a:rPr lang="en-US" altLang="en-US" sz="1200" b="0" smtClean="0">
                <a:solidFill>
                  <a:schemeClr val="tx1"/>
                </a:solidFill>
              </a:rPr>
              <a:pPr eaLnBrk="1" hangingPunct="1"/>
              <a:t>32</a:t>
            </a:fld>
            <a:endParaRPr lang="en-US" altLang="en-US" sz="1200" b="0">
              <a:solidFill>
                <a:schemeClr val="tx1"/>
              </a:solidFill>
            </a:endParaRPr>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04BCEB7A-B9DB-4915-848C-39B79AD21975}" type="slidenum">
              <a:rPr lang="en-US" altLang="en-US" sz="1200" b="0" smtClean="0">
                <a:solidFill>
                  <a:schemeClr val="tx1"/>
                </a:solidFill>
              </a:rPr>
              <a:pPr eaLnBrk="1" hangingPunct="1"/>
              <a:t>33</a:t>
            </a:fld>
            <a:endParaRPr lang="en-US" altLang="en-US" sz="1200" b="0">
              <a:solidFill>
                <a:schemeClr val="tx1"/>
              </a:solidFill>
            </a:endParaRPr>
          </a:p>
        </p:txBody>
      </p:sp>
      <p:sp>
        <p:nvSpPr>
          <p:cNvPr id="90116" name="Rectangle 2"/>
          <p:cNvSpPr>
            <a:spLocks noGrp="1" noRot="1" noChangeAspect="1" noChangeArrowheads="1" noTextEdit="1"/>
          </p:cNvSpPr>
          <p:nvPr>
            <p:ph type="sldImg"/>
          </p:nvPr>
        </p:nvSpPr>
        <p:spPr>
          <a:xfrm>
            <a:off x="715963" y="630238"/>
            <a:ext cx="5432425" cy="4073525"/>
          </a:xfrm>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The base application contains a role constraint that states "The role of primary doctor can only be assigned to a contact of subtype 'doctor'." In the screenshot above, the user is attempting to assign the role of primary doctor to a contact of subtype 'attorney'. The constraint prevents the role assignment from occurring, and the error message details the reason.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76262629-EACA-4488-9708-6F1D3BA1455B}" type="slidenum">
              <a:rPr lang="en-US" altLang="en-US" sz="1200" b="0" smtClean="0">
                <a:solidFill>
                  <a:schemeClr val="tx1"/>
                </a:solidFill>
              </a:rPr>
              <a:pPr eaLnBrk="1" hangingPunct="1"/>
              <a:t>34</a:t>
            </a:fld>
            <a:endParaRPr lang="en-US" altLang="en-US" sz="1200" b="0">
              <a:solidFill>
                <a:schemeClr val="tx1"/>
              </a:solidFill>
            </a:endParaRPr>
          </a:p>
        </p:txBody>
      </p:sp>
      <p:sp>
        <p:nvSpPr>
          <p:cNvPr id="91140" name="Rectangle 2"/>
          <p:cNvSpPr>
            <a:spLocks noGrp="1" noRot="1" noChangeAspect="1" noChangeArrowheads="1" noTextEdit="1"/>
          </p:cNvSpPr>
          <p:nvPr>
            <p:ph type="sldImg"/>
          </p:nvPr>
        </p:nvSpPr>
        <p:spPr>
          <a:xfrm>
            <a:off x="715963" y="630238"/>
            <a:ext cx="5432425" cy="4073525"/>
          </a:xfrm>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If a contact role does not have any </a:t>
            </a:r>
            <a:r>
              <a:rPr lang="en-US" err="1">
                <a:latin typeface="Arial" pitchFamily="34" charset="0"/>
              </a:rPr>
              <a:t>ContactRoleTypeConstraint</a:t>
            </a:r>
            <a:r>
              <a:rPr lang="en-US">
                <a:latin typeface="Arial" pitchFamily="34" charset="0"/>
              </a:rPr>
              <a:t> defined, then the role may be any contact subtype.</a:t>
            </a:r>
          </a:p>
          <a:p>
            <a:pPr eaLnBrk="1" hangingPunct="1"/>
            <a:r>
              <a:rPr lang="en-US">
                <a:latin typeface="Arial" pitchFamily="34" charset="0"/>
              </a:rPr>
              <a:t>Children of the base subtype are also valid. For example, if the base subtype is “Person”, then a contact whose subtype is “Doctor” would also be valid.</a:t>
            </a:r>
          </a:p>
          <a:p>
            <a:pPr eaLnBrk="1" hangingPunct="1"/>
            <a:r>
              <a:rPr lang="en-US">
                <a:latin typeface="Arial" pitchFamily="34" charset="0"/>
              </a:rPr>
              <a:t>Typically a contact role should have only one possible contact subtype but in the base application there is one exception:</a:t>
            </a:r>
          </a:p>
          <a:p>
            <a:pPr eaLnBrk="1" hangingPunct="1"/>
            <a:r>
              <a:rPr lang="en-US">
                <a:latin typeface="Arial" pitchFamily="34" charset="0"/>
              </a:rPr>
              <a:t> &lt;</a:t>
            </a:r>
            <a:r>
              <a:rPr lang="en-US" err="1">
                <a:latin typeface="Arial" pitchFamily="34" charset="0"/>
              </a:rPr>
              <a:t>ContactRoleTypeConstraint</a:t>
            </a:r>
            <a:r>
              <a:rPr lang="en-US">
                <a:latin typeface="Arial" pitchFamily="34" charset="0"/>
              </a:rPr>
              <a:t> </a:t>
            </a:r>
            <a:r>
              <a:rPr lang="en-US" err="1">
                <a:latin typeface="Arial" pitchFamily="34" charset="0"/>
              </a:rPr>
              <a:t>contactRoleCode</a:t>
            </a:r>
            <a:r>
              <a:rPr lang="en-US">
                <a:latin typeface="Arial" pitchFamily="34" charset="0"/>
              </a:rPr>
              <a:t>="claimant" </a:t>
            </a:r>
            <a:r>
              <a:rPr lang="en-US" err="1">
                <a:latin typeface="Arial" pitchFamily="34" charset="0"/>
              </a:rPr>
              <a:t>contactSubtype</a:t>
            </a:r>
            <a:r>
              <a:rPr lang="en-US">
                <a:latin typeface="Arial" pitchFamily="34" charset="0"/>
              </a:rPr>
              <a:t>="Person"&gt;</a:t>
            </a:r>
          </a:p>
          <a:p>
            <a:pPr eaLnBrk="1" hangingPunct="1"/>
            <a:r>
              <a:rPr lang="en-US">
                <a:latin typeface="Arial" pitchFamily="34" charset="0"/>
              </a:rPr>
              <a:t>    &lt;</a:t>
            </a:r>
            <a:r>
              <a:rPr lang="en-US" err="1">
                <a:latin typeface="Arial" pitchFamily="34" charset="0"/>
              </a:rPr>
              <a:t>ExceptionConstraint</a:t>
            </a:r>
            <a:r>
              <a:rPr lang="en-US">
                <a:latin typeface="Arial" pitchFamily="34" charset="0"/>
              </a:rPr>
              <a:t> </a:t>
            </a:r>
            <a:r>
              <a:rPr lang="en-US" err="1">
                <a:latin typeface="Arial" pitchFamily="34" charset="0"/>
              </a:rPr>
              <a:t>contactSubtype</a:t>
            </a:r>
            <a:r>
              <a:rPr lang="en-US">
                <a:latin typeface="Arial" pitchFamily="34" charset="0"/>
              </a:rPr>
              <a:t>="Company" </a:t>
            </a:r>
            <a:r>
              <a:rPr lang="en-US" err="1">
                <a:latin typeface="Arial" pitchFamily="34" charset="0"/>
              </a:rPr>
              <a:t>entityRef</a:t>
            </a:r>
            <a:r>
              <a:rPr lang="en-US">
                <a:latin typeface="Arial" pitchFamily="34" charset="0"/>
              </a:rPr>
              <a:t>="Exposure"/&gt;</a:t>
            </a:r>
          </a:p>
          <a:p>
            <a:pPr eaLnBrk="1" hangingPunct="1"/>
            <a:r>
              <a:rPr lang="en-US">
                <a:latin typeface="Arial" pitchFamily="34" charset="0"/>
              </a:rPr>
              <a:t>  &lt;/</a:t>
            </a:r>
            <a:r>
              <a:rPr lang="en-US" err="1">
                <a:latin typeface="Arial" pitchFamily="34" charset="0"/>
              </a:rPr>
              <a:t>ContactRoleTypeConstraint</a:t>
            </a:r>
            <a:r>
              <a:rPr lang="en-US">
                <a:latin typeface="Arial" pitchFamily="34" charset="0"/>
              </a:rPr>
              <a:t>&gt;</a:t>
            </a:r>
          </a:p>
          <a:p>
            <a:pPr eaLnBrk="1" hangingPunct="1"/>
            <a:r>
              <a:rPr lang="en-US">
                <a:latin typeface="Arial" pitchFamily="34" charset="0"/>
              </a:rPr>
              <a:t>This is the special case that occurs only once in the base application. In the example above, claimant is always of subtype person, except when on exposure, it can also be of subtype company. So a claimant must be either a Person or, if being assigned to an exposure, a Person or Company.</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21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55B89CD3-887C-4D1F-9EBC-2BAF4C30A13E}" type="slidenum">
              <a:rPr lang="en-US" altLang="en-US" sz="1200" b="0" smtClean="0">
                <a:solidFill>
                  <a:schemeClr val="tx1"/>
                </a:solidFill>
              </a:rPr>
              <a:pPr eaLnBrk="1" hangingPunct="1"/>
              <a:t>35</a:t>
            </a:fld>
            <a:endParaRPr lang="en-US" altLang="en-US" sz="1200" b="0">
              <a:solidFill>
                <a:schemeClr val="tx1"/>
              </a:solidFill>
            </a:endParaRPr>
          </a:p>
        </p:txBody>
      </p:sp>
      <p:sp>
        <p:nvSpPr>
          <p:cNvPr id="92164" name="Rectangle 2"/>
          <p:cNvSpPr>
            <a:spLocks noGrp="1" noRot="1" noChangeAspect="1" noChangeArrowheads="1" noTextEdit="1"/>
          </p:cNvSpPr>
          <p:nvPr>
            <p:ph type="sldImg"/>
          </p:nvPr>
        </p:nvSpPr>
        <p:spPr>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31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35D955EB-8B46-4C34-9C35-15C27AFBCE6C}" type="slidenum">
              <a:rPr lang="en-US" altLang="en-US" sz="1200" b="0" smtClean="0">
                <a:solidFill>
                  <a:schemeClr val="tx1"/>
                </a:solidFill>
              </a:rPr>
              <a:pPr eaLnBrk="1" hangingPunct="1"/>
              <a:t>36</a:t>
            </a:fld>
            <a:endParaRPr lang="en-US" altLang="en-US" sz="1200" b="0">
              <a:solidFill>
                <a:schemeClr val="tx1"/>
              </a:solidFill>
            </a:endParaRPr>
          </a:p>
        </p:txBody>
      </p:sp>
      <p:sp>
        <p:nvSpPr>
          <p:cNvPr id="93188" name="Rectangle 2"/>
          <p:cNvSpPr>
            <a:spLocks noGrp="1" noRot="1" noChangeAspect="1" noChangeArrowheads="1" noTextEdit="1"/>
          </p:cNvSpPr>
          <p:nvPr>
            <p:ph type="sldImg"/>
          </p:nvPr>
        </p:nvSpPr>
        <p:spPr>
          <a:xfrm>
            <a:off x="715963" y="630238"/>
            <a:ext cx="5432425" cy="4073525"/>
          </a:xfrm>
          <a:ln/>
        </p:spPr>
      </p:sp>
      <p:sp>
        <p:nvSpPr>
          <p:cNvPr id="931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With regards to the "reporter" role:</a:t>
            </a:r>
          </a:p>
          <a:p>
            <a:pPr lvl="1" eaLnBrk="1" hangingPunct="1"/>
            <a:r>
              <a:rPr lang="en-US">
                <a:latin typeface="Arial" pitchFamily="34" charset="0"/>
              </a:rPr>
              <a:t>A claim must have exactly one reporter.</a:t>
            </a:r>
          </a:p>
          <a:p>
            <a:pPr lvl="1" eaLnBrk="1" hangingPunct="1"/>
            <a:r>
              <a:rPr lang="en-US">
                <a:latin typeface="Arial" pitchFamily="34" charset="0"/>
              </a:rPr>
              <a:t>A policy, exposure, or incident cannot have a reporter.</a:t>
            </a:r>
          </a:p>
          <a:p>
            <a:pPr eaLnBrk="1" hangingPunct="1"/>
            <a:r>
              <a:rPr lang="en-US">
                <a:latin typeface="Arial" pitchFamily="34" charset="0"/>
              </a:rPr>
              <a:t>With regards to the "claimant" role:</a:t>
            </a:r>
          </a:p>
          <a:p>
            <a:pPr lvl="1" eaLnBrk="1" hangingPunct="1"/>
            <a:r>
              <a:rPr lang="en-US">
                <a:latin typeface="Arial" pitchFamily="34" charset="0"/>
              </a:rPr>
              <a:t>An exposure must have exactly one claimant.</a:t>
            </a:r>
          </a:p>
          <a:p>
            <a:pPr lvl="1" eaLnBrk="1" hangingPunct="1"/>
            <a:r>
              <a:rPr lang="en-US">
                <a:latin typeface="Arial" pitchFamily="34" charset="0"/>
              </a:rPr>
              <a:t>A claim*, policy or incident cannot have a claimant.</a:t>
            </a:r>
          </a:p>
          <a:p>
            <a:pPr eaLnBrk="1" hangingPunct="1"/>
            <a:r>
              <a:rPr lang="en-US">
                <a:latin typeface="Arial" pitchFamily="34" charset="0"/>
              </a:rPr>
              <a:t>With regards to the "driver" role:</a:t>
            </a:r>
          </a:p>
          <a:p>
            <a:pPr lvl="1" eaLnBrk="1" hangingPunct="1"/>
            <a:r>
              <a:rPr lang="en-US">
                <a:latin typeface="Arial" pitchFamily="34" charset="0"/>
              </a:rPr>
              <a:t>A claim, policy, exposure, injury incident or property incident cannot have a driver.</a:t>
            </a:r>
          </a:p>
          <a:p>
            <a:pPr lvl="1" eaLnBrk="1" hangingPunct="1"/>
            <a:r>
              <a:rPr lang="en-US">
                <a:latin typeface="Arial" pitchFamily="34" charset="0"/>
              </a:rPr>
              <a:t>A vehicle incident can have up to one driver.</a:t>
            </a:r>
          </a:p>
          <a:p>
            <a:pPr eaLnBrk="1" hangingPunct="1"/>
            <a:endParaRPr lang="en-US">
              <a:latin typeface="Arial" pitchFamily="34" charset="0"/>
            </a:endParaRPr>
          </a:p>
          <a:p>
            <a:pPr eaLnBrk="1" hangingPunct="1"/>
            <a:endParaRPr lang="en-US">
              <a:latin typeface="Arial" pitchFamily="34" charset="0"/>
            </a:endParaRPr>
          </a:p>
          <a:p>
            <a:pPr eaLnBrk="1" hangingPunct="1"/>
            <a:r>
              <a:rPr lang="en-US">
                <a:latin typeface="Arial" pitchFamily="34" charset="0"/>
              </a:rPr>
              <a:t>*The behavior of the claimant constraint actually varies based upon the loss type. For auto, property, and general liability claims, the claimants do not exist at the claim level. You cannot add a contact as a claimant until you have exposures, and the "claimant" contacts are owned by the exposures, not by the claim itself. For workers' comp claims, there is always a single claim, regardless of the number of exposures. Therefore, a workers' comp claim can (and must) own a contact with the role of claimant.</a:t>
            </a:r>
          </a:p>
          <a:p>
            <a:pPr lvl="1" eaLnBrk="1" hangingPunct="1"/>
            <a:endParaRPr lang="en-US">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E976993F-4724-4724-B2DC-81FC2390F931}" type="slidenum">
              <a:rPr lang="en-US" altLang="en-US" sz="1200" b="0" smtClean="0">
                <a:solidFill>
                  <a:schemeClr val="tx1"/>
                </a:solidFill>
              </a:rPr>
              <a:pPr eaLnBrk="1" hangingPunct="1"/>
              <a:t>37</a:t>
            </a:fld>
            <a:endParaRPr lang="en-US" altLang="en-US" sz="1200" b="0">
              <a:solidFill>
                <a:schemeClr val="tx1"/>
              </a:solidFill>
            </a:endParaRPr>
          </a:p>
        </p:txBody>
      </p:sp>
      <p:sp>
        <p:nvSpPr>
          <p:cNvPr id="94212" name="Rectangle 2"/>
          <p:cNvSpPr>
            <a:spLocks noGrp="1" noRot="1" noChangeAspect="1" noChangeArrowheads="1" noTextEdit="1"/>
          </p:cNvSpPr>
          <p:nvPr>
            <p:ph type="sldImg"/>
          </p:nvPr>
        </p:nvSpPr>
        <p:spPr>
          <a:xfrm>
            <a:off x="715963" y="630238"/>
            <a:ext cx="5432425" cy="4073525"/>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In the example above, the role "claimant" is required for the exposure entity. (Every entity must have exactly one claimant.) Therefore:</a:t>
            </a:r>
          </a:p>
          <a:p>
            <a:pPr lvl="1" eaLnBrk="1" hangingPunct="1"/>
            <a:r>
              <a:rPr lang="en-US">
                <a:latin typeface="Arial" pitchFamily="34" charset="0"/>
              </a:rPr>
              <a:t>During the creation of the exposure, the Claimant field is required. The selected contact is added to the claim with the role "claimant" for the given exposure.</a:t>
            </a:r>
          </a:p>
          <a:p>
            <a:pPr lvl="1" eaLnBrk="1" hangingPunct="1"/>
            <a:r>
              <a:rPr lang="en-US">
                <a:latin typeface="Arial" pitchFamily="34" charset="0"/>
              </a:rPr>
              <a:t>Once created, the row in the Roles list view for the exposure claimant remains read-only, even if the list view itself is in edit mode.</a:t>
            </a:r>
          </a:p>
          <a:p>
            <a:pPr eaLnBrk="1" hangingPunct="1"/>
            <a:r>
              <a:rPr lang="en-US">
                <a:latin typeface="Arial" pitchFamily="34" charset="0"/>
              </a:rPr>
              <a:t>From the Parties Involved screen (shown</a:t>
            </a:r>
            <a:r>
              <a:rPr lang="en-US" baseline="0">
                <a:latin typeface="Arial" pitchFamily="34" charset="0"/>
              </a:rPr>
              <a:t> in the bottom screenshot)</a:t>
            </a:r>
            <a:r>
              <a:rPr lang="en-US">
                <a:latin typeface="Arial" pitchFamily="34" charset="0"/>
              </a:rPr>
              <a:t>, you cannot modify a role that is required (such as the "Reporter" role shown above (middle</a:t>
            </a:r>
            <a:r>
              <a:rPr lang="en-US" baseline="0">
                <a:latin typeface="Arial" pitchFamily="34" charset="0"/>
              </a:rPr>
              <a:t> screenshot</a:t>
            </a:r>
            <a:r>
              <a:rPr lang="en-US">
                <a:latin typeface="Arial" pitchFamily="34" charset="0"/>
              </a:rPr>
              <a:t>). However, there may be other places in the application where you could move the role from one contact to another. (For example, the Loss Details screen has a "Reported By" widget that can be used to select a different contact to have the role of reporter.)</a:t>
            </a:r>
          </a:p>
          <a:p>
            <a:pPr lvl="1" eaLnBrk="1" hangingPunct="1">
              <a:buFontTx/>
              <a:buNone/>
            </a:pPr>
            <a:endParaRPr lang="en-US">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38A3FDB9-174A-4880-B20A-2361BECDB570}" type="slidenum">
              <a:rPr lang="en-US" altLang="en-US" sz="1200" b="0" smtClean="0">
                <a:solidFill>
                  <a:schemeClr val="tx1"/>
                </a:solidFill>
              </a:rPr>
              <a:pPr eaLnBrk="1" hangingPunct="1"/>
              <a:t>38</a:t>
            </a:fld>
            <a:endParaRPr lang="en-US" altLang="en-US" sz="1200" b="0">
              <a:solidFill>
                <a:schemeClr val="tx1"/>
              </a:solidFill>
            </a:endParaRPr>
          </a:p>
        </p:txBody>
      </p:sp>
      <p:sp>
        <p:nvSpPr>
          <p:cNvPr id="95236" name="Rectangle 2"/>
          <p:cNvSpPr>
            <a:spLocks noGrp="1" noRot="1" noChangeAspect="1" noChangeArrowheads="1" noTextEdit="1"/>
          </p:cNvSpPr>
          <p:nvPr>
            <p:ph type="sldImg"/>
          </p:nvPr>
        </p:nvSpPr>
        <p:spPr>
          <a:xfrm>
            <a:off x="715963" y="630238"/>
            <a:ext cx="5432425" cy="4073525"/>
          </a:xfrm>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In the example above, the role "claimant" is not allowed for the policy entity. (Every entity must have no claimants.) Therefore:</a:t>
            </a:r>
          </a:p>
          <a:p>
            <a:pPr lvl="1" eaLnBrk="1" hangingPunct="1"/>
            <a:r>
              <a:rPr lang="en-US">
                <a:latin typeface="Arial" pitchFamily="34" charset="0"/>
              </a:rPr>
              <a:t>When you select a policy in the Related To dropdown, the "Claimant" role is hidden from the Role dropdown.</a:t>
            </a:r>
          </a:p>
          <a:p>
            <a:pPr lvl="1" eaLnBrk="1" hangingPunct="1"/>
            <a:r>
              <a:rPr lang="en-US">
                <a:latin typeface="Arial" pitchFamily="34" charset="0"/>
              </a:rPr>
              <a:t>If you select "Claimant" from the Role dropdown and then select a policy in the Related To dropdown, the Role dropdown is reset to "none selected".</a:t>
            </a:r>
          </a:p>
          <a:p>
            <a:pPr eaLnBrk="1" hangingPunct="1"/>
            <a:endParaRPr lang="en-US">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62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E12058DD-70A6-4713-A7CB-C0871880AA85}" type="slidenum">
              <a:rPr lang="en-US" altLang="en-US" sz="1200" b="0" smtClean="0">
                <a:solidFill>
                  <a:schemeClr val="tx1"/>
                </a:solidFill>
              </a:rPr>
              <a:pPr eaLnBrk="1" hangingPunct="1"/>
              <a:t>39</a:t>
            </a:fld>
            <a:endParaRPr lang="en-US" altLang="en-US" sz="1200" b="0">
              <a:solidFill>
                <a:schemeClr val="tx1"/>
              </a:solidFill>
            </a:endParaRPr>
          </a:p>
        </p:txBody>
      </p:sp>
      <p:sp>
        <p:nvSpPr>
          <p:cNvPr id="96260" name="Rectangle 2"/>
          <p:cNvSpPr>
            <a:spLocks noGrp="1" noRot="1" noChangeAspect="1" noChangeArrowheads="1" noTextEdit="1"/>
          </p:cNvSpPr>
          <p:nvPr>
            <p:ph type="sldImg"/>
          </p:nvPr>
        </p:nvSpPr>
        <p:spPr>
          <a:xfrm>
            <a:off x="715963" y="630238"/>
            <a:ext cx="5432425" cy="4073525"/>
          </a:xfrm>
          <a:ln/>
        </p:spPr>
      </p:sp>
      <p:sp>
        <p:nvSpPr>
          <p:cNvPr id="962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In the example above, there is already a contact associated with the claim with the role of "driver" for the 1997 Saturn SL incident. Therefore, a second contact cannot be given that same role on that same incident.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Contact Roles - </a:t>
            </a:r>
            <a:fld id="{F30175F9-B77C-4D31-9688-6A50F6DCDABA}" type="slidenum">
              <a:rPr lang="en-US" altLang="en-US" smtClean="0"/>
              <a:pPr>
                <a:defRPr/>
              </a:pPr>
              <a:t>40</a:t>
            </a:fld>
            <a:endParaRPr lang="en-US" altLang="en-US"/>
          </a:p>
        </p:txBody>
      </p:sp>
    </p:spTree>
    <p:extLst>
      <p:ext uri="{BB962C8B-B14F-4D97-AF65-F5344CB8AC3E}">
        <p14:creationId xmlns:p14="http://schemas.microsoft.com/office/powerpoint/2010/main" val="35872049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72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DD4F7409-3878-4E7C-8E14-452DAA31ACCC}" type="slidenum">
              <a:rPr lang="en-US" altLang="en-US" sz="1200" b="0" smtClean="0">
                <a:solidFill>
                  <a:schemeClr val="tx1"/>
                </a:solidFill>
              </a:rPr>
              <a:pPr eaLnBrk="1" hangingPunct="1"/>
              <a:t>41</a:t>
            </a:fld>
            <a:endParaRPr lang="en-US" altLang="en-US" sz="1200" b="0">
              <a:solidFill>
                <a:schemeClr val="tx1"/>
              </a:solidFill>
            </a:endParaRPr>
          </a:p>
        </p:txBody>
      </p:sp>
      <p:sp>
        <p:nvSpPr>
          <p:cNvPr id="97284" name="Rectangle 2"/>
          <p:cNvSpPr>
            <a:spLocks noGrp="1" noRot="1" noChangeAspect="1" noChangeArrowheads="1" noTextEdit="1"/>
          </p:cNvSpPr>
          <p:nvPr>
            <p:ph type="sldImg"/>
          </p:nvPr>
        </p:nvSpPr>
        <p:spPr>
          <a:xfrm>
            <a:off x="715963" y="630238"/>
            <a:ext cx="5432425" cy="4073525"/>
          </a:xfrm>
          <a:ln/>
        </p:spPr>
      </p:sp>
      <p:sp>
        <p:nvSpPr>
          <p:cNvPr id="972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The examples shown in</a:t>
            </a:r>
            <a:r>
              <a:rPr lang="en-US" baseline="0">
                <a:latin typeface="Arial" pitchFamily="34" charset="0"/>
              </a:rPr>
              <a:t> this lesson are </a:t>
            </a:r>
            <a:r>
              <a:rPr lang="en-US">
                <a:latin typeface="Arial" pitchFamily="34" charset="0"/>
              </a:rPr>
              <a:t>taken from the base applicatio</a:t>
            </a:r>
            <a:r>
              <a:rPr lang="en-US" baseline="0">
                <a:latin typeface="Arial" pitchFamily="34" charset="0"/>
              </a:rPr>
              <a:t>n and not configured differently. </a:t>
            </a:r>
            <a:endParaRPr lang="en-US">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83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5300DA95-AEAC-4499-BEA5-8CDC1258B3D9}" type="slidenum">
              <a:rPr lang="en-US" altLang="en-US" sz="1200" b="0" smtClean="0">
                <a:solidFill>
                  <a:schemeClr val="tx1"/>
                </a:solidFill>
              </a:rPr>
              <a:pPr eaLnBrk="1" hangingPunct="1"/>
              <a:t>42</a:t>
            </a:fld>
            <a:endParaRPr lang="en-US" altLang="en-US" sz="1200" b="0">
              <a:solidFill>
                <a:schemeClr val="tx1"/>
              </a:solidFill>
            </a:endParaRPr>
          </a:p>
        </p:txBody>
      </p:sp>
      <p:sp>
        <p:nvSpPr>
          <p:cNvPr id="98308" name="Rectangle 2"/>
          <p:cNvSpPr>
            <a:spLocks noGrp="1" noRot="1" noChangeAspect="1" noChangeArrowheads="1" noTextEdit="1"/>
          </p:cNvSpPr>
          <p:nvPr>
            <p:ph type="sldImg"/>
          </p:nvPr>
        </p:nvSpPr>
        <p:spPr>
          <a:xfrm>
            <a:off x="715963" y="630238"/>
            <a:ext cx="5432425" cy="4073525"/>
          </a:xfrm>
          <a:ln/>
        </p:spPr>
      </p:sp>
      <p:sp>
        <p:nvSpPr>
          <p:cNvPr id="983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In the example above, a claim is not required to have a FirstIntakeDoctor, but it can have up to one FirstIntakeDoctor.</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993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1F9CA7F8-0AE9-4EAD-84FC-BA71DEF455ED}" type="slidenum">
              <a:rPr lang="en-US" altLang="en-US" sz="1200" b="0" smtClean="0">
                <a:solidFill>
                  <a:schemeClr val="tx1"/>
                </a:solidFill>
              </a:rPr>
              <a:pPr eaLnBrk="1" hangingPunct="1"/>
              <a:t>43</a:t>
            </a:fld>
            <a:endParaRPr lang="en-US" altLang="en-US" sz="1200" b="0">
              <a:solidFill>
                <a:schemeClr val="tx1"/>
              </a:solidFill>
            </a:endParaRPr>
          </a:p>
        </p:txBody>
      </p:sp>
      <p:sp>
        <p:nvSpPr>
          <p:cNvPr id="99332" name="Rectangle 2"/>
          <p:cNvSpPr>
            <a:spLocks noGrp="1" noRot="1" noChangeAspect="1" noChangeArrowheads="1" noTextEdit="1"/>
          </p:cNvSpPr>
          <p:nvPr>
            <p:ph type="sldImg"/>
          </p:nvPr>
        </p:nvSpPr>
        <p:spPr>
          <a:xfrm>
            <a:off x="715963" y="630238"/>
            <a:ext cx="5432425" cy="4073525"/>
          </a:xfrm>
          <a:ln/>
        </p:spPr>
      </p:sp>
      <p:sp>
        <p:nvSpPr>
          <p:cNvPr id="993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In the example above, a Policy </a:t>
            </a:r>
            <a:r>
              <a:rPr lang="en-US" b="1">
                <a:latin typeface="Arial" pitchFamily="34" charset="0"/>
              </a:rPr>
              <a:t>must</a:t>
            </a:r>
            <a:r>
              <a:rPr lang="en-US">
                <a:latin typeface="Arial" pitchFamily="34" charset="0"/>
              </a:rPr>
              <a:t> have </a:t>
            </a:r>
            <a:r>
              <a:rPr lang="en-US" b="1">
                <a:latin typeface="Arial" pitchFamily="34" charset="0"/>
              </a:rPr>
              <a:t>exactly one </a:t>
            </a:r>
            <a:r>
              <a:rPr lang="en-US">
                <a:latin typeface="Arial" pitchFamily="34" charset="0"/>
              </a:rPr>
              <a:t>contact with the role insured. Several</a:t>
            </a:r>
            <a:r>
              <a:rPr lang="en-US" baseline="0">
                <a:latin typeface="Arial" pitchFamily="34" charset="0"/>
              </a:rPr>
              <a:t> lines have been omitted from the screenshot (in between the </a:t>
            </a:r>
            <a:r>
              <a:rPr lang="en-US" baseline="0" err="1">
                <a:latin typeface="Arial" pitchFamily="34" charset="0"/>
              </a:rPr>
              <a:t>EntityRef</a:t>
            </a:r>
            <a:r>
              <a:rPr lang="en-US" baseline="0">
                <a:latin typeface="Arial" pitchFamily="34" charset="0"/>
              </a:rPr>
              <a:t> and the </a:t>
            </a:r>
            <a:r>
              <a:rPr lang="en-US" baseline="0" err="1">
                <a:latin typeface="Arial" pitchFamily="34" charset="0"/>
              </a:rPr>
              <a:t>RoleRef</a:t>
            </a:r>
            <a:r>
              <a:rPr lang="en-US" baseline="0">
                <a:latin typeface="Arial" pitchFamily="34" charset="0"/>
              </a:rPr>
              <a:t>) for instructional purposes and for legibility.</a:t>
            </a:r>
            <a:endParaRPr lang="en-US">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1003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A555DD68-656D-495D-A208-4F44E60A698B}" type="slidenum">
              <a:rPr lang="en-US" altLang="en-US" sz="1200" b="0" smtClean="0">
                <a:solidFill>
                  <a:schemeClr val="tx1"/>
                </a:solidFill>
              </a:rPr>
              <a:pPr eaLnBrk="1" hangingPunct="1"/>
              <a:t>44</a:t>
            </a:fld>
            <a:endParaRPr lang="en-US" altLang="en-US" sz="1200" b="0">
              <a:solidFill>
                <a:schemeClr val="tx1"/>
              </a:solidFill>
            </a:endParaRPr>
          </a:p>
        </p:txBody>
      </p:sp>
      <p:sp>
        <p:nvSpPr>
          <p:cNvPr id="100356" name="Rectangle 2"/>
          <p:cNvSpPr>
            <a:spLocks noGrp="1" noRot="1" noChangeAspect="1" noChangeArrowheads="1" noTextEdit="1"/>
          </p:cNvSpPr>
          <p:nvPr>
            <p:ph type="sldImg"/>
          </p:nvPr>
        </p:nvSpPr>
        <p:spPr>
          <a:xfrm>
            <a:off x="715963" y="630238"/>
            <a:ext cx="5432425" cy="4073525"/>
          </a:xfrm>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In the example above, the role "claimant" is exclusive on a claim and required for a claim if the claim's loss type is "WC" (workers' comp). This is because all exposures in a workers' comp claim have a single claimant, and it makes the most sense to track the claimant at the claim level. The role "claimant" is prohibited for a claim if the claim's loss type is "AUTO", "PR" (property), or "GL" (general liability). This is because each exposure in these types of claims can have a different claimant. Therefore, the "claimant" role is owned by the exposures and is not owned at the claim level itself. (If it were owned at the claim level, a user could create a claimant that was not assigned to any exposure, which users shouldn't be allowed to do.)</a:t>
            </a:r>
          </a:p>
          <a:p>
            <a:pPr eaLnBrk="1" hangingPunct="1"/>
            <a:r>
              <a:rPr lang="en-US">
                <a:latin typeface="Arial" pitchFamily="34" charset="0"/>
              </a:rPr>
              <a:t>If a </a:t>
            </a:r>
            <a:r>
              <a:rPr lang="en-US" err="1">
                <a:latin typeface="Arial" pitchFamily="34" charset="0"/>
              </a:rPr>
              <a:t>RoleRef</a:t>
            </a:r>
            <a:r>
              <a:rPr lang="en-US">
                <a:latin typeface="Arial" pitchFamily="34" charset="0"/>
              </a:rPr>
              <a:t> has any conditional </a:t>
            </a:r>
            <a:r>
              <a:rPr lang="en-US" err="1">
                <a:latin typeface="Arial" pitchFamily="34" charset="0"/>
              </a:rPr>
              <a:t>RoleConstraints</a:t>
            </a:r>
            <a:r>
              <a:rPr lang="en-US">
                <a:latin typeface="Arial" pitchFamily="34" charset="0"/>
              </a:rPr>
              <a:t>, then it must have a "default" unconditional </a:t>
            </a:r>
            <a:r>
              <a:rPr lang="en-US" err="1">
                <a:latin typeface="Arial" pitchFamily="34" charset="0"/>
              </a:rPr>
              <a:t>RoleConstraint</a:t>
            </a:r>
            <a:r>
              <a:rPr lang="en-US">
                <a:latin typeface="Arial" pitchFamily="34" charset="0"/>
              </a:rPr>
              <a:t> as well. This is required for internal processing. The unconditional </a:t>
            </a:r>
            <a:r>
              <a:rPr lang="en-US" err="1">
                <a:latin typeface="Arial" pitchFamily="34" charset="0"/>
              </a:rPr>
              <a:t>RoleConstraint</a:t>
            </a:r>
            <a:r>
              <a:rPr lang="en-US">
                <a:latin typeface="Arial" pitchFamily="34" charset="0"/>
              </a:rPr>
              <a:t> should be at the most relaxed level possible, which typically is "</a:t>
            </a:r>
            <a:r>
              <a:rPr lang="en-US" err="1">
                <a:latin typeface="Arial" pitchFamily="34" charset="0"/>
              </a:rPr>
              <a:t>ZeroToMany</a:t>
            </a:r>
            <a:r>
              <a:rPr lang="en-US">
                <a:latin typeface="Arial" pitchFamily="34" charset="0"/>
              </a:rPr>
              <a:t>". In the example above, line 81 is the default </a:t>
            </a:r>
            <a:r>
              <a:rPr lang="en-US" err="1">
                <a:latin typeface="Arial" pitchFamily="34" charset="0"/>
              </a:rPr>
              <a:t>RoleConstraint</a:t>
            </a:r>
            <a:r>
              <a:rPr lang="en-US">
                <a:latin typeface="Arial" pitchFamily="34" charset="0"/>
              </a:rPr>
              <a:t>. If the instance of ClaimCenter has only four possible loss types (WC, AUTO, PR, and GL), then the role constraint will never be enacted. Nevertheless, an unconditional role constraint is still required.</a:t>
            </a:r>
          </a:p>
          <a:p>
            <a:pPr eaLnBrk="1" hangingPunct="1"/>
            <a:endParaRPr lang="en-US">
              <a:latin typeface="Arial" pitchFamily="34" charset="0"/>
            </a:endParaRPr>
          </a:p>
          <a:p>
            <a:pPr eaLnBrk="1" hangingPunct="1"/>
            <a:r>
              <a:rPr lang="en-US">
                <a:latin typeface="Arial" pitchFamily="34" charset="0"/>
              </a:rPr>
              <a:t>Several lines have been omitted from the screenshot (in between the </a:t>
            </a:r>
            <a:r>
              <a:rPr lang="en-US" err="1">
                <a:latin typeface="Arial" pitchFamily="34" charset="0"/>
              </a:rPr>
              <a:t>EntityRef</a:t>
            </a:r>
            <a:r>
              <a:rPr lang="en-US">
                <a:latin typeface="Arial" pitchFamily="34" charset="0"/>
              </a:rPr>
              <a:t> and the </a:t>
            </a:r>
            <a:r>
              <a:rPr lang="en-US" err="1">
                <a:latin typeface="Arial" pitchFamily="34" charset="0"/>
              </a:rPr>
              <a:t>RoleRef</a:t>
            </a:r>
            <a:r>
              <a:rPr lang="en-US">
                <a:latin typeface="Arial" pitchFamily="34" charset="0"/>
              </a:rPr>
              <a:t>) for instructional purposes and for legibility.</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1013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B205DFA6-F2EA-4C67-8526-DF41C2A79864}" type="slidenum">
              <a:rPr lang="en-US" altLang="en-US" sz="1200" b="0" smtClean="0">
                <a:solidFill>
                  <a:schemeClr val="tx1"/>
                </a:solidFill>
              </a:rPr>
              <a:pPr eaLnBrk="1" hangingPunct="1"/>
              <a:t>45</a:t>
            </a:fld>
            <a:endParaRPr lang="en-US" altLang="en-US" sz="1200" b="0">
              <a:solidFill>
                <a:schemeClr val="tx1"/>
              </a:solidFill>
            </a:endParaRPr>
          </a:p>
        </p:txBody>
      </p:sp>
      <p:sp>
        <p:nvSpPr>
          <p:cNvPr id="101380" name="Rectangle 2"/>
          <p:cNvSpPr>
            <a:spLocks noGrp="1" noRot="1" noChangeAspect="1" noChangeArrowheads="1" noTextEdit="1"/>
          </p:cNvSpPr>
          <p:nvPr>
            <p:ph type="sldImg"/>
          </p:nvPr>
        </p:nvSpPr>
        <p:spPr>
          <a:xfrm>
            <a:off x="715963" y="630238"/>
            <a:ext cx="5432425" cy="4073525"/>
          </a:xfrm>
          <a:ln/>
        </p:spPr>
      </p:sp>
      <p:sp>
        <p:nvSpPr>
          <p:cNvPr id="1013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Contact Roles - </a:t>
            </a:r>
            <a:fld id="{F30175F9-B77C-4D31-9688-6A50F6DCDABA}" type="slidenum">
              <a:rPr lang="en-US" altLang="en-US" smtClean="0"/>
              <a:pPr>
                <a:defRPr/>
              </a:pPr>
              <a:t>46</a:t>
            </a:fld>
            <a:endParaRPr lang="en-US" altLang="en-US"/>
          </a:p>
        </p:txBody>
      </p:sp>
    </p:spTree>
    <p:extLst>
      <p:ext uri="{BB962C8B-B14F-4D97-AF65-F5344CB8AC3E}">
        <p14:creationId xmlns:p14="http://schemas.microsoft.com/office/powerpoint/2010/main" val="34542067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1024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823D237D-29BF-4F2E-B7C4-33A6204CC5A0}" type="slidenum">
              <a:rPr lang="en-US" altLang="en-US" sz="1200" b="0" smtClean="0">
                <a:solidFill>
                  <a:schemeClr val="tx1"/>
                </a:solidFill>
              </a:rPr>
              <a:pPr eaLnBrk="1" hangingPunct="1"/>
              <a:t>47</a:t>
            </a:fld>
            <a:endParaRPr lang="en-US" altLang="en-US" sz="1200" b="0">
              <a:solidFill>
                <a:schemeClr val="tx1"/>
              </a:solidFill>
            </a:endParaRPr>
          </a:p>
        </p:txBody>
      </p:sp>
      <p:sp>
        <p:nvSpPr>
          <p:cNvPr id="102404" name="Rectangle 2"/>
          <p:cNvSpPr>
            <a:spLocks noGrp="1" noRot="1" noChangeAspect="1" noChangeArrowheads="1" noTextEdit="1"/>
          </p:cNvSpPr>
          <p:nvPr>
            <p:ph type="sldImg"/>
          </p:nvPr>
        </p:nvSpPr>
        <p:spPr>
          <a:xfrm>
            <a:off x="715963" y="630238"/>
            <a:ext cx="5432425" cy="4073525"/>
          </a:xfrm>
          <a:ln/>
        </p:spPr>
      </p:sp>
      <p:sp>
        <p:nvSpPr>
          <p:cNvPr id="1024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pitchFamily="34" charset="0"/>
              </a:defRPr>
            </a:lvl1pPr>
            <a:lvl2pPr marL="742950" indent="-285750" defTabSz="942975" eaLnBrk="0" hangingPunct="0">
              <a:tabLst>
                <a:tab pos="5591175" algn="r"/>
              </a:tabLst>
              <a:defRPr sz="2000" b="1">
                <a:solidFill>
                  <a:srgbClr val="FF0000"/>
                </a:solidFill>
                <a:latin typeface="Arial" pitchFamily="34" charset="0"/>
              </a:defRPr>
            </a:lvl2pPr>
            <a:lvl3pPr marL="1143000" indent="-228600" defTabSz="942975" eaLnBrk="0" hangingPunct="0">
              <a:tabLst>
                <a:tab pos="5591175" algn="r"/>
              </a:tabLst>
              <a:defRPr sz="2000" b="1">
                <a:solidFill>
                  <a:srgbClr val="FF0000"/>
                </a:solidFill>
                <a:latin typeface="Arial" pitchFamily="34" charset="0"/>
              </a:defRPr>
            </a:lvl3pPr>
            <a:lvl4pPr marL="1600200" indent="-228600" defTabSz="942975" eaLnBrk="0" hangingPunct="0">
              <a:tabLst>
                <a:tab pos="5591175" algn="r"/>
              </a:tabLst>
              <a:defRPr sz="2000" b="1">
                <a:solidFill>
                  <a:srgbClr val="FF0000"/>
                </a:solidFill>
                <a:latin typeface="Arial" pitchFamily="34" charset="0"/>
              </a:defRPr>
            </a:lvl4pPr>
            <a:lvl5pPr marL="2057400" indent="-228600" defTabSz="942975" eaLnBrk="0" hangingPunct="0">
              <a:tabLst>
                <a:tab pos="5591175" algn="r"/>
              </a:tabLst>
              <a:defRPr sz="2000" b="1">
                <a:solidFill>
                  <a:srgbClr val="FF0000"/>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pitchFamily="34" charset="0"/>
              </a:defRPr>
            </a:lvl9pPr>
          </a:lstStyle>
          <a:p>
            <a:r>
              <a:rPr lang="en-US" altLang="en-US" sz="1200" b="0">
                <a:solidFill>
                  <a:schemeClr val="tx1"/>
                </a:solidFill>
              </a:rPr>
              <a:t>	</a:t>
            </a:r>
            <a:endParaRPr lang="en-US" sz="1200" b="0">
              <a:solidFill>
                <a:schemeClr val="tx1"/>
              </a:solidFill>
            </a:endParaRPr>
          </a:p>
        </p:txBody>
      </p:sp>
      <p:sp>
        <p:nvSpPr>
          <p:cNvPr id="1034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pitchFamily="34" charset="0"/>
              </a:defRPr>
            </a:lvl1pPr>
            <a:lvl2pPr marL="742950" indent="-285750" defTabSz="931863" eaLnBrk="0" hangingPunct="0">
              <a:tabLst>
                <a:tab pos="2743200" algn="ctr"/>
              </a:tabLst>
              <a:defRPr sz="2000" b="1">
                <a:solidFill>
                  <a:srgbClr val="FF0000"/>
                </a:solidFill>
                <a:latin typeface="Arial" pitchFamily="34" charset="0"/>
              </a:defRPr>
            </a:lvl2pPr>
            <a:lvl3pPr marL="1143000" indent="-228600" defTabSz="931863" eaLnBrk="0" hangingPunct="0">
              <a:tabLst>
                <a:tab pos="2743200" algn="ctr"/>
              </a:tabLst>
              <a:defRPr sz="2000" b="1">
                <a:solidFill>
                  <a:srgbClr val="FF0000"/>
                </a:solidFill>
                <a:latin typeface="Arial" pitchFamily="34" charset="0"/>
              </a:defRPr>
            </a:lvl3pPr>
            <a:lvl4pPr marL="1600200" indent="-228600" defTabSz="931863" eaLnBrk="0" hangingPunct="0">
              <a:tabLst>
                <a:tab pos="2743200" algn="ctr"/>
              </a:tabLst>
              <a:defRPr sz="2000" b="1">
                <a:solidFill>
                  <a:srgbClr val="FF0000"/>
                </a:solidFill>
                <a:latin typeface="Arial" pitchFamily="34" charset="0"/>
              </a:defRPr>
            </a:lvl4pPr>
            <a:lvl5pPr marL="2057400" indent="-228600" defTabSz="931863" eaLnBrk="0" hangingPunct="0">
              <a:tabLst>
                <a:tab pos="2743200" algn="ctr"/>
              </a:tabLst>
              <a:defRPr sz="2000" b="1">
                <a:solidFill>
                  <a:srgbClr val="FF0000"/>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pitchFamily="34" charset="0"/>
              </a:defRPr>
            </a:lvl9pPr>
          </a:lstStyle>
          <a:p>
            <a:pPr eaLnBrk="1" hangingPunct="1"/>
            <a:r>
              <a:rPr lang="en-US" altLang="en-US" sz="1200" b="0">
                <a:solidFill>
                  <a:schemeClr val="tx1"/>
                </a:solidFill>
              </a:rPr>
              <a:t>	Contact Roles - </a:t>
            </a:r>
            <a:fld id="{D9101C62-DFC6-414A-8A45-FFF7F4E6BF4D}" type="slidenum">
              <a:rPr lang="en-US" altLang="en-US" sz="1200" b="0" smtClean="0">
                <a:solidFill>
                  <a:schemeClr val="tx1"/>
                </a:solidFill>
              </a:rPr>
              <a:pPr eaLnBrk="1" hangingPunct="1"/>
              <a:t>48</a:t>
            </a:fld>
            <a:endParaRPr lang="en-US" altLang="en-US" sz="1200" b="0">
              <a:solidFill>
                <a:schemeClr val="tx1"/>
              </a:solidFill>
            </a:endParaRPr>
          </a:p>
        </p:txBody>
      </p:sp>
      <p:sp>
        <p:nvSpPr>
          <p:cNvPr id="103428" name="Rectangle 2"/>
          <p:cNvSpPr>
            <a:spLocks noGrp="1" noRot="1" noChangeAspect="1" noChangeArrowheads="1" noTextEdit="1"/>
          </p:cNvSpPr>
          <p:nvPr>
            <p:ph type="sldImg"/>
          </p:nvPr>
        </p:nvSpPr>
        <p:spPr>
          <a:xfrm>
            <a:off x="715963" y="630238"/>
            <a:ext cx="5432425" cy="4073525"/>
          </a:xfrm>
          <a:ln/>
        </p:spPr>
      </p:sp>
      <p:sp>
        <p:nvSpPr>
          <p:cNvPr id="1034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a:latin typeface="Arial" pitchFamily="34" charset="0"/>
              </a:rPr>
              <a:t>Answers</a:t>
            </a:r>
          </a:p>
          <a:p>
            <a:pPr marL="209550" indent="-209550" eaLnBrk="1" hangingPunct="1"/>
            <a:r>
              <a:rPr lang="en-US" dirty="0">
                <a:latin typeface="Arial" pitchFamily="34" charset="0"/>
              </a:rPr>
              <a:t>1. The </a:t>
            </a:r>
            <a:r>
              <a:rPr lang="en-US" dirty="0" err="1">
                <a:latin typeface="Arial" pitchFamily="34" charset="0"/>
              </a:rPr>
              <a:t>typelist</a:t>
            </a:r>
            <a:r>
              <a:rPr lang="en-US" dirty="0">
                <a:latin typeface="Arial" pitchFamily="34" charset="0"/>
              </a:rPr>
              <a:t> is used for the contact filter which appears at the top of the Contacts list.</a:t>
            </a:r>
          </a:p>
          <a:p>
            <a:pPr marL="209550" indent="-209550" eaLnBrk="1" hangingPunct="1"/>
            <a:r>
              <a:rPr lang="en-US" dirty="0">
                <a:latin typeface="Arial" pitchFamily="34" charset="0"/>
              </a:rPr>
              <a:t>2. 	a) Entity role constraint</a:t>
            </a:r>
          </a:p>
          <a:p>
            <a:pPr marL="209550" indent="-209550" eaLnBrk="1" hangingPunct="1"/>
            <a:r>
              <a:rPr lang="en-US" dirty="0">
                <a:latin typeface="Arial" pitchFamily="34" charset="0"/>
              </a:rPr>
              <a:t>	b) Subtype</a:t>
            </a:r>
          </a:p>
          <a:p>
            <a:pPr marL="209550" indent="-209550" eaLnBrk="1" hangingPunct="1"/>
            <a:r>
              <a:rPr lang="en-US" dirty="0">
                <a:latin typeface="Arial" pitchFamily="34" charset="0"/>
              </a:rPr>
              <a:t>	c) Entity role constraint</a:t>
            </a:r>
          </a:p>
          <a:p>
            <a:pPr marL="209550" indent="-209550" eaLnBrk="1" hangingPunct="1"/>
            <a:r>
              <a:rPr lang="en-US" dirty="0">
                <a:latin typeface="Arial" pitchFamily="34" charset="0"/>
              </a:rPr>
              <a:t>	d) Contact role type constraint</a:t>
            </a:r>
          </a:p>
          <a:p>
            <a:pPr marL="209550" indent="-209550" eaLnBrk="1" hangingPunct="1"/>
            <a:r>
              <a:rPr lang="en-US" dirty="0">
                <a:latin typeface="Arial" pitchFamily="34" charset="0"/>
              </a:rPr>
              <a:t>3. It is a derived property that returns the contact who has the role "reporter" on the claim.</a:t>
            </a:r>
          </a:p>
          <a:p>
            <a:pPr marL="209550" indent="-209550" eaLnBrk="1" hangingPunct="1"/>
            <a:endParaRPr lang="en-US" b="1" dirty="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Contact Roles - </a:t>
            </a:r>
            <a:fld id="{211C349A-83C9-44D0-A356-DBEB3FC715FC}" type="slidenum">
              <a:rPr lang="en-US" altLang="en-US" smtClean="0"/>
              <a:pPr>
                <a:defRPr/>
              </a:pPr>
              <a:t>49</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386535347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9693317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3199373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32858023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19821002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8951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4034974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9470823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3847635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7368259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160561827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340765789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latin typeface="Arial" charset="0"/>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latin typeface="Arial"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7140CF68-03AF-4C15-9F5E-449ADC5CD282}"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latin typeface="Arial" charset="0"/>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15"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6"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image" Target="../media/image5.wmf"/><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4.wmf"/><Relationship Id="rId4" Type="http://schemas.openxmlformats.org/officeDocument/2006/relationships/image" Target="../media/image5.wmf"/></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5.wmf"/></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Contact Roles</a:t>
            </a:r>
          </a:p>
        </p:txBody>
      </p:sp>
      <p:sp>
        <p:nvSpPr>
          <p:cNvPr id="4099" name="Text Placeholder 4"/>
          <p:cNvSpPr>
            <a:spLocks noGrp="1"/>
          </p:cNvSpPr>
          <p:nvPr>
            <p:ph type="body" sz="quarter" idx="10"/>
          </p:nvPr>
        </p:nvSpPr>
        <p:spPr>
          <a:xfrm>
            <a:off x="5718175" y="6167438"/>
            <a:ext cx="3089275" cy="273050"/>
          </a:xfrm>
        </p:spPr>
        <p:txBody>
          <a:bodyPr/>
          <a:lstStyle/>
          <a:p>
            <a:r>
              <a:rPr lang="en-US"/>
              <a:t>22 April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r>
              <a:rPr lang="en-US" dirty="0"/>
              <a:t>By the end of this lesson, you should be able to:</a:t>
            </a:r>
          </a:p>
          <a:p>
            <a:pPr lvl="1" eaLnBrk="1" hangingPunct="1"/>
            <a:r>
              <a:rPr lang="en-US" dirty="0"/>
              <a:t>Describe the ways in which contacts are categorized</a:t>
            </a:r>
          </a:p>
          <a:p>
            <a:pPr lvl="1" eaLnBrk="1" hangingPunct="1"/>
            <a:r>
              <a:rPr lang="en-US" dirty="0"/>
              <a:t>Describe and configure contact roles</a:t>
            </a:r>
          </a:p>
          <a:p>
            <a:pPr lvl="1" eaLnBrk="1" hangingPunct="1"/>
            <a:r>
              <a:rPr lang="en-US" dirty="0"/>
              <a:t>Configure contact role type constraints</a:t>
            </a:r>
          </a:p>
          <a:p>
            <a:pPr lvl="1" eaLnBrk="1" hangingPunct="1"/>
            <a:r>
              <a:rPr lang="en-US" dirty="0"/>
              <a:t>Configure entity role constraints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pPr>
            <a:r>
              <a:rPr lang="en-US" sz="2800"/>
              <a:t>Contact basics</a:t>
            </a:r>
          </a:p>
          <a:p>
            <a:pPr>
              <a:lnSpc>
                <a:spcPct val="150000"/>
              </a:lnSpc>
            </a:pPr>
            <a:r>
              <a:rPr lang="en-US" sz="2800">
                <a:solidFill>
                  <a:srgbClr val="C0C0C0"/>
                </a:solidFill>
              </a:rPr>
              <a:t>Contact roles</a:t>
            </a:r>
          </a:p>
          <a:p>
            <a:pPr>
              <a:lnSpc>
                <a:spcPct val="150000"/>
              </a:lnSpc>
            </a:pPr>
            <a:r>
              <a:rPr lang="en-US" sz="2800">
                <a:solidFill>
                  <a:srgbClr val="C0C0C0"/>
                </a:solidFill>
              </a:rPr>
              <a:t>Categorizing contact</a:t>
            </a:r>
          </a:p>
          <a:p>
            <a:pPr>
              <a:lnSpc>
                <a:spcPct val="150000"/>
              </a:lnSpc>
            </a:pPr>
            <a:r>
              <a:rPr lang="en-US" sz="2800">
                <a:solidFill>
                  <a:srgbClr val="C0C0C0"/>
                </a:solidFill>
              </a:rPr>
              <a:t>Contact role configuration</a:t>
            </a:r>
          </a:p>
          <a:p>
            <a:pPr>
              <a:lnSpc>
                <a:spcPct val="150000"/>
              </a:lnSpc>
            </a:pPr>
            <a:r>
              <a:rPr lang="en-US" sz="2800">
                <a:solidFill>
                  <a:srgbClr val="C0C0C0"/>
                </a:solidFill>
              </a:rPr>
              <a:t>Contact role type constraints</a:t>
            </a:r>
          </a:p>
          <a:p>
            <a:pPr>
              <a:lnSpc>
                <a:spcPct val="150000"/>
              </a:lnSpc>
            </a:pPr>
            <a:r>
              <a:rPr lang="en-US" sz="2800">
                <a:solidFill>
                  <a:srgbClr val="C0C0C0"/>
                </a:solidFill>
              </a:rPr>
              <a:t>Entity role constraints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4846638" y="1963738"/>
            <a:ext cx="0" cy="107156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1" name="Line 3"/>
          <p:cNvSpPr>
            <a:spLocks noChangeShapeType="1"/>
          </p:cNvSpPr>
          <p:nvPr/>
        </p:nvSpPr>
        <p:spPr bwMode="auto">
          <a:xfrm>
            <a:off x="4284663" y="1985963"/>
            <a:ext cx="0" cy="107156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2" name="Rectangle 4"/>
          <p:cNvSpPr>
            <a:spLocks noGrp="1" noChangeArrowheads="1"/>
          </p:cNvSpPr>
          <p:nvPr>
            <p:ph type="title"/>
          </p:nvPr>
        </p:nvSpPr>
        <p:spPr>
          <a:xfrm>
            <a:off x="495300" y="138938"/>
            <a:ext cx="8318500" cy="742950"/>
          </a:xfrm>
        </p:spPr>
        <p:txBody>
          <a:bodyPr/>
          <a:lstStyle/>
          <a:p>
            <a:pPr eaLnBrk="1" hangingPunct="1"/>
            <a:r>
              <a:rPr lang="en-US"/>
              <a:t>Contacts</a:t>
            </a:r>
          </a:p>
        </p:txBody>
      </p:sp>
      <p:sp>
        <p:nvSpPr>
          <p:cNvPr id="7173" name="Rectangle 5"/>
          <p:cNvSpPr>
            <a:spLocks noGrp="1" noChangeArrowheads="1"/>
          </p:cNvSpPr>
          <p:nvPr>
            <p:ph idx="1"/>
          </p:nvPr>
        </p:nvSpPr>
        <p:spPr>
          <a:xfrm>
            <a:off x="519113" y="4465638"/>
            <a:ext cx="8318500" cy="1924050"/>
          </a:xfrm>
        </p:spPr>
        <p:txBody>
          <a:bodyPr/>
          <a:lstStyle/>
          <a:p>
            <a:r>
              <a:rPr lang="en-US"/>
              <a:t>A contact is a person, organization, or venue which is related to the claim, such as...</a:t>
            </a:r>
          </a:p>
          <a:p>
            <a:pPr lvl="1"/>
            <a:r>
              <a:rPr lang="en-US"/>
              <a:t>Someone who suffered a loss</a:t>
            </a:r>
          </a:p>
          <a:p>
            <a:pPr lvl="1"/>
            <a:r>
              <a:rPr lang="en-US"/>
              <a:t>Some company or vendor which repaired a damaged asset</a:t>
            </a:r>
          </a:p>
          <a:p>
            <a:pPr lvl="1"/>
            <a:r>
              <a:rPr lang="en-US"/>
              <a:t>Some place where disputes were resolved</a:t>
            </a:r>
          </a:p>
        </p:txBody>
      </p:sp>
      <p:sp>
        <p:nvSpPr>
          <p:cNvPr id="7174" name="Text Box 6"/>
          <p:cNvSpPr txBox="1">
            <a:spLocks noChangeArrowheads="1"/>
          </p:cNvSpPr>
          <p:nvPr/>
        </p:nvSpPr>
        <p:spPr bwMode="auto">
          <a:xfrm>
            <a:off x="76200" y="3446463"/>
            <a:ext cx="1352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r" eaLnBrk="1" hangingPunct="1"/>
            <a:r>
              <a:rPr lang="en-US">
                <a:solidFill>
                  <a:schemeClr val="bg1"/>
                </a:solidFill>
              </a:rPr>
              <a:t>Claimant</a:t>
            </a:r>
          </a:p>
        </p:txBody>
      </p:sp>
      <p:sp>
        <p:nvSpPr>
          <p:cNvPr id="7175" name="Text Box 7"/>
          <p:cNvSpPr txBox="1">
            <a:spLocks noChangeArrowheads="1"/>
          </p:cNvSpPr>
          <p:nvPr/>
        </p:nvSpPr>
        <p:spPr bwMode="auto">
          <a:xfrm>
            <a:off x="3894138" y="501650"/>
            <a:ext cx="1300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Contact</a:t>
            </a:r>
          </a:p>
        </p:txBody>
      </p:sp>
      <p:sp>
        <p:nvSpPr>
          <p:cNvPr id="7176" name="Line 8"/>
          <p:cNvSpPr>
            <a:spLocks noChangeShapeType="1"/>
          </p:cNvSpPr>
          <p:nvPr/>
        </p:nvSpPr>
        <p:spPr bwMode="auto">
          <a:xfrm>
            <a:off x="1108075" y="1970088"/>
            <a:ext cx="6664325" cy="0"/>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7" name="Line 9"/>
          <p:cNvSpPr>
            <a:spLocks noChangeShapeType="1"/>
          </p:cNvSpPr>
          <p:nvPr/>
        </p:nvSpPr>
        <p:spPr bwMode="auto">
          <a:xfrm>
            <a:off x="4543425" y="1408113"/>
            <a:ext cx="0" cy="565150"/>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8" name="Line 10"/>
          <p:cNvSpPr>
            <a:spLocks noChangeShapeType="1"/>
          </p:cNvSpPr>
          <p:nvPr/>
        </p:nvSpPr>
        <p:spPr bwMode="auto">
          <a:xfrm>
            <a:off x="1978025" y="1970088"/>
            <a:ext cx="0" cy="107156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9" name="AutoShape 11"/>
          <p:cNvSpPr>
            <a:spLocks noChangeArrowheads="1"/>
          </p:cNvSpPr>
          <p:nvPr/>
        </p:nvSpPr>
        <p:spPr bwMode="auto">
          <a:xfrm>
            <a:off x="4052888" y="84613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7180" name="Line 12"/>
          <p:cNvSpPr>
            <a:spLocks noChangeShapeType="1"/>
          </p:cNvSpPr>
          <p:nvPr/>
        </p:nvSpPr>
        <p:spPr bwMode="auto">
          <a:xfrm flipV="1">
            <a:off x="1089025" y="1970088"/>
            <a:ext cx="0" cy="79851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181" name="Group 13"/>
          <p:cNvGrpSpPr>
            <a:grpSpLocks/>
          </p:cNvGrpSpPr>
          <p:nvPr/>
        </p:nvGrpSpPr>
        <p:grpSpPr bwMode="auto">
          <a:xfrm>
            <a:off x="592138" y="2436813"/>
            <a:ext cx="984250" cy="984250"/>
            <a:chOff x="1350" y="686"/>
            <a:chExt cx="1132" cy="1132"/>
          </a:xfrm>
        </p:grpSpPr>
        <p:sp>
          <p:nvSpPr>
            <p:cNvPr id="7246" name="AutoShape 1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47" name="Picture 1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82" name="Text Box 16"/>
          <p:cNvSpPr txBox="1">
            <a:spLocks noChangeArrowheads="1"/>
          </p:cNvSpPr>
          <p:nvPr/>
        </p:nvSpPr>
        <p:spPr bwMode="auto">
          <a:xfrm>
            <a:off x="2943225" y="3460750"/>
            <a:ext cx="1708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r" eaLnBrk="1" hangingPunct="1"/>
            <a:r>
              <a:rPr lang="en-US">
                <a:solidFill>
                  <a:schemeClr val="bg1"/>
                </a:solidFill>
              </a:rPr>
              <a:t>Auto Repair</a:t>
            </a:r>
            <a:br>
              <a:rPr lang="en-US">
                <a:solidFill>
                  <a:schemeClr val="bg1"/>
                </a:solidFill>
              </a:rPr>
            </a:br>
            <a:r>
              <a:rPr lang="en-US">
                <a:solidFill>
                  <a:schemeClr val="bg1"/>
                </a:solidFill>
              </a:rPr>
              <a:t>Shop</a:t>
            </a:r>
          </a:p>
        </p:txBody>
      </p:sp>
      <p:sp>
        <p:nvSpPr>
          <p:cNvPr id="7183" name="Text Box 17"/>
          <p:cNvSpPr txBox="1">
            <a:spLocks noChangeArrowheads="1"/>
          </p:cNvSpPr>
          <p:nvPr/>
        </p:nvSpPr>
        <p:spPr bwMode="auto">
          <a:xfrm>
            <a:off x="6892925" y="3460750"/>
            <a:ext cx="170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Court</a:t>
            </a:r>
          </a:p>
        </p:txBody>
      </p:sp>
      <p:grpSp>
        <p:nvGrpSpPr>
          <p:cNvPr id="7184" name="Group 18"/>
          <p:cNvGrpSpPr>
            <a:grpSpLocks/>
          </p:cNvGrpSpPr>
          <p:nvPr/>
        </p:nvGrpSpPr>
        <p:grpSpPr bwMode="auto">
          <a:xfrm>
            <a:off x="3371850" y="2357438"/>
            <a:ext cx="1217613" cy="809625"/>
            <a:chOff x="2496" y="1641"/>
            <a:chExt cx="767" cy="510"/>
          </a:xfrm>
        </p:grpSpPr>
        <p:sp>
          <p:nvSpPr>
            <p:cNvPr id="7242"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7243"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7244"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7245"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7185" name="Group 23"/>
          <p:cNvGrpSpPr>
            <a:grpSpLocks/>
          </p:cNvGrpSpPr>
          <p:nvPr/>
        </p:nvGrpSpPr>
        <p:grpSpPr bwMode="auto">
          <a:xfrm>
            <a:off x="4781550" y="2370138"/>
            <a:ext cx="1217613" cy="809625"/>
            <a:chOff x="2496" y="1641"/>
            <a:chExt cx="767" cy="510"/>
          </a:xfrm>
        </p:grpSpPr>
        <p:sp>
          <p:nvSpPr>
            <p:cNvPr id="7238" name="AutoShape 24"/>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7239" name="Rectangle 25"/>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7240" name="Rectangle 26"/>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7241" name="Rectangle 27"/>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sp>
        <p:nvSpPr>
          <p:cNvPr id="7186" name="Text Box 28"/>
          <p:cNvSpPr txBox="1">
            <a:spLocks noChangeArrowheads="1"/>
          </p:cNvSpPr>
          <p:nvPr/>
        </p:nvSpPr>
        <p:spPr bwMode="auto">
          <a:xfrm>
            <a:off x="4848225" y="3460750"/>
            <a:ext cx="170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a:solidFill>
                  <a:schemeClr val="bg1"/>
                </a:solidFill>
              </a:rPr>
              <a:t>Hospital</a:t>
            </a:r>
          </a:p>
        </p:txBody>
      </p:sp>
      <p:grpSp>
        <p:nvGrpSpPr>
          <p:cNvPr id="7187" name="Group 29"/>
          <p:cNvGrpSpPr>
            <a:grpSpLocks/>
          </p:cNvGrpSpPr>
          <p:nvPr/>
        </p:nvGrpSpPr>
        <p:grpSpPr bwMode="auto">
          <a:xfrm>
            <a:off x="3608388" y="2760663"/>
            <a:ext cx="1150937" cy="708025"/>
            <a:chOff x="2943" y="3239"/>
            <a:chExt cx="725" cy="446"/>
          </a:xfrm>
        </p:grpSpPr>
        <p:sp>
          <p:nvSpPr>
            <p:cNvPr id="7220"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21"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22"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1 w 1140"/>
                <a:gd name="T37" fmla="*/ 1 h 526"/>
                <a:gd name="T38" fmla="*/ 1 w 1140"/>
                <a:gd name="T39" fmla="*/ 1 h 526"/>
                <a:gd name="T40" fmla="*/ 1 w 1140"/>
                <a:gd name="T41" fmla="*/ 1 h 526"/>
                <a:gd name="T42" fmla="*/ 1 w 1140"/>
                <a:gd name="T43" fmla="*/ 1 h 526"/>
                <a:gd name="T44" fmla="*/ 1 w 1140"/>
                <a:gd name="T45" fmla="*/ 1 h 526"/>
                <a:gd name="T46" fmla="*/ 1 w 1140"/>
                <a:gd name="T47" fmla="*/ 1 h 526"/>
                <a:gd name="T48" fmla="*/ 1 w 1140"/>
                <a:gd name="T49" fmla="*/ 1 h 526"/>
                <a:gd name="T50" fmla="*/ 1 w 1140"/>
                <a:gd name="T51" fmla="*/ 1 h 526"/>
                <a:gd name="T52" fmla="*/ 1 w 1140"/>
                <a:gd name="T53" fmla="*/ 1 h 526"/>
                <a:gd name="T54" fmla="*/ 1 w 1140"/>
                <a:gd name="T55" fmla="*/ 1 h 526"/>
                <a:gd name="T56" fmla="*/ 1 w 1140"/>
                <a:gd name="T57" fmla="*/ 1 h 526"/>
                <a:gd name="T58" fmla="*/ 1 w 1140"/>
                <a:gd name="T59" fmla="*/ 1 h 526"/>
                <a:gd name="T60" fmla="*/ 1 w 1140"/>
                <a:gd name="T61" fmla="*/ 1 h 526"/>
                <a:gd name="T62" fmla="*/ 1 w 1140"/>
                <a:gd name="T63" fmla="*/ 1 h 526"/>
                <a:gd name="T64" fmla="*/ 1 w 1140"/>
                <a:gd name="T65" fmla="*/ 1 h 526"/>
                <a:gd name="T66" fmla="*/ 1 w 1140"/>
                <a:gd name="T67" fmla="*/ 1 h 526"/>
                <a:gd name="T68" fmla="*/ 1 w 1140"/>
                <a:gd name="T69" fmla="*/ 1 h 526"/>
                <a:gd name="T70" fmla="*/ 1 w 1140"/>
                <a:gd name="T71" fmla="*/ 1 h 526"/>
                <a:gd name="T72" fmla="*/ 1 w 1140"/>
                <a:gd name="T73" fmla="*/ 1 h 526"/>
                <a:gd name="T74" fmla="*/ 1 w 1140"/>
                <a:gd name="T75" fmla="*/ 1 h 526"/>
                <a:gd name="T76" fmla="*/ 1 w 1140"/>
                <a:gd name="T77" fmla="*/ 1 h 526"/>
                <a:gd name="T78" fmla="*/ 1 w 1140"/>
                <a:gd name="T79" fmla="*/ 1 h 526"/>
                <a:gd name="T80" fmla="*/ 1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7223"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7224"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7225"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26"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27"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28"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229"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7230"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31"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32"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7233"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4"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5"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7236"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7"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188" name="Group 48"/>
          <p:cNvGrpSpPr>
            <a:grpSpLocks/>
          </p:cNvGrpSpPr>
          <p:nvPr/>
        </p:nvGrpSpPr>
        <p:grpSpPr bwMode="auto">
          <a:xfrm>
            <a:off x="5313363" y="2676525"/>
            <a:ext cx="622300" cy="792163"/>
            <a:chOff x="2900" y="2726"/>
            <a:chExt cx="505" cy="642"/>
          </a:xfrm>
        </p:grpSpPr>
        <p:sp>
          <p:nvSpPr>
            <p:cNvPr id="7215" name="Oval 49"/>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7216" name="Freeform 50"/>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7217" name="Freeform 51"/>
            <p:cNvSpPr>
              <a:spLocks/>
            </p:cNvSpPr>
            <p:nvPr/>
          </p:nvSpPr>
          <p:spPr bwMode="auto">
            <a:xfrm>
              <a:off x="2900" y="3068"/>
              <a:ext cx="409" cy="264"/>
            </a:xfrm>
            <a:custGeom>
              <a:avLst/>
              <a:gdLst>
                <a:gd name="T0" fmla="*/ 1 w 559"/>
                <a:gd name="T1" fmla="*/ 1 h 434"/>
                <a:gd name="T2" fmla="*/ 1 w 559"/>
                <a:gd name="T3" fmla="*/ 0 h 434"/>
                <a:gd name="T4" fmla="*/ 1 w 559"/>
                <a:gd name="T5" fmla="*/ 1 h 434"/>
                <a:gd name="T6" fmla="*/ 3 w 559"/>
                <a:gd name="T7" fmla="*/ 1 h 434"/>
                <a:gd name="T8" fmla="*/ 4 w 559"/>
                <a:gd name="T9" fmla="*/ 1 h 434"/>
                <a:gd name="T10" fmla="*/ 4 w 559"/>
                <a:gd name="T11" fmla="*/ 1 h 434"/>
                <a:gd name="T12" fmla="*/ 4 w 559"/>
                <a:gd name="T13" fmla="*/ 1 h 434"/>
                <a:gd name="T14" fmla="*/ 3 w 559"/>
                <a:gd name="T15" fmla="*/ 1 h 434"/>
                <a:gd name="T16" fmla="*/ 1 w 559"/>
                <a:gd name="T17" fmla="*/ 1 h 434"/>
                <a:gd name="T18" fmla="*/ 1 w 559"/>
                <a:gd name="T19" fmla="*/ 1 h 434"/>
                <a:gd name="T20" fmla="*/ 1 w 559"/>
                <a:gd name="T21" fmla="*/ 1 h 434"/>
                <a:gd name="T22" fmla="*/ 0 w 559"/>
                <a:gd name="T23" fmla="*/ 1 h 434"/>
                <a:gd name="T24" fmla="*/ 1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7218" name="Freeform 52"/>
            <p:cNvSpPr>
              <a:spLocks/>
            </p:cNvSpPr>
            <p:nvPr/>
          </p:nvSpPr>
          <p:spPr bwMode="auto">
            <a:xfrm>
              <a:off x="3022" y="2996"/>
              <a:ext cx="219" cy="331"/>
            </a:xfrm>
            <a:custGeom>
              <a:avLst/>
              <a:gdLst>
                <a:gd name="T0" fmla="*/ 1 w 300"/>
                <a:gd name="T1" fmla="*/ 0 h 543"/>
                <a:gd name="T2" fmla="*/ 0 w 300"/>
                <a:gd name="T3" fmla="*/ 1 h 543"/>
                <a:gd name="T4" fmla="*/ 1 w 300"/>
                <a:gd name="T5" fmla="*/ 1 h 543"/>
                <a:gd name="T6" fmla="*/ 2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7219" name="Line 53"/>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189" name="Line 54"/>
          <p:cNvSpPr>
            <a:spLocks noChangeShapeType="1"/>
          </p:cNvSpPr>
          <p:nvPr/>
        </p:nvSpPr>
        <p:spPr bwMode="auto">
          <a:xfrm flipV="1">
            <a:off x="7759700" y="1970088"/>
            <a:ext cx="0" cy="79851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190" name="Group 55"/>
          <p:cNvGrpSpPr>
            <a:grpSpLocks/>
          </p:cNvGrpSpPr>
          <p:nvPr/>
        </p:nvGrpSpPr>
        <p:grpSpPr bwMode="auto">
          <a:xfrm>
            <a:off x="7175500" y="2295525"/>
            <a:ext cx="1152525" cy="1131888"/>
            <a:chOff x="4460" y="1398"/>
            <a:chExt cx="826" cy="811"/>
          </a:xfrm>
        </p:grpSpPr>
        <p:sp>
          <p:nvSpPr>
            <p:cNvPr id="7203" name="Freeform 56"/>
            <p:cNvSpPr>
              <a:spLocks/>
            </p:cNvSpPr>
            <p:nvPr/>
          </p:nvSpPr>
          <p:spPr bwMode="auto">
            <a:xfrm>
              <a:off x="4460" y="1398"/>
              <a:ext cx="826" cy="811"/>
            </a:xfrm>
            <a:custGeom>
              <a:avLst/>
              <a:gdLst>
                <a:gd name="T0" fmla="*/ 2083 w 772"/>
                <a:gd name="T1" fmla="*/ 1933 h 758"/>
                <a:gd name="T2" fmla="*/ 2083 w 772"/>
                <a:gd name="T3" fmla="*/ 1739 h 758"/>
                <a:gd name="T4" fmla="*/ 1992 w 772"/>
                <a:gd name="T5" fmla="*/ 1739 h 758"/>
                <a:gd name="T6" fmla="*/ 1992 w 772"/>
                <a:gd name="T7" fmla="*/ 804 h 758"/>
                <a:gd name="T8" fmla="*/ 2083 w 772"/>
                <a:gd name="T9" fmla="*/ 804 h 758"/>
                <a:gd name="T10" fmla="*/ 2083 w 772"/>
                <a:gd name="T11" fmla="*/ 600 h 758"/>
                <a:gd name="T12" fmla="*/ 2248 w 772"/>
                <a:gd name="T13" fmla="*/ 600 h 758"/>
                <a:gd name="T14" fmla="*/ 2260 w 772"/>
                <a:gd name="T15" fmla="*/ 542 h 758"/>
                <a:gd name="T16" fmla="*/ 1156 w 772"/>
                <a:gd name="T17" fmla="*/ 0 h 758"/>
                <a:gd name="T18" fmla="*/ 30 w 772"/>
                <a:gd name="T19" fmla="*/ 542 h 758"/>
                <a:gd name="T20" fmla="*/ 45 w 772"/>
                <a:gd name="T21" fmla="*/ 600 h 758"/>
                <a:gd name="T22" fmla="*/ 229 w 772"/>
                <a:gd name="T23" fmla="*/ 600 h 758"/>
                <a:gd name="T24" fmla="*/ 229 w 772"/>
                <a:gd name="T25" fmla="*/ 804 h 758"/>
                <a:gd name="T26" fmla="*/ 343 w 772"/>
                <a:gd name="T27" fmla="*/ 804 h 758"/>
                <a:gd name="T28" fmla="*/ 343 w 772"/>
                <a:gd name="T29" fmla="*/ 1739 h 758"/>
                <a:gd name="T30" fmla="*/ 229 w 772"/>
                <a:gd name="T31" fmla="*/ 1739 h 758"/>
                <a:gd name="T32" fmla="*/ 229 w 772"/>
                <a:gd name="T33" fmla="*/ 1933 h 758"/>
                <a:gd name="T34" fmla="*/ 0 w 772"/>
                <a:gd name="T35" fmla="*/ 1933 h 758"/>
                <a:gd name="T36" fmla="*/ 0 w 772"/>
                <a:gd name="T37" fmla="*/ 2237 h 758"/>
                <a:gd name="T38" fmla="*/ 2279 w 772"/>
                <a:gd name="T39" fmla="*/ 2237 h 758"/>
                <a:gd name="T40" fmla="*/ 2279 w 772"/>
                <a:gd name="T41" fmla="*/ 1933 h 758"/>
                <a:gd name="T42" fmla="*/ 2083 w 772"/>
                <a:gd name="T43" fmla="*/ 1933 h 75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2"/>
                <a:gd name="T67" fmla="*/ 0 h 758"/>
                <a:gd name="T68" fmla="*/ 772 w 772"/>
                <a:gd name="T69" fmla="*/ 758 h 75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2" h="758">
                  <a:moveTo>
                    <a:pt x="706" y="656"/>
                  </a:moveTo>
                  <a:lnTo>
                    <a:pt x="706" y="590"/>
                  </a:lnTo>
                  <a:lnTo>
                    <a:pt x="675" y="590"/>
                  </a:lnTo>
                  <a:lnTo>
                    <a:pt x="675" y="272"/>
                  </a:lnTo>
                  <a:lnTo>
                    <a:pt x="706" y="272"/>
                  </a:lnTo>
                  <a:lnTo>
                    <a:pt x="706" y="205"/>
                  </a:lnTo>
                  <a:lnTo>
                    <a:pt x="762" y="205"/>
                  </a:lnTo>
                  <a:lnTo>
                    <a:pt x="767" y="183"/>
                  </a:lnTo>
                  <a:lnTo>
                    <a:pt x="392" y="0"/>
                  </a:lnTo>
                  <a:lnTo>
                    <a:pt x="10" y="183"/>
                  </a:lnTo>
                  <a:lnTo>
                    <a:pt x="16" y="205"/>
                  </a:lnTo>
                  <a:lnTo>
                    <a:pt x="78" y="205"/>
                  </a:lnTo>
                  <a:lnTo>
                    <a:pt x="78" y="272"/>
                  </a:lnTo>
                  <a:lnTo>
                    <a:pt x="117" y="272"/>
                  </a:lnTo>
                  <a:lnTo>
                    <a:pt x="117" y="590"/>
                  </a:lnTo>
                  <a:lnTo>
                    <a:pt x="78" y="590"/>
                  </a:lnTo>
                  <a:lnTo>
                    <a:pt x="78" y="656"/>
                  </a:lnTo>
                  <a:lnTo>
                    <a:pt x="0" y="656"/>
                  </a:lnTo>
                  <a:lnTo>
                    <a:pt x="0" y="758"/>
                  </a:lnTo>
                  <a:lnTo>
                    <a:pt x="772" y="758"/>
                  </a:lnTo>
                  <a:lnTo>
                    <a:pt x="772" y="656"/>
                  </a:lnTo>
                  <a:lnTo>
                    <a:pt x="706" y="656"/>
                  </a:lnTo>
                  <a:close/>
                </a:path>
              </a:pathLst>
            </a:custGeom>
            <a:solidFill>
              <a:srgbClr val="CC9900"/>
            </a:solidFill>
            <a:ln w="12700">
              <a:solidFill>
                <a:schemeClr val="bg1"/>
              </a:solidFill>
              <a:round/>
              <a:headEnd/>
              <a:tailEnd/>
            </a:ln>
          </p:spPr>
          <p:txBody>
            <a:bodyPr wrap="none" anchor="ctr"/>
            <a:lstStyle/>
            <a:p>
              <a:endParaRPr lang="en-US"/>
            </a:p>
          </p:txBody>
        </p:sp>
        <p:sp>
          <p:nvSpPr>
            <p:cNvPr id="7204" name="Rectangle 57"/>
            <p:cNvSpPr>
              <a:spLocks noChangeArrowheads="1"/>
            </p:cNvSpPr>
            <p:nvPr/>
          </p:nvSpPr>
          <p:spPr bwMode="auto">
            <a:xfrm>
              <a:off x="4569" y="1628"/>
              <a:ext cx="162" cy="35"/>
            </a:xfrm>
            <a:prstGeom prst="rect">
              <a:avLst/>
            </a:prstGeom>
            <a:solidFill>
              <a:srgbClr val="FFCC99"/>
            </a:solidFill>
            <a:ln w="9525" algn="ctr">
              <a:solidFill>
                <a:schemeClr val="bg1"/>
              </a:solidFill>
              <a:miter lim="800000"/>
              <a:headEnd/>
              <a:tailEnd/>
            </a:ln>
          </p:spPr>
          <p:txBody>
            <a:bodyPr/>
            <a:lstStyle/>
            <a:p>
              <a:endParaRPr lang="en-US"/>
            </a:p>
          </p:txBody>
        </p:sp>
        <p:sp>
          <p:nvSpPr>
            <p:cNvPr id="7205" name="Rectangle 58"/>
            <p:cNvSpPr>
              <a:spLocks noChangeArrowheads="1"/>
            </p:cNvSpPr>
            <p:nvPr/>
          </p:nvSpPr>
          <p:spPr bwMode="auto">
            <a:xfrm>
              <a:off x="5069" y="1689"/>
              <a:ext cx="88" cy="336"/>
            </a:xfrm>
            <a:prstGeom prst="rect">
              <a:avLst/>
            </a:prstGeom>
            <a:solidFill>
              <a:srgbClr val="FFCC99"/>
            </a:solidFill>
            <a:ln w="9525" algn="ctr">
              <a:solidFill>
                <a:schemeClr val="bg1"/>
              </a:solidFill>
              <a:miter lim="800000"/>
              <a:headEnd/>
              <a:tailEnd/>
            </a:ln>
          </p:spPr>
          <p:txBody>
            <a:bodyPr/>
            <a:lstStyle/>
            <a:p>
              <a:endParaRPr lang="en-US"/>
            </a:p>
          </p:txBody>
        </p:sp>
        <p:sp>
          <p:nvSpPr>
            <p:cNvPr id="7206" name="Rectangle 59"/>
            <p:cNvSpPr>
              <a:spLocks noChangeArrowheads="1"/>
            </p:cNvSpPr>
            <p:nvPr/>
          </p:nvSpPr>
          <p:spPr bwMode="auto">
            <a:xfrm>
              <a:off x="5027" y="2055"/>
              <a:ext cx="164" cy="34"/>
            </a:xfrm>
            <a:prstGeom prst="rect">
              <a:avLst/>
            </a:prstGeom>
            <a:solidFill>
              <a:srgbClr val="FFCC99"/>
            </a:solidFill>
            <a:ln w="9525" algn="ctr">
              <a:solidFill>
                <a:schemeClr val="bg1"/>
              </a:solidFill>
              <a:miter lim="800000"/>
              <a:headEnd/>
              <a:tailEnd/>
            </a:ln>
          </p:spPr>
          <p:txBody>
            <a:bodyPr/>
            <a:lstStyle/>
            <a:p>
              <a:endParaRPr lang="en-US"/>
            </a:p>
          </p:txBody>
        </p:sp>
        <p:sp>
          <p:nvSpPr>
            <p:cNvPr id="7207" name="Rectangle 60"/>
            <p:cNvSpPr>
              <a:spLocks noChangeArrowheads="1"/>
            </p:cNvSpPr>
            <p:nvPr/>
          </p:nvSpPr>
          <p:spPr bwMode="auto">
            <a:xfrm>
              <a:off x="4611" y="1689"/>
              <a:ext cx="86" cy="336"/>
            </a:xfrm>
            <a:prstGeom prst="rect">
              <a:avLst/>
            </a:prstGeom>
            <a:solidFill>
              <a:srgbClr val="FFCC99"/>
            </a:solidFill>
            <a:ln w="9525" algn="ctr">
              <a:solidFill>
                <a:schemeClr val="bg1"/>
              </a:solidFill>
              <a:miter lim="800000"/>
              <a:headEnd/>
              <a:tailEnd/>
            </a:ln>
          </p:spPr>
          <p:txBody>
            <a:bodyPr/>
            <a:lstStyle/>
            <a:p>
              <a:endParaRPr lang="en-US"/>
            </a:p>
          </p:txBody>
        </p:sp>
        <p:sp>
          <p:nvSpPr>
            <p:cNvPr id="7208" name="Rectangle 61"/>
            <p:cNvSpPr>
              <a:spLocks noChangeArrowheads="1"/>
            </p:cNvSpPr>
            <p:nvPr/>
          </p:nvSpPr>
          <p:spPr bwMode="auto">
            <a:xfrm>
              <a:off x="4569" y="2055"/>
              <a:ext cx="162" cy="34"/>
            </a:xfrm>
            <a:prstGeom prst="rect">
              <a:avLst/>
            </a:prstGeom>
            <a:solidFill>
              <a:srgbClr val="FFCC99"/>
            </a:solidFill>
            <a:ln w="9525" algn="ctr">
              <a:solidFill>
                <a:schemeClr val="bg1"/>
              </a:solidFill>
              <a:miter lim="800000"/>
              <a:headEnd/>
              <a:tailEnd/>
            </a:ln>
          </p:spPr>
          <p:txBody>
            <a:bodyPr/>
            <a:lstStyle/>
            <a:p>
              <a:endParaRPr lang="en-US"/>
            </a:p>
          </p:txBody>
        </p:sp>
        <p:sp>
          <p:nvSpPr>
            <p:cNvPr id="7209" name="Rectangle 62"/>
            <p:cNvSpPr>
              <a:spLocks noChangeArrowheads="1"/>
            </p:cNvSpPr>
            <p:nvPr/>
          </p:nvSpPr>
          <p:spPr bwMode="auto">
            <a:xfrm>
              <a:off x="4486" y="2125"/>
              <a:ext cx="774" cy="58"/>
            </a:xfrm>
            <a:prstGeom prst="rect">
              <a:avLst/>
            </a:prstGeom>
            <a:solidFill>
              <a:srgbClr val="FFCC99"/>
            </a:solidFill>
            <a:ln w="9525" algn="ctr">
              <a:solidFill>
                <a:schemeClr val="bg1"/>
              </a:solidFill>
              <a:miter lim="800000"/>
              <a:headEnd/>
              <a:tailEnd/>
            </a:ln>
          </p:spPr>
          <p:txBody>
            <a:bodyPr/>
            <a:lstStyle/>
            <a:p>
              <a:endParaRPr lang="en-US"/>
            </a:p>
          </p:txBody>
        </p:sp>
        <p:sp>
          <p:nvSpPr>
            <p:cNvPr id="7210" name="Rectangle 63"/>
            <p:cNvSpPr>
              <a:spLocks noChangeArrowheads="1"/>
            </p:cNvSpPr>
            <p:nvPr/>
          </p:nvSpPr>
          <p:spPr bwMode="auto">
            <a:xfrm>
              <a:off x="5027" y="1628"/>
              <a:ext cx="164" cy="35"/>
            </a:xfrm>
            <a:prstGeom prst="rect">
              <a:avLst/>
            </a:prstGeom>
            <a:solidFill>
              <a:srgbClr val="FFCC99"/>
            </a:solidFill>
            <a:ln w="9525" algn="ctr">
              <a:solidFill>
                <a:schemeClr val="bg1"/>
              </a:solidFill>
              <a:miter lim="800000"/>
              <a:headEnd/>
              <a:tailEnd/>
            </a:ln>
          </p:spPr>
          <p:txBody>
            <a:bodyPr/>
            <a:lstStyle/>
            <a:p>
              <a:endParaRPr lang="en-US"/>
            </a:p>
          </p:txBody>
        </p:sp>
        <p:sp>
          <p:nvSpPr>
            <p:cNvPr id="7211" name="Freeform 64"/>
            <p:cNvSpPr>
              <a:spLocks/>
            </p:cNvSpPr>
            <p:nvPr/>
          </p:nvSpPr>
          <p:spPr bwMode="auto">
            <a:xfrm>
              <a:off x="4533" y="1426"/>
              <a:ext cx="688" cy="166"/>
            </a:xfrm>
            <a:custGeom>
              <a:avLst/>
              <a:gdLst>
                <a:gd name="T0" fmla="*/ 1898 w 643"/>
                <a:gd name="T1" fmla="*/ 426 h 156"/>
                <a:gd name="T2" fmla="*/ 0 w 643"/>
                <a:gd name="T3" fmla="*/ 426 h 156"/>
                <a:gd name="T4" fmla="*/ 959 w 643"/>
                <a:gd name="T5" fmla="*/ 0 h 156"/>
                <a:gd name="T6" fmla="*/ 1898 w 643"/>
                <a:gd name="T7" fmla="*/ 426 h 156"/>
                <a:gd name="T8" fmla="*/ 0 60000 65536"/>
                <a:gd name="T9" fmla="*/ 0 60000 65536"/>
                <a:gd name="T10" fmla="*/ 0 60000 65536"/>
                <a:gd name="T11" fmla="*/ 0 60000 65536"/>
                <a:gd name="T12" fmla="*/ 0 w 643"/>
                <a:gd name="T13" fmla="*/ 0 h 156"/>
                <a:gd name="T14" fmla="*/ 643 w 643"/>
                <a:gd name="T15" fmla="*/ 156 h 156"/>
              </a:gdLst>
              <a:ahLst/>
              <a:cxnLst>
                <a:cxn ang="T8">
                  <a:pos x="T0" y="T1"/>
                </a:cxn>
                <a:cxn ang="T9">
                  <a:pos x="T2" y="T3"/>
                </a:cxn>
                <a:cxn ang="T10">
                  <a:pos x="T4" y="T5"/>
                </a:cxn>
                <a:cxn ang="T11">
                  <a:pos x="T6" y="T7"/>
                </a:cxn>
              </a:cxnLst>
              <a:rect l="T12" t="T13" r="T14" b="T15"/>
              <a:pathLst>
                <a:path w="643" h="156">
                  <a:moveTo>
                    <a:pt x="643" y="156"/>
                  </a:moveTo>
                  <a:lnTo>
                    <a:pt x="0" y="156"/>
                  </a:lnTo>
                  <a:lnTo>
                    <a:pt x="324" y="0"/>
                  </a:lnTo>
                  <a:lnTo>
                    <a:pt x="643" y="156"/>
                  </a:lnTo>
                  <a:close/>
                </a:path>
              </a:pathLst>
            </a:custGeom>
            <a:solidFill>
              <a:srgbClr val="FFCC99"/>
            </a:solidFill>
            <a:ln w="9525">
              <a:solidFill>
                <a:schemeClr val="bg1"/>
              </a:solidFill>
              <a:round/>
              <a:headEnd/>
              <a:tailEnd/>
            </a:ln>
          </p:spPr>
          <p:txBody>
            <a:bodyPr/>
            <a:lstStyle/>
            <a:p>
              <a:endParaRPr lang="en-US"/>
            </a:p>
          </p:txBody>
        </p:sp>
        <p:sp>
          <p:nvSpPr>
            <p:cNvPr id="7212" name="Rectangle 65"/>
            <p:cNvSpPr>
              <a:spLocks noChangeArrowheads="1"/>
            </p:cNvSpPr>
            <p:nvPr/>
          </p:nvSpPr>
          <p:spPr bwMode="auto">
            <a:xfrm>
              <a:off x="4788" y="1628"/>
              <a:ext cx="162" cy="35"/>
            </a:xfrm>
            <a:prstGeom prst="rect">
              <a:avLst/>
            </a:prstGeom>
            <a:solidFill>
              <a:srgbClr val="FFCC99"/>
            </a:solidFill>
            <a:ln w="9525" algn="ctr">
              <a:solidFill>
                <a:schemeClr val="bg1"/>
              </a:solidFill>
              <a:miter lim="800000"/>
              <a:headEnd/>
              <a:tailEnd/>
            </a:ln>
          </p:spPr>
          <p:txBody>
            <a:bodyPr/>
            <a:lstStyle/>
            <a:p>
              <a:endParaRPr lang="en-US"/>
            </a:p>
          </p:txBody>
        </p:sp>
        <p:sp>
          <p:nvSpPr>
            <p:cNvPr id="7213" name="Rectangle 66"/>
            <p:cNvSpPr>
              <a:spLocks noChangeArrowheads="1"/>
            </p:cNvSpPr>
            <p:nvPr/>
          </p:nvSpPr>
          <p:spPr bwMode="auto">
            <a:xfrm>
              <a:off x="4830" y="1689"/>
              <a:ext cx="87" cy="336"/>
            </a:xfrm>
            <a:prstGeom prst="rect">
              <a:avLst/>
            </a:prstGeom>
            <a:solidFill>
              <a:srgbClr val="FFCC99"/>
            </a:solidFill>
            <a:ln w="9525" algn="ctr">
              <a:solidFill>
                <a:schemeClr val="bg1"/>
              </a:solidFill>
              <a:miter lim="800000"/>
              <a:headEnd/>
              <a:tailEnd/>
            </a:ln>
          </p:spPr>
          <p:txBody>
            <a:bodyPr/>
            <a:lstStyle/>
            <a:p>
              <a:endParaRPr lang="en-US"/>
            </a:p>
          </p:txBody>
        </p:sp>
        <p:sp>
          <p:nvSpPr>
            <p:cNvPr id="7214" name="Rectangle 67"/>
            <p:cNvSpPr>
              <a:spLocks noChangeArrowheads="1"/>
            </p:cNvSpPr>
            <p:nvPr/>
          </p:nvSpPr>
          <p:spPr bwMode="auto">
            <a:xfrm>
              <a:off x="4788" y="2055"/>
              <a:ext cx="162" cy="34"/>
            </a:xfrm>
            <a:prstGeom prst="rect">
              <a:avLst/>
            </a:prstGeom>
            <a:solidFill>
              <a:srgbClr val="FFCC99"/>
            </a:solidFill>
            <a:ln w="9525" algn="ctr">
              <a:solidFill>
                <a:schemeClr val="bg1"/>
              </a:solidFill>
              <a:miter lim="800000"/>
              <a:headEnd/>
              <a:tailEnd/>
            </a:ln>
          </p:spPr>
          <p:txBody>
            <a:bodyPr/>
            <a:lstStyle/>
            <a:p>
              <a:endParaRPr lang="en-US"/>
            </a:p>
          </p:txBody>
        </p:sp>
      </p:grpSp>
      <p:grpSp>
        <p:nvGrpSpPr>
          <p:cNvPr id="7191" name="Group 68"/>
          <p:cNvGrpSpPr>
            <a:grpSpLocks/>
          </p:cNvGrpSpPr>
          <p:nvPr/>
        </p:nvGrpSpPr>
        <p:grpSpPr bwMode="auto">
          <a:xfrm>
            <a:off x="1443038" y="2409825"/>
            <a:ext cx="1441450" cy="1341438"/>
            <a:chOff x="1485" y="1518"/>
            <a:chExt cx="908" cy="845"/>
          </a:xfrm>
        </p:grpSpPr>
        <p:sp>
          <p:nvSpPr>
            <p:cNvPr id="7197" name="Text Box 69"/>
            <p:cNvSpPr txBox="1">
              <a:spLocks noChangeArrowheads="1"/>
            </p:cNvSpPr>
            <p:nvPr/>
          </p:nvSpPr>
          <p:spPr bwMode="auto">
            <a:xfrm>
              <a:off x="1574" y="2171"/>
              <a:ext cx="81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a:solidFill>
                    <a:schemeClr val="bg1"/>
                  </a:solidFill>
                </a:rPr>
                <a:t>Reporter</a:t>
              </a:r>
            </a:p>
          </p:txBody>
        </p:sp>
        <p:grpSp>
          <p:nvGrpSpPr>
            <p:cNvPr id="7198" name="Group 70"/>
            <p:cNvGrpSpPr>
              <a:grpSpLocks/>
            </p:cNvGrpSpPr>
            <p:nvPr/>
          </p:nvGrpSpPr>
          <p:grpSpPr bwMode="auto">
            <a:xfrm>
              <a:off x="1485" y="1518"/>
              <a:ext cx="756" cy="685"/>
              <a:chOff x="2780" y="1585"/>
              <a:chExt cx="668" cy="605"/>
            </a:xfrm>
          </p:grpSpPr>
          <p:sp>
            <p:nvSpPr>
              <p:cNvPr id="7199" name="AutoShape 71"/>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solidFill>
                    <a:schemeClr val="bg1"/>
                  </a:solidFill>
                </a:endParaRPr>
              </a:p>
            </p:txBody>
          </p:sp>
          <p:grpSp>
            <p:nvGrpSpPr>
              <p:cNvPr id="7200" name="Group 72"/>
              <p:cNvGrpSpPr>
                <a:grpSpLocks/>
              </p:cNvGrpSpPr>
              <p:nvPr/>
            </p:nvGrpSpPr>
            <p:grpSpPr bwMode="auto">
              <a:xfrm flipH="1">
                <a:off x="3089" y="1738"/>
                <a:ext cx="359" cy="452"/>
                <a:chOff x="4325" y="1984"/>
                <a:chExt cx="359" cy="452"/>
              </a:xfrm>
            </p:grpSpPr>
            <p:sp>
              <p:nvSpPr>
                <p:cNvPr id="7201" name="Freeform 73"/>
                <p:cNvSpPr>
                  <a:spLocks/>
                </p:cNvSpPr>
                <p:nvPr/>
              </p:nvSpPr>
              <p:spPr bwMode="auto">
                <a:xfrm>
                  <a:off x="4325" y="1984"/>
                  <a:ext cx="359" cy="452"/>
                </a:xfrm>
                <a:custGeom>
                  <a:avLst/>
                  <a:gdLst>
                    <a:gd name="T0" fmla="*/ 1 w 717"/>
                    <a:gd name="T1" fmla="*/ 0 h 906"/>
                    <a:gd name="T2" fmla="*/ 1 w 717"/>
                    <a:gd name="T3" fmla="*/ 0 h 906"/>
                    <a:gd name="T4" fmla="*/ 1 w 717"/>
                    <a:gd name="T5" fmla="*/ 0 h 906"/>
                    <a:gd name="T6" fmla="*/ 1 w 717"/>
                    <a:gd name="T7" fmla="*/ 0 h 906"/>
                    <a:gd name="T8" fmla="*/ 1 w 717"/>
                    <a:gd name="T9" fmla="*/ 0 h 906"/>
                    <a:gd name="T10" fmla="*/ 1 w 717"/>
                    <a:gd name="T11" fmla="*/ 0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0 h 906"/>
                    <a:gd name="T32" fmla="*/ 1 w 717"/>
                    <a:gd name="T33" fmla="*/ 0 h 906"/>
                    <a:gd name="T34" fmla="*/ 1 w 717"/>
                    <a:gd name="T35" fmla="*/ 0 h 906"/>
                    <a:gd name="T36" fmla="*/ 1 w 717"/>
                    <a:gd name="T37" fmla="*/ 0 h 906"/>
                    <a:gd name="T38" fmla="*/ 1 w 717"/>
                    <a:gd name="T39" fmla="*/ 0 h 906"/>
                    <a:gd name="T40" fmla="*/ 1 w 717"/>
                    <a:gd name="T41" fmla="*/ 0 h 906"/>
                    <a:gd name="T42" fmla="*/ 1 w 717"/>
                    <a:gd name="T43" fmla="*/ 0 h 906"/>
                    <a:gd name="T44" fmla="*/ 1 w 717"/>
                    <a:gd name="T45" fmla="*/ 0 h 906"/>
                    <a:gd name="T46" fmla="*/ 1 w 717"/>
                    <a:gd name="T47" fmla="*/ 0 h 906"/>
                    <a:gd name="T48" fmla="*/ 1 w 717"/>
                    <a:gd name="T49" fmla="*/ 0 h 906"/>
                    <a:gd name="T50" fmla="*/ 1 w 717"/>
                    <a:gd name="T51" fmla="*/ 0 h 906"/>
                    <a:gd name="T52" fmla="*/ 1 w 717"/>
                    <a:gd name="T53" fmla="*/ 0 h 906"/>
                    <a:gd name="T54" fmla="*/ 1 w 717"/>
                    <a:gd name="T55" fmla="*/ 0 h 906"/>
                    <a:gd name="T56" fmla="*/ 1 w 717"/>
                    <a:gd name="T57" fmla="*/ 0 h 906"/>
                    <a:gd name="T58" fmla="*/ 1 w 717"/>
                    <a:gd name="T59" fmla="*/ 0 h 906"/>
                    <a:gd name="T60" fmla="*/ 1 w 717"/>
                    <a:gd name="T61" fmla="*/ 0 h 906"/>
                    <a:gd name="T62" fmla="*/ 1 w 717"/>
                    <a:gd name="T63" fmla="*/ 0 h 906"/>
                    <a:gd name="T64" fmla="*/ 1 w 717"/>
                    <a:gd name="T65" fmla="*/ 0 h 906"/>
                    <a:gd name="T66" fmla="*/ 1 w 717"/>
                    <a:gd name="T67" fmla="*/ 0 h 906"/>
                    <a:gd name="T68" fmla="*/ 1 w 717"/>
                    <a:gd name="T69" fmla="*/ 0 h 906"/>
                    <a:gd name="T70" fmla="*/ 1 w 717"/>
                    <a:gd name="T71" fmla="*/ 0 h 906"/>
                    <a:gd name="T72" fmla="*/ 1 w 717"/>
                    <a:gd name="T73" fmla="*/ 0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2" name="Freeform 74"/>
                <p:cNvSpPr>
                  <a:spLocks/>
                </p:cNvSpPr>
                <p:nvPr/>
              </p:nvSpPr>
              <p:spPr bwMode="auto">
                <a:xfrm>
                  <a:off x="4378" y="2075"/>
                  <a:ext cx="281" cy="341"/>
                </a:xfrm>
                <a:custGeom>
                  <a:avLst/>
                  <a:gdLst>
                    <a:gd name="T0" fmla="*/ 1 w 562"/>
                    <a:gd name="T1" fmla="*/ 1 h 682"/>
                    <a:gd name="T2" fmla="*/ 1 w 562"/>
                    <a:gd name="T3" fmla="*/ 1 h 682"/>
                    <a:gd name="T4" fmla="*/ 1 w 562"/>
                    <a:gd name="T5" fmla="*/ 1 h 682"/>
                    <a:gd name="T6" fmla="*/ 1 w 562"/>
                    <a:gd name="T7" fmla="*/ 1 h 682"/>
                    <a:gd name="T8" fmla="*/ 1 w 562"/>
                    <a:gd name="T9" fmla="*/ 1 h 682"/>
                    <a:gd name="T10" fmla="*/ 1 w 562"/>
                    <a:gd name="T11" fmla="*/ 1 h 682"/>
                    <a:gd name="T12" fmla="*/ 1 w 562"/>
                    <a:gd name="T13" fmla="*/ 1 h 682"/>
                    <a:gd name="T14" fmla="*/ 1 w 562"/>
                    <a:gd name="T15" fmla="*/ 1 h 682"/>
                    <a:gd name="T16" fmla="*/ 1 w 562"/>
                    <a:gd name="T17" fmla="*/ 1 h 682"/>
                    <a:gd name="T18" fmla="*/ 1 w 562"/>
                    <a:gd name="T19" fmla="*/ 1 h 682"/>
                    <a:gd name="T20" fmla="*/ 1 w 562"/>
                    <a:gd name="T21" fmla="*/ 1 h 682"/>
                    <a:gd name="T22" fmla="*/ 1 w 562"/>
                    <a:gd name="T23" fmla="*/ 1 h 682"/>
                    <a:gd name="T24" fmla="*/ 1 w 562"/>
                    <a:gd name="T25" fmla="*/ 1 h 682"/>
                    <a:gd name="T26" fmla="*/ 1 w 562"/>
                    <a:gd name="T27" fmla="*/ 1 h 682"/>
                    <a:gd name="T28" fmla="*/ 1 w 562"/>
                    <a:gd name="T29" fmla="*/ 1 h 682"/>
                    <a:gd name="T30" fmla="*/ 1 w 562"/>
                    <a:gd name="T31" fmla="*/ 1 h 682"/>
                    <a:gd name="T32" fmla="*/ 0 w 562"/>
                    <a:gd name="T33" fmla="*/ 1 h 682"/>
                    <a:gd name="T34" fmla="*/ 1 w 562"/>
                    <a:gd name="T35" fmla="*/ 0 h 682"/>
                    <a:gd name="T36" fmla="*/ 1 w 562"/>
                    <a:gd name="T37" fmla="*/ 1 h 682"/>
                    <a:gd name="T38" fmla="*/ 1 w 562"/>
                    <a:gd name="T39" fmla="*/ 1 h 682"/>
                    <a:gd name="T40" fmla="*/ 1 w 562"/>
                    <a:gd name="T41" fmla="*/ 1 h 682"/>
                    <a:gd name="T42" fmla="*/ 1 w 562"/>
                    <a:gd name="T43" fmla="*/ 1 h 682"/>
                    <a:gd name="T44" fmla="*/ 1 w 562"/>
                    <a:gd name="T45" fmla="*/ 1 h 682"/>
                    <a:gd name="T46" fmla="*/ 1 w 562"/>
                    <a:gd name="T47" fmla="*/ 1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grpSp>
        <p:nvGrpSpPr>
          <p:cNvPr id="7192" name="Group 75"/>
          <p:cNvGrpSpPr>
            <a:grpSpLocks/>
          </p:cNvGrpSpPr>
          <p:nvPr/>
        </p:nvGrpSpPr>
        <p:grpSpPr bwMode="auto">
          <a:xfrm>
            <a:off x="7723188" y="2897188"/>
            <a:ext cx="723900" cy="468312"/>
            <a:chOff x="2657" y="3160"/>
            <a:chExt cx="670" cy="433"/>
          </a:xfrm>
        </p:grpSpPr>
        <p:sp>
          <p:nvSpPr>
            <p:cNvPr id="7193" name="Freeform 76"/>
            <p:cNvSpPr>
              <a:spLocks/>
            </p:cNvSpPr>
            <p:nvPr/>
          </p:nvSpPr>
          <p:spPr bwMode="auto">
            <a:xfrm>
              <a:off x="2787" y="3160"/>
              <a:ext cx="249" cy="123"/>
            </a:xfrm>
            <a:custGeom>
              <a:avLst/>
              <a:gdLst>
                <a:gd name="T0" fmla="*/ 0 w 542"/>
                <a:gd name="T1" fmla="*/ 0 h 269"/>
                <a:gd name="T2" fmla="*/ 0 w 542"/>
                <a:gd name="T3" fmla="*/ 0 h 269"/>
                <a:gd name="T4" fmla="*/ 0 w 542"/>
                <a:gd name="T5" fmla="*/ 0 h 269"/>
                <a:gd name="T6" fmla="*/ 0 w 542"/>
                <a:gd name="T7" fmla="*/ 0 h 269"/>
                <a:gd name="T8" fmla="*/ 0 w 542"/>
                <a:gd name="T9" fmla="*/ 0 h 269"/>
                <a:gd name="T10" fmla="*/ 0 w 542"/>
                <a:gd name="T11" fmla="*/ 0 h 269"/>
                <a:gd name="T12" fmla="*/ 0 w 542"/>
                <a:gd name="T13" fmla="*/ 0 h 269"/>
                <a:gd name="T14" fmla="*/ 0 w 542"/>
                <a:gd name="T15" fmla="*/ 0 h 269"/>
                <a:gd name="T16" fmla="*/ 0 w 542"/>
                <a:gd name="T17" fmla="*/ 0 h 269"/>
                <a:gd name="T18" fmla="*/ 0 w 542"/>
                <a:gd name="T19" fmla="*/ 0 h 269"/>
                <a:gd name="T20" fmla="*/ 0 w 542"/>
                <a:gd name="T21" fmla="*/ 0 h 269"/>
                <a:gd name="T22" fmla="*/ 0 w 542"/>
                <a:gd name="T23" fmla="*/ 0 h 269"/>
                <a:gd name="T24" fmla="*/ 0 w 542"/>
                <a:gd name="T25" fmla="*/ 0 h 269"/>
                <a:gd name="T26" fmla="*/ 0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0 w 542"/>
                <a:gd name="T57" fmla="*/ 0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4" name="Freeform 77"/>
            <p:cNvSpPr>
              <a:spLocks/>
            </p:cNvSpPr>
            <p:nvPr/>
          </p:nvSpPr>
          <p:spPr bwMode="auto">
            <a:xfrm>
              <a:off x="2657" y="3468"/>
              <a:ext cx="249" cy="125"/>
            </a:xfrm>
            <a:custGeom>
              <a:avLst/>
              <a:gdLst>
                <a:gd name="T0" fmla="*/ 0 w 542"/>
                <a:gd name="T1" fmla="*/ 0 h 269"/>
                <a:gd name="T2" fmla="*/ 0 w 542"/>
                <a:gd name="T3" fmla="*/ 0 h 269"/>
                <a:gd name="T4" fmla="*/ 0 w 542"/>
                <a:gd name="T5" fmla="*/ 0 h 269"/>
                <a:gd name="T6" fmla="*/ 0 w 542"/>
                <a:gd name="T7" fmla="*/ 0 h 269"/>
                <a:gd name="T8" fmla="*/ 0 w 542"/>
                <a:gd name="T9" fmla="*/ 0 h 269"/>
                <a:gd name="T10" fmla="*/ 0 w 542"/>
                <a:gd name="T11" fmla="*/ 0 h 269"/>
                <a:gd name="T12" fmla="*/ 0 w 542"/>
                <a:gd name="T13" fmla="*/ 0 h 269"/>
                <a:gd name="T14" fmla="*/ 0 w 542"/>
                <a:gd name="T15" fmla="*/ 0 h 269"/>
                <a:gd name="T16" fmla="*/ 0 w 542"/>
                <a:gd name="T17" fmla="*/ 0 h 269"/>
                <a:gd name="T18" fmla="*/ 0 w 542"/>
                <a:gd name="T19" fmla="*/ 0 h 269"/>
                <a:gd name="T20" fmla="*/ 0 w 542"/>
                <a:gd name="T21" fmla="*/ 0 h 269"/>
                <a:gd name="T22" fmla="*/ 0 w 542"/>
                <a:gd name="T23" fmla="*/ 0 h 269"/>
                <a:gd name="T24" fmla="*/ 0 w 542"/>
                <a:gd name="T25" fmla="*/ 0 h 269"/>
                <a:gd name="T26" fmla="*/ 0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0 w 542"/>
                <a:gd name="T57" fmla="*/ 0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5" name="Freeform 78"/>
            <p:cNvSpPr>
              <a:spLocks/>
            </p:cNvSpPr>
            <p:nvPr/>
          </p:nvSpPr>
          <p:spPr bwMode="auto">
            <a:xfrm>
              <a:off x="2697" y="3226"/>
              <a:ext cx="298" cy="299"/>
            </a:xfrm>
            <a:custGeom>
              <a:avLst/>
              <a:gdLst>
                <a:gd name="T0" fmla="*/ 0 w 650"/>
                <a:gd name="T1" fmla="*/ 0 h 650"/>
                <a:gd name="T2" fmla="*/ 0 w 650"/>
                <a:gd name="T3" fmla="*/ 0 h 650"/>
                <a:gd name="T4" fmla="*/ 0 w 650"/>
                <a:gd name="T5" fmla="*/ 0 h 650"/>
                <a:gd name="T6" fmla="*/ 0 w 650"/>
                <a:gd name="T7" fmla="*/ 0 h 650"/>
                <a:gd name="T8" fmla="*/ 0 w 650"/>
                <a:gd name="T9" fmla="*/ 0 h 650"/>
                <a:gd name="T10" fmla="*/ 0 w 650"/>
                <a:gd name="T11" fmla="*/ 0 h 650"/>
                <a:gd name="T12" fmla="*/ 0 w 650"/>
                <a:gd name="T13" fmla="*/ 0 h 650"/>
                <a:gd name="T14" fmla="*/ 0 w 650"/>
                <a:gd name="T15" fmla="*/ 0 h 650"/>
                <a:gd name="T16" fmla="*/ 0 w 650"/>
                <a:gd name="T17" fmla="*/ 0 h 650"/>
                <a:gd name="T18" fmla="*/ 0 w 650"/>
                <a:gd name="T19" fmla="*/ 0 h 650"/>
                <a:gd name="T20" fmla="*/ 0 w 650"/>
                <a:gd name="T21" fmla="*/ 0 h 650"/>
                <a:gd name="T22" fmla="*/ 0 w 650"/>
                <a:gd name="T23" fmla="*/ 0 h 650"/>
                <a:gd name="T24" fmla="*/ 0 w 650"/>
                <a:gd name="T25" fmla="*/ 0 h 650"/>
                <a:gd name="T26" fmla="*/ 0 w 650"/>
                <a:gd name="T27" fmla="*/ 0 h 650"/>
                <a:gd name="T28" fmla="*/ 0 w 650"/>
                <a:gd name="T29" fmla="*/ 0 h 650"/>
                <a:gd name="T30" fmla="*/ 0 w 650"/>
                <a:gd name="T31" fmla="*/ 0 h 650"/>
                <a:gd name="T32" fmla="*/ 0 w 650"/>
                <a:gd name="T33" fmla="*/ 0 h 650"/>
                <a:gd name="T34" fmla="*/ 0 w 650"/>
                <a:gd name="T35" fmla="*/ 0 h 650"/>
                <a:gd name="T36" fmla="*/ 0 w 650"/>
                <a:gd name="T37" fmla="*/ 0 h 650"/>
                <a:gd name="T38" fmla="*/ 0 w 650"/>
                <a:gd name="T39" fmla="*/ 0 h 650"/>
                <a:gd name="T40" fmla="*/ 0 w 650"/>
                <a:gd name="T41" fmla="*/ 0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6" name="Freeform 79"/>
            <p:cNvSpPr>
              <a:spLocks/>
            </p:cNvSpPr>
            <p:nvPr/>
          </p:nvSpPr>
          <p:spPr bwMode="auto">
            <a:xfrm>
              <a:off x="2974" y="3396"/>
              <a:ext cx="353" cy="180"/>
            </a:xfrm>
            <a:custGeom>
              <a:avLst/>
              <a:gdLst>
                <a:gd name="T0" fmla="*/ 353 w 353"/>
                <a:gd name="T1" fmla="*/ 120 h 180"/>
                <a:gd name="T2" fmla="*/ 23 w 353"/>
                <a:gd name="T3" fmla="*/ 0 h 180"/>
                <a:gd name="T4" fmla="*/ 0 w 353"/>
                <a:gd name="T5" fmla="*/ 62 h 180"/>
                <a:gd name="T6" fmla="*/ 335 w 353"/>
                <a:gd name="T7" fmla="*/ 180 h 180"/>
                <a:gd name="T8" fmla="*/ 353 w 353"/>
                <a:gd name="T9" fmla="*/ 120 h 180"/>
                <a:gd name="T10" fmla="*/ 0 60000 65536"/>
                <a:gd name="T11" fmla="*/ 0 60000 65536"/>
                <a:gd name="T12" fmla="*/ 0 60000 65536"/>
                <a:gd name="T13" fmla="*/ 0 60000 65536"/>
                <a:gd name="T14" fmla="*/ 0 60000 65536"/>
                <a:gd name="T15" fmla="*/ 0 w 353"/>
                <a:gd name="T16" fmla="*/ 0 h 180"/>
                <a:gd name="T17" fmla="*/ 353 w 353"/>
                <a:gd name="T18" fmla="*/ 180 h 180"/>
              </a:gdLst>
              <a:ahLst/>
              <a:cxnLst>
                <a:cxn ang="T10">
                  <a:pos x="T0" y="T1"/>
                </a:cxn>
                <a:cxn ang="T11">
                  <a:pos x="T2" y="T3"/>
                </a:cxn>
                <a:cxn ang="T12">
                  <a:pos x="T4" y="T5"/>
                </a:cxn>
                <a:cxn ang="T13">
                  <a:pos x="T6" y="T7"/>
                </a:cxn>
                <a:cxn ang="T14">
                  <a:pos x="T8" y="T9"/>
                </a:cxn>
              </a:cxnLst>
              <a:rect l="T15" t="T16" r="T17" b="T18"/>
              <a:pathLst>
                <a:path w="353" h="180">
                  <a:moveTo>
                    <a:pt x="353" y="120"/>
                  </a:moveTo>
                  <a:lnTo>
                    <a:pt x="23" y="0"/>
                  </a:lnTo>
                  <a:lnTo>
                    <a:pt x="0" y="62"/>
                  </a:lnTo>
                  <a:lnTo>
                    <a:pt x="335" y="180"/>
                  </a:lnTo>
                  <a:lnTo>
                    <a:pt x="353" y="12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95300" y="120650"/>
            <a:ext cx="4260850" cy="1154113"/>
          </a:xfrm>
        </p:spPr>
        <p:txBody>
          <a:bodyPr/>
          <a:lstStyle/>
          <a:p>
            <a:pPr eaLnBrk="1" hangingPunct="1"/>
            <a:r>
              <a:rPr lang="en-US"/>
              <a:t>The contact subtype hierarchy</a:t>
            </a:r>
          </a:p>
        </p:txBody>
      </p:sp>
      <p:sp>
        <p:nvSpPr>
          <p:cNvPr id="11267" name="Line 3"/>
          <p:cNvSpPr>
            <a:spLocks noChangeShapeType="1"/>
          </p:cNvSpPr>
          <p:nvPr/>
        </p:nvSpPr>
        <p:spPr bwMode="auto">
          <a:xfrm>
            <a:off x="3040063" y="1249363"/>
            <a:ext cx="500221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68" name="Line 4"/>
          <p:cNvSpPr>
            <a:spLocks noChangeShapeType="1"/>
          </p:cNvSpPr>
          <p:nvPr/>
        </p:nvSpPr>
        <p:spPr bwMode="auto">
          <a:xfrm flipV="1">
            <a:off x="5730875" y="1233488"/>
            <a:ext cx="0" cy="48863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69" name="Line 5"/>
          <p:cNvSpPr>
            <a:spLocks noChangeShapeType="1"/>
          </p:cNvSpPr>
          <p:nvPr/>
        </p:nvSpPr>
        <p:spPr bwMode="auto">
          <a:xfrm flipV="1">
            <a:off x="8047038" y="1233488"/>
            <a:ext cx="0" cy="12763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0" name="Line 6"/>
          <p:cNvSpPr>
            <a:spLocks noChangeShapeType="1"/>
          </p:cNvSpPr>
          <p:nvPr/>
        </p:nvSpPr>
        <p:spPr bwMode="auto">
          <a:xfrm flipV="1">
            <a:off x="5719763" y="1076325"/>
            <a:ext cx="0" cy="1730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271" name="Group 7"/>
          <p:cNvGrpSpPr>
            <a:grpSpLocks/>
          </p:cNvGrpSpPr>
          <p:nvPr/>
        </p:nvGrpSpPr>
        <p:grpSpPr bwMode="auto">
          <a:xfrm>
            <a:off x="4992688" y="2517775"/>
            <a:ext cx="1576387" cy="711200"/>
            <a:chOff x="3541" y="2201"/>
            <a:chExt cx="993" cy="448"/>
          </a:xfrm>
        </p:grpSpPr>
        <p:sp>
          <p:nvSpPr>
            <p:cNvPr id="11381" name="AutoShape 8"/>
            <p:cNvSpPr>
              <a:spLocks noChangeArrowheads="1"/>
            </p:cNvSpPr>
            <p:nvPr/>
          </p:nvSpPr>
          <p:spPr bwMode="auto">
            <a:xfrm>
              <a:off x="3541" y="2201"/>
              <a:ext cx="9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1382" name="Text Box 9"/>
            <p:cNvSpPr txBox="1">
              <a:spLocks noChangeArrowheads="1"/>
            </p:cNvSpPr>
            <p:nvPr/>
          </p:nvSpPr>
          <p:spPr bwMode="auto">
            <a:xfrm>
              <a:off x="3636" y="2233"/>
              <a:ext cx="804"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Company Vendor</a:t>
              </a:r>
            </a:p>
          </p:txBody>
        </p:sp>
      </p:grpSp>
      <p:grpSp>
        <p:nvGrpSpPr>
          <p:cNvPr id="11272" name="Group 10"/>
          <p:cNvGrpSpPr>
            <a:grpSpLocks/>
          </p:cNvGrpSpPr>
          <p:nvPr/>
        </p:nvGrpSpPr>
        <p:grpSpPr bwMode="auto">
          <a:xfrm>
            <a:off x="7251700" y="2517775"/>
            <a:ext cx="1576388" cy="711200"/>
            <a:chOff x="4614" y="2201"/>
            <a:chExt cx="993" cy="448"/>
          </a:xfrm>
        </p:grpSpPr>
        <p:sp>
          <p:nvSpPr>
            <p:cNvPr id="11379" name="AutoShape 11"/>
            <p:cNvSpPr>
              <a:spLocks noChangeArrowheads="1"/>
            </p:cNvSpPr>
            <p:nvPr/>
          </p:nvSpPr>
          <p:spPr bwMode="auto">
            <a:xfrm>
              <a:off x="4614" y="2201"/>
              <a:ext cx="9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1380" name="Text Box 12"/>
            <p:cNvSpPr txBox="1">
              <a:spLocks noChangeArrowheads="1"/>
            </p:cNvSpPr>
            <p:nvPr/>
          </p:nvSpPr>
          <p:spPr bwMode="auto">
            <a:xfrm>
              <a:off x="4709" y="2233"/>
              <a:ext cx="804"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Legal</a:t>
              </a:r>
              <a:br>
                <a:rPr lang="en-US" sz="2000" b="1"/>
              </a:br>
              <a:r>
                <a:rPr lang="en-US" sz="2000" b="1"/>
                <a:t>Venue</a:t>
              </a:r>
            </a:p>
          </p:txBody>
        </p:sp>
      </p:grpSp>
      <p:grpSp>
        <p:nvGrpSpPr>
          <p:cNvPr id="11273" name="Group 13"/>
          <p:cNvGrpSpPr>
            <a:grpSpLocks/>
          </p:cNvGrpSpPr>
          <p:nvPr/>
        </p:nvGrpSpPr>
        <p:grpSpPr bwMode="auto">
          <a:xfrm>
            <a:off x="4886325" y="374650"/>
            <a:ext cx="1671638" cy="711200"/>
            <a:chOff x="2524" y="2022"/>
            <a:chExt cx="1053" cy="448"/>
          </a:xfrm>
        </p:grpSpPr>
        <p:sp>
          <p:nvSpPr>
            <p:cNvPr id="11377" name="AutoShape 14"/>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78" name="Text Box 15"/>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Contact</a:t>
              </a:r>
            </a:p>
          </p:txBody>
        </p:sp>
      </p:grpSp>
      <p:grpSp>
        <p:nvGrpSpPr>
          <p:cNvPr id="11274" name="Group 16"/>
          <p:cNvGrpSpPr>
            <a:grpSpLocks/>
          </p:cNvGrpSpPr>
          <p:nvPr/>
        </p:nvGrpSpPr>
        <p:grpSpPr bwMode="auto">
          <a:xfrm>
            <a:off x="4949827" y="1427169"/>
            <a:ext cx="1576389" cy="711200"/>
            <a:chOff x="2024" y="2871"/>
            <a:chExt cx="993" cy="448"/>
          </a:xfrm>
        </p:grpSpPr>
        <p:sp>
          <p:nvSpPr>
            <p:cNvPr id="11375" name="AutoShape 17"/>
            <p:cNvSpPr>
              <a:spLocks noChangeArrowheads="1"/>
            </p:cNvSpPr>
            <p:nvPr/>
          </p:nvSpPr>
          <p:spPr bwMode="auto">
            <a:xfrm>
              <a:off x="2024" y="2871"/>
              <a:ext cx="993" cy="448"/>
            </a:xfrm>
            <a:prstGeom prst="roundRect">
              <a:avLst>
                <a:gd name="adj" fmla="val 16667"/>
              </a:avLst>
            </a:prstGeom>
            <a:solidFill>
              <a:srgbClr val="FF9999"/>
            </a:solidFill>
            <a:ln w="12700" algn="ctr">
              <a:solidFill>
                <a:schemeClr val="bg1"/>
              </a:solidFill>
              <a:round/>
              <a:headEnd/>
              <a:tailEnd/>
            </a:ln>
          </p:spPr>
          <p:txBody>
            <a:bodyPr lIns="0" tIns="0" rIns="0" bIns="0" anchor="ctr">
              <a:spAutoFit/>
            </a:bodyPr>
            <a:lstStyle/>
            <a:p>
              <a:endParaRPr lang="en-US"/>
            </a:p>
          </p:txBody>
        </p:sp>
        <p:sp>
          <p:nvSpPr>
            <p:cNvPr id="11376" name="Text Box 18"/>
            <p:cNvSpPr txBox="1">
              <a:spLocks noChangeArrowheads="1"/>
            </p:cNvSpPr>
            <p:nvPr/>
          </p:nvSpPr>
          <p:spPr bwMode="auto">
            <a:xfrm>
              <a:off x="2119" y="2999"/>
              <a:ext cx="804" cy="192"/>
            </a:xfrm>
            <a:prstGeom prst="rect">
              <a:avLst/>
            </a:prstGeom>
            <a:solidFill>
              <a:srgbClr val="FF99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Company</a:t>
              </a:r>
            </a:p>
          </p:txBody>
        </p:sp>
      </p:grpSp>
      <p:grpSp>
        <p:nvGrpSpPr>
          <p:cNvPr id="11275" name="Group 19"/>
          <p:cNvGrpSpPr>
            <a:grpSpLocks/>
          </p:cNvGrpSpPr>
          <p:nvPr/>
        </p:nvGrpSpPr>
        <p:grpSpPr bwMode="auto">
          <a:xfrm>
            <a:off x="7251700" y="1427163"/>
            <a:ext cx="1576388" cy="711200"/>
            <a:chOff x="2024" y="2871"/>
            <a:chExt cx="993" cy="448"/>
          </a:xfrm>
        </p:grpSpPr>
        <p:sp>
          <p:nvSpPr>
            <p:cNvPr id="11373" name="AutoShape 20"/>
            <p:cNvSpPr>
              <a:spLocks noChangeArrowheads="1"/>
            </p:cNvSpPr>
            <p:nvPr/>
          </p:nvSpPr>
          <p:spPr bwMode="auto">
            <a:xfrm>
              <a:off x="2024" y="2871"/>
              <a:ext cx="993" cy="448"/>
            </a:xfrm>
            <a:prstGeom prst="roundRect">
              <a:avLst>
                <a:gd name="adj" fmla="val 16667"/>
              </a:avLst>
            </a:prstGeom>
            <a:solidFill>
              <a:srgbClr val="FF9999"/>
            </a:solidFill>
            <a:ln w="12700" algn="ctr">
              <a:solidFill>
                <a:schemeClr val="bg1"/>
              </a:solidFill>
              <a:round/>
              <a:headEnd/>
              <a:tailEnd/>
            </a:ln>
          </p:spPr>
          <p:txBody>
            <a:bodyPr lIns="0" tIns="0" rIns="0" bIns="0" anchor="ctr">
              <a:spAutoFit/>
            </a:bodyPr>
            <a:lstStyle/>
            <a:p>
              <a:endParaRPr lang="en-US"/>
            </a:p>
          </p:txBody>
        </p:sp>
        <p:sp>
          <p:nvSpPr>
            <p:cNvPr id="11374" name="Text Box 21"/>
            <p:cNvSpPr txBox="1">
              <a:spLocks noChangeArrowheads="1"/>
            </p:cNvSpPr>
            <p:nvPr/>
          </p:nvSpPr>
          <p:spPr bwMode="auto">
            <a:xfrm>
              <a:off x="2119" y="2999"/>
              <a:ext cx="804" cy="192"/>
            </a:xfrm>
            <a:prstGeom prst="rect">
              <a:avLst/>
            </a:prstGeom>
            <a:solidFill>
              <a:srgbClr val="FF99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Place</a:t>
              </a:r>
            </a:p>
          </p:txBody>
        </p:sp>
      </p:grpSp>
      <p:sp>
        <p:nvSpPr>
          <p:cNvPr id="11276" name="Line 22"/>
          <p:cNvSpPr>
            <a:spLocks noChangeShapeType="1"/>
          </p:cNvSpPr>
          <p:nvPr/>
        </p:nvSpPr>
        <p:spPr bwMode="auto">
          <a:xfrm>
            <a:off x="5724525" y="3824288"/>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7" name="Line 23"/>
          <p:cNvSpPr>
            <a:spLocks noChangeShapeType="1"/>
          </p:cNvSpPr>
          <p:nvPr/>
        </p:nvSpPr>
        <p:spPr bwMode="auto">
          <a:xfrm>
            <a:off x="5724525" y="4576763"/>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8" name="Line 24"/>
          <p:cNvSpPr>
            <a:spLocks noChangeShapeType="1"/>
          </p:cNvSpPr>
          <p:nvPr/>
        </p:nvSpPr>
        <p:spPr bwMode="auto">
          <a:xfrm>
            <a:off x="5724525" y="5357813"/>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9" name="Line 25"/>
          <p:cNvSpPr>
            <a:spLocks noChangeShapeType="1"/>
          </p:cNvSpPr>
          <p:nvPr/>
        </p:nvSpPr>
        <p:spPr bwMode="auto">
          <a:xfrm>
            <a:off x="5724525" y="6110288"/>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280" name="Group 26"/>
          <p:cNvGrpSpPr>
            <a:grpSpLocks/>
          </p:cNvGrpSpPr>
          <p:nvPr/>
        </p:nvGrpSpPr>
        <p:grpSpPr bwMode="auto">
          <a:xfrm>
            <a:off x="6048375" y="4232275"/>
            <a:ext cx="1671638" cy="711200"/>
            <a:chOff x="1773" y="3296"/>
            <a:chExt cx="1053" cy="448"/>
          </a:xfrm>
        </p:grpSpPr>
        <p:sp>
          <p:nvSpPr>
            <p:cNvPr id="11371" name="AutoShape 27"/>
            <p:cNvSpPr>
              <a:spLocks noChangeArrowheads="1"/>
            </p:cNvSpPr>
            <p:nvPr/>
          </p:nvSpPr>
          <p:spPr bwMode="auto">
            <a:xfrm>
              <a:off x="1773" y="3296"/>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72" name="Text Box 28"/>
            <p:cNvSpPr txBox="1">
              <a:spLocks noChangeArrowheads="1"/>
            </p:cNvSpPr>
            <p:nvPr/>
          </p:nvSpPr>
          <p:spPr bwMode="auto">
            <a:xfrm>
              <a:off x="1808" y="3327"/>
              <a:ext cx="983"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Medical Care Org</a:t>
              </a:r>
            </a:p>
          </p:txBody>
        </p:sp>
      </p:grpSp>
      <p:grpSp>
        <p:nvGrpSpPr>
          <p:cNvPr id="11281" name="Group 29"/>
          <p:cNvGrpSpPr>
            <a:grpSpLocks/>
          </p:cNvGrpSpPr>
          <p:nvPr/>
        </p:nvGrpSpPr>
        <p:grpSpPr bwMode="auto">
          <a:xfrm>
            <a:off x="6048375" y="3470275"/>
            <a:ext cx="1671638" cy="711200"/>
            <a:chOff x="2524" y="2022"/>
            <a:chExt cx="1053" cy="448"/>
          </a:xfrm>
        </p:grpSpPr>
        <p:sp>
          <p:nvSpPr>
            <p:cNvPr id="11369" name="AutoShape 30"/>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70" name="Text Box 31"/>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Law Firm</a:t>
              </a:r>
            </a:p>
          </p:txBody>
        </p:sp>
      </p:grpSp>
      <p:grpSp>
        <p:nvGrpSpPr>
          <p:cNvPr id="11282" name="Group 32"/>
          <p:cNvGrpSpPr>
            <a:grpSpLocks/>
          </p:cNvGrpSpPr>
          <p:nvPr/>
        </p:nvGrpSpPr>
        <p:grpSpPr bwMode="auto">
          <a:xfrm>
            <a:off x="6048375" y="4994275"/>
            <a:ext cx="1671638" cy="711200"/>
            <a:chOff x="2524" y="2022"/>
            <a:chExt cx="1053" cy="448"/>
          </a:xfrm>
        </p:grpSpPr>
        <p:sp>
          <p:nvSpPr>
            <p:cNvPr id="11367" name="AutoShape 33"/>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68" name="Text Box 34"/>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Auto Towing</a:t>
              </a:r>
            </a:p>
          </p:txBody>
        </p:sp>
      </p:grpSp>
      <p:grpSp>
        <p:nvGrpSpPr>
          <p:cNvPr id="11283" name="Group 35"/>
          <p:cNvGrpSpPr>
            <a:grpSpLocks/>
          </p:cNvGrpSpPr>
          <p:nvPr/>
        </p:nvGrpSpPr>
        <p:grpSpPr bwMode="auto">
          <a:xfrm>
            <a:off x="6048375" y="5757863"/>
            <a:ext cx="1671638" cy="711200"/>
            <a:chOff x="2524" y="2022"/>
            <a:chExt cx="1053" cy="448"/>
          </a:xfrm>
        </p:grpSpPr>
        <p:sp>
          <p:nvSpPr>
            <p:cNvPr id="11365" name="AutoShape 36"/>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66" name="Text Box 37"/>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Auto Repair</a:t>
              </a:r>
            </a:p>
          </p:txBody>
        </p:sp>
      </p:grpSp>
      <p:sp>
        <p:nvSpPr>
          <p:cNvPr id="11284" name="Line 38"/>
          <p:cNvSpPr>
            <a:spLocks noChangeShapeType="1"/>
          </p:cNvSpPr>
          <p:nvPr/>
        </p:nvSpPr>
        <p:spPr bwMode="auto">
          <a:xfrm>
            <a:off x="3927475" y="2320925"/>
            <a:ext cx="0" cy="6223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5" name="Line 39"/>
          <p:cNvSpPr>
            <a:spLocks noChangeShapeType="1"/>
          </p:cNvSpPr>
          <p:nvPr/>
        </p:nvSpPr>
        <p:spPr bwMode="auto">
          <a:xfrm>
            <a:off x="2173288" y="2320925"/>
            <a:ext cx="177006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6" name="Line 40"/>
          <p:cNvSpPr>
            <a:spLocks noChangeShapeType="1"/>
          </p:cNvSpPr>
          <p:nvPr/>
        </p:nvSpPr>
        <p:spPr bwMode="auto">
          <a:xfrm>
            <a:off x="2154238" y="3254375"/>
            <a:ext cx="0" cy="20812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7" name="Line 41"/>
          <p:cNvSpPr>
            <a:spLocks noChangeShapeType="1"/>
          </p:cNvSpPr>
          <p:nvPr/>
        </p:nvSpPr>
        <p:spPr bwMode="auto">
          <a:xfrm>
            <a:off x="2157413" y="5348288"/>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88" name="Line 42"/>
          <p:cNvSpPr>
            <a:spLocks noChangeShapeType="1"/>
          </p:cNvSpPr>
          <p:nvPr/>
        </p:nvSpPr>
        <p:spPr bwMode="auto">
          <a:xfrm flipV="1">
            <a:off x="2173288" y="2305050"/>
            <a:ext cx="0" cy="2206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9" name="Line 43"/>
          <p:cNvSpPr>
            <a:spLocks noChangeShapeType="1"/>
          </p:cNvSpPr>
          <p:nvPr/>
        </p:nvSpPr>
        <p:spPr bwMode="auto">
          <a:xfrm flipV="1">
            <a:off x="3049588" y="1233488"/>
            <a:ext cx="0" cy="10810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90" name="Line 44"/>
          <p:cNvSpPr>
            <a:spLocks noChangeShapeType="1"/>
          </p:cNvSpPr>
          <p:nvPr/>
        </p:nvSpPr>
        <p:spPr bwMode="auto">
          <a:xfrm>
            <a:off x="2157413" y="4240213"/>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291" name="Group 45"/>
          <p:cNvGrpSpPr>
            <a:grpSpLocks/>
          </p:cNvGrpSpPr>
          <p:nvPr/>
        </p:nvGrpSpPr>
        <p:grpSpPr bwMode="auto">
          <a:xfrm>
            <a:off x="1401763" y="2517775"/>
            <a:ext cx="1576387" cy="711200"/>
            <a:chOff x="249" y="2201"/>
            <a:chExt cx="993" cy="448"/>
          </a:xfrm>
        </p:grpSpPr>
        <p:sp>
          <p:nvSpPr>
            <p:cNvPr id="11363" name="AutoShape 46"/>
            <p:cNvSpPr>
              <a:spLocks noChangeArrowheads="1"/>
            </p:cNvSpPr>
            <p:nvPr/>
          </p:nvSpPr>
          <p:spPr bwMode="auto">
            <a:xfrm>
              <a:off x="249" y="2201"/>
              <a:ext cx="9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1364" name="Text Box 47"/>
            <p:cNvSpPr txBox="1">
              <a:spLocks noChangeArrowheads="1"/>
            </p:cNvSpPr>
            <p:nvPr/>
          </p:nvSpPr>
          <p:spPr bwMode="auto">
            <a:xfrm>
              <a:off x="344" y="2233"/>
              <a:ext cx="804"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Person Vendor</a:t>
              </a:r>
            </a:p>
          </p:txBody>
        </p:sp>
      </p:grpSp>
      <p:grpSp>
        <p:nvGrpSpPr>
          <p:cNvPr id="11292" name="Group 48"/>
          <p:cNvGrpSpPr>
            <a:grpSpLocks/>
          </p:cNvGrpSpPr>
          <p:nvPr/>
        </p:nvGrpSpPr>
        <p:grpSpPr bwMode="auto">
          <a:xfrm>
            <a:off x="3125788" y="2517775"/>
            <a:ext cx="1576387" cy="711200"/>
            <a:chOff x="1340" y="2201"/>
            <a:chExt cx="993" cy="448"/>
          </a:xfrm>
        </p:grpSpPr>
        <p:sp>
          <p:nvSpPr>
            <p:cNvPr id="11361" name="AutoShape 49"/>
            <p:cNvSpPr>
              <a:spLocks noChangeArrowheads="1"/>
            </p:cNvSpPr>
            <p:nvPr/>
          </p:nvSpPr>
          <p:spPr bwMode="auto">
            <a:xfrm>
              <a:off x="1340" y="2201"/>
              <a:ext cx="9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1362" name="Text Box 50"/>
            <p:cNvSpPr txBox="1">
              <a:spLocks noChangeArrowheads="1"/>
            </p:cNvSpPr>
            <p:nvPr/>
          </p:nvSpPr>
          <p:spPr bwMode="auto">
            <a:xfrm>
              <a:off x="1435" y="2233"/>
              <a:ext cx="804"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Adjudi-</a:t>
              </a:r>
              <a:br>
                <a:rPr lang="en-US" sz="2000" b="1"/>
              </a:br>
              <a:r>
                <a:rPr lang="en-US" sz="2000" b="1"/>
                <a:t>cator</a:t>
              </a:r>
            </a:p>
          </p:txBody>
        </p:sp>
      </p:grpSp>
      <p:grpSp>
        <p:nvGrpSpPr>
          <p:cNvPr id="11293" name="Group 51"/>
          <p:cNvGrpSpPr>
            <a:grpSpLocks/>
          </p:cNvGrpSpPr>
          <p:nvPr/>
        </p:nvGrpSpPr>
        <p:grpSpPr bwMode="auto">
          <a:xfrm>
            <a:off x="2192338" y="1427163"/>
            <a:ext cx="1671637" cy="711200"/>
            <a:chOff x="2524" y="2022"/>
            <a:chExt cx="1053" cy="448"/>
          </a:xfrm>
        </p:grpSpPr>
        <p:sp>
          <p:nvSpPr>
            <p:cNvPr id="11359" name="AutoShape 52"/>
            <p:cNvSpPr>
              <a:spLocks noChangeArrowheads="1"/>
            </p:cNvSpPr>
            <p:nvPr/>
          </p:nvSpPr>
          <p:spPr bwMode="auto">
            <a:xfrm>
              <a:off x="2524" y="2022"/>
              <a:ext cx="1053" cy="448"/>
            </a:xfrm>
            <a:prstGeom prst="roundRect">
              <a:avLst>
                <a:gd name="adj" fmla="val 16667"/>
              </a:avLst>
            </a:prstGeom>
            <a:solidFill>
              <a:srgbClr val="FF9999"/>
            </a:solidFill>
            <a:ln w="12700" algn="ctr">
              <a:solidFill>
                <a:schemeClr val="bg1"/>
              </a:solidFill>
              <a:round/>
              <a:headEnd/>
              <a:tailEnd/>
            </a:ln>
          </p:spPr>
          <p:txBody>
            <a:bodyPr wrap="none" lIns="0" tIns="0" rIns="0" bIns="0" anchor="ctr">
              <a:spAutoFit/>
            </a:bodyPr>
            <a:lstStyle/>
            <a:p>
              <a:endParaRPr lang="en-US"/>
            </a:p>
          </p:txBody>
        </p:sp>
        <p:sp>
          <p:nvSpPr>
            <p:cNvPr id="11360" name="Text Box 53"/>
            <p:cNvSpPr txBox="1">
              <a:spLocks noChangeArrowheads="1"/>
            </p:cNvSpPr>
            <p:nvPr/>
          </p:nvSpPr>
          <p:spPr bwMode="auto">
            <a:xfrm>
              <a:off x="2559" y="2150"/>
              <a:ext cx="983" cy="192"/>
            </a:xfrm>
            <a:prstGeom prst="rect">
              <a:avLst/>
            </a:prstGeom>
            <a:solidFill>
              <a:srgbClr val="FF99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Person</a:t>
              </a:r>
            </a:p>
          </p:txBody>
        </p:sp>
      </p:grpSp>
      <p:grpSp>
        <p:nvGrpSpPr>
          <p:cNvPr id="11294" name="Group 54"/>
          <p:cNvGrpSpPr>
            <a:grpSpLocks/>
          </p:cNvGrpSpPr>
          <p:nvPr/>
        </p:nvGrpSpPr>
        <p:grpSpPr bwMode="auto">
          <a:xfrm>
            <a:off x="2392363" y="3879850"/>
            <a:ext cx="1671637" cy="711200"/>
            <a:chOff x="2524" y="2022"/>
            <a:chExt cx="1053" cy="448"/>
          </a:xfrm>
        </p:grpSpPr>
        <p:sp>
          <p:nvSpPr>
            <p:cNvPr id="11357" name="AutoShape 5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58" name="Text Box 5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Attorney</a:t>
              </a:r>
            </a:p>
          </p:txBody>
        </p:sp>
      </p:grpSp>
      <p:grpSp>
        <p:nvGrpSpPr>
          <p:cNvPr id="11295" name="Group 57"/>
          <p:cNvGrpSpPr>
            <a:grpSpLocks/>
          </p:cNvGrpSpPr>
          <p:nvPr/>
        </p:nvGrpSpPr>
        <p:grpSpPr bwMode="auto">
          <a:xfrm>
            <a:off x="2390775" y="4953000"/>
            <a:ext cx="1671638" cy="711200"/>
            <a:chOff x="2524" y="2022"/>
            <a:chExt cx="1053" cy="448"/>
          </a:xfrm>
        </p:grpSpPr>
        <p:sp>
          <p:nvSpPr>
            <p:cNvPr id="11355" name="AutoShape 58"/>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56" name="Text Box 59"/>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Doctor</a:t>
              </a:r>
            </a:p>
          </p:txBody>
        </p:sp>
      </p:grpSp>
      <p:grpSp>
        <p:nvGrpSpPr>
          <p:cNvPr id="11296" name="Group 60"/>
          <p:cNvGrpSpPr>
            <a:grpSpLocks/>
          </p:cNvGrpSpPr>
          <p:nvPr/>
        </p:nvGrpSpPr>
        <p:grpSpPr bwMode="auto">
          <a:xfrm>
            <a:off x="1192213" y="2659063"/>
            <a:ext cx="492125" cy="539750"/>
            <a:chOff x="4508" y="1968"/>
            <a:chExt cx="310" cy="340"/>
          </a:xfrm>
        </p:grpSpPr>
        <p:sp>
          <p:nvSpPr>
            <p:cNvPr id="11351" name="Rectangle 61"/>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11352" name="Oval 62"/>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11353" name="Rectangle 63"/>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11354" name="Oval 64"/>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sp>
        <p:nvSpPr>
          <p:cNvPr id="11297" name="Text Box 65"/>
          <p:cNvSpPr txBox="1">
            <a:spLocks noChangeArrowheads="1"/>
          </p:cNvSpPr>
          <p:nvPr/>
        </p:nvSpPr>
        <p:spPr bwMode="auto">
          <a:xfrm>
            <a:off x="268288" y="3351213"/>
            <a:ext cx="175101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solidFill>
                  <a:srgbClr val="C00000"/>
                </a:solidFill>
              </a:rPr>
              <a:t>searches at this level return doctors and attorneys</a:t>
            </a:r>
          </a:p>
        </p:txBody>
      </p:sp>
      <p:sp>
        <p:nvSpPr>
          <p:cNvPr id="11298" name="Line 66"/>
          <p:cNvSpPr>
            <a:spLocks noChangeShapeType="1"/>
          </p:cNvSpPr>
          <p:nvPr/>
        </p:nvSpPr>
        <p:spPr bwMode="auto">
          <a:xfrm>
            <a:off x="773113" y="2855913"/>
            <a:ext cx="0" cy="525462"/>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99" name="Line 67"/>
          <p:cNvSpPr>
            <a:spLocks noChangeShapeType="1"/>
          </p:cNvSpPr>
          <p:nvPr/>
        </p:nvSpPr>
        <p:spPr bwMode="auto">
          <a:xfrm>
            <a:off x="758825" y="2847975"/>
            <a:ext cx="64135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300" name="Group 68"/>
          <p:cNvGrpSpPr>
            <a:grpSpLocks/>
          </p:cNvGrpSpPr>
          <p:nvPr/>
        </p:nvGrpSpPr>
        <p:grpSpPr bwMode="auto">
          <a:xfrm>
            <a:off x="2336800" y="5454650"/>
            <a:ext cx="492125" cy="539750"/>
            <a:chOff x="4508" y="1968"/>
            <a:chExt cx="310" cy="340"/>
          </a:xfrm>
        </p:grpSpPr>
        <p:sp>
          <p:nvSpPr>
            <p:cNvPr id="11347" name="Rectangle 69"/>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11348" name="Oval 70"/>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11349" name="Rectangle 71"/>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11350" name="Oval 72"/>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sp>
        <p:nvSpPr>
          <p:cNvPr id="11301" name="Text Box 73"/>
          <p:cNvSpPr txBox="1">
            <a:spLocks noChangeArrowheads="1"/>
          </p:cNvSpPr>
          <p:nvPr/>
        </p:nvSpPr>
        <p:spPr bwMode="auto">
          <a:xfrm>
            <a:off x="325438" y="4945063"/>
            <a:ext cx="175101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solidFill>
                  <a:srgbClr val="C00000"/>
                </a:solidFill>
              </a:rPr>
              <a:t>searches at this level return only doctors </a:t>
            </a:r>
          </a:p>
        </p:txBody>
      </p:sp>
      <p:sp>
        <p:nvSpPr>
          <p:cNvPr id="11302" name="Line 74"/>
          <p:cNvSpPr>
            <a:spLocks noChangeShapeType="1"/>
          </p:cNvSpPr>
          <p:nvPr/>
        </p:nvSpPr>
        <p:spPr bwMode="auto">
          <a:xfrm>
            <a:off x="2003425" y="5649913"/>
            <a:ext cx="56515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03" name="Text Box 75"/>
          <p:cNvSpPr txBox="1">
            <a:spLocks noChangeArrowheads="1"/>
          </p:cNvSpPr>
          <p:nvPr/>
        </p:nvSpPr>
        <p:spPr bwMode="auto">
          <a:xfrm>
            <a:off x="268288" y="1436688"/>
            <a:ext cx="17510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solidFill>
                  <a:srgbClr val="C00000"/>
                </a:solidFill>
              </a:rPr>
              <a:t>the primary subtypes</a:t>
            </a:r>
          </a:p>
        </p:txBody>
      </p:sp>
      <p:sp>
        <p:nvSpPr>
          <p:cNvPr id="11304" name="Line 76"/>
          <p:cNvSpPr>
            <a:spLocks noChangeShapeType="1"/>
          </p:cNvSpPr>
          <p:nvPr/>
        </p:nvSpPr>
        <p:spPr bwMode="auto">
          <a:xfrm>
            <a:off x="1847850" y="1758950"/>
            <a:ext cx="331788"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extLst>
      <p:ext uri="{BB962C8B-B14F-4D97-AF65-F5344CB8AC3E}">
        <p14:creationId xmlns:p14="http://schemas.microsoft.com/office/powerpoint/2010/main" val="326226926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16387" name="Rectangle 3"/>
          <p:cNvSpPr>
            <a:spLocks noGrp="1" noChangeArrowheads="1"/>
          </p:cNvSpPr>
          <p:nvPr>
            <p:ph idx="1"/>
          </p:nvPr>
        </p:nvSpPr>
        <p:spPr/>
        <p:txBody>
          <a:bodyPr/>
          <a:lstStyle/>
          <a:p>
            <a:endParaRPr lang="en-US"/>
          </a:p>
        </p:txBody>
      </p:sp>
    </p:spTree>
    <p:extLst>
      <p:ext uri="{BB962C8B-B14F-4D97-AF65-F5344CB8AC3E}">
        <p14:creationId xmlns:p14="http://schemas.microsoft.com/office/powerpoint/2010/main" val="122474068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Two applications store contacts</a:t>
            </a:r>
          </a:p>
        </p:txBody>
      </p:sp>
      <p:sp>
        <p:nvSpPr>
          <p:cNvPr id="12291" name="Rectangle 3"/>
          <p:cNvSpPr>
            <a:spLocks noGrp="1" noChangeArrowheads="1"/>
          </p:cNvSpPr>
          <p:nvPr>
            <p:ph idx="1"/>
          </p:nvPr>
        </p:nvSpPr>
        <p:spPr>
          <a:xfrm>
            <a:off x="519113" y="4262827"/>
            <a:ext cx="8318500" cy="2154238"/>
          </a:xfrm>
        </p:spPr>
        <p:txBody>
          <a:bodyPr/>
          <a:lstStyle/>
          <a:p>
            <a:r>
              <a:rPr lang="en-US"/>
              <a:t>Two applications store contacts</a:t>
            </a:r>
          </a:p>
          <a:p>
            <a:pPr lvl="1"/>
            <a:r>
              <a:rPr lang="en-US"/>
              <a:t>ClaimCenter stores contact information as it pertains to a given claim</a:t>
            </a:r>
          </a:p>
          <a:p>
            <a:pPr lvl="1"/>
            <a:r>
              <a:rPr lang="en-US"/>
              <a:t>Address Book stores contacts that are (potentially) relevant to multiple claims</a:t>
            </a:r>
          </a:p>
          <a:p>
            <a:pPr lvl="1"/>
            <a:r>
              <a:rPr lang="en-US"/>
              <a:t>Contacts can be shared across both applications</a:t>
            </a:r>
          </a:p>
        </p:txBody>
      </p:sp>
      <p:sp>
        <p:nvSpPr>
          <p:cNvPr id="12292" name="Text Box 4"/>
          <p:cNvSpPr txBox="1">
            <a:spLocks noChangeArrowheads="1"/>
          </p:cNvSpPr>
          <p:nvPr/>
        </p:nvSpPr>
        <p:spPr bwMode="auto">
          <a:xfrm>
            <a:off x="6858000" y="2641600"/>
            <a:ext cx="15652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000" b="1"/>
              <a:t>contacts relevant to multiple claims</a:t>
            </a:r>
          </a:p>
        </p:txBody>
      </p:sp>
      <p:grpSp>
        <p:nvGrpSpPr>
          <p:cNvPr id="12293" name="Group 5"/>
          <p:cNvGrpSpPr>
            <a:grpSpLocks/>
          </p:cNvGrpSpPr>
          <p:nvPr/>
        </p:nvGrpSpPr>
        <p:grpSpPr bwMode="auto">
          <a:xfrm>
            <a:off x="4837113" y="855663"/>
            <a:ext cx="1912937" cy="3005137"/>
            <a:chOff x="3047" y="539"/>
            <a:chExt cx="1205" cy="1893"/>
          </a:xfrm>
        </p:grpSpPr>
        <p:sp>
          <p:nvSpPr>
            <p:cNvPr id="12334" name="AutoShape 6"/>
            <p:cNvSpPr>
              <a:spLocks noChangeArrowheads="1"/>
            </p:cNvSpPr>
            <p:nvPr/>
          </p:nvSpPr>
          <p:spPr bwMode="auto">
            <a:xfrm>
              <a:off x="3067" y="539"/>
              <a:ext cx="1185" cy="1893"/>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12335" name="AutoShape 7"/>
            <p:cNvSpPr>
              <a:spLocks noChangeArrowheads="1"/>
            </p:cNvSpPr>
            <p:nvPr/>
          </p:nvSpPr>
          <p:spPr bwMode="auto">
            <a:xfrm>
              <a:off x="3296" y="1751"/>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2336" name="Text Box 8"/>
            <p:cNvSpPr txBox="1">
              <a:spLocks noChangeArrowheads="1"/>
            </p:cNvSpPr>
            <p:nvPr/>
          </p:nvSpPr>
          <p:spPr bwMode="auto">
            <a:xfrm>
              <a:off x="3047" y="724"/>
              <a:ext cx="11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a:t>Address Book</a:t>
              </a:r>
            </a:p>
          </p:txBody>
        </p:sp>
        <p:grpSp>
          <p:nvGrpSpPr>
            <p:cNvPr id="12337" name="Group 9"/>
            <p:cNvGrpSpPr>
              <a:grpSpLocks/>
            </p:cNvGrpSpPr>
            <p:nvPr/>
          </p:nvGrpSpPr>
          <p:grpSpPr bwMode="auto">
            <a:xfrm>
              <a:off x="3255" y="942"/>
              <a:ext cx="699" cy="611"/>
              <a:chOff x="1305" y="2500"/>
              <a:chExt cx="1138" cy="995"/>
            </a:xfrm>
          </p:grpSpPr>
          <p:sp>
            <p:nvSpPr>
              <p:cNvPr id="12338" name="Freeform 10"/>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9" name="Freeform 11"/>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0" name="Freeform 12"/>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1" name="Freeform 13"/>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2" name="Freeform 14"/>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3" name="Freeform 15"/>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4" name="Freeform 16"/>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5" name="Freeform 17"/>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6" name="Freeform 18"/>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7" name="Freeform 19"/>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8" name="Freeform 20"/>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9" name="Freeform 21"/>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0" name="Freeform 22"/>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1" name="Freeform 23"/>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2294" name="Text Box 24"/>
          <p:cNvSpPr txBox="1">
            <a:spLocks noChangeArrowheads="1"/>
          </p:cNvSpPr>
          <p:nvPr/>
        </p:nvSpPr>
        <p:spPr bwMode="auto">
          <a:xfrm>
            <a:off x="666750" y="2641600"/>
            <a:ext cx="16129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2000" b="1"/>
              <a:t>contacts relevant to</a:t>
            </a:r>
            <a:br>
              <a:rPr lang="en-US" sz="2000" b="1"/>
            </a:br>
            <a:r>
              <a:rPr lang="en-US" sz="2000" b="1"/>
              <a:t>a single claim</a:t>
            </a:r>
          </a:p>
        </p:txBody>
      </p:sp>
      <p:sp>
        <p:nvSpPr>
          <p:cNvPr id="12295" name="AutoShape 25"/>
          <p:cNvSpPr>
            <a:spLocks noChangeArrowheads="1"/>
          </p:cNvSpPr>
          <p:nvPr/>
        </p:nvSpPr>
        <p:spPr bwMode="auto">
          <a:xfrm>
            <a:off x="2395538" y="855663"/>
            <a:ext cx="1881187" cy="3005137"/>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grpSp>
        <p:nvGrpSpPr>
          <p:cNvPr id="12296" name="Group 26"/>
          <p:cNvGrpSpPr>
            <a:grpSpLocks/>
          </p:cNvGrpSpPr>
          <p:nvPr/>
        </p:nvGrpSpPr>
        <p:grpSpPr bwMode="auto">
          <a:xfrm>
            <a:off x="2476500" y="2570163"/>
            <a:ext cx="692150" cy="511175"/>
            <a:chOff x="2083" y="1606"/>
            <a:chExt cx="1489" cy="1097"/>
          </a:xfrm>
        </p:grpSpPr>
        <p:sp>
          <p:nvSpPr>
            <p:cNvPr id="12301" name="Rectangle 2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02" name="Freeform 2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03" name="Freeform 2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04" name="Freeform 3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05" name="Freeform 3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2306" name="Rectangle 3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2307" name="Rectangle 3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08" name="AutoShape 3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2309" name="Freeform 35"/>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0" name="Freeform 36"/>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1" name="Rectangle 3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12" name="Rectangle 3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13" name="Rectangle 3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2314" name="Group 40"/>
            <p:cNvGrpSpPr>
              <a:grpSpLocks/>
            </p:cNvGrpSpPr>
            <p:nvPr/>
          </p:nvGrpSpPr>
          <p:grpSpPr bwMode="auto">
            <a:xfrm>
              <a:off x="2221" y="1871"/>
              <a:ext cx="518" cy="782"/>
              <a:chOff x="2400" y="1656"/>
              <a:chExt cx="752" cy="1136"/>
            </a:xfrm>
          </p:grpSpPr>
          <p:sp>
            <p:nvSpPr>
              <p:cNvPr id="12327"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28"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9"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30"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31"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2332"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33"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15" name="Group 48"/>
            <p:cNvGrpSpPr>
              <a:grpSpLocks/>
            </p:cNvGrpSpPr>
            <p:nvPr/>
          </p:nvGrpSpPr>
          <p:grpSpPr bwMode="auto">
            <a:xfrm rot="-6511945">
              <a:off x="2834" y="1842"/>
              <a:ext cx="518" cy="783"/>
              <a:chOff x="2400" y="1656"/>
              <a:chExt cx="752" cy="1136"/>
            </a:xfrm>
          </p:grpSpPr>
          <p:sp>
            <p:nvSpPr>
              <p:cNvPr id="12320" name="Freeform 4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21" name="Freeform 5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2" name="Freeform 5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3" name="Freeform 5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4" name="Freeform 5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5" name="Line 5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26" name="Line 5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16" name="Freeform 56"/>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2317" name="Freeform 57"/>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8" name="Rectangle 5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19" name="Rectangle 5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2297" name="AutoShape 60"/>
          <p:cNvSpPr>
            <a:spLocks noChangeArrowheads="1"/>
          </p:cNvSpPr>
          <p:nvPr/>
        </p:nvSpPr>
        <p:spPr bwMode="auto">
          <a:xfrm>
            <a:off x="2913063" y="2779713"/>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2298" name="Line 61"/>
          <p:cNvSpPr>
            <a:spLocks noChangeShapeType="1"/>
          </p:cNvSpPr>
          <p:nvPr/>
        </p:nvSpPr>
        <p:spPr bwMode="auto">
          <a:xfrm flipH="1">
            <a:off x="2638425" y="3217863"/>
            <a:ext cx="2809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9" name="Line 62"/>
          <p:cNvSpPr>
            <a:spLocks noChangeShapeType="1"/>
          </p:cNvSpPr>
          <p:nvPr/>
        </p:nvSpPr>
        <p:spPr bwMode="auto">
          <a:xfrm flipV="1">
            <a:off x="2638425" y="2954338"/>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2300"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8588" y="1214438"/>
            <a:ext cx="1185862"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oup 63"/>
          <p:cNvGrpSpPr/>
          <p:nvPr/>
        </p:nvGrpSpPr>
        <p:grpSpPr>
          <a:xfrm>
            <a:off x="6870913" y="1453342"/>
            <a:ext cx="1136650" cy="1066800"/>
            <a:chOff x="6781800" y="1524000"/>
            <a:chExt cx="1136650" cy="1066800"/>
          </a:xfrm>
        </p:grpSpPr>
        <p:pic>
          <p:nvPicPr>
            <p:cNvPr id="6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66"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a:solidFill>
                    <a:schemeClr val="tx1"/>
                  </a:solidFill>
                  <a:latin typeface="Arial Narrow" pitchFamily="34" charset="0"/>
                  <a:cs typeface="+mn-cs"/>
                </a:rPr>
                <a:t>ContactManager</a:t>
              </a:r>
            </a:p>
          </p:txBody>
        </p:sp>
      </p:grpSp>
      <p:sp>
        <p:nvSpPr>
          <p:cNvPr id="67" name="Line 133"/>
          <p:cNvSpPr>
            <a:spLocks noChangeShapeType="1"/>
          </p:cNvSpPr>
          <p:nvPr/>
        </p:nvSpPr>
        <p:spPr bwMode="auto">
          <a:xfrm>
            <a:off x="4276725" y="1933126"/>
            <a:ext cx="560388" cy="0"/>
          </a:xfrm>
          <a:prstGeom prst="line">
            <a:avLst/>
          </a:prstGeom>
          <a:noFill/>
          <a:ln w="28575">
            <a:solidFill>
              <a:srgbClr val="0070C0"/>
            </a:solidFill>
            <a:round/>
            <a:headEnd type="triangle" w="med" len="me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8" name="Line 133"/>
          <p:cNvSpPr>
            <a:spLocks noChangeShapeType="1"/>
          </p:cNvSpPr>
          <p:nvPr/>
        </p:nvSpPr>
        <p:spPr bwMode="auto">
          <a:xfrm>
            <a:off x="4276725" y="2026151"/>
            <a:ext cx="592138" cy="0"/>
          </a:xfrm>
          <a:prstGeom prst="line">
            <a:avLst/>
          </a:prstGeom>
          <a:noFill/>
          <a:ln w="28575">
            <a:solidFill>
              <a:srgbClr val="008000"/>
            </a:solidFill>
            <a:round/>
            <a:headEnd type="none" w="med" len="med"/>
            <a:tailEnd type="triangle"/>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71296156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“Local” contacts</a:t>
            </a:r>
          </a:p>
        </p:txBody>
      </p:sp>
      <p:sp>
        <p:nvSpPr>
          <p:cNvPr id="13315" name="Rectangle 61"/>
          <p:cNvSpPr>
            <a:spLocks noGrp="1" noChangeArrowheads="1"/>
          </p:cNvSpPr>
          <p:nvPr>
            <p:ph idx="1"/>
          </p:nvPr>
        </p:nvSpPr>
        <p:spPr>
          <a:xfrm>
            <a:off x="617538" y="4468813"/>
            <a:ext cx="3379787" cy="1943100"/>
          </a:xfrm>
        </p:spPr>
        <p:txBody>
          <a:bodyPr/>
          <a:lstStyle/>
          <a:p>
            <a:r>
              <a:rPr lang="en-US"/>
              <a:t>Typically a non-vendor, non-venue contact, such as a passenger, claimant, or a witness</a:t>
            </a:r>
          </a:p>
        </p:txBody>
      </p:sp>
      <p:sp>
        <p:nvSpPr>
          <p:cNvPr id="13316" name="Text Box 3"/>
          <p:cNvSpPr txBox="1">
            <a:spLocks noChangeArrowheads="1"/>
          </p:cNvSpPr>
          <p:nvPr/>
        </p:nvSpPr>
        <p:spPr bwMode="auto">
          <a:xfrm>
            <a:off x="7107238" y="1441450"/>
            <a:ext cx="1108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Address</a:t>
            </a:r>
            <a:br>
              <a:rPr lang="en-US" sz="1800" b="1"/>
            </a:br>
            <a:r>
              <a:rPr lang="en-US" sz="1800" b="1"/>
              <a:t>Book</a:t>
            </a:r>
          </a:p>
        </p:txBody>
      </p:sp>
      <p:grpSp>
        <p:nvGrpSpPr>
          <p:cNvPr id="13317" name="Group 4"/>
          <p:cNvGrpSpPr>
            <a:grpSpLocks/>
          </p:cNvGrpSpPr>
          <p:nvPr/>
        </p:nvGrpSpPr>
        <p:grpSpPr bwMode="auto">
          <a:xfrm>
            <a:off x="5975350" y="1212850"/>
            <a:ext cx="1109663" cy="969963"/>
            <a:chOff x="1305" y="2500"/>
            <a:chExt cx="1138" cy="995"/>
          </a:xfrm>
        </p:grpSpPr>
        <p:sp>
          <p:nvSpPr>
            <p:cNvPr id="13360"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1"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2"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3"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4"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5"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6"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7"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8"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9"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0"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1"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2"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3"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318" name="Group 19"/>
          <p:cNvGrpSpPr>
            <a:grpSpLocks/>
          </p:cNvGrpSpPr>
          <p:nvPr/>
        </p:nvGrpSpPr>
        <p:grpSpPr bwMode="auto">
          <a:xfrm>
            <a:off x="2476500" y="2447925"/>
            <a:ext cx="692150" cy="511175"/>
            <a:chOff x="2083" y="1606"/>
            <a:chExt cx="1489" cy="1097"/>
          </a:xfrm>
        </p:grpSpPr>
        <p:sp>
          <p:nvSpPr>
            <p:cNvPr id="13327" name="Rectangle 2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328" name="Freeform 2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29" name="Freeform 2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30" name="Freeform 2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31" name="Freeform 2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3332" name="Rectangle 2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333" name="Rectangle 2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4" name="AutoShape 2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335" name="Freeform 28"/>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36" name="Freeform 29"/>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37" name="Rectangle 3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8" name="Rectangle 3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9" name="Rectangle 3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3340" name="Group 33"/>
            <p:cNvGrpSpPr>
              <a:grpSpLocks/>
            </p:cNvGrpSpPr>
            <p:nvPr/>
          </p:nvGrpSpPr>
          <p:grpSpPr bwMode="auto">
            <a:xfrm>
              <a:off x="2221" y="1871"/>
              <a:ext cx="518" cy="782"/>
              <a:chOff x="2400" y="1656"/>
              <a:chExt cx="752" cy="1136"/>
            </a:xfrm>
          </p:grpSpPr>
          <p:sp>
            <p:nvSpPr>
              <p:cNvPr id="13353"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54"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5"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6"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7"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3358"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59"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41" name="Group 41"/>
            <p:cNvGrpSpPr>
              <a:grpSpLocks/>
            </p:cNvGrpSpPr>
            <p:nvPr/>
          </p:nvGrpSpPr>
          <p:grpSpPr bwMode="auto">
            <a:xfrm rot="-6511945">
              <a:off x="2834" y="1842"/>
              <a:ext cx="518" cy="783"/>
              <a:chOff x="2400" y="1656"/>
              <a:chExt cx="752" cy="1136"/>
            </a:xfrm>
          </p:grpSpPr>
          <p:sp>
            <p:nvSpPr>
              <p:cNvPr id="13346" name="Freeform 4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47" name="Freeform 4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48" name="Freeform 4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49" name="Freeform 4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0" name="Freeform 4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1" name="Line 4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52" name="Line 4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42" name="Freeform 49"/>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3343" name="Freeform 50"/>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44" name="Rectangle 5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5" name="Rectangle 5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3319" name="AutoShape 53"/>
          <p:cNvSpPr>
            <a:spLocks noChangeArrowheads="1"/>
          </p:cNvSpPr>
          <p:nvPr/>
        </p:nvSpPr>
        <p:spPr bwMode="auto">
          <a:xfrm>
            <a:off x="2913063" y="2657475"/>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3320" name="Line 54"/>
          <p:cNvSpPr>
            <a:spLocks noChangeShapeType="1"/>
          </p:cNvSpPr>
          <p:nvPr/>
        </p:nvSpPr>
        <p:spPr bwMode="auto">
          <a:xfrm flipH="1">
            <a:off x="2638425" y="3095625"/>
            <a:ext cx="2809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1" name="Line 55"/>
          <p:cNvSpPr>
            <a:spLocks noChangeShapeType="1"/>
          </p:cNvSpPr>
          <p:nvPr/>
        </p:nvSpPr>
        <p:spPr bwMode="auto">
          <a:xfrm flipV="1">
            <a:off x="2638425" y="2832100"/>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2" name="Text Box 56"/>
          <p:cNvSpPr txBox="1">
            <a:spLocks noChangeArrowheads="1"/>
          </p:cNvSpPr>
          <p:nvPr/>
        </p:nvSpPr>
        <p:spPr bwMode="auto">
          <a:xfrm>
            <a:off x="492125" y="2411413"/>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a:t>Claim</a:t>
            </a:r>
            <a:br>
              <a:rPr lang="en-US" sz="1800" b="1"/>
            </a:br>
            <a:r>
              <a:rPr lang="en-US" sz="1800" b="1"/>
              <a:t>000-00-002001</a:t>
            </a:r>
          </a:p>
        </p:txBody>
      </p:sp>
      <p:sp>
        <p:nvSpPr>
          <p:cNvPr id="13323" name="Text Box 57"/>
          <p:cNvSpPr txBox="1">
            <a:spLocks noChangeArrowheads="1"/>
          </p:cNvSpPr>
          <p:nvPr/>
        </p:nvSpPr>
        <p:spPr bwMode="auto">
          <a:xfrm>
            <a:off x="681038" y="3162300"/>
            <a:ext cx="1900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a:t>Stanley Poole</a:t>
            </a:r>
            <a:br>
              <a:rPr lang="en-US" sz="1800" b="1"/>
            </a:br>
            <a:r>
              <a:rPr lang="en-US" sz="1800" b="1"/>
              <a:t>(witness)</a:t>
            </a:r>
          </a:p>
        </p:txBody>
      </p:sp>
      <p:sp>
        <p:nvSpPr>
          <p:cNvPr id="13324" name="Rectangle 58"/>
          <p:cNvSpPr>
            <a:spLocks noChangeArrowheads="1"/>
          </p:cNvSpPr>
          <p:nvPr/>
        </p:nvSpPr>
        <p:spPr bwMode="auto">
          <a:xfrm>
            <a:off x="544513" y="1076325"/>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25" name="Rectangle 59"/>
          <p:cNvSpPr>
            <a:spLocks noChangeArrowheads="1"/>
          </p:cNvSpPr>
          <p:nvPr/>
        </p:nvSpPr>
        <p:spPr bwMode="auto">
          <a:xfrm>
            <a:off x="5351463" y="1104900"/>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3326"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11325" y="1155700"/>
            <a:ext cx="1184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2" name="Group 61"/>
          <p:cNvGrpSpPr/>
          <p:nvPr/>
        </p:nvGrpSpPr>
        <p:grpSpPr>
          <a:xfrm>
            <a:off x="7033332" y="2129858"/>
            <a:ext cx="1136650" cy="1066800"/>
            <a:chOff x="6781800" y="1524000"/>
            <a:chExt cx="1136650" cy="1066800"/>
          </a:xfrm>
        </p:grpSpPr>
        <p:pic>
          <p:nvPicPr>
            <p:cNvPr id="6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64"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a:solidFill>
                    <a:schemeClr val="tx1"/>
                  </a:solidFill>
                  <a:latin typeface="Arial Narrow" pitchFamily="34" charset="0"/>
                  <a:cs typeface="+mn-cs"/>
                </a:rPr>
                <a:t>ContactManager</a:t>
              </a:r>
            </a:p>
          </p:txBody>
        </p:sp>
      </p:grpSp>
    </p:spTree>
    <p:extLst>
      <p:ext uri="{BB962C8B-B14F-4D97-AF65-F5344CB8AC3E}">
        <p14:creationId xmlns:p14="http://schemas.microsoft.com/office/powerpoint/2010/main" val="197662039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“Shared” contacts</a:t>
            </a:r>
          </a:p>
        </p:txBody>
      </p:sp>
      <p:sp>
        <p:nvSpPr>
          <p:cNvPr id="14339" name="Text Box 3"/>
          <p:cNvSpPr txBox="1">
            <a:spLocks noChangeArrowheads="1"/>
          </p:cNvSpPr>
          <p:nvPr/>
        </p:nvSpPr>
        <p:spPr bwMode="auto">
          <a:xfrm>
            <a:off x="7107238" y="1441450"/>
            <a:ext cx="1108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Address</a:t>
            </a:r>
            <a:br>
              <a:rPr lang="en-US" sz="1800" b="1"/>
            </a:br>
            <a:r>
              <a:rPr lang="en-US" sz="1800" b="1"/>
              <a:t>Book</a:t>
            </a:r>
          </a:p>
        </p:txBody>
      </p:sp>
      <p:grpSp>
        <p:nvGrpSpPr>
          <p:cNvPr id="14340" name="Group 4"/>
          <p:cNvGrpSpPr>
            <a:grpSpLocks/>
          </p:cNvGrpSpPr>
          <p:nvPr/>
        </p:nvGrpSpPr>
        <p:grpSpPr bwMode="auto">
          <a:xfrm>
            <a:off x="5975350" y="1212850"/>
            <a:ext cx="1109663" cy="969963"/>
            <a:chOff x="1305" y="2500"/>
            <a:chExt cx="1138" cy="995"/>
          </a:xfrm>
        </p:grpSpPr>
        <p:sp>
          <p:nvSpPr>
            <p:cNvPr id="14469"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0"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1"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2"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3"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4"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5"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6"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7"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8"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9"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80"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81"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82"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4341" name="Group 19"/>
          <p:cNvGrpSpPr>
            <a:grpSpLocks/>
          </p:cNvGrpSpPr>
          <p:nvPr/>
        </p:nvGrpSpPr>
        <p:grpSpPr bwMode="auto">
          <a:xfrm>
            <a:off x="2476500" y="2447925"/>
            <a:ext cx="692150" cy="511175"/>
            <a:chOff x="2083" y="1606"/>
            <a:chExt cx="1489" cy="1097"/>
          </a:xfrm>
        </p:grpSpPr>
        <p:sp>
          <p:nvSpPr>
            <p:cNvPr id="14436" name="Rectangle 2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437" name="Freeform 2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8" name="Freeform 2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9" name="Freeform 2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40" name="Freeform 2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441" name="Rectangle 2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442" name="Rectangle 2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3" name="AutoShape 2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444" name="Freeform 28"/>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45" name="Freeform 29"/>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46" name="Rectangle 3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7" name="Rectangle 3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8" name="Rectangle 3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449" name="Group 33"/>
            <p:cNvGrpSpPr>
              <a:grpSpLocks/>
            </p:cNvGrpSpPr>
            <p:nvPr/>
          </p:nvGrpSpPr>
          <p:grpSpPr bwMode="auto">
            <a:xfrm>
              <a:off x="2221" y="1871"/>
              <a:ext cx="518" cy="782"/>
              <a:chOff x="2400" y="1656"/>
              <a:chExt cx="752" cy="1136"/>
            </a:xfrm>
          </p:grpSpPr>
          <p:sp>
            <p:nvSpPr>
              <p:cNvPr id="14462"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63"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4"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5"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6"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67"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68"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450" name="Group 41"/>
            <p:cNvGrpSpPr>
              <a:grpSpLocks/>
            </p:cNvGrpSpPr>
            <p:nvPr/>
          </p:nvGrpSpPr>
          <p:grpSpPr bwMode="auto">
            <a:xfrm rot="-6511945">
              <a:off x="2834" y="1842"/>
              <a:ext cx="518" cy="783"/>
              <a:chOff x="2400" y="1656"/>
              <a:chExt cx="752" cy="1136"/>
            </a:xfrm>
          </p:grpSpPr>
          <p:sp>
            <p:nvSpPr>
              <p:cNvPr id="14455" name="Freeform 4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56" name="Freeform 4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7" name="Freeform 4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8" name="Freeform 4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9" name="Freeform 4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0" name="Line 4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61" name="Line 4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451" name="Freeform 49"/>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452" name="Freeform 50"/>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53" name="Rectangle 5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54" name="Rectangle 5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42" name="AutoShape 53"/>
          <p:cNvSpPr>
            <a:spLocks noChangeArrowheads="1"/>
          </p:cNvSpPr>
          <p:nvPr/>
        </p:nvSpPr>
        <p:spPr bwMode="auto">
          <a:xfrm>
            <a:off x="2913063" y="2657475"/>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4343" name="Line 54"/>
          <p:cNvSpPr>
            <a:spLocks noChangeShapeType="1"/>
          </p:cNvSpPr>
          <p:nvPr/>
        </p:nvSpPr>
        <p:spPr bwMode="auto">
          <a:xfrm flipH="1">
            <a:off x="2638425" y="3095625"/>
            <a:ext cx="2809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4" name="Line 55"/>
          <p:cNvSpPr>
            <a:spLocks noChangeShapeType="1"/>
          </p:cNvSpPr>
          <p:nvPr/>
        </p:nvSpPr>
        <p:spPr bwMode="auto">
          <a:xfrm flipV="1">
            <a:off x="2638425" y="2832100"/>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4345" name="Group 56"/>
          <p:cNvGrpSpPr>
            <a:grpSpLocks/>
          </p:cNvGrpSpPr>
          <p:nvPr/>
        </p:nvGrpSpPr>
        <p:grpSpPr bwMode="auto">
          <a:xfrm>
            <a:off x="2471738" y="3832225"/>
            <a:ext cx="692150" cy="511175"/>
            <a:chOff x="2083" y="1606"/>
            <a:chExt cx="1489" cy="1097"/>
          </a:xfrm>
        </p:grpSpPr>
        <p:sp>
          <p:nvSpPr>
            <p:cNvPr id="14403" name="Rectangle 5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404" name="Freeform 5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05" name="Freeform 5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06" name="Freeform 6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07" name="Freeform 6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408" name="Rectangle 6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409" name="Rectangle 6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10" name="AutoShape 6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411" name="Freeform 65"/>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2" name="Freeform 66"/>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3" name="Rectangle 6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14" name="Rectangle 6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15" name="Rectangle 6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416" name="Group 70"/>
            <p:cNvGrpSpPr>
              <a:grpSpLocks/>
            </p:cNvGrpSpPr>
            <p:nvPr/>
          </p:nvGrpSpPr>
          <p:grpSpPr bwMode="auto">
            <a:xfrm>
              <a:off x="2221" y="1871"/>
              <a:ext cx="518" cy="782"/>
              <a:chOff x="2400" y="1656"/>
              <a:chExt cx="752" cy="1136"/>
            </a:xfrm>
          </p:grpSpPr>
          <p:sp>
            <p:nvSpPr>
              <p:cNvPr id="14429" name="Freeform 7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30" name="Freeform 7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31" name="Freeform 7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32" name="Freeform 7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33" name="Freeform 7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34" name="Line 7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35" name="Line 7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417" name="Group 78"/>
            <p:cNvGrpSpPr>
              <a:grpSpLocks/>
            </p:cNvGrpSpPr>
            <p:nvPr/>
          </p:nvGrpSpPr>
          <p:grpSpPr bwMode="auto">
            <a:xfrm rot="-6511945">
              <a:off x="2834" y="1842"/>
              <a:ext cx="518" cy="783"/>
              <a:chOff x="2400" y="1656"/>
              <a:chExt cx="752" cy="1136"/>
            </a:xfrm>
          </p:grpSpPr>
          <p:sp>
            <p:nvSpPr>
              <p:cNvPr id="14422" name="Freeform 7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23" name="Freeform 8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24" name="Freeform 8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25" name="Freeform 8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26" name="Freeform 8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27" name="Line 8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8" name="Line 8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418" name="Freeform 86"/>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419" name="Freeform 87"/>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20" name="Rectangle 8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21" name="Rectangle 8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46" name="AutoShape 90"/>
          <p:cNvSpPr>
            <a:spLocks noChangeArrowheads="1"/>
          </p:cNvSpPr>
          <p:nvPr/>
        </p:nvSpPr>
        <p:spPr bwMode="auto">
          <a:xfrm>
            <a:off x="2908300" y="4041775"/>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4347" name="Line 91"/>
          <p:cNvSpPr>
            <a:spLocks noChangeShapeType="1"/>
          </p:cNvSpPr>
          <p:nvPr/>
        </p:nvSpPr>
        <p:spPr bwMode="auto">
          <a:xfrm flipH="1">
            <a:off x="2633663" y="4479925"/>
            <a:ext cx="28098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8" name="Line 92"/>
          <p:cNvSpPr>
            <a:spLocks noChangeShapeType="1"/>
          </p:cNvSpPr>
          <p:nvPr/>
        </p:nvSpPr>
        <p:spPr bwMode="auto">
          <a:xfrm flipV="1">
            <a:off x="2633663" y="4216400"/>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4349" name="Group 93"/>
          <p:cNvGrpSpPr>
            <a:grpSpLocks/>
          </p:cNvGrpSpPr>
          <p:nvPr/>
        </p:nvGrpSpPr>
        <p:grpSpPr bwMode="auto">
          <a:xfrm>
            <a:off x="2449513" y="5145088"/>
            <a:ext cx="692150" cy="511175"/>
            <a:chOff x="2083" y="1606"/>
            <a:chExt cx="1489" cy="1097"/>
          </a:xfrm>
        </p:grpSpPr>
        <p:sp>
          <p:nvSpPr>
            <p:cNvPr id="14370" name="Rectangle 9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371" name="Freeform 9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72" name="Freeform 9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73" name="Freeform 9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74" name="Freeform 9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375" name="Rectangle 9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376" name="Rectangle 10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77" name="AutoShape 10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378" name="Freeform 102"/>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79" name="Freeform 103"/>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80" name="Rectangle 10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1" name="Rectangle 10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2" name="Rectangle 10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383" name="Group 107"/>
            <p:cNvGrpSpPr>
              <a:grpSpLocks/>
            </p:cNvGrpSpPr>
            <p:nvPr/>
          </p:nvGrpSpPr>
          <p:grpSpPr bwMode="auto">
            <a:xfrm>
              <a:off x="2221" y="1871"/>
              <a:ext cx="518" cy="782"/>
              <a:chOff x="2400" y="1656"/>
              <a:chExt cx="752" cy="1136"/>
            </a:xfrm>
          </p:grpSpPr>
          <p:sp>
            <p:nvSpPr>
              <p:cNvPr id="14396" name="Freeform 10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97" name="Freeform 10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8" name="Freeform 11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9" name="Freeform 11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00" name="Freeform 11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01" name="Line 11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02" name="Line 11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384" name="Group 115"/>
            <p:cNvGrpSpPr>
              <a:grpSpLocks/>
            </p:cNvGrpSpPr>
            <p:nvPr/>
          </p:nvGrpSpPr>
          <p:grpSpPr bwMode="auto">
            <a:xfrm rot="-6511945">
              <a:off x="2834" y="1842"/>
              <a:ext cx="518" cy="783"/>
              <a:chOff x="2400" y="1656"/>
              <a:chExt cx="752" cy="1136"/>
            </a:xfrm>
          </p:grpSpPr>
          <p:sp>
            <p:nvSpPr>
              <p:cNvPr id="14389" name="Freeform 11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90" name="Freeform 11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1" name="Freeform 11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2" name="Freeform 11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3" name="Freeform 12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4" name="Line 12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95" name="Line 12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385" name="Freeform 123"/>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386" name="Freeform 124"/>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87" name="Rectangle 12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8" name="Rectangle 12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50" name="AutoShape 127"/>
          <p:cNvSpPr>
            <a:spLocks noChangeArrowheads="1"/>
          </p:cNvSpPr>
          <p:nvPr/>
        </p:nvSpPr>
        <p:spPr bwMode="auto">
          <a:xfrm>
            <a:off x="2886075" y="535463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4351" name="Line 128"/>
          <p:cNvSpPr>
            <a:spLocks noChangeShapeType="1"/>
          </p:cNvSpPr>
          <p:nvPr/>
        </p:nvSpPr>
        <p:spPr bwMode="auto">
          <a:xfrm flipH="1">
            <a:off x="2611438" y="5792788"/>
            <a:ext cx="28098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2" name="Line 129"/>
          <p:cNvSpPr>
            <a:spLocks noChangeShapeType="1"/>
          </p:cNvSpPr>
          <p:nvPr/>
        </p:nvSpPr>
        <p:spPr bwMode="auto">
          <a:xfrm flipV="1">
            <a:off x="2611438" y="5529263"/>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3" name="Text Box 130"/>
          <p:cNvSpPr txBox="1">
            <a:spLocks noChangeArrowheads="1"/>
          </p:cNvSpPr>
          <p:nvPr/>
        </p:nvSpPr>
        <p:spPr bwMode="auto">
          <a:xfrm>
            <a:off x="492125" y="2411413"/>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a:t>Claim</a:t>
            </a:r>
            <a:br>
              <a:rPr lang="en-US" sz="1800" b="1"/>
            </a:br>
            <a:r>
              <a:rPr lang="en-US" sz="1800" b="1"/>
              <a:t>000-00-002006</a:t>
            </a:r>
          </a:p>
        </p:txBody>
      </p:sp>
      <p:sp>
        <p:nvSpPr>
          <p:cNvPr id="14354" name="Text Box 131"/>
          <p:cNvSpPr txBox="1">
            <a:spLocks noChangeArrowheads="1"/>
          </p:cNvSpPr>
          <p:nvPr/>
        </p:nvSpPr>
        <p:spPr bwMode="auto">
          <a:xfrm>
            <a:off x="492125" y="3813175"/>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a:t>Claim</a:t>
            </a:r>
            <a:br>
              <a:rPr lang="en-US" sz="1800" b="1"/>
            </a:br>
            <a:r>
              <a:rPr lang="en-US" sz="1800" b="1"/>
              <a:t>036-22-934712</a:t>
            </a:r>
          </a:p>
        </p:txBody>
      </p:sp>
      <p:sp>
        <p:nvSpPr>
          <p:cNvPr id="14355" name="Text Box 132"/>
          <p:cNvSpPr txBox="1">
            <a:spLocks noChangeArrowheads="1"/>
          </p:cNvSpPr>
          <p:nvPr/>
        </p:nvSpPr>
        <p:spPr bwMode="auto">
          <a:xfrm>
            <a:off x="492125" y="5202238"/>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a:t>Claim</a:t>
            </a:r>
            <a:br>
              <a:rPr lang="en-US" sz="1800" b="1"/>
            </a:br>
            <a:r>
              <a:rPr lang="en-US" sz="1800" b="1"/>
              <a:t>908-00-230166</a:t>
            </a:r>
          </a:p>
        </p:txBody>
      </p:sp>
      <p:sp>
        <p:nvSpPr>
          <p:cNvPr id="14356" name="Text Box 133"/>
          <p:cNvSpPr txBox="1">
            <a:spLocks noChangeArrowheads="1"/>
          </p:cNvSpPr>
          <p:nvPr/>
        </p:nvSpPr>
        <p:spPr bwMode="auto">
          <a:xfrm>
            <a:off x="868363" y="3162300"/>
            <a:ext cx="2273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Dr. Matt Sawyer (1)</a:t>
            </a:r>
          </a:p>
        </p:txBody>
      </p:sp>
      <p:sp>
        <p:nvSpPr>
          <p:cNvPr id="14357" name="Text Box 134"/>
          <p:cNvSpPr txBox="1">
            <a:spLocks noChangeArrowheads="1"/>
          </p:cNvSpPr>
          <p:nvPr/>
        </p:nvSpPr>
        <p:spPr bwMode="auto">
          <a:xfrm>
            <a:off x="868363" y="4545013"/>
            <a:ext cx="20605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Dr. Matt Sawyer (2)</a:t>
            </a:r>
          </a:p>
        </p:txBody>
      </p:sp>
      <p:sp>
        <p:nvSpPr>
          <p:cNvPr id="14358" name="Text Box 135"/>
          <p:cNvSpPr txBox="1">
            <a:spLocks noChangeArrowheads="1"/>
          </p:cNvSpPr>
          <p:nvPr/>
        </p:nvSpPr>
        <p:spPr bwMode="auto">
          <a:xfrm>
            <a:off x="868363" y="5865813"/>
            <a:ext cx="2114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Dr. Matt Sawyer (3)</a:t>
            </a:r>
          </a:p>
        </p:txBody>
      </p:sp>
      <p:sp>
        <p:nvSpPr>
          <p:cNvPr id="14359" name="Rectangle 136"/>
          <p:cNvSpPr>
            <a:spLocks noChangeArrowheads="1"/>
          </p:cNvSpPr>
          <p:nvPr/>
        </p:nvSpPr>
        <p:spPr bwMode="auto">
          <a:xfrm>
            <a:off x="544513" y="1076325"/>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60" name="Rectangle 137"/>
          <p:cNvSpPr>
            <a:spLocks noChangeArrowheads="1"/>
          </p:cNvSpPr>
          <p:nvPr/>
        </p:nvSpPr>
        <p:spPr bwMode="auto">
          <a:xfrm>
            <a:off x="5351463" y="1104900"/>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61" name="AutoShape 138"/>
          <p:cNvSpPr>
            <a:spLocks noChangeArrowheads="1"/>
          </p:cNvSpPr>
          <p:nvPr/>
        </p:nvSpPr>
        <p:spPr bwMode="auto">
          <a:xfrm>
            <a:off x="5518150" y="397033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4362" name="Line 139"/>
          <p:cNvSpPr>
            <a:spLocks noChangeShapeType="1"/>
          </p:cNvSpPr>
          <p:nvPr/>
        </p:nvSpPr>
        <p:spPr bwMode="auto">
          <a:xfrm>
            <a:off x="3886200" y="3148013"/>
            <a:ext cx="2139950" cy="0"/>
          </a:xfrm>
          <a:prstGeom prst="line">
            <a:avLst/>
          </a:prstGeom>
          <a:noFill/>
          <a:ln w="28575">
            <a:solidFill>
              <a:srgbClr val="777777"/>
            </a:solidFill>
            <a:round/>
            <a:headEnd type="diamond"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3" name="Line 140"/>
          <p:cNvSpPr>
            <a:spLocks noChangeShapeType="1"/>
          </p:cNvSpPr>
          <p:nvPr/>
        </p:nvSpPr>
        <p:spPr bwMode="auto">
          <a:xfrm>
            <a:off x="6019800" y="3148013"/>
            <a:ext cx="0" cy="825500"/>
          </a:xfrm>
          <a:prstGeom prst="line">
            <a:avLst/>
          </a:prstGeom>
          <a:noFill/>
          <a:ln w="28575">
            <a:solidFill>
              <a:srgbClr val="777777"/>
            </a:solidFill>
            <a:round/>
            <a:headEn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4" name="Line 141"/>
          <p:cNvSpPr>
            <a:spLocks noChangeShapeType="1"/>
          </p:cNvSpPr>
          <p:nvPr/>
        </p:nvSpPr>
        <p:spPr bwMode="auto">
          <a:xfrm flipV="1">
            <a:off x="6013450" y="4953000"/>
            <a:ext cx="0" cy="931863"/>
          </a:xfrm>
          <a:prstGeom prst="line">
            <a:avLst/>
          </a:prstGeom>
          <a:noFill/>
          <a:ln w="28575">
            <a:solidFill>
              <a:srgbClr val="777777"/>
            </a:solidFill>
            <a:round/>
            <a:headEn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5" name="Line 142"/>
          <p:cNvSpPr>
            <a:spLocks noChangeShapeType="1"/>
          </p:cNvSpPr>
          <p:nvPr/>
        </p:nvSpPr>
        <p:spPr bwMode="auto">
          <a:xfrm>
            <a:off x="3863975" y="5886450"/>
            <a:ext cx="2159000" cy="0"/>
          </a:xfrm>
          <a:prstGeom prst="line">
            <a:avLst/>
          </a:prstGeom>
          <a:noFill/>
          <a:ln w="28575">
            <a:solidFill>
              <a:srgbClr val="777777"/>
            </a:solidFill>
            <a:round/>
            <a:headEnd type="diamond"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6" name="Line 143"/>
          <p:cNvSpPr>
            <a:spLocks noChangeShapeType="1"/>
          </p:cNvSpPr>
          <p:nvPr/>
        </p:nvSpPr>
        <p:spPr bwMode="auto">
          <a:xfrm>
            <a:off x="3886200" y="4554538"/>
            <a:ext cx="1649413" cy="0"/>
          </a:xfrm>
          <a:prstGeom prst="line">
            <a:avLst/>
          </a:prstGeom>
          <a:noFill/>
          <a:ln w="28575">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7" name="Text Box 144"/>
          <p:cNvSpPr txBox="1">
            <a:spLocks noChangeArrowheads="1"/>
          </p:cNvSpPr>
          <p:nvPr/>
        </p:nvSpPr>
        <p:spPr bwMode="auto">
          <a:xfrm>
            <a:off x="6562725" y="4349750"/>
            <a:ext cx="24114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Dr. Matt Sawyer (AB)</a:t>
            </a:r>
          </a:p>
        </p:txBody>
      </p:sp>
      <p:sp>
        <p:nvSpPr>
          <p:cNvPr id="14368" name="Rectangle 146"/>
          <p:cNvSpPr>
            <a:spLocks noChangeArrowheads="1"/>
          </p:cNvSpPr>
          <p:nvPr/>
        </p:nvSpPr>
        <p:spPr bwMode="auto">
          <a:xfrm>
            <a:off x="6070600" y="5302250"/>
            <a:ext cx="2771775"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a:t>Typically a vendor (or venue)</a:t>
            </a:r>
          </a:p>
        </p:txBody>
      </p:sp>
      <p:pic>
        <p:nvPicPr>
          <p:cNvPr id="14369"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11325" y="1155700"/>
            <a:ext cx="1184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0" name="Group 149"/>
          <p:cNvGrpSpPr/>
          <p:nvPr/>
        </p:nvGrpSpPr>
        <p:grpSpPr>
          <a:xfrm>
            <a:off x="7033332" y="2129858"/>
            <a:ext cx="1136650" cy="1066800"/>
            <a:chOff x="6781800" y="1524000"/>
            <a:chExt cx="1136650" cy="1066800"/>
          </a:xfrm>
        </p:grpSpPr>
        <p:pic>
          <p:nvPicPr>
            <p:cNvPr id="15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52"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a:solidFill>
                    <a:schemeClr val="tx1"/>
                  </a:solidFill>
                  <a:latin typeface="Arial Narrow" pitchFamily="34" charset="0"/>
                  <a:cs typeface="+mn-cs"/>
                </a:rPr>
                <a:t>ContactManager</a:t>
              </a:r>
            </a:p>
          </p:txBody>
        </p:sp>
      </p:grpSp>
    </p:spTree>
    <p:extLst>
      <p:ext uri="{BB962C8B-B14F-4D97-AF65-F5344CB8AC3E}">
        <p14:creationId xmlns:p14="http://schemas.microsoft.com/office/powerpoint/2010/main" val="126674089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16387" name="Rectangle 3"/>
          <p:cNvSpPr>
            <a:spLocks noGrp="1" noChangeArrowheads="1"/>
          </p:cNvSpPr>
          <p:nvPr>
            <p:ph idx="1"/>
          </p:nvPr>
        </p:nvSpPr>
        <p:spPr/>
        <p:txBody>
          <a:bodyPr/>
          <a:lstStyle/>
          <a:p>
            <a:endParaRPr lang="en-US"/>
          </a:p>
        </p:txBody>
      </p:sp>
    </p:spTree>
    <p:extLst>
      <p:ext uri="{BB962C8B-B14F-4D97-AF65-F5344CB8AC3E}">
        <p14:creationId xmlns:p14="http://schemas.microsoft.com/office/powerpoint/2010/main" val="297349912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Lesson outline</a:t>
            </a:r>
          </a:p>
        </p:txBody>
      </p:sp>
      <p:sp>
        <p:nvSpPr>
          <p:cNvPr id="14339" name="Rectangle 3"/>
          <p:cNvSpPr>
            <a:spLocks noGrp="1" noChangeArrowheads="1"/>
          </p:cNvSpPr>
          <p:nvPr>
            <p:ph idx="1"/>
          </p:nvPr>
        </p:nvSpPr>
        <p:spPr/>
        <p:txBody>
          <a:bodyPr/>
          <a:lstStyle/>
          <a:p>
            <a:pPr>
              <a:lnSpc>
                <a:spcPct val="150000"/>
              </a:lnSpc>
            </a:pPr>
            <a:r>
              <a:rPr lang="en-US" sz="2800">
                <a:solidFill>
                  <a:srgbClr val="C0C0C0"/>
                </a:solidFill>
              </a:rPr>
              <a:t>Contact basics</a:t>
            </a:r>
          </a:p>
          <a:p>
            <a:pPr>
              <a:lnSpc>
                <a:spcPct val="150000"/>
              </a:lnSpc>
            </a:pPr>
            <a:r>
              <a:rPr lang="en-US" sz="2800"/>
              <a:t>Contact roles</a:t>
            </a:r>
          </a:p>
          <a:p>
            <a:pPr>
              <a:lnSpc>
                <a:spcPct val="150000"/>
              </a:lnSpc>
            </a:pPr>
            <a:r>
              <a:rPr lang="en-US" sz="2800">
                <a:solidFill>
                  <a:srgbClr val="C0C0C0"/>
                </a:solidFill>
              </a:rPr>
              <a:t>Categorizing contact</a:t>
            </a:r>
          </a:p>
          <a:p>
            <a:pPr>
              <a:lnSpc>
                <a:spcPct val="150000"/>
              </a:lnSpc>
            </a:pPr>
            <a:r>
              <a:rPr lang="en-US" sz="2800">
                <a:solidFill>
                  <a:srgbClr val="C0C0C0"/>
                </a:solidFill>
              </a:rPr>
              <a:t>Contact role configuration</a:t>
            </a:r>
          </a:p>
          <a:p>
            <a:pPr>
              <a:lnSpc>
                <a:spcPct val="150000"/>
              </a:lnSpc>
            </a:pPr>
            <a:r>
              <a:rPr lang="en-US" sz="2800">
                <a:solidFill>
                  <a:srgbClr val="C0C0C0"/>
                </a:solidFill>
              </a:rPr>
              <a:t>Contact role type constraints</a:t>
            </a:r>
          </a:p>
          <a:p>
            <a:pPr>
              <a:lnSpc>
                <a:spcPct val="150000"/>
              </a:lnSpc>
            </a:pPr>
            <a:r>
              <a:rPr lang="en-US" sz="2800">
                <a:solidFill>
                  <a:srgbClr val="C0C0C0"/>
                </a:solidFill>
              </a:rPr>
              <a:t>Entity role constraints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a:grpSpLocks/>
          </p:cNvGrpSpPr>
          <p:nvPr/>
        </p:nvGrpSpPr>
        <p:grpSpPr bwMode="auto">
          <a:xfrm>
            <a:off x="5837238" y="1987550"/>
            <a:ext cx="1074737" cy="714375"/>
            <a:chOff x="2496" y="1641"/>
            <a:chExt cx="767" cy="510"/>
          </a:xfrm>
        </p:grpSpPr>
        <p:sp>
          <p:nvSpPr>
            <p:cNvPr id="15451" name="AutoShape 3"/>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15452" name="Rectangle 4"/>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15453" name="Rectangle 5"/>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5454" name="Rectangle 6"/>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15363" name="Group 7"/>
          <p:cNvGrpSpPr>
            <a:grpSpLocks/>
          </p:cNvGrpSpPr>
          <p:nvPr/>
        </p:nvGrpSpPr>
        <p:grpSpPr bwMode="auto">
          <a:xfrm>
            <a:off x="4583113" y="1033463"/>
            <a:ext cx="1233487" cy="909637"/>
            <a:chOff x="1760" y="442"/>
            <a:chExt cx="1054" cy="777"/>
          </a:xfrm>
        </p:grpSpPr>
        <p:sp>
          <p:nvSpPr>
            <p:cNvPr id="15417" name="Rectangle 8"/>
            <p:cNvSpPr>
              <a:spLocks noChangeArrowheads="1"/>
            </p:cNvSpPr>
            <p:nvPr/>
          </p:nvSpPr>
          <p:spPr bwMode="auto">
            <a:xfrm>
              <a:off x="1760" y="442"/>
              <a:ext cx="1054" cy="77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5418" name="AutoShape 9"/>
            <p:cNvSpPr>
              <a:spLocks noChangeArrowheads="1"/>
            </p:cNvSpPr>
            <p:nvPr/>
          </p:nvSpPr>
          <p:spPr bwMode="auto">
            <a:xfrm rot="2681173">
              <a:off x="1969" y="624"/>
              <a:ext cx="399" cy="409"/>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5419" name="Freeform 10"/>
            <p:cNvSpPr>
              <a:spLocks/>
            </p:cNvSpPr>
            <p:nvPr/>
          </p:nvSpPr>
          <p:spPr bwMode="auto">
            <a:xfrm>
              <a:off x="2021" y="743"/>
              <a:ext cx="19" cy="19"/>
            </a:xfrm>
            <a:custGeom>
              <a:avLst/>
              <a:gdLst>
                <a:gd name="T0" fmla="*/ 0 w 75"/>
                <a:gd name="T1" fmla="*/ 0 h 76"/>
                <a:gd name="T2" fmla="*/ 0 w 75"/>
                <a:gd name="T3" fmla="*/ 0 h 76"/>
                <a:gd name="T4" fmla="*/ 0 w 75"/>
                <a:gd name="T5" fmla="*/ 0 h 76"/>
                <a:gd name="T6" fmla="*/ 0 w 75"/>
                <a:gd name="T7" fmla="*/ 0 h 76"/>
                <a:gd name="T8" fmla="*/ 0 w 75"/>
                <a:gd name="T9" fmla="*/ 0 h 76"/>
                <a:gd name="T10" fmla="*/ 0 w 75"/>
                <a:gd name="T11" fmla="*/ 0 h 76"/>
                <a:gd name="T12" fmla="*/ 0 w 75"/>
                <a:gd name="T13" fmla="*/ 0 h 76"/>
                <a:gd name="T14" fmla="*/ 0 w 75"/>
                <a:gd name="T15" fmla="*/ 0 h 76"/>
                <a:gd name="T16" fmla="*/ 0 w 75"/>
                <a:gd name="T17" fmla="*/ 0 h 76"/>
                <a:gd name="T18" fmla="*/ 0 w 75"/>
                <a:gd name="T19" fmla="*/ 0 h 76"/>
                <a:gd name="T20" fmla="*/ 0 w 75"/>
                <a:gd name="T21" fmla="*/ 0 h 76"/>
                <a:gd name="T22" fmla="*/ 0 w 75"/>
                <a:gd name="T23" fmla="*/ 0 h 76"/>
                <a:gd name="T24" fmla="*/ 0 w 75"/>
                <a:gd name="T25" fmla="*/ 0 h 76"/>
                <a:gd name="T26" fmla="*/ 0 w 75"/>
                <a:gd name="T27" fmla="*/ 0 h 76"/>
                <a:gd name="T28" fmla="*/ 0 w 75"/>
                <a:gd name="T29" fmla="*/ 0 h 76"/>
                <a:gd name="T30" fmla="*/ 0 w 75"/>
                <a:gd name="T31" fmla="*/ 0 h 76"/>
                <a:gd name="T32" fmla="*/ 0 w 75"/>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
                <a:gd name="T52" fmla="*/ 0 h 76"/>
                <a:gd name="T53" fmla="*/ 75 w 75"/>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 h="76">
                  <a:moveTo>
                    <a:pt x="37" y="76"/>
                  </a:moveTo>
                  <a:lnTo>
                    <a:pt x="52" y="74"/>
                  </a:lnTo>
                  <a:lnTo>
                    <a:pt x="65" y="65"/>
                  </a:lnTo>
                  <a:lnTo>
                    <a:pt x="72" y="53"/>
                  </a:lnTo>
                  <a:lnTo>
                    <a:pt x="75" y="38"/>
                  </a:lnTo>
                  <a:lnTo>
                    <a:pt x="72" y="23"/>
                  </a:lnTo>
                  <a:lnTo>
                    <a:pt x="65" y="12"/>
                  </a:lnTo>
                  <a:lnTo>
                    <a:pt x="52" y="3"/>
                  </a:lnTo>
                  <a:lnTo>
                    <a:pt x="37" y="0"/>
                  </a:lnTo>
                  <a:lnTo>
                    <a:pt x="23" y="3"/>
                  </a:lnTo>
                  <a:lnTo>
                    <a:pt x="11" y="12"/>
                  </a:lnTo>
                  <a:lnTo>
                    <a:pt x="3" y="23"/>
                  </a:lnTo>
                  <a:lnTo>
                    <a:pt x="0" y="38"/>
                  </a:lnTo>
                  <a:lnTo>
                    <a:pt x="3" y="53"/>
                  </a:lnTo>
                  <a:lnTo>
                    <a:pt x="11" y="65"/>
                  </a:lnTo>
                  <a:lnTo>
                    <a:pt x="23" y="74"/>
                  </a:lnTo>
                  <a:lnTo>
                    <a:pt x="37"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0" name="Freeform 11"/>
            <p:cNvSpPr>
              <a:spLocks/>
            </p:cNvSpPr>
            <p:nvPr/>
          </p:nvSpPr>
          <p:spPr bwMode="auto">
            <a:xfrm>
              <a:off x="2054" y="743"/>
              <a:ext cx="20" cy="20"/>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w 77"/>
                <a:gd name="T11" fmla="*/ 0 h 76"/>
                <a:gd name="T12" fmla="*/ 0 w 77"/>
                <a:gd name="T13" fmla="*/ 0 h 76"/>
                <a:gd name="T14" fmla="*/ 0 w 77"/>
                <a:gd name="T15" fmla="*/ 0 h 76"/>
                <a:gd name="T16" fmla="*/ 0 w 77"/>
                <a:gd name="T17" fmla="*/ 0 h 76"/>
                <a:gd name="T18" fmla="*/ 0 w 77"/>
                <a:gd name="T19" fmla="*/ 0 h 76"/>
                <a:gd name="T20" fmla="*/ 0 w 77"/>
                <a:gd name="T21" fmla="*/ 0 h 76"/>
                <a:gd name="T22" fmla="*/ 0 w 77"/>
                <a:gd name="T23" fmla="*/ 0 h 76"/>
                <a:gd name="T24" fmla="*/ 0 w 77"/>
                <a:gd name="T25" fmla="*/ 0 h 76"/>
                <a:gd name="T26" fmla="*/ 0 w 77"/>
                <a:gd name="T27" fmla="*/ 0 h 76"/>
                <a:gd name="T28" fmla="*/ 0 w 77"/>
                <a:gd name="T29" fmla="*/ 0 h 76"/>
                <a:gd name="T30" fmla="*/ 0 w 77"/>
                <a:gd name="T31" fmla="*/ 0 h 76"/>
                <a:gd name="T32" fmla="*/ 0 w 77"/>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7"/>
                <a:gd name="T52" fmla="*/ 0 h 76"/>
                <a:gd name="T53" fmla="*/ 77 w 77"/>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7" h="76">
                  <a:moveTo>
                    <a:pt x="38" y="76"/>
                  </a:moveTo>
                  <a:lnTo>
                    <a:pt x="54" y="73"/>
                  </a:lnTo>
                  <a:lnTo>
                    <a:pt x="65" y="65"/>
                  </a:lnTo>
                  <a:lnTo>
                    <a:pt x="74" y="53"/>
                  </a:lnTo>
                  <a:lnTo>
                    <a:pt x="77" y="39"/>
                  </a:lnTo>
                  <a:lnTo>
                    <a:pt x="74" y="23"/>
                  </a:lnTo>
                  <a:lnTo>
                    <a:pt x="65" y="11"/>
                  </a:lnTo>
                  <a:lnTo>
                    <a:pt x="54" y="3"/>
                  </a:lnTo>
                  <a:lnTo>
                    <a:pt x="38" y="0"/>
                  </a:lnTo>
                  <a:lnTo>
                    <a:pt x="24" y="3"/>
                  </a:lnTo>
                  <a:lnTo>
                    <a:pt x="12" y="11"/>
                  </a:lnTo>
                  <a:lnTo>
                    <a:pt x="3" y="23"/>
                  </a:lnTo>
                  <a:lnTo>
                    <a:pt x="0" y="39"/>
                  </a:lnTo>
                  <a:lnTo>
                    <a:pt x="3" y="53"/>
                  </a:lnTo>
                  <a:lnTo>
                    <a:pt x="12" y="65"/>
                  </a:lnTo>
                  <a:lnTo>
                    <a:pt x="24" y="73"/>
                  </a:lnTo>
                  <a:lnTo>
                    <a:pt x="38"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1" name="Freeform 12"/>
            <p:cNvSpPr>
              <a:spLocks/>
            </p:cNvSpPr>
            <p:nvPr/>
          </p:nvSpPr>
          <p:spPr bwMode="auto">
            <a:xfrm>
              <a:off x="2109" y="787"/>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2" name="Freeform 13"/>
            <p:cNvSpPr>
              <a:spLocks/>
            </p:cNvSpPr>
            <p:nvPr/>
          </p:nvSpPr>
          <p:spPr bwMode="auto">
            <a:xfrm>
              <a:off x="2081" y="761"/>
              <a:ext cx="19" cy="19"/>
            </a:xfrm>
            <a:custGeom>
              <a:avLst/>
              <a:gdLst>
                <a:gd name="T0" fmla="*/ 0 w 75"/>
                <a:gd name="T1" fmla="*/ 0 h 77"/>
                <a:gd name="T2" fmla="*/ 0 w 75"/>
                <a:gd name="T3" fmla="*/ 0 h 77"/>
                <a:gd name="T4" fmla="*/ 0 w 75"/>
                <a:gd name="T5" fmla="*/ 0 h 77"/>
                <a:gd name="T6" fmla="*/ 0 w 75"/>
                <a:gd name="T7" fmla="*/ 0 h 77"/>
                <a:gd name="T8" fmla="*/ 0 w 75"/>
                <a:gd name="T9" fmla="*/ 0 h 77"/>
                <a:gd name="T10" fmla="*/ 0 w 75"/>
                <a:gd name="T11" fmla="*/ 0 h 77"/>
                <a:gd name="T12" fmla="*/ 0 w 75"/>
                <a:gd name="T13" fmla="*/ 0 h 77"/>
                <a:gd name="T14" fmla="*/ 0 w 75"/>
                <a:gd name="T15" fmla="*/ 0 h 77"/>
                <a:gd name="T16" fmla="*/ 0 w 75"/>
                <a:gd name="T17" fmla="*/ 0 h 77"/>
                <a:gd name="T18" fmla="*/ 0 w 75"/>
                <a:gd name="T19" fmla="*/ 0 h 77"/>
                <a:gd name="T20" fmla="*/ 0 w 75"/>
                <a:gd name="T21" fmla="*/ 0 h 77"/>
                <a:gd name="T22" fmla="*/ 0 w 75"/>
                <a:gd name="T23" fmla="*/ 0 h 77"/>
                <a:gd name="T24" fmla="*/ 0 w 75"/>
                <a:gd name="T25" fmla="*/ 0 h 77"/>
                <a:gd name="T26" fmla="*/ 0 w 75"/>
                <a:gd name="T27" fmla="*/ 0 h 77"/>
                <a:gd name="T28" fmla="*/ 0 w 75"/>
                <a:gd name="T29" fmla="*/ 0 h 77"/>
                <a:gd name="T30" fmla="*/ 0 w 75"/>
                <a:gd name="T31" fmla="*/ 0 h 77"/>
                <a:gd name="T32" fmla="*/ 0 w 75"/>
                <a:gd name="T33" fmla="*/ 0 h 77"/>
                <a:gd name="T34" fmla="*/ 0 w 75"/>
                <a:gd name="T35" fmla="*/ 0 h 77"/>
                <a:gd name="T36" fmla="*/ 0 w 75"/>
                <a:gd name="T37" fmla="*/ 0 h 77"/>
                <a:gd name="T38" fmla="*/ 0 w 75"/>
                <a:gd name="T39" fmla="*/ 0 h 77"/>
                <a:gd name="T40" fmla="*/ 0 w 75"/>
                <a:gd name="T41" fmla="*/ 0 h 77"/>
                <a:gd name="T42" fmla="*/ 0 w 75"/>
                <a:gd name="T43" fmla="*/ 0 h 77"/>
                <a:gd name="T44" fmla="*/ 0 w 75"/>
                <a:gd name="T45" fmla="*/ 0 h 77"/>
                <a:gd name="T46" fmla="*/ 0 w 75"/>
                <a:gd name="T47" fmla="*/ 0 h 77"/>
                <a:gd name="T48" fmla="*/ 0 w 75"/>
                <a:gd name="T49" fmla="*/ 0 h 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77"/>
                <a:gd name="T77" fmla="*/ 75 w 75"/>
                <a:gd name="T78" fmla="*/ 77 h 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77">
                  <a:moveTo>
                    <a:pt x="64" y="64"/>
                  </a:moveTo>
                  <a:lnTo>
                    <a:pt x="72" y="51"/>
                  </a:lnTo>
                  <a:lnTo>
                    <a:pt x="75" y="36"/>
                  </a:lnTo>
                  <a:lnTo>
                    <a:pt x="72" y="23"/>
                  </a:lnTo>
                  <a:lnTo>
                    <a:pt x="63" y="10"/>
                  </a:lnTo>
                  <a:lnTo>
                    <a:pt x="57" y="6"/>
                  </a:lnTo>
                  <a:lnTo>
                    <a:pt x="50" y="3"/>
                  </a:lnTo>
                  <a:lnTo>
                    <a:pt x="43" y="0"/>
                  </a:lnTo>
                  <a:lnTo>
                    <a:pt x="36" y="0"/>
                  </a:lnTo>
                  <a:lnTo>
                    <a:pt x="28" y="2"/>
                  </a:lnTo>
                  <a:lnTo>
                    <a:pt x="21" y="4"/>
                  </a:lnTo>
                  <a:lnTo>
                    <a:pt x="15" y="7"/>
                  </a:lnTo>
                  <a:lnTo>
                    <a:pt x="10" y="13"/>
                  </a:lnTo>
                  <a:lnTo>
                    <a:pt x="1" y="26"/>
                  </a:lnTo>
                  <a:lnTo>
                    <a:pt x="0" y="39"/>
                  </a:lnTo>
                  <a:lnTo>
                    <a:pt x="3" y="53"/>
                  </a:lnTo>
                  <a:lnTo>
                    <a:pt x="11" y="66"/>
                  </a:lnTo>
                  <a:lnTo>
                    <a:pt x="17" y="71"/>
                  </a:lnTo>
                  <a:lnTo>
                    <a:pt x="24" y="74"/>
                  </a:lnTo>
                  <a:lnTo>
                    <a:pt x="31" y="77"/>
                  </a:lnTo>
                  <a:lnTo>
                    <a:pt x="39" y="77"/>
                  </a:lnTo>
                  <a:lnTo>
                    <a:pt x="46" y="75"/>
                  </a:lnTo>
                  <a:lnTo>
                    <a:pt x="53" y="72"/>
                  </a:lnTo>
                  <a:lnTo>
                    <a:pt x="59" y="69"/>
                  </a:lnTo>
                  <a:lnTo>
                    <a:pt x="64" y="6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5423" name="Group 14"/>
            <p:cNvGrpSpPr>
              <a:grpSpLocks/>
            </p:cNvGrpSpPr>
            <p:nvPr/>
          </p:nvGrpSpPr>
          <p:grpSpPr bwMode="auto">
            <a:xfrm>
              <a:off x="1779" y="671"/>
              <a:ext cx="234" cy="219"/>
              <a:chOff x="3323" y="2342"/>
              <a:chExt cx="463" cy="432"/>
            </a:xfrm>
          </p:grpSpPr>
          <p:sp>
            <p:nvSpPr>
              <p:cNvPr id="15447" name="Freeform 15"/>
              <p:cNvSpPr>
                <a:spLocks/>
              </p:cNvSpPr>
              <p:nvPr/>
            </p:nvSpPr>
            <p:spPr bwMode="auto">
              <a:xfrm>
                <a:off x="3323" y="2342"/>
                <a:ext cx="463" cy="432"/>
              </a:xfrm>
              <a:custGeom>
                <a:avLst/>
                <a:gdLst>
                  <a:gd name="T0" fmla="*/ 1 w 926"/>
                  <a:gd name="T1" fmla="*/ 0 h 865"/>
                  <a:gd name="T2" fmla="*/ 1 w 926"/>
                  <a:gd name="T3" fmla="*/ 0 h 865"/>
                  <a:gd name="T4" fmla="*/ 0 w 926"/>
                  <a:gd name="T5" fmla="*/ 0 h 865"/>
                  <a:gd name="T6" fmla="*/ 1 w 926"/>
                  <a:gd name="T7" fmla="*/ 0 h 865"/>
                  <a:gd name="T8" fmla="*/ 1 w 926"/>
                  <a:gd name="T9" fmla="*/ 0 h 865"/>
                  <a:gd name="T10" fmla="*/ 0 60000 65536"/>
                  <a:gd name="T11" fmla="*/ 0 60000 65536"/>
                  <a:gd name="T12" fmla="*/ 0 60000 65536"/>
                  <a:gd name="T13" fmla="*/ 0 60000 65536"/>
                  <a:gd name="T14" fmla="*/ 0 60000 65536"/>
                  <a:gd name="T15" fmla="*/ 0 w 926"/>
                  <a:gd name="T16" fmla="*/ 0 h 865"/>
                  <a:gd name="T17" fmla="*/ 926 w 926"/>
                  <a:gd name="T18" fmla="*/ 865 h 865"/>
                </a:gdLst>
                <a:ahLst/>
                <a:cxnLst>
                  <a:cxn ang="T10">
                    <a:pos x="T0" y="T1"/>
                  </a:cxn>
                  <a:cxn ang="T11">
                    <a:pos x="T2" y="T3"/>
                  </a:cxn>
                  <a:cxn ang="T12">
                    <a:pos x="T4" y="T5"/>
                  </a:cxn>
                  <a:cxn ang="T13">
                    <a:pos x="T6" y="T7"/>
                  </a:cxn>
                  <a:cxn ang="T14">
                    <a:pos x="T8" y="T9"/>
                  </a:cxn>
                </a:cxnLst>
                <a:rect l="T15" t="T16" r="T17" b="T18"/>
                <a:pathLst>
                  <a:path w="926" h="865">
                    <a:moveTo>
                      <a:pt x="926" y="321"/>
                    </a:moveTo>
                    <a:lnTo>
                      <a:pt x="663" y="0"/>
                    </a:lnTo>
                    <a:lnTo>
                      <a:pt x="0" y="543"/>
                    </a:lnTo>
                    <a:lnTo>
                      <a:pt x="264" y="865"/>
                    </a:lnTo>
                    <a:lnTo>
                      <a:pt x="926" y="321"/>
                    </a:lnTo>
                    <a:close/>
                  </a:path>
                </a:pathLst>
              </a:custGeom>
              <a:solidFill>
                <a:srgbClr val="FF0000"/>
              </a:solidFill>
              <a:ln w="12700">
                <a:solidFill>
                  <a:schemeClr val="bg1"/>
                </a:solidFill>
                <a:round/>
                <a:headEnd/>
                <a:tailEnd/>
              </a:ln>
            </p:spPr>
            <p:txBody>
              <a:bodyPr/>
              <a:lstStyle/>
              <a:p>
                <a:endParaRPr lang="en-US"/>
              </a:p>
            </p:txBody>
          </p:sp>
          <p:sp>
            <p:nvSpPr>
              <p:cNvPr id="15448" name="Freeform 16"/>
              <p:cNvSpPr>
                <a:spLocks/>
              </p:cNvSpPr>
              <p:nvPr/>
            </p:nvSpPr>
            <p:spPr bwMode="auto">
              <a:xfrm>
                <a:off x="3416" y="2609"/>
                <a:ext cx="60" cy="59"/>
              </a:xfrm>
              <a:custGeom>
                <a:avLst/>
                <a:gdLst>
                  <a:gd name="T0" fmla="*/ 0 w 121"/>
                  <a:gd name="T1" fmla="*/ 0 h 120"/>
                  <a:gd name="T2" fmla="*/ 0 w 121"/>
                  <a:gd name="T3" fmla="*/ 0 h 120"/>
                  <a:gd name="T4" fmla="*/ 0 w 121"/>
                  <a:gd name="T5" fmla="*/ 0 h 120"/>
                  <a:gd name="T6" fmla="*/ 0 w 121"/>
                  <a:gd name="T7" fmla="*/ 0 h 120"/>
                  <a:gd name="T8" fmla="*/ 0 w 121"/>
                  <a:gd name="T9" fmla="*/ 0 h 120"/>
                  <a:gd name="T10" fmla="*/ 0 w 121"/>
                  <a:gd name="T11" fmla="*/ 0 h 120"/>
                  <a:gd name="T12" fmla="*/ 0 w 121"/>
                  <a:gd name="T13" fmla="*/ 0 h 120"/>
                  <a:gd name="T14" fmla="*/ 0 w 121"/>
                  <a:gd name="T15" fmla="*/ 0 h 120"/>
                  <a:gd name="T16" fmla="*/ 0 w 121"/>
                  <a:gd name="T17" fmla="*/ 0 h 120"/>
                  <a:gd name="T18" fmla="*/ 0 w 121"/>
                  <a:gd name="T19" fmla="*/ 0 h 120"/>
                  <a:gd name="T20" fmla="*/ 0 w 121"/>
                  <a:gd name="T21" fmla="*/ 0 h 120"/>
                  <a:gd name="T22" fmla="*/ 0 w 121"/>
                  <a:gd name="T23" fmla="*/ 0 h 120"/>
                  <a:gd name="T24" fmla="*/ 0 w 121"/>
                  <a:gd name="T25" fmla="*/ 0 h 120"/>
                  <a:gd name="T26" fmla="*/ 0 w 121"/>
                  <a:gd name="T27" fmla="*/ 0 h 120"/>
                  <a:gd name="T28" fmla="*/ 0 w 121"/>
                  <a:gd name="T29" fmla="*/ 0 h 120"/>
                  <a:gd name="T30" fmla="*/ 0 w 121"/>
                  <a:gd name="T31" fmla="*/ 0 h 120"/>
                  <a:gd name="T32" fmla="*/ 0 w 121"/>
                  <a:gd name="T33" fmla="*/ 0 h 120"/>
                  <a:gd name="T34" fmla="*/ 0 w 121"/>
                  <a:gd name="T35" fmla="*/ 0 h 120"/>
                  <a:gd name="T36" fmla="*/ 0 w 121"/>
                  <a:gd name="T37" fmla="*/ 0 h 120"/>
                  <a:gd name="T38" fmla="*/ 0 w 121"/>
                  <a:gd name="T39" fmla="*/ 0 h 120"/>
                  <a:gd name="T40" fmla="*/ 0 w 121"/>
                  <a:gd name="T41" fmla="*/ 0 h 120"/>
                  <a:gd name="T42" fmla="*/ 0 w 121"/>
                  <a:gd name="T43" fmla="*/ 0 h 120"/>
                  <a:gd name="T44" fmla="*/ 0 w 121"/>
                  <a:gd name="T45" fmla="*/ 0 h 120"/>
                  <a:gd name="T46" fmla="*/ 0 w 121"/>
                  <a:gd name="T47" fmla="*/ 0 h 120"/>
                  <a:gd name="T48" fmla="*/ 0 w 121"/>
                  <a:gd name="T49" fmla="*/ 0 h 120"/>
                  <a:gd name="T50" fmla="*/ 0 w 121"/>
                  <a:gd name="T51" fmla="*/ 0 h 120"/>
                  <a:gd name="T52" fmla="*/ 0 w 121"/>
                  <a:gd name="T53" fmla="*/ 0 h 120"/>
                  <a:gd name="T54" fmla="*/ 0 w 121"/>
                  <a:gd name="T55" fmla="*/ 0 h 120"/>
                  <a:gd name="T56" fmla="*/ 0 w 121"/>
                  <a:gd name="T57" fmla="*/ 0 h 120"/>
                  <a:gd name="T58" fmla="*/ 0 w 121"/>
                  <a:gd name="T59" fmla="*/ 0 h 120"/>
                  <a:gd name="T60" fmla="*/ 0 w 121"/>
                  <a:gd name="T61" fmla="*/ 0 h 120"/>
                  <a:gd name="T62" fmla="*/ 0 w 121"/>
                  <a:gd name="T63" fmla="*/ 0 h 120"/>
                  <a:gd name="T64" fmla="*/ 0 w 121"/>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0" y="120"/>
                    </a:moveTo>
                    <a:lnTo>
                      <a:pt x="72" y="119"/>
                    </a:lnTo>
                    <a:lnTo>
                      <a:pt x="83" y="116"/>
                    </a:lnTo>
                    <a:lnTo>
                      <a:pt x="93" y="110"/>
                    </a:lnTo>
                    <a:lnTo>
                      <a:pt x="104" y="103"/>
                    </a:lnTo>
                    <a:lnTo>
                      <a:pt x="111" y="94"/>
                    </a:lnTo>
                    <a:lnTo>
                      <a:pt x="117" y="84"/>
                    </a:lnTo>
                    <a:lnTo>
                      <a:pt x="119" y="72"/>
                    </a:lnTo>
                    <a:lnTo>
                      <a:pt x="121" y="59"/>
                    </a:lnTo>
                    <a:lnTo>
                      <a:pt x="119" y="48"/>
                    </a:lnTo>
                    <a:lnTo>
                      <a:pt x="117" y="36"/>
                    </a:lnTo>
                    <a:lnTo>
                      <a:pt x="111" y="26"/>
                    </a:lnTo>
                    <a:lnTo>
                      <a:pt x="104" y="18"/>
                    </a:lnTo>
                    <a:lnTo>
                      <a:pt x="93" y="10"/>
                    </a:lnTo>
                    <a:lnTo>
                      <a:pt x="83" y="5"/>
                    </a:lnTo>
                    <a:lnTo>
                      <a:pt x="72" y="2"/>
                    </a:lnTo>
                    <a:lnTo>
                      <a:pt x="60" y="0"/>
                    </a:lnTo>
                    <a:lnTo>
                      <a:pt x="49" y="2"/>
                    </a:lnTo>
                    <a:lnTo>
                      <a:pt x="37" y="5"/>
                    </a:lnTo>
                    <a:lnTo>
                      <a:pt x="27" y="10"/>
                    </a:lnTo>
                    <a:lnTo>
                      <a:pt x="17" y="18"/>
                    </a:lnTo>
                    <a:lnTo>
                      <a:pt x="10" y="26"/>
                    </a:lnTo>
                    <a:lnTo>
                      <a:pt x="4" y="36"/>
                    </a:lnTo>
                    <a:lnTo>
                      <a:pt x="1" y="48"/>
                    </a:lnTo>
                    <a:lnTo>
                      <a:pt x="0" y="59"/>
                    </a:lnTo>
                    <a:lnTo>
                      <a:pt x="1" y="72"/>
                    </a:lnTo>
                    <a:lnTo>
                      <a:pt x="4" y="84"/>
                    </a:lnTo>
                    <a:lnTo>
                      <a:pt x="10" y="94"/>
                    </a:lnTo>
                    <a:lnTo>
                      <a:pt x="17" y="103"/>
                    </a:lnTo>
                    <a:lnTo>
                      <a:pt x="27" y="110"/>
                    </a:lnTo>
                    <a:lnTo>
                      <a:pt x="37" y="116"/>
                    </a:lnTo>
                    <a:lnTo>
                      <a:pt x="49" y="119"/>
                    </a:lnTo>
                    <a:lnTo>
                      <a:pt x="6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9" name="Freeform 17"/>
              <p:cNvSpPr>
                <a:spLocks/>
              </p:cNvSpPr>
              <p:nvPr/>
            </p:nvSpPr>
            <p:spPr bwMode="auto">
              <a:xfrm>
                <a:off x="3520" y="2527"/>
                <a:ext cx="60" cy="60"/>
              </a:xfrm>
              <a:custGeom>
                <a:avLst/>
                <a:gdLst>
                  <a:gd name="T0" fmla="*/ 0 w 121"/>
                  <a:gd name="T1" fmla="*/ 1 h 120"/>
                  <a:gd name="T2" fmla="*/ 0 w 121"/>
                  <a:gd name="T3" fmla="*/ 1 h 120"/>
                  <a:gd name="T4" fmla="*/ 0 w 121"/>
                  <a:gd name="T5" fmla="*/ 1 h 120"/>
                  <a:gd name="T6" fmla="*/ 0 w 121"/>
                  <a:gd name="T7" fmla="*/ 1 h 120"/>
                  <a:gd name="T8" fmla="*/ 0 w 121"/>
                  <a:gd name="T9" fmla="*/ 1 h 120"/>
                  <a:gd name="T10" fmla="*/ 0 w 121"/>
                  <a:gd name="T11" fmla="*/ 1 h 120"/>
                  <a:gd name="T12" fmla="*/ 0 w 121"/>
                  <a:gd name="T13" fmla="*/ 1 h 120"/>
                  <a:gd name="T14" fmla="*/ 0 w 121"/>
                  <a:gd name="T15" fmla="*/ 1 h 120"/>
                  <a:gd name="T16" fmla="*/ 0 w 121"/>
                  <a:gd name="T17" fmla="*/ 1 h 120"/>
                  <a:gd name="T18" fmla="*/ 0 w 121"/>
                  <a:gd name="T19" fmla="*/ 1 h 120"/>
                  <a:gd name="T20" fmla="*/ 0 w 121"/>
                  <a:gd name="T21" fmla="*/ 1 h 120"/>
                  <a:gd name="T22" fmla="*/ 0 w 121"/>
                  <a:gd name="T23" fmla="*/ 1 h 120"/>
                  <a:gd name="T24" fmla="*/ 0 w 121"/>
                  <a:gd name="T25" fmla="*/ 1 h 120"/>
                  <a:gd name="T26" fmla="*/ 0 w 121"/>
                  <a:gd name="T27" fmla="*/ 1 h 120"/>
                  <a:gd name="T28" fmla="*/ 0 w 121"/>
                  <a:gd name="T29" fmla="*/ 1 h 120"/>
                  <a:gd name="T30" fmla="*/ 0 w 121"/>
                  <a:gd name="T31" fmla="*/ 1 h 120"/>
                  <a:gd name="T32" fmla="*/ 0 w 121"/>
                  <a:gd name="T33" fmla="*/ 0 h 120"/>
                  <a:gd name="T34" fmla="*/ 0 w 121"/>
                  <a:gd name="T35" fmla="*/ 1 h 120"/>
                  <a:gd name="T36" fmla="*/ 0 w 121"/>
                  <a:gd name="T37" fmla="*/ 1 h 120"/>
                  <a:gd name="T38" fmla="*/ 0 w 121"/>
                  <a:gd name="T39" fmla="*/ 1 h 120"/>
                  <a:gd name="T40" fmla="*/ 0 w 121"/>
                  <a:gd name="T41" fmla="*/ 1 h 120"/>
                  <a:gd name="T42" fmla="*/ 0 w 121"/>
                  <a:gd name="T43" fmla="*/ 1 h 120"/>
                  <a:gd name="T44" fmla="*/ 0 w 121"/>
                  <a:gd name="T45" fmla="*/ 1 h 120"/>
                  <a:gd name="T46" fmla="*/ 0 w 121"/>
                  <a:gd name="T47" fmla="*/ 1 h 120"/>
                  <a:gd name="T48" fmla="*/ 0 w 121"/>
                  <a:gd name="T49" fmla="*/ 1 h 120"/>
                  <a:gd name="T50" fmla="*/ 0 w 121"/>
                  <a:gd name="T51" fmla="*/ 1 h 120"/>
                  <a:gd name="T52" fmla="*/ 0 w 121"/>
                  <a:gd name="T53" fmla="*/ 1 h 120"/>
                  <a:gd name="T54" fmla="*/ 0 w 121"/>
                  <a:gd name="T55" fmla="*/ 1 h 120"/>
                  <a:gd name="T56" fmla="*/ 0 w 121"/>
                  <a:gd name="T57" fmla="*/ 1 h 120"/>
                  <a:gd name="T58" fmla="*/ 0 w 121"/>
                  <a:gd name="T59" fmla="*/ 1 h 120"/>
                  <a:gd name="T60" fmla="*/ 0 w 121"/>
                  <a:gd name="T61" fmla="*/ 1 h 120"/>
                  <a:gd name="T62" fmla="*/ 0 w 121"/>
                  <a:gd name="T63" fmla="*/ 1 h 120"/>
                  <a:gd name="T64" fmla="*/ 0 w 121"/>
                  <a:gd name="T65" fmla="*/ 1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1" y="120"/>
                    </a:moveTo>
                    <a:lnTo>
                      <a:pt x="72" y="119"/>
                    </a:lnTo>
                    <a:lnTo>
                      <a:pt x="84" y="116"/>
                    </a:lnTo>
                    <a:lnTo>
                      <a:pt x="94" y="110"/>
                    </a:lnTo>
                    <a:lnTo>
                      <a:pt x="104" y="103"/>
                    </a:lnTo>
                    <a:lnTo>
                      <a:pt x="111" y="94"/>
                    </a:lnTo>
                    <a:lnTo>
                      <a:pt x="117" y="84"/>
                    </a:lnTo>
                    <a:lnTo>
                      <a:pt x="120" y="73"/>
                    </a:lnTo>
                    <a:lnTo>
                      <a:pt x="121" y="61"/>
                    </a:lnTo>
                    <a:lnTo>
                      <a:pt x="120" y="49"/>
                    </a:lnTo>
                    <a:lnTo>
                      <a:pt x="117" y="38"/>
                    </a:lnTo>
                    <a:lnTo>
                      <a:pt x="111" y="28"/>
                    </a:lnTo>
                    <a:lnTo>
                      <a:pt x="104" y="18"/>
                    </a:lnTo>
                    <a:lnTo>
                      <a:pt x="94" y="11"/>
                    </a:lnTo>
                    <a:lnTo>
                      <a:pt x="84" y="5"/>
                    </a:lnTo>
                    <a:lnTo>
                      <a:pt x="72" y="2"/>
                    </a:lnTo>
                    <a:lnTo>
                      <a:pt x="61" y="0"/>
                    </a:lnTo>
                    <a:lnTo>
                      <a:pt x="49" y="2"/>
                    </a:lnTo>
                    <a:lnTo>
                      <a:pt x="38" y="5"/>
                    </a:lnTo>
                    <a:lnTo>
                      <a:pt x="28" y="11"/>
                    </a:lnTo>
                    <a:lnTo>
                      <a:pt x="18" y="18"/>
                    </a:lnTo>
                    <a:lnTo>
                      <a:pt x="10" y="28"/>
                    </a:lnTo>
                    <a:lnTo>
                      <a:pt x="5" y="38"/>
                    </a:lnTo>
                    <a:lnTo>
                      <a:pt x="2" y="49"/>
                    </a:lnTo>
                    <a:lnTo>
                      <a:pt x="0" y="61"/>
                    </a:lnTo>
                    <a:lnTo>
                      <a:pt x="2" y="73"/>
                    </a:lnTo>
                    <a:lnTo>
                      <a:pt x="5" y="84"/>
                    </a:lnTo>
                    <a:lnTo>
                      <a:pt x="10" y="94"/>
                    </a:lnTo>
                    <a:lnTo>
                      <a:pt x="18" y="103"/>
                    </a:lnTo>
                    <a:lnTo>
                      <a:pt x="28" y="110"/>
                    </a:lnTo>
                    <a:lnTo>
                      <a:pt x="38" y="116"/>
                    </a:lnTo>
                    <a:lnTo>
                      <a:pt x="49" y="119"/>
                    </a:lnTo>
                    <a:lnTo>
                      <a:pt x="61"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50" name="Freeform 18"/>
              <p:cNvSpPr>
                <a:spLocks/>
              </p:cNvSpPr>
              <p:nvPr/>
            </p:nvSpPr>
            <p:spPr bwMode="auto">
              <a:xfrm>
                <a:off x="3618" y="2449"/>
                <a:ext cx="59" cy="61"/>
              </a:xfrm>
              <a:custGeom>
                <a:avLst/>
                <a:gdLst>
                  <a:gd name="T0" fmla="*/ 0 w 120"/>
                  <a:gd name="T1" fmla="*/ 1 h 121"/>
                  <a:gd name="T2" fmla="*/ 0 w 120"/>
                  <a:gd name="T3" fmla="*/ 1 h 121"/>
                  <a:gd name="T4" fmla="*/ 0 w 120"/>
                  <a:gd name="T5" fmla="*/ 1 h 121"/>
                  <a:gd name="T6" fmla="*/ 0 w 120"/>
                  <a:gd name="T7" fmla="*/ 1 h 121"/>
                  <a:gd name="T8" fmla="*/ 0 w 120"/>
                  <a:gd name="T9" fmla="*/ 1 h 121"/>
                  <a:gd name="T10" fmla="*/ 0 w 120"/>
                  <a:gd name="T11" fmla="*/ 1 h 121"/>
                  <a:gd name="T12" fmla="*/ 0 w 120"/>
                  <a:gd name="T13" fmla="*/ 1 h 121"/>
                  <a:gd name="T14" fmla="*/ 0 w 120"/>
                  <a:gd name="T15" fmla="*/ 1 h 121"/>
                  <a:gd name="T16" fmla="*/ 0 w 120"/>
                  <a:gd name="T17" fmla="*/ 1 h 121"/>
                  <a:gd name="T18" fmla="*/ 0 w 120"/>
                  <a:gd name="T19" fmla="*/ 1 h 121"/>
                  <a:gd name="T20" fmla="*/ 0 w 120"/>
                  <a:gd name="T21" fmla="*/ 1 h 121"/>
                  <a:gd name="T22" fmla="*/ 0 w 120"/>
                  <a:gd name="T23" fmla="*/ 1 h 121"/>
                  <a:gd name="T24" fmla="*/ 0 w 120"/>
                  <a:gd name="T25" fmla="*/ 1 h 121"/>
                  <a:gd name="T26" fmla="*/ 0 w 120"/>
                  <a:gd name="T27" fmla="*/ 1 h 121"/>
                  <a:gd name="T28" fmla="*/ 0 w 120"/>
                  <a:gd name="T29" fmla="*/ 1 h 121"/>
                  <a:gd name="T30" fmla="*/ 0 w 120"/>
                  <a:gd name="T31" fmla="*/ 1 h 121"/>
                  <a:gd name="T32" fmla="*/ 0 w 120"/>
                  <a:gd name="T33" fmla="*/ 0 h 121"/>
                  <a:gd name="T34" fmla="*/ 0 w 120"/>
                  <a:gd name="T35" fmla="*/ 1 h 121"/>
                  <a:gd name="T36" fmla="*/ 0 w 120"/>
                  <a:gd name="T37" fmla="*/ 1 h 121"/>
                  <a:gd name="T38" fmla="*/ 0 w 120"/>
                  <a:gd name="T39" fmla="*/ 1 h 121"/>
                  <a:gd name="T40" fmla="*/ 0 w 120"/>
                  <a:gd name="T41" fmla="*/ 1 h 121"/>
                  <a:gd name="T42" fmla="*/ 0 w 120"/>
                  <a:gd name="T43" fmla="*/ 1 h 121"/>
                  <a:gd name="T44" fmla="*/ 0 w 120"/>
                  <a:gd name="T45" fmla="*/ 1 h 121"/>
                  <a:gd name="T46" fmla="*/ 0 w 120"/>
                  <a:gd name="T47" fmla="*/ 1 h 121"/>
                  <a:gd name="T48" fmla="*/ 0 w 120"/>
                  <a:gd name="T49" fmla="*/ 1 h 121"/>
                  <a:gd name="T50" fmla="*/ 0 w 120"/>
                  <a:gd name="T51" fmla="*/ 1 h 121"/>
                  <a:gd name="T52" fmla="*/ 0 w 120"/>
                  <a:gd name="T53" fmla="*/ 1 h 121"/>
                  <a:gd name="T54" fmla="*/ 0 w 120"/>
                  <a:gd name="T55" fmla="*/ 1 h 121"/>
                  <a:gd name="T56" fmla="*/ 0 w 120"/>
                  <a:gd name="T57" fmla="*/ 1 h 121"/>
                  <a:gd name="T58" fmla="*/ 0 w 120"/>
                  <a:gd name="T59" fmla="*/ 1 h 121"/>
                  <a:gd name="T60" fmla="*/ 0 w 120"/>
                  <a:gd name="T61" fmla="*/ 1 h 121"/>
                  <a:gd name="T62" fmla="*/ 0 w 120"/>
                  <a:gd name="T63" fmla="*/ 1 h 121"/>
                  <a:gd name="T64" fmla="*/ 0 w 120"/>
                  <a:gd name="T65" fmla="*/ 1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0"/>
                  <a:gd name="T100" fmla="*/ 0 h 121"/>
                  <a:gd name="T101" fmla="*/ 120 w 120"/>
                  <a:gd name="T102" fmla="*/ 121 h 12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0" h="121">
                    <a:moveTo>
                      <a:pt x="61" y="121"/>
                    </a:moveTo>
                    <a:lnTo>
                      <a:pt x="72" y="119"/>
                    </a:lnTo>
                    <a:lnTo>
                      <a:pt x="84" y="117"/>
                    </a:lnTo>
                    <a:lnTo>
                      <a:pt x="94" y="111"/>
                    </a:lnTo>
                    <a:lnTo>
                      <a:pt x="102" y="104"/>
                    </a:lnTo>
                    <a:lnTo>
                      <a:pt x="110" y="93"/>
                    </a:lnTo>
                    <a:lnTo>
                      <a:pt x="115" y="83"/>
                    </a:lnTo>
                    <a:lnTo>
                      <a:pt x="118" y="72"/>
                    </a:lnTo>
                    <a:lnTo>
                      <a:pt x="120" y="60"/>
                    </a:lnTo>
                    <a:lnTo>
                      <a:pt x="118" y="49"/>
                    </a:lnTo>
                    <a:lnTo>
                      <a:pt x="115" y="37"/>
                    </a:lnTo>
                    <a:lnTo>
                      <a:pt x="110" y="27"/>
                    </a:lnTo>
                    <a:lnTo>
                      <a:pt x="102" y="17"/>
                    </a:lnTo>
                    <a:lnTo>
                      <a:pt x="94" y="10"/>
                    </a:lnTo>
                    <a:lnTo>
                      <a:pt x="84" y="4"/>
                    </a:lnTo>
                    <a:lnTo>
                      <a:pt x="72" y="1"/>
                    </a:lnTo>
                    <a:lnTo>
                      <a:pt x="61" y="0"/>
                    </a:lnTo>
                    <a:lnTo>
                      <a:pt x="49" y="1"/>
                    </a:lnTo>
                    <a:lnTo>
                      <a:pt x="38" y="4"/>
                    </a:lnTo>
                    <a:lnTo>
                      <a:pt x="28" y="10"/>
                    </a:lnTo>
                    <a:lnTo>
                      <a:pt x="17" y="17"/>
                    </a:lnTo>
                    <a:lnTo>
                      <a:pt x="10" y="27"/>
                    </a:lnTo>
                    <a:lnTo>
                      <a:pt x="5" y="37"/>
                    </a:lnTo>
                    <a:lnTo>
                      <a:pt x="2" y="49"/>
                    </a:lnTo>
                    <a:lnTo>
                      <a:pt x="0" y="60"/>
                    </a:lnTo>
                    <a:lnTo>
                      <a:pt x="2" y="72"/>
                    </a:lnTo>
                    <a:lnTo>
                      <a:pt x="5" y="83"/>
                    </a:lnTo>
                    <a:lnTo>
                      <a:pt x="10" y="93"/>
                    </a:lnTo>
                    <a:lnTo>
                      <a:pt x="17" y="104"/>
                    </a:lnTo>
                    <a:lnTo>
                      <a:pt x="28" y="111"/>
                    </a:lnTo>
                    <a:lnTo>
                      <a:pt x="38" y="117"/>
                    </a:lnTo>
                    <a:lnTo>
                      <a:pt x="49" y="119"/>
                    </a:lnTo>
                    <a:lnTo>
                      <a:pt x="6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424" name="Freeform 19"/>
            <p:cNvSpPr>
              <a:spLocks/>
            </p:cNvSpPr>
            <p:nvPr/>
          </p:nvSpPr>
          <p:spPr bwMode="auto">
            <a:xfrm>
              <a:off x="2137" y="664"/>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5" name="Freeform 20"/>
            <p:cNvSpPr>
              <a:spLocks/>
            </p:cNvSpPr>
            <p:nvPr/>
          </p:nvSpPr>
          <p:spPr bwMode="auto">
            <a:xfrm>
              <a:off x="2137" y="62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6" name="Freeform 21"/>
            <p:cNvSpPr>
              <a:spLocks/>
            </p:cNvSpPr>
            <p:nvPr/>
          </p:nvSpPr>
          <p:spPr bwMode="auto">
            <a:xfrm>
              <a:off x="2137" y="59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7" name="Freeform 22"/>
            <p:cNvSpPr>
              <a:spLocks/>
            </p:cNvSpPr>
            <p:nvPr/>
          </p:nvSpPr>
          <p:spPr bwMode="auto">
            <a:xfrm>
              <a:off x="2137" y="559"/>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8" name="Freeform 23"/>
            <p:cNvSpPr>
              <a:spLocks/>
            </p:cNvSpPr>
            <p:nvPr/>
          </p:nvSpPr>
          <p:spPr bwMode="auto">
            <a:xfrm>
              <a:off x="2137" y="523"/>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9" name="Freeform 24"/>
            <p:cNvSpPr>
              <a:spLocks/>
            </p:cNvSpPr>
            <p:nvPr/>
          </p:nvSpPr>
          <p:spPr bwMode="auto">
            <a:xfrm>
              <a:off x="2137" y="805"/>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0" name="Freeform 25"/>
            <p:cNvSpPr>
              <a:spLocks/>
            </p:cNvSpPr>
            <p:nvPr/>
          </p:nvSpPr>
          <p:spPr bwMode="auto">
            <a:xfrm>
              <a:off x="2137" y="76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1" name="Freeform 26"/>
            <p:cNvSpPr>
              <a:spLocks/>
            </p:cNvSpPr>
            <p:nvPr/>
          </p:nvSpPr>
          <p:spPr bwMode="auto">
            <a:xfrm>
              <a:off x="2137" y="73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2" name="Freeform 27"/>
            <p:cNvSpPr>
              <a:spLocks/>
            </p:cNvSpPr>
            <p:nvPr/>
          </p:nvSpPr>
          <p:spPr bwMode="auto">
            <a:xfrm>
              <a:off x="2137" y="69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3" name="Freeform 28"/>
            <p:cNvSpPr>
              <a:spLocks/>
            </p:cNvSpPr>
            <p:nvPr/>
          </p:nvSpPr>
          <p:spPr bwMode="auto">
            <a:xfrm>
              <a:off x="2149" y="806"/>
              <a:ext cx="214" cy="367"/>
            </a:xfrm>
            <a:custGeom>
              <a:avLst/>
              <a:gdLst>
                <a:gd name="T0" fmla="*/ 1 w 423"/>
                <a:gd name="T1" fmla="*/ 1 h 726"/>
                <a:gd name="T2" fmla="*/ 1 w 423"/>
                <a:gd name="T3" fmla="*/ 1 h 726"/>
                <a:gd name="T4" fmla="*/ 1 w 423"/>
                <a:gd name="T5" fmla="*/ 0 h 726"/>
                <a:gd name="T6" fmla="*/ 0 w 423"/>
                <a:gd name="T7" fmla="*/ 1 h 726"/>
                <a:gd name="T8" fmla="*/ 1 w 423"/>
                <a:gd name="T9" fmla="*/ 1 h 726"/>
                <a:gd name="T10" fmla="*/ 1 w 423"/>
                <a:gd name="T11" fmla="*/ 1 h 726"/>
                <a:gd name="T12" fmla="*/ 1 w 423"/>
                <a:gd name="T13" fmla="*/ 1 h 726"/>
                <a:gd name="T14" fmla="*/ 1 w 423"/>
                <a:gd name="T15" fmla="*/ 1 h 726"/>
                <a:gd name="T16" fmla="*/ 1 w 423"/>
                <a:gd name="T17" fmla="*/ 1 h 726"/>
                <a:gd name="T18" fmla="*/ 1 w 423"/>
                <a:gd name="T19" fmla="*/ 1 h 726"/>
                <a:gd name="T20" fmla="*/ 1 w 423"/>
                <a:gd name="T21" fmla="*/ 1 h 726"/>
                <a:gd name="T22" fmla="*/ 1 w 423"/>
                <a:gd name="T23" fmla="*/ 1 h 726"/>
                <a:gd name="T24" fmla="*/ 1 w 423"/>
                <a:gd name="T25" fmla="*/ 1 h 726"/>
                <a:gd name="T26" fmla="*/ 1 w 423"/>
                <a:gd name="T27" fmla="*/ 1 h 726"/>
                <a:gd name="T28" fmla="*/ 1 w 423"/>
                <a:gd name="T29" fmla="*/ 1 h 726"/>
                <a:gd name="T30" fmla="*/ 1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a:solidFill>
                <a:schemeClr val="bg1"/>
              </a:solidFill>
              <a:round/>
              <a:headEnd/>
              <a:tailEnd/>
            </a:ln>
          </p:spPr>
          <p:txBody>
            <a:bodyPr wrap="none" lIns="0" tIns="0" rIns="0" bIns="0" anchor="ctr">
              <a:spAutoFit/>
            </a:bodyPr>
            <a:lstStyle/>
            <a:p>
              <a:endParaRPr lang="en-US"/>
            </a:p>
          </p:txBody>
        </p:sp>
        <p:sp>
          <p:nvSpPr>
            <p:cNvPr id="15434" name="Freeform 29"/>
            <p:cNvSpPr>
              <a:spLocks/>
            </p:cNvSpPr>
            <p:nvPr/>
          </p:nvSpPr>
          <p:spPr bwMode="auto">
            <a:xfrm flipH="1">
              <a:off x="2549" y="807"/>
              <a:ext cx="213" cy="367"/>
            </a:xfrm>
            <a:custGeom>
              <a:avLst/>
              <a:gdLst>
                <a:gd name="T0" fmla="*/ 1 w 423"/>
                <a:gd name="T1" fmla="*/ 1 h 726"/>
                <a:gd name="T2" fmla="*/ 1 w 423"/>
                <a:gd name="T3" fmla="*/ 1 h 726"/>
                <a:gd name="T4" fmla="*/ 1 w 423"/>
                <a:gd name="T5" fmla="*/ 0 h 726"/>
                <a:gd name="T6" fmla="*/ 0 w 423"/>
                <a:gd name="T7" fmla="*/ 1 h 726"/>
                <a:gd name="T8" fmla="*/ 1 w 423"/>
                <a:gd name="T9" fmla="*/ 1 h 726"/>
                <a:gd name="T10" fmla="*/ 1 w 423"/>
                <a:gd name="T11" fmla="*/ 1 h 726"/>
                <a:gd name="T12" fmla="*/ 1 w 423"/>
                <a:gd name="T13" fmla="*/ 1 h 726"/>
                <a:gd name="T14" fmla="*/ 1 w 423"/>
                <a:gd name="T15" fmla="*/ 1 h 726"/>
                <a:gd name="T16" fmla="*/ 1 w 423"/>
                <a:gd name="T17" fmla="*/ 1 h 726"/>
                <a:gd name="T18" fmla="*/ 1 w 423"/>
                <a:gd name="T19" fmla="*/ 1 h 726"/>
                <a:gd name="T20" fmla="*/ 1 w 423"/>
                <a:gd name="T21" fmla="*/ 1 h 726"/>
                <a:gd name="T22" fmla="*/ 1 w 423"/>
                <a:gd name="T23" fmla="*/ 1 h 726"/>
                <a:gd name="T24" fmla="*/ 1 w 423"/>
                <a:gd name="T25" fmla="*/ 1 h 726"/>
                <a:gd name="T26" fmla="*/ 1 w 423"/>
                <a:gd name="T27" fmla="*/ 1 h 726"/>
                <a:gd name="T28" fmla="*/ 1 w 423"/>
                <a:gd name="T29" fmla="*/ 1 h 726"/>
                <a:gd name="T30" fmla="*/ 1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a:solidFill>
                <a:schemeClr val="bg1"/>
              </a:solidFill>
              <a:round/>
              <a:headEnd/>
              <a:tailEnd/>
            </a:ln>
          </p:spPr>
          <p:txBody>
            <a:bodyPr wrap="none" lIns="0" tIns="0" rIns="0" bIns="0" anchor="ctr">
              <a:spAutoFit/>
            </a:bodyPr>
            <a:lstStyle/>
            <a:p>
              <a:endParaRPr lang="en-US"/>
            </a:p>
          </p:txBody>
        </p:sp>
        <p:sp>
          <p:nvSpPr>
            <p:cNvPr id="15435" name="Freeform 30"/>
            <p:cNvSpPr>
              <a:spLocks/>
            </p:cNvSpPr>
            <p:nvPr/>
          </p:nvSpPr>
          <p:spPr bwMode="auto">
            <a:xfrm>
              <a:off x="2163" y="681"/>
              <a:ext cx="593" cy="376"/>
            </a:xfrm>
            <a:custGeom>
              <a:avLst/>
              <a:gdLst>
                <a:gd name="T0" fmla="*/ 1 w 1176"/>
                <a:gd name="T1" fmla="*/ 1 h 744"/>
                <a:gd name="T2" fmla="*/ 1 w 1176"/>
                <a:gd name="T3" fmla="*/ 1 h 744"/>
                <a:gd name="T4" fmla="*/ 1 w 1176"/>
                <a:gd name="T5" fmla="*/ 1 h 744"/>
                <a:gd name="T6" fmla="*/ 1 w 1176"/>
                <a:gd name="T7" fmla="*/ 1 h 744"/>
                <a:gd name="T8" fmla="*/ 0 w 1176"/>
                <a:gd name="T9" fmla="*/ 1 h 744"/>
                <a:gd name="T10" fmla="*/ 1 w 1176"/>
                <a:gd name="T11" fmla="*/ 1 h 744"/>
                <a:gd name="T12" fmla="*/ 1 w 1176"/>
                <a:gd name="T13" fmla="*/ 1 h 744"/>
                <a:gd name="T14" fmla="*/ 1 w 1176"/>
                <a:gd name="T15" fmla="*/ 1 h 744"/>
                <a:gd name="T16" fmla="*/ 1 w 1176"/>
                <a:gd name="T17" fmla="*/ 0 h 744"/>
                <a:gd name="T18" fmla="*/ 1 w 1176"/>
                <a:gd name="T19" fmla="*/ 1 h 744"/>
                <a:gd name="T20" fmla="*/ 2 w 1176"/>
                <a:gd name="T21" fmla="*/ 1 h 744"/>
                <a:gd name="T22" fmla="*/ 2 w 1176"/>
                <a:gd name="T23" fmla="*/ 1 h 744"/>
                <a:gd name="T24" fmla="*/ 1 w 1176"/>
                <a:gd name="T25" fmla="*/ 1 h 744"/>
                <a:gd name="T26" fmla="*/ 1 w 1176"/>
                <a:gd name="T27" fmla="*/ 1 h 744"/>
                <a:gd name="T28" fmla="*/ 1 w 1176"/>
                <a:gd name="T29" fmla="*/ 1 h 7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6"/>
                <a:gd name="T46" fmla="*/ 0 h 744"/>
                <a:gd name="T47" fmla="*/ 1176 w 1176"/>
                <a:gd name="T48" fmla="*/ 744 h 7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6" h="744">
                  <a:moveTo>
                    <a:pt x="789" y="720"/>
                  </a:moveTo>
                  <a:lnTo>
                    <a:pt x="378" y="744"/>
                  </a:lnTo>
                  <a:lnTo>
                    <a:pt x="345" y="471"/>
                  </a:lnTo>
                  <a:lnTo>
                    <a:pt x="303" y="360"/>
                  </a:lnTo>
                  <a:lnTo>
                    <a:pt x="0" y="249"/>
                  </a:lnTo>
                  <a:lnTo>
                    <a:pt x="15" y="153"/>
                  </a:lnTo>
                  <a:lnTo>
                    <a:pt x="213" y="48"/>
                  </a:lnTo>
                  <a:lnTo>
                    <a:pt x="402" y="6"/>
                  </a:lnTo>
                  <a:lnTo>
                    <a:pt x="654" y="0"/>
                  </a:lnTo>
                  <a:lnTo>
                    <a:pt x="873" y="21"/>
                  </a:lnTo>
                  <a:lnTo>
                    <a:pt x="1056" y="102"/>
                  </a:lnTo>
                  <a:lnTo>
                    <a:pt x="1176" y="234"/>
                  </a:lnTo>
                  <a:lnTo>
                    <a:pt x="855" y="360"/>
                  </a:lnTo>
                  <a:lnTo>
                    <a:pt x="795" y="483"/>
                  </a:lnTo>
                  <a:lnTo>
                    <a:pt x="789" y="72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5436" name="Oval 31"/>
            <p:cNvSpPr>
              <a:spLocks noChangeArrowheads="1"/>
            </p:cNvSpPr>
            <p:nvPr/>
          </p:nvSpPr>
          <p:spPr bwMode="auto">
            <a:xfrm>
              <a:off x="2336" y="478"/>
              <a:ext cx="221" cy="242"/>
            </a:xfrm>
            <a:prstGeom prst="ellipse">
              <a:avLst/>
            </a:prstGeom>
            <a:solidFill>
              <a:schemeClr val="tx2"/>
            </a:solidFill>
            <a:ln w="12700" algn="ctr">
              <a:solidFill>
                <a:schemeClr val="bg1"/>
              </a:solidFill>
              <a:round/>
              <a:headEnd/>
              <a:tailEnd/>
            </a:ln>
          </p:spPr>
          <p:txBody>
            <a:bodyPr lIns="0" tIns="0" rIns="0" bIns="0" anchor="ctr">
              <a:spAutoFit/>
            </a:bodyPr>
            <a:lstStyle/>
            <a:p>
              <a:endParaRPr lang="en-US"/>
            </a:p>
          </p:txBody>
        </p:sp>
        <p:sp>
          <p:nvSpPr>
            <p:cNvPr id="15437" name="Rectangle 32"/>
            <p:cNvSpPr>
              <a:spLocks noChangeArrowheads="1"/>
            </p:cNvSpPr>
            <p:nvPr/>
          </p:nvSpPr>
          <p:spPr bwMode="auto">
            <a:xfrm>
              <a:off x="2355" y="1031"/>
              <a:ext cx="206" cy="18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5438" name="Freeform 33"/>
            <p:cNvSpPr>
              <a:spLocks/>
            </p:cNvSpPr>
            <p:nvPr/>
          </p:nvSpPr>
          <p:spPr bwMode="auto">
            <a:xfrm>
              <a:off x="2327" y="681"/>
              <a:ext cx="240" cy="470"/>
            </a:xfrm>
            <a:custGeom>
              <a:avLst/>
              <a:gdLst>
                <a:gd name="T0" fmla="*/ 1 w 476"/>
                <a:gd name="T1" fmla="*/ 0 h 988"/>
                <a:gd name="T2" fmla="*/ 1 w 476"/>
                <a:gd name="T3" fmla="*/ 0 h 988"/>
                <a:gd name="T4" fmla="*/ 1 w 476"/>
                <a:gd name="T5" fmla="*/ 0 h 988"/>
                <a:gd name="T6" fmla="*/ 0 w 476"/>
                <a:gd name="T7" fmla="*/ 0 h 988"/>
                <a:gd name="T8" fmla="*/ 1 w 476"/>
                <a:gd name="T9" fmla="*/ 0 h 988"/>
                <a:gd name="T10" fmla="*/ 1 w 476"/>
                <a:gd name="T11" fmla="*/ 0 h 988"/>
                <a:gd name="T12" fmla="*/ 1 w 476"/>
                <a:gd name="T13" fmla="*/ 0 h 988"/>
                <a:gd name="T14" fmla="*/ 1 w 476"/>
                <a:gd name="T15" fmla="*/ 0 h 988"/>
                <a:gd name="T16" fmla="*/ 1 w 476"/>
                <a:gd name="T17" fmla="*/ 0 h 988"/>
                <a:gd name="T18" fmla="*/ 1 w 476"/>
                <a:gd name="T19" fmla="*/ 0 h 988"/>
                <a:gd name="T20" fmla="*/ 1 w 476"/>
                <a:gd name="T21" fmla="*/ 0 h 988"/>
                <a:gd name="T22" fmla="*/ 1 w 476"/>
                <a:gd name="T23" fmla="*/ 0 h 988"/>
                <a:gd name="T24" fmla="*/ 1 w 476"/>
                <a:gd name="T25" fmla="*/ 0 h 988"/>
                <a:gd name="T26" fmla="*/ 1 w 476"/>
                <a:gd name="T27" fmla="*/ 0 h 988"/>
                <a:gd name="T28" fmla="*/ 1 w 476"/>
                <a:gd name="T29" fmla="*/ 0 h 9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76"/>
                <a:gd name="T46" fmla="*/ 0 h 988"/>
                <a:gd name="T47" fmla="*/ 476 w 476"/>
                <a:gd name="T48" fmla="*/ 988 h 9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76" h="988">
                  <a:moveTo>
                    <a:pt x="64" y="988"/>
                  </a:moveTo>
                  <a:lnTo>
                    <a:pt x="52" y="488"/>
                  </a:lnTo>
                  <a:lnTo>
                    <a:pt x="28" y="448"/>
                  </a:lnTo>
                  <a:lnTo>
                    <a:pt x="0" y="208"/>
                  </a:lnTo>
                  <a:lnTo>
                    <a:pt x="20" y="8"/>
                  </a:lnTo>
                  <a:lnTo>
                    <a:pt x="68" y="8"/>
                  </a:lnTo>
                  <a:lnTo>
                    <a:pt x="72" y="256"/>
                  </a:lnTo>
                  <a:lnTo>
                    <a:pt x="392" y="248"/>
                  </a:lnTo>
                  <a:lnTo>
                    <a:pt x="392" y="12"/>
                  </a:lnTo>
                  <a:lnTo>
                    <a:pt x="440" y="0"/>
                  </a:lnTo>
                  <a:lnTo>
                    <a:pt x="464" y="184"/>
                  </a:lnTo>
                  <a:lnTo>
                    <a:pt x="464" y="404"/>
                  </a:lnTo>
                  <a:lnTo>
                    <a:pt x="440" y="460"/>
                  </a:lnTo>
                  <a:lnTo>
                    <a:pt x="476" y="980"/>
                  </a:lnTo>
                  <a:lnTo>
                    <a:pt x="64" y="988"/>
                  </a:lnTo>
                  <a:close/>
                </a:path>
              </a:pathLst>
            </a:custGeom>
            <a:solidFill>
              <a:schemeClr val="bg1"/>
            </a:solidFill>
            <a:ln w="12700">
              <a:solidFill>
                <a:schemeClr val="bg1"/>
              </a:solidFill>
              <a:round/>
              <a:headEnd/>
              <a:tailEnd/>
            </a:ln>
          </p:spPr>
          <p:txBody>
            <a:bodyPr lIns="0" tIns="0" rIns="0" bIns="0" anchor="ctr">
              <a:spAutoFit/>
            </a:bodyPr>
            <a:lstStyle/>
            <a:p>
              <a:endParaRPr lang="en-US"/>
            </a:p>
          </p:txBody>
        </p:sp>
        <p:sp>
          <p:nvSpPr>
            <p:cNvPr id="15439" name="Line 34"/>
            <p:cNvSpPr>
              <a:spLocks noChangeShapeType="1"/>
            </p:cNvSpPr>
            <p:nvPr/>
          </p:nvSpPr>
          <p:spPr bwMode="auto">
            <a:xfrm flipV="1">
              <a:off x="2458" y="1082"/>
              <a:ext cx="0" cy="1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40" name="Freeform 35"/>
            <p:cNvSpPr>
              <a:spLocks/>
            </p:cNvSpPr>
            <p:nvPr/>
          </p:nvSpPr>
          <p:spPr bwMode="auto">
            <a:xfrm>
              <a:off x="2137" y="486"/>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1" name="Freeform 36"/>
            <p:cNvSpPr>
              <a:spLocks/>
            </p:cNvSpPr>
            <p:nvPr/>
          </p:nvSpPr>
          <p:spPr bwMode="auto">
            <a:xfrm>
              <a:off x="2137" y="452"/>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2" name="Freeform 37"/>
            <p:cNvSpPr>
              <a:spLocks/>
            </p:cNvSpPr>
            <p:nvPr/>
          </p:nvSpPr>
          <p:spPr bwMode="auto">
            <a:xfrm>
              <a:off x="2293" y="450"/>
              <a:ext cx="303" cy="116"/>
            </a:xfrm>
            <a:custGeom>
              <a:avLst/>
              <a:gdLst>
                <a:gd name="T0" fmla="*/ 0 w 600"/>
                <a:gd name="T1" fmla="*/ 1 h 230"/>
                <a:gd name="T2" fmla="*/ 1 w 600"/>
                <a:gd name="T3" fmla="*/ 1 h 230"/>
                <a:gd name="T4" fmla="*/ 1 w 600"/>
                <a:gd name="T5" fmla="*/ 1 h 230"/>
                <a:gd name="T6" fmla="*/ 1 w 600"/>
                <a:gd name="T7" fmla="*/ 1 h 230"/>
                <a:gd name="T8" fmla="*/ 1 w 600"/>
                <a:gd name="T9" fmla="*/ 1 h 230"/>
                <a:gd name="T10" fmla="*/ 1 w 600"/>
                <a:gd name="T11" fmla="*/ 1 h 230"/>
                <a:gd name="T12" fmla="*/ 1 w 600"/>
                <a:gd name="T13" fmla="*/ 1 h 230"/>
                <a:gd name="T14" fmla="*/ 1 w 600"/>
                <a:gd name="T15" fmla="*/ 1 h 230"/>
                <a:gd name="T16" fmla="*/ 1 w 600"/>
                <a:gd name="T17" fmla="*/ 1 h 230"/>
                <a:gd name="T18" fmla="*/ 1 w 600"/>
                <a:gd name="T19" fmla="*/ 0 h 230"/>
                <a:gd name="T20" fmla="*/ 1 w 600"/>
                <a:gd name="T21" fmla="*/ 0 h 230"/>
                <a:gd name="T22" fmla="*/ 1 w 600"/>
                <a:gd name="T23" fmla="*/ 0 h 230"/>
                <a:gd name="T24" fmla="*/ 1 w 600"/>
                <a:gd name="T25" fmla="*/ 1 h 230"/>
                <a:gd name="T26" fmla="*/ 1 w 600"/>
                <a:gd name="T27" fmla="*/ 1 h 230"/>
                <a:gd name="T28" fmla="*/ 1 w 600"/>
                <a:gd name="T29" fmla="*/ 1 h 230"/>
                <a:gd name="T30" fmla="*/ 1 w 600"/>
                <a:gd name="T31" fmla="*/ 1 h 230"/>
                <a:gd name="T32" fmla="*/ 1 w 600"/>
                <a:gd name="T33" fmla="*/ 1 h 230"/>
                <a:gd name="T34" fmla="*/ 1 w 600"/>
                <a:gd name="T35" fmla="*/ 1 h 230"/>
                <a:gd name="T36" fmla="*/ 1 w 600"/>
                <a:gd name="T37" fmla="*/ 1 h 230"/>
                <a:gd name="T38" fmla="*/ 1 w 600"/>
                <a:gd name="T39" fmla="*/ 1 h 230"/>
                <a:gd name="T40" fmla="*/ 1 w 600"/>
                <a:gd name="T41" fmla="*/ 1 h 230"/>
                <a:gd name="T42" fmla="*/ 0 w 600"/>
                <a:gd name="T43" fmla="*/ 1 h 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00"/>
                <a:gd name="T67" fmla="*/ 0 h 230"/>
                <a:gd name="T68" fmla="*/ 600 w 600"/>
                <a:gd name="T69" fmla="*/ 230 h 2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00" h="230">
                  <a:moveTo>
                    <a:pt x="0" y="230"/>
                  </a:moveTo>
                  <a:lnTo>
                    <a:pt x="600" y="230"/>
                  </a:lnTo>
                  <a:lnTo>
                    <a:pt x="572" y="202"/>
                  </a:lnTo>
                  <a:lnTo>
                    <a:pt x="538" y="186"/>
                  </a:lnTo>
                  <a:lnTo>
                    <a:pt x="508" y="180"/>
                  </a:lnTo>
                  <a:lnTo>
                    <a:pt x="500" y="122"/>
                  </a:lnTo>
                  <a:lnTo>
                    <a:pt x="476" y="72"/>
                  </a:lnTo>
                  <a:lnTo>
                    <a:pt x="424" y="30"/>
                  </a:lnTo>
                  <a:lnTo>
                    <a:pt x="376" y="10"/>
                  </a:lnTo>
                  <a:lnTo>
                    <a:pt x="326" y="0"/>
                  </a:lnTo>
                  <a:lnTo>
                    <a:pt x="298" y="0"/>
                  </a:lnTo>
                  <a:lnTo>
                    <a:pt x="260" y="0"/>
                  </a:lnTo>
                  <a:lnTo>
                    <a:pt x="208" y="12"/>
                  </a:lnTo>
                  <a:lnTo>
                    <a:pt x="174" y="32"/>
                  </a:lnTo>
                  <a:lnTo>
                    <a:pt x="140" y="54"/>
                  </a:lnTo>
                  <a:lnTo>
                    <a:pt x="114" y="90"/>
                  </a:lnTo>
                  <a:lnTo>
                    <a:pt x="98" y="118"/>
                  </a:lnTo>
                  <a:lnTo>
                    <a:pt x="92" y="152"/>
                  </a:lnTo>
                  <a:lnTo>
                    <a:pt x="90" y="180"/>
                  </a:lnTo>
                  <a:lnTo>
                    <a:pt x="46" y="190"/>
                  </a:lnTo>
                  <a:lnTo>
                    <a:pt x="16" y="212"/>
                  </a:lnTo>
                  <a:lnTo>
                    <a:pt x="0" y="23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5443" name="Freeform 38"/>
            <p:cNvSpPr>
              <a:spLocks/>
            </p:cNvSpPr>
            <p:nvPr/>
          </p:nvSpPr>
          <p:spPr bwMode="auto">
            <a:xfrm>
              <a:off x="2464" y="461"/>
              <a:ext cx="68" cy="84"/>
            </a:xfrm>
            <a:custGeom>
              <a:avLst/>
              <a:gdLst>
                <a:gd name="T0" fmla="*/ 0 w 347"/>
                <a:gd name="T1" fmla="*/ 0 h 433"/>
                <a:gd name="T2" fmla="*/ 0 w 347"/>
                <a:gd name="T3" fmla="*/ 0 h 433"/>
                <a:gd name="T4" fmla="*/ 0 w 347"/>
                <a:gd name="T5" fmla="*/ 0 h 433"/>
                <a:gd name="T6" fmla="*/ 0 w 347"/>
                <a:gd name="T7" fmla="*/ 0 h 433"/>
                <a:gd name="T8" fmla="*/ 0 w 347"/>
                <a:gd name="T9" fmla="*/ 0 h 433"/>
                <a:gd name="T10" fmla="*/ 0 w 347"/>
                <a:gd name="T11" fmla="*/ 0 h 433"/>
                <a:gd name="T12" fmla="*/ 0 w 347"/>
                <a:gd name="T13" fmla="*/ 0 h 433"/>
                <a:gd name="T14" fmla="*/ 0 w 347"/>
                <a:gd name="T15" fmla="*/ 0 h 433"/>
                <a:gd name="T16" fmla="*/ 0 w 347"/>
                <a:gd name="T17" fmla="*/ 0 h 433"/>
                <a:gd name="T18" fmla="*/ 0 w 347"/>
                <a:gd name="T19" fmla="*/ 0 h 433"/>
                <a:gd name="T20" fmla="*/ 0 w 347"/>
                <a:gd name="T21" fmla="*/ 0 h 433"/>
                <a:gd name="T22" fmla="*/ 0 w 347"/>
                <a:gd name="T23" fmla="*/ 0 h 433"/>
                <a:gd name="T24" fmla="*/ 0 w 347"/>
                <a:gd name="T25" fmla="*/ 0 h 433"/>
                <a:gd name="T26" fmla="*/ 0 w 347"/>
                <a:gd name="T27" fmla="*/ 0 h 433"/>
                <a:gd name="T28" fmla="*/ 0 w 347"/>
                <a:gd name="T29" fmla="*/ 0 h 433"/>
                <a:gd name="T30" fmla="*/ 0 w 347"/>
                <a:gd name="T31" fmla="*/ 0 h 433"/>
                <a:gd name="T32" fmla="*/ 0 w 347"/>
                <a:gd name="T33" fmla="*/ 0 h 433"/>
                <a:gd name="T34" fmla="*/ 0 w 347"/>
                <a:gd name="T35" fmla="*/ 0 h 433"/>
                <a:gd name="T36" fmla="*/ 0 w 347"/>
                <a:gd name="T37" fmla="*/ 0 h 433"/>
                <a:gd name="T38" fmla="*/ 0 w 347"/>
                <a:gd name="T39" fmla="*/ 0 h 433"/>
                <a:gd name="T40" fmla="*/ 0 w 347"/>
                <a:gd name="T41" fmla="*/ 0 h 433"/>
                <a:gd name="T42" fmla="*/ 0 w 347"/>
                <a:gd name="T43" fmla="*/ 0 h 433"/>
                <a:gd name="T44" fmla="*/ 0 w 347"/>
                <a:gd name="T45" fmla="*/ 0 h 433"/>
                <a:gd name="T46" fmla="*/ 0 w 347"/>
                <a:gd name="T47" fmla="*/ 0 h 433"/>
                <a:gd name="T48" fmla="*/ 0 w 347"/>
                <a:gd name="T49" fmla="*/ 0 h 433"/>
                <a:gd name="T50" fmla="*/ 0 w 347"/>
                <a:gd name="T51" fmla="*/ 0 h 433"/>
                <a:gd name="T52" fmla="*/ 0 w 347"/>
                <a:gd name="T53" fmla="*/ 0 h 433"/>
                <a:gd name="T54" fmla="*/ 0 w 347"/>
                <a:gd name="T55" fmla="*/ 0 h 433"/>
                <a:gd name="T56" fmla="*/ 0 w 347"/>
                <a:gd name="T57" fmla="*/ 0 h 433"/>
                <a:gd name="T58" fmla="*/ 0 w 347"/>
                <a:gd name="T59" fmla="*/ 0 h 433"/>
                <a:gd name="T60" fmla="*/ 0 w 347"/>
                <a:gd name="T61" fmla="*/ 0 h 433"/>
                <a:gd name="T62" fmla="*/ 0 w 347"/>
                <a:gd name="T63" fmla="*/ 0 h 433"/>
                <a:gd name="T64" fmla="*/ 0 w 347"/>
                <a:gd name="T65" fmla="*/ 0 h 433"/>
                <a:gd name="T66" fmla="*/ 0 w 347"/>
                <a:gd name="T67" fmla="*/ 0 h 433"/>
                <a:gd name="T68" fmla="*/ 0 w 347"/>
                <a:gd name="T69" fmla="*/ 0 h 433"/>
                <a:gd name="T70" fmla="*/ 0 w 347"/>
                <a:gd name="T71" fmla="*/ 0 h 433"/>
                <a:gd name="T72" fmla="*/ 0 w 347"/>
                <a:gd name="T73" fmla="*/ 0 h 433"/>
                <a:gd name="T74" fmla="*/ 0 w 347"/>
                <a:gd name="T75" fmla="*/ 0 h 433"/>
                <a:gd name="T76" fmla="*/ 0 w 347"/>
                <a:gd name="T77" fmla="*/ 0 h 433"/>
                <a:gd name="T78" fmla="*/ 0 w 347"/>
                <a:gd name="T79" fmla="*/ 0 h 433"/>
                <a:gd name="T80" fmla="*/ 0 w 347"/>
                <a:gd name="T81" fmla="*/ 0 h 433"/>
                <a:gd name="T82" fmla="*/ 0 w 347"/>
                <a:gd name="T83" fmla="*/ 0 h 433"/>
                <a:gd name="T84" fmla="*/ 0 w 347"/>
                <a:gd name="T85" fmla="*/ 0 h 433"/>
                <a:gd name="T86" fmla="*/ 0 w 347"/>
                <a:gd name="T87" fmla="*/ 0 h 433"/>
                <a:gd name="T88" fmla="*/ 0 w 347"/>
                <a:gd name="T89" fmla="*/ 0 h 433"/>
                <a:gd name="T90" fmla="*/ 0 w 347"/>
                <a:gd name="T91" fmla="*/ 0 h 433"/>
                <a:gd name="T92" fmla="*/ 0 w 347"/>
                <a:gd name="T93" fmla="*/ 0 h 433"/>
                <a:gd name="T94" fmla="*/ 0 w 347"/>
                <a:gd name="T95" fmla="*/ 0 h 433"/>
                <a:gd name="T96" fmla="*/ 0 w 347"/>
                <a:gd name="T97" fmla="*/ 0 h 433"/>
                <a:gd name="T98" fmla="*/ 0 w 347"/>
                <a:gd name="T99" fmla="*/ 0 h 433"/>
                <a:gd name="T100" fmla="*/ 0 w 347"/>
                <a:gd name="T101" fmla="*/ 0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47"/>
                <a:gd name="T154" fmla="*/ 0 h 433"/>
                <a:gd name="T155" fmla="*/ 347 w 347"/>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47" h="433">
                  <a:moveTo>
                    <a:pt x="24" y="0"/>
                  </a:moveTo>
                  <a:lnTo>
                    <a:pt x="24" y="0"/>
                  </a:lnTo>
                  <a:lnTo>
                    <a:pt x="16" y="0"/>
                  </a:lnTo>
                  <a:lnTo>
                    <a:pt x="8" y="3"/>
                  </a:lnTo>
                  <a:lnTo>
                    <a:pt x="3" y="7"/>
                  </a:lnTo>
                  <a:lnTo>
                    <a:pt x="0" y="14"/>
                  </a:lnTo>
                  <a:lnTo>
                    <a:pt x="0" y="23"/>
                  </a:lnTo>
                  <a:lnTo>
                    <a:pt x="1" y="30"/>
                  </a:lnTo>
                  <a:lnTo>
                    <a:pt x="7" y="36"/>
                  </a:lnTo>
                  <a:lnTo>
                    <a:pt x="14" y="40"/>
                  </a:lnTo>
                  <a:lnTo>
                    <a:pt x="18" y="42"/>
                  </a:lnTo>
                  <a:lnTo>
                    <a:pt x="29" y="45"/>
                  </a:lnTo>
                  <a:lnTo>
                    <a:pt x="42" y="51"/>
                  </a:lnTo>
                  <a:lnTo>
                    <a:pt x="59" y="58"/>
                  </a:lnTo>
                  <a:lnTo>
                    <a:pt x="79" y="68"/>
                  </a:lnTo>
                  <a:lnTo>
                    <a:pt x="101" y="81"/>
                  </a:lnTo>
                  <a:lnTo>
                    <a:pt x="125" y="97"/>
                  </a:lnTo>
                  <a:lnTo>
                    <a:pt x="150" y="115"/>
                  </a:lnTo>
                  <a:lnTo>
                    <a:pt x="174" y="138"/>
                  </a:lnTo>
                  <a:lnTo>
                    <a:pt x="200" y="164"/>
                  </a:lnTo>
                  <a:lnTo>
                    <a:pt x="223" y="195"/>
                  </a:lnTo>
                  <a:lnTo>
                    <a:pt x="246" y="229"/>
                  </a:lnTo>
                  <a:lnTo>
                    <a:pt x="266" y="268"/>
                  </a:lnTo>
                  <a:lnTo>
                    <a:pt x="284" y="313"/>
                  </a:lnTo>
                  <a:lnTo>
                    <a:pt x="296" y="360"/>
                  </a:lnTo>
                  <a:lnTo>
                    <a:pt x="307" y="415"/>
                  </a:lnTo>
                  <a:lnTo>
                    <a:pt x="309" y="422"/>
                  </a:lnTo>
                  <a:lnTo>
                    <a:pt x="314" y="428"/>
                  </a:lnTo>
                  <a:lnTo>
                    <a:pt x="321" y="433"/>
                  </a:lnTo>
                  <a:lnTo>
                    <a:pt x="330" y="433"/>
                  </a:lnTo>
                  <a:lnTo>
                    <a:pt x="337" y="430"/>
                  </a:lnTo>
                  <a:lnTo>
                    <a:pt x="343" y="425"/>
                  </a:lnTo>
                  <a:lnTo>
                    <a:pt x="347" y="418"/>
                  </a:lnTo>
                  <a:lnTo>
                    <a:pt x="347" y="409"/>
                  </a:lnTo>
                  <a:lnTo>
                    <a:pt x="337" y="350"/>
                  </a:lnTo>
                  <a:lnTo>
                    <a:pt x="321" y="297"/>
                  </a:lnTo>
                  <a:lnTo>
                    <a:pt x="302" y="248"/>
                  </a:lnTo>
                  <a:lnTo>
                    <a:pt x="279" y="206"/>
                  </a:lnTo>
                  <a:lnTo>
                    <a:pt x="255" y="167"/>
                  </a:lnTo>
                  <a:lnTo>
                    <a:pt x="227" y="134"/>
                  </a:lnTo>
                  <a:lnTo>
                    <a:pt x="199" y="105"/>
                  </a:lnTo>
                  <a:lnTo>
                    <a:pt x="171" y="81"/>
                  </a:lnTo>
                  <a:lnTo>
                    <a:pt x="144" y="61"/>
                  </a:lnTo>
                  <a:lnTo>
                    <a:pt x="116" y="43"/>
                  </a:lnTo>
                  <a:lnTo>
                    <a:pt x="92" y="29"/>
                  </a:lnTo>
                  <a:lnTo>
                    <a:pt x="70" y="17"/>
                  </a:lnTo>
                  <a:lnTo>
                    <a:pt x="52" y="10"/>
                  </a:lnTo>
                  <a:lnTo>
                    <a:pt x="37" y="4"/>
                  </a:lnTo>
                  <a:lnTo>
                    <a:pt x="29"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4" name="Freeform 39"/>
            <p:cNvSpPr>
              <a:spLocks/>
            </p:cNvSpPr>
            <p:nvPr/>
          </p:nvSpPr>
          <p:spPr bwMode="auto">
            <a:xfrm>
              <a:off x="2351" y="461"/>
              <a:ext cx="69" cy="84"/>
            </a:xfrm>
            <a:custGeom>
              <a:avLst/>
              <a:gdLst>
                <a:gd name="T0" fmla="*/ 0 w 350"/>
                <a:gd name="T1" fmla="*/ 0 h 433"/>
                <a:gd name="T2" fmla="*/ 0 w 350"/>
                <a:gd name="T3" fmla="*/ 0 h 433"/>
                <a:gd name="T4" fmla="*/ 0 w 350"/>
                <a:gd name="T5" fmla="*/ 0 h 433"/>
                <a:gd name="T6" fmla="*/ 0 w 350"/>
                <a:gd name="T7" fmla="*/ 0 h 433"/>
                <a:gd name="T8" fmla="*/ 0 w 350"/>
                <a:gd name="T9" fmla="*/ 0 h 433"/>
                <a:gd name="T10" fmla="*/ 0 w 350"/>
                <a:gd name="T11" fmla="*/ 0 h 433"/>
                <a:gd name="T12" fmla="*/ 0 w 350"/>
                <a:gd name="T13" fmla="*/ 0 h 433"/>
                <a:gd name="T14" fmla="*/ 0 w 350"/>
                <a:gd name="T15" fmla="*/ 0 h 433"/>
                <a:gd name="T16" fmla="*/ 0 w 350"/>
                <a:gd name="T17" fmla="*/ 0 h 433"/>
                <a:gd name="T18" fmla="*/ 0 w 350"/>
                <a:gd name="T19" fmla="*/ 0 h 433"/>
                <a:gd name="T20" fmla="*/ 0 w 350"/>
                <a:gd name="T21" fmla="*/ 0 h 433"/>
                <a:gd name="T22" fmla="*/ 0 w 350"/>
                <a:gd name="T23" fmla="*/ 0 h 433"/>
                <a:gd name="T24" fmla="*/ 0 w 350"/>
                <a:gd name="T25" fmla="*/ 0 h 433"/>
                <a:gd name="T26" fmla="*/ 0 w 350"/>
                <a:gd name="T27" fmla="*/ 0 h 433"/>
                <a:gd name="T28" fmla="*/ 0 w 350"/>
                <a:gd name="T29" fmla="*/ 0 h 433"/>
                <a:gd name="T30" fmla="*/ 0 w 350"/>
                <a:gd name="T31" fmla="*/ 0 h 433"/>
                <a:gd name="T32" fmla="*/ 0 w 350"/>
                <a:gd name="T33" fmla="*/ 0 h 433"/>
                <a:gd name="T34" fmla="*/ 0 w 350"/>
                <a:gd name="T35" fmla="*/ 0 h 433"/>
                <a:gd name="T36" fmla="*/ 0 w 350"/>
                <a:gd name="T37" fmla="*/ 0 h 433"/>
                <a:gd name="T38" fmla="*/ 0 w 350"/>
                <a:gd name="T39" fmla="*/ 0 h 433"/>
                <a:gd name="T40" fmla="*/ 0 w 350"/>
                <a:gd name="T41" fmla="*/ 0 h 433"/>
                <a:gd name="T42" fmla="*/ 0 w 350"/>
                <a:gd name="T43" fmla="*/ 0 h 433"/>
                <a:gd name="T44" fmla="*/ 0 w 350"/>
                <a:gd name="T45" fmla="*/ 0 h 433"/>
                <a:gd name="T46" fmla="*/ 0 w 350"/>
                <a:gd name="T47" fmla="*/ 0 h 433"/>
                <a:gd name="T48" fmla="*/ 0 w 350"/>
                <a:gd name="T49" fmla="*/ 0 h 433"/>
                <a:gd name="T50" fmla="*/ 0 w 350"/>
                <a:gd name="T51" fmla="*/ 0 h 433"/>
                <a:gd name="T52" fmla="*/ 0 w 350"/>
                <a:gd name="T53" fmla="*/ 0 h 433"/>
                <a:gd name="T54" fmla="*/ 0 w 350"/>
                <a:gd name="T55" fmla="*/ 0 h 433"/>
                <a:gd name="T56" fmla="*/ 0 w 350"/>
                <a:gd name="T57" fmla="*/ 0 h 433"/>
                <a:gd name="T58" fmla="*/ 0 w 350"/>
                <a:gd name="T59" fmla="*/ 0 h 433"/>
                <a:gd name="T60" fmla="*/ 0 w 350"/>
                <a:gd name="T61" fmla="*/ 0 h 433"/>
                <a:gd name="T62" fmla="*/ 0 w 350"/>
                <a:gd name="T63" fmla="*/ 0 h 433"/>
                <a:gd name="T64" fmla="*/ 0 w 350"/>
                <a:gd name="T65" fmla="*/ 0 h 433"/>
                <a:gd name="T66" fmla="*/ 0 w 350"/>
                <a:gd name="T67" fmla="*/ 0 h 433"/>
                <a:gd name="T68" fmla="*/ 0 w 350"/>
                <a:gd name="T69" fmla="*/ 0 h 433"/>
                <a:gd name="T70" fmla="*/ 0 w 350"/>
                <a:gd name="T71" fmla="*/ 0 h 433"/>
                <a:gd name="T72" fmla="*/ 0 w 350"/>
                <a:gd name="T73" fmla="*/ 0 h 433"/>
                <a:gd name="T74" fmla="*/ 0 w 350"/>
                <a:gd name="T75" fmla="*/ 0 h 433"/>
                <a:gd name="T76" fmla="*/ 0 w 350"/>
                <a:gd name="T77" fmla="*/ 0 h 433"/>
                <a:gd name="T78" fmla="*/ 0 w 350"/>
                <a:gd name="T79" fmla="*/ 0 h 433"/>
                <a:gd name="T80" fmla="*/ 0 w 350"/>
                <a:gd name="T81" fmla="*/ 0 h 433"/>
                <a:gd name="T82" fmla="*/ 0 w 350"/>
                <a:gd name="T83" fmla="*/ 0 h 433"/>
                <a:gd name="T84" fmla="*/ 0 w 350"/>
                <a:gd name="T85" fmla="*/ 0 h 433"/>
                <a:gd name="T86" fmla="*/ 0 w 350"/>
                <a:gd name="T87" fmla="*/ 0 h 433"/>
                <a:gd name="T88" fmla="*/ 0 w 350"/>
                <a:gd name="T89" fmla="*/ 0 h 433"/>
                <a:gd name="T90" fmla="*/ 0 w 350"/>
                <a:gd name="T91" fmla="*/ 0 h 433"/>
                <a:gd name="T92" fmla="*/ 0 w 350"/>
                <a:gd name="T93" fmla="*/ 0 h 433"/>
                <a:gd name="T94" fmla="*/ 0 w 350"/>
                <a:gd name="T95" fmla="*/ 0 h 433"/>
                <a:gd name="T96" fmla="*/ 0 w 350"/>
                <a:gd name="T97" fmla="*/ 0 h 433"/>
                <a:gd name="T98" fmla="*/ 0 w 350"/>
                <a:gd name="T99" fmla="*/ 0 h 4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0"/>
                <a:gd name="T151" fmla="*/ 0 h 433"/>
                <a:gd name="T152" fmla="*/ 350 w 350"/>
                <a:gd name="T153" fmla="*/ 433 h 4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0" h="433">
                  <a:moveTo>
                    <a:pt x="336" y="40"/>
                  </a:moveTo>
                  <a:lnTo>
                    <a:pt x="343" y="36"/>
                  </a:lnTo>
                  <a:lnTo>
                    <a:pt x="349" y="30"/>
                  </a:lnTo>
                  <a:lnTo>
                    <a:pt x="350" y="23"/>
                  </a:lnTo>
                  <a:lnTo>
                    <a:pt x="350" y="14"/>
                  </a:lnTo>
                  <a:lnTo>
                    <a:pt x="346" y="7"/>
                  </a:lnTo>
                  <a:lnTo>
                    <a:pt x="340" y="3"/>
                  </a:lnTo>
                  <a:lnTo>
                    <a:pt x="333" y="0"/>
                  </a:lnTo>
                  <a:lnTo>
                    <a:pt x="326" y="0"/>
                  </a:lnTo>
                  <a:lnTo>
                    <a:pt x="322" y="2"/>
                  </a:lnTo>
                  <a:lnTo>
                    <a:pt x="313" y="4"/>
                  </a:lnTo>
                  <a:lnTo>
                    <a:pt x="299" y="10"/>
                  </a:lnTo>
                  <a:lnTo>
                    <a:pt x="280" y="17"/>
                  </a:lnTo>
                  <a:lnTo>
                    <a:pt x="258" y="29"/>
                  </a:lnTo>
                  <a:lnTo>
                    <a:pt x="234" y="43"/>
                  </a:lnTo>
                  <a:lnTo>
                    <a:pt x="206" y="61"/>
                  </a:lnTo>
                  <a:lnTo>
                    <a:pt x="179" y="81"/>
                  </a:lnTo>
                  <a:lnTo>
                    <a:pt x="150" y="105"/>
                  </a:lnTo>
                  <a:lnTo>
                    <a:pt x="121" y="134"/>
                  </a:lnTo>
                  <a:lnTo>
                    <a:pt x="94" y="167"/>
                  </a:lnTo>
                  <a:lnTo>
                    <a:pt x="70" y="206"/>
                  </a:lnTo>
                  <a:lnTo>
                    <a:pt x="46" y="248"/>
                  </a:lnTo>
                  <a:lnTo>
                    <a:pt x="26" y="297"/>
                  </a:lnTo>
                  <a:lnTo>
                    <a:pt x="10" y="350"/>
                  </a:lnTo>
                  <a:lnTo>
                    <a:pt x="0" y="409"/>
                  </a:lnTo>
                  <a:lnTo>
                    <a:pt x="0" y="418"/>
                  </a:lnTo>
                  <a:lnTo>
                    <a:pt x="5" y="425"/>
                  </a:lnTo>
                  <a:lnTo>
                    <a:pt x="10" y="430"/>
                  </a:lnTo>
                  <a:lnTo>
                    <a:pt x="19" y="433"/>
                  </a:lnTo>
                  <a:lnTo>
                    <a:pt x="26" y="433"/>
                  </a:lnTo>
                  <a:lnTo>
                    <a:pt x="34" y="428"/>
                  </a:lnTo>
                  <a:lnTo>
                    <a:pt x="39" y="422"/>
                  </a:lnTo>
                  <a:lnTo>
                    <a:pt x="42" y="415"/>
                  </a:lnTo>
                  <a:lnTo>
                    <a:pt x="51" y="360"/>
                  </a:lnTo>
                  <a:lnTo>
                    <a:pt x="65" y="313"/>
                  </a:lnTo>
                  <a:lnTo>
                    <a:pt x="83" y="268"/>
                  </a:lnTo>
                  <a:lnTo>
                    <a:pt x="103" y="229"/>
                  </a:lnTo>
                  <a:lnTo>
                    <a:pt x="124" y="195"/>
                  </a:lnTo>
                  <a:lnTo>
                    <a:pt x="149" y="164"/>
                  </a:lnTo>
                  <a:lnTo>
                    <a:pt x="175" y="138"/>
                  </a:lnTo>
                  <a:lnTo>
                    <a:pt x="199" y="115"/>
                  </a:lnTo>
                  <a:lnTo>
                    <a:pt x="225" y="97"/>
                  </a:lnTo>
                  <a:lnTo>
                    <a:pt x="248" y="81"/>
                  </a:lnTo>
                  <a:lnTo>
                    <a:pt x="271" y="68"/>
                  </a:lnTo>
                  <a:lnTo>
                    <a:pt x="291" y="58"/>
                  </a:lnTo>
                  <a:lnTo>
                    <a:pt x="309" y="51"/>
                  </a:lnTo>
                  <a:lnTo>
                    <a:pt x="322" y="45"/>
                  </a:lnTo>
                  <a:lnTo>
                    <a:pt x="332" y="42"/>
                  </a:lnTo>
                  <a:lnTo>
                    <a:pt x="33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5" name="Freeform 40"/>
            <p:cNvSpPr>
              <a:spLocks/>
            </p:cNvSpPr>
            <p:nvPr/>
          </p:nvSpPr>
          <p:spPr bwMode="auto">
            <a:xfrm>
              <a:off x="2406" y="461"/>
              <a:ext cx="30" cy="83"/>
            </a:xfrm>
            <a:custGeom>
              <a:avLst/>
              <a:gdLst>
                <a:gd name="T0" fmla="*/ 0 w 148"/>
                <a:gd name="T1" fmla="*/ 0 h 420"/>
                <a:gd name="T2" fmla="*/ 0 w 148"/>
                <a:gd name="T3" fmla="*/ 0 h 420"/>
                <a:gd name="T4" fmla="*/ 0 w 148"/>
                <a:gd name="T5" fmla="*/ 0 h 420"/>
                <a:gd name="T6" fmla="*/ 0 w 148"/>
                <a:gd name="T7" fmla="*/ 0 h 420"/>
                <a:gd name="T8" fmla="*/ 0 w 148"/>
                <a:gd name="T9" fmla="*/ 0 h 420"/>
                <a:gd name="T10" fmla="*/ 0 w 148"/>
                <a:gd name="T11" fmla="*/ 0 h 420"/>
                <a:gd name="T12" fmla="*/ 0 w 148"/>
                <a:gd name="T13" fmla="*/ 0 h 420"/>
                <a:gd name="T14" fmla="*/ 0 w 148"/>
                <a:gd name="T15" fmla="*/ 0 h 420"/>
                <a:gd name="T16" fmla="*/ 0 w 148"/>
                <a:gd name="T17" fmla="*/ 0 h 420"/>
                <a:gd name="T18" fmla="*/ 0 w 148"/>
                <a:gd name="T19" fmla="*/ 0 h 420"/>
                <a:gd name="T20" fmla="*/ 0 w 148"/>
                <a:gd name="T21" fmla="*/ 0 h 420"/>
                <a:gd name="T22" fmla="*/ 0 w 148"/>
                <a:gd name="T23" fmla="*/ 0 h 420"/>
                <a:gd name="T24" fmla="*/ 0 w 148"/>
                <a:gd name="T25" fmla="*/ 0 h 420"/>
                <a:gd name="T26" fmla="*/ 0 w 148"/>
                <a:gd name="T27" fmla="*/ 0 h 420"/>
                <a:gd name="T28" fmla="*/ 0 w 148"/>
                <a:gd name="T29" fmla="*/ 0 h 420"/>
                <a:gd name="T30" fmla="*/ 0 w 148"/>
                <a:gd name="T31" fmla="*/ 0 h 420"/>
                <a:gd name="T32" fmla="*/ 0 w 148"/>
                <a:gd name="T33" fmla="*/ 0 h 420"/>
                <a:gd name="T34" fmla="*/ 0 w 148"/>
                <a:gd name="T35" fmla="*/ 0 h 420"/>
                <a:gd name="T36" fmla="*/ 0 w 148"/>
                <a:gd name="T37" fmla="*/ 0 h 420"/>
                <a:gd name="T38" fmla="*/ 0 w 148"/>
                <a:gd name="T39" fmla="*/ 0 h 420"/>
                <a:gd name="T40" fmla="*/ 0 w 148"/>
                <a:gd name="T41" fmla="*/ 0 h 420"/>
                <a:gd name="T42" fmla="*/ 0 w 148"/>
                <a:gd name="T43" fmla="*/ 0 h 420"/>
                <a:gd name="T44" fmla="*/ 0 w 148"/>
                <a:gd name="T45" fmla="*/ 0 h 420"/>
                <a:gd name="T46" fmla="*/ 0 w 148"/>
                <a:gd name="T47" fmla="*/ 0 h 420"/>
                <a:gd name="T48" fmla="*/ 0 w 148"/>
                <a:gd name="T49" fmla="*/ 0 h 420"/>
                <a:gd name="T50" fmla="*/ 0 w 148"/>
                <a:gd name="T51" fmla="*/ 0 h 420"/>
                <a:gd name="T52" fmla="*/ 0 w 148"/>
                <a:gd name="T53" fmla="*/ 0 h 420"/>
                <a:gd name="T54" fmla="*/ 0 w 148"/>
                <a:gd name="T55" fmla="*/ 0 h 420"/>
                <a:gd name="T56" fmla="*/ 0 w 148"/>
                <a:gd name="T57" fmla="*/ 0 h 420"/>
                <a:gd name="T58" fmla="*/ 0 w 148"/>
                <a:gd name="T59" fmla="*/ 0 h 420"/>
                <a:gd name="T60" fmla="*/ 0 w 148"/>
                <a:gd name="T61" fmla="*/ 0 h 420"/>
                <a:gd name="T62" fmla="*/ 0 w 148"/>
                <a:gd name="T63" fmla="*/ 0 h 420"/>
                <a:gd name="T64" fmla="*/ 0 w 148"/>
                <a:gd name="T65" fmla="*/ 0 h 420"/>
                <a:gd name="T66" fmla="*/ 0 w 148"/>
                <a:gd name="T67" fmla="*/ 0 h 420"/>
                <a:gd name="T68" fmla="*/ 0 w 148"/>
                <a:gd name="T69" fmla="*/ 0 h 4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
                <a:gd name="T106" fmla="*/ 0 h 420"/>
                <a:gd name="T107" fmla="*/ 148 w 148"/>
                <a:gd name="T108" fmla="*/ 420 h 4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 h="420">
                  <a:moveTo>
                    <a:pt x="142" y="7"/>
                  </a:moveTo>
                  <a:lnTo>
                    <a:pt x="137" y="2"/>
                  </a:lnTo>
                  <a:lnTo>
                    <a:pt x="128" y="0"/>
                  </a:lnTo>
                  <a:lnTo>
                    <a:pt x="121" y="1"/>
                  </a:lnTo>
                  <a:lnTo>
                    <a:pt x="114" y="5"/>
                  </a:lnTo>
                  <a:lnTo>
                    <a:pt x="106" y="12"/>
                  </a:lnTo>
                  <a:lnTo>
                    <a:pt x="92" y="30"/>
                  </a:lnTo>
                  <a:lnTo>
                    <a:pt x="72" y="59"/>
                  </a:lnTo>
                  <a:lnTo>
                    <a:pt x="50" y="100"/>
                  </a:lnTo>
                  <a:lnTo>
                    <a:pt x="29" y="155"/>
                  </a:lnTo>
                  <a:lnTo>
                    <a:pt x="11" y="223"/>
                  </a:lnTo>
                  <a:lnTo>
                    <a:pt x="1" y="305"/>
                  </a:lnTo>
                  <a:lnTo>
                    <a:pt x="0" y="402"/>
                  </a:lnTo>
                  <a:lnTo>
                    <a:pt x="1" y="410"/>
                  </a:lnTo>
                  <a:lnTo>
                    <a:pt x="7" y="416"/>
                  </a:lnTo>
                  <a:lnTo>
                    <a:pt x="13" y="420"/>
                  </a:lnTo>
                  <a:lnTo>
                    <a:pt x="21" y="420"/>
                  </a:lnTo>
                  <a:lnTo>
                    <a:pt x="30" y="419"/>
                  </a:lnTo>
                  <a:lnTo>
                    <a:pt x="36" y="413"/>
                  </a:lnTo>
                  <a:lnTo>
                    <a:pt x="40" y="407"/>
                  </a:lnTo>
                  <a:lnTo>
                    <a:pt x="42" y="399"/>
                  </a:lnTo>
                  <a:lnTo>
                    <a:pt x="43" y="309"/>
                  </a:lnTo>
                  <a:lnTo>
                    <a:pt x="52" y="234"/>
                  </a:lnTo>
                  <a:lnTo>
                    <a:pt x="67" y="171"/>
                  </a:lnTo>
                  <a:lnTo>
                    <a:pt x="88" y="121"/>
                  </a:lnTo>
                  <a:lnTo>
                    <a:pt x="106" y="83"/>
                  </a:lnTo>
                  <a:lnTo>
                    <a:pt x="124" y="56"/>
                  </a:lnTo>
                  <a:lnTo>
                    <a:pt x="137" y="41"/>
                  </a:lnTo>
                  <a:lnTo>
                    <a:pt x="141" y="36"/>
                  </a:lnTo>
                  <a:lnTo>
                    <a:pt x="145" y="28"/>
                  </a:lnTo>
                  <a:lnTo>
                    <a:pt x="148" y="21"/>
                  </a:lnTo>
                  <a:lnTo>
                    <a:pt x="147" y="12"/>
                  </a:lnTo>
                  <a:lnTo>
                    <a:pt x="14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6" name="Freeform 41"/>
            <p:cNvSpPr>
              <a:spLocks/>
            </p:cNvSpPr>
            <p:nvPr/>
          </p:nvSpPr>
          <p:spPr bwMode="auto">
            <a:xfrm>
              <a:off x="2444" y="461"/>
              <a:ext cx="30" cy="84"/>
            </a:xfrm>
            <a:custGeom>
              <a:avLst/>
              <a:gdLst>
                <a:gd name="T0" fmla="*/ 0 w 152"/>
                <a:gd name="T1" fmla="*/ 0 h 427"/>
                <a:gd name="T2" fmla="*/ 0 w 152"/>
                <a:gd name="T3" fmla="*/ 0 h 427"/>
                <a:gd name="T4" fmla="*/ 0 w 152"/>
                <a:gd name="T5" fmla="*/ 0 h 427"/>
                <a:gd name="T6" fmla="*/ 0 w 152"/>
                <a:gd name="T7" fmla="*/ 0 h 427"/>
                <a:gd name="T8" fmla="*/ 0 w 152"/>
                <a:gd name="T9" fmla="*/ 0 h 427"/>
                <a:gd name="T10" fmla="*/ 0 w 152"/>
                <a:gd name="T11" fmla="*/ 0 h 427"/>
                <a:gd name="T12" fmla="*/ 0 w 152"/>
                <a:gd name="T13" fmla="*/ 0 h 427"/>
                <a:gd name="T14" fmla="*/ 0 w 152"/>
                <a:gd name="T15" fmla="*/ 0 h 427"/>
                <a:gd name="T16" fmla="*/ 0 w 152"/>
                <a:gd name="T17" fmla="*/ 0 h 427"/>
                <a:gd name="T18" fmla="*/ 0 w 152"/>
                <a:gd name="T19" fmla="*/ 0 h 427"/>
                <a:gd name="T20" fmla="*/ 0 w 152"/>
                <a:gd name="T21" fmla="*/ 0 h 427"/>
                <a:gd name="T22" fmla="*/ 0 w 152"/>
                <a:gd name="T23" fmla="*/ 0 h 427"/>
                <a:gd name="T24" fmla="*/ 0 w 152"/>
                <a:gd name="T25" fmla="*/ 0 h 427"/>
                <a:gd name="T26" fmla="*/ 0 w 152"/>
                <a:gd name="T27" fmla="*/ 0 h 427"/>
                <a:gd name="T28" fmla="*/ 0 w 152"/>
                <a:gd name="T29" fmla="*/ 0 h 427"/>
                <a:gd name="T30" fmla="*/ 0 w 152"/>
                <a:gd name="T31" fmla="*/ 0 h 427"/>
                <a:gd name="T32" fmla="*/ 0 w 152"/>
                <a:gd name="T33" fmla="*/ 0 h 427"/>
                <a:gd name="T34" fmla="*/ 0 w 152"/>
                <a:gd name="T35" fmla="*/ 0 h 427"/>
                <a:gd name="T36" fmla="*/ 0 w 152"/>
                <a:gd name="T37" fmla="*/ 0 h 427"/>
                <a:gd name="T38" fmla="*/ 0 w 152"/>
                <a:gd name="T39" fmla="*/ 0 h 427"/>
                <a:gd name="T40" fmla="*/ 0 w 152"/>
                <a:gd name="T41" fmla="*/ 0 h 427"/>
                <a:gd name="T42" fmla="*/ 0 w 152"/>
                <a:gd name="T43" fmla="*/ 0 h 427"/>
                <a:gd name="T44" fmla="*/ 0 w 152"/>
                <a:gd name="T45" fmla="*/ 0 h 427"/>
                <a:gd name="T46" fmla="*/ 0 w 152"/>
                <a:gd name="T47" fmla="*/ 0 h 427"/>
                <a:gd name="T48" fmla="*/ 0 w 152"/>
                <a:gd name="T49" fmla="*/ 0 h 427"/>
                <a:gd name="T50" fmla="*/ 0 w 152"/>
                <a:gd name="T51" fmla="*/ 0 h 427"/>
                <a:gd name="T52" fmla="*/ 0 w 152"/>
                <a:gd name="T53" fmla="*/ 0 h 427"/>
                <a:gd name="T54" fmla="*/ 0 w 152"/>
                <a:gd name="T55" fmla="*/ 0 h 427"/>
                <a:gd name="T56" fmla="*/ 0 w 152"/>
                <a:gd name="T57" fmla="*/ 0 h 427"/>
                <a:gd name="T58" fmla="*/ 0 w 152"/>
                <a:gd name="T59" fmla="*/ 0 h 427"/>
                <a:gd name="T60" fmla="*/ 0 w 152"/>
                <a:gd name="T61" fmla="*/ 0 h 427"/>
                <a:gd name="T62" fmla="*/ 0 w 152"/>
                <a:gd name="T63" fmla="*/ 0 h 427"/>
                <a:gd name="T64" fmla="*/ 0 w 152"/>
                <a:gd name="T65" fmla="*/ 0 h 427"/>
                <a:gd name="T66" fmla="*/ 0 w 152"/>
                <a:gd name="T67" fmla="*/ 0 h 4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427"/>
                <a:gd name="T104" fmla="*/ 152 w 152"/>
                <a:gd name="T105" fmla="*/ 427 h 4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427">
                  <a:moveTo>
                    <a:pt x="33" y="4"/>
                  </a:moveTo>
                  <a:lnTo>
                    <a:pt x="26" y="0"/>
                  </a:lnTo>
                  <a:lnTo>
                    <a:pt x="19" y="0"/>
                  </a:lnTo>
                  <a:lnTo>
                    <a:pt x="10" y="1"/>
                  </a:lnTo>
                  <a:lnTo>
                    <a:pt x="5" y="7"/>
                  </a:lnTo>
                  <a:lnTo>
                    <a:pt x="0" y="14"/>
                  </a:lnTo>
                  <a:lnTo>
                    <a:pt x="0" y="22"/>
                  </a:lnTo>
                  <a:lnTo>
                    <a:pt x="2" y="30"/>
                  </a:lnTo>
                  <a:lnTo>
                    <a:pt x="8" y="36"/>
                  </a:lnTo>
                  <a:lnTo>
                    <a:pt x="15" y="43"/>
                  </a:lnTo>
                  <a:lnTo>
                    <a:pt x="29" y="59"/>
                  </a:lnTo>
                  <a:lnTo>
                    <a:pt x="49" y="86"/>
                  </a:lnTo>
                  <a:lnTo>
                    <a:pt x="71" y="125"/>
                  </a:lnTo>
                  <a:lnTo>
                    <a:pt x="90" y="176"/>
                  </a:lnTo>
                  <a:lnTo>
                    <a:pt x="104" y="238"/>
                  </a:lnTo>
                  <a:lnTo>
                    <a:pt x="111" y="314"/>
                  </a:lnTo>
                  <a:lnTo>
                    <a:pt x="105" y="404"/>
                  </a:lnTo>
                  <a:lnTo>
                    <a:pt x="105" y="412"/>
                  </a:lnTo>
                  <a:lnTo>
                    <a:pt x="110" y="419"/>
                  </a:lnTo>
                  <a:lnTo>
                    <a:pt x="116" y="424"/>
                  </a:lnTo>
                  <a:lnTo>
                    <a:pt x="123" y="427"/>
                  </a:lnTo>
                  <a:lnTo>
                    <a:pt x="131" y="427"/>
                  </a:lnTo>
                  <a:lnTo>
                    <a:pt x="139" y="422"/>
                  </a:lnTo>
                  <a:lnTo>
                    <a:pt x="143" y="417"/>
                  </a:lnTo>
                  <a:lnTo>
                    <a:pt x="146" y="409"/>
                  </a:lnTo>
                  <a:lnTo>
                    <a:pt x="152" y="311"/>
                  </a:lnTo>
                  <a:lnTo>
                    <a:pt x="144" y="228"/>
                  </a:lnTo>
                  <a:lnTo>
                    <a:pt x="129" y="159"/>
                  </a:lnTo>
                  <a:lnTo>
                    <a:pt x="105" y="102"/>
                  </a:lnTo>
                  <a:lnTo>
                    <a:pt x="81" y="60"/>
                  </a:lnTo>
                  <a:lnTo>
                    <a:pt x="59" y="30"/>
                  </a:lnTo>
                  <a:lnTo>
                    <a:pt x="42" y="11"/>
                  </a:lnTo>
                  <a:lnTo>
                    <a:pt x="33"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364" name="Rectangle 42"/>
          <p:cNvSpPr>
            <a:spLocks noGrp="1" noChangeArrowheads="1"/>
          </p:cNvSpPr>
          <p:nvPr>
            <p:ph type="title"/>
          </p:nvPr>
        </p:nvSpPr>
        <p:spPr/>
        <p:txBody>
          <a:bodyPr/>
          <a:lstStyle/>
          <a:p>
            <a:pPr eaLnBrk="1" hangingPunct="1"/>
            <a:r>
              <a:rPr lang="en-US"/>
              <a:t>Contact roles</a:t>
            </a:r>
          </a:p>
        </p:txBody>
      </p:sp>
      <p:grpSp>
        <p:nvGrpSpPr>
          <p:cNvPr id="15365" name="Group 43"/>
          <p:cNvGrpSpPr>
            <a:grpSpLocks/>
          </p:cNvGrpSpPr>
          <p:nvPr/>
        </p:nvGrpSpPr>
        <p:grpSpPr bwMode="auto">
          <a:xfrm>
            <a:off x="417513" y="1033463"/>
            <a:ext cx="1228725" cy="908050"/>
            <a:chOff x="2083" y="1606"/>
            <a:chExt cx="1489" cy="1097"/>
          </a:xfrm>
        </p:grpSpPr>
        <p:sp>
          <p:nvSpPr>
            <p:cNvPr id="15384"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5385"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386"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387"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388"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389" name="Rectangle 4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5390"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391"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5392" name="Freeform 52"/>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5393" name="Freeform 53"/>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5394"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395"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396"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5397" name="Group 57"/>
            <p:cNvGrpSpPr>
              <a:grpSpLocks/>
            </p:cNvGrpSpPr>
            <p:nvPr/>
          </p:nvGrpSpPr>
          <p:grpSpPr bwMode="auto">
            <a:xfrm>
              <a:off x="2221" y="1871"/>
              <a:ext cx="518" cy="782"/>
              <a:chOff x="2400" y="1656"/>
              <a:chExt cx="752" cy="1136"/>
            </a:xfrm>
          </p:grpSpPr>
          <p:sp>
            <p:nvSpPr>
              <p:cNvPr id="15410"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5411"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412"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413"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414"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5415"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6"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5398" name="Group 65"/>
            <p:cNvGrpSpPr>
              <a:grpSpLocks/>
            </p:cNvGrpSpPr>
            <p:nvPr/>
          </p:nvGrpSpPr>
          <p:grpSpPr bwMode="auto">
            <a:xfrm rot="-6511945">
              <a:off x="2834" y="1842"/>
              <a:ext cx="518" cy="783"/>
              <a:chOff x="2400" y="1656"/>
              <a:chExt cx="752" cy="1136"/>
            </a:xfrm>
          </p:grpSpPr>
          <p:sp>
            <p:nvSpPr>
              <p:cNvPr id="15403"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5404"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405"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406"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407"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408"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09"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5399" name="Freeform 73"/>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5400" name="Freeform 74"/>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5401"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02"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5366" name="Line 77"/>
          <p:cNvSpPr>
            <a:spLocks noChangeShapeType="1"/>
          </p:cNvSpPr>
          <p:nvPr/>
        </p:nvSpPr>
        <p:spPr bwMode="auto">
          <a:xfrm flipV="1">
            <a:off x="998538" y="1912938"/>
            <a:ext cx="0" cy="31670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67" name="Text Box 78"/>
          <p:cNvSpPr txBox="1">
            <a:spLocks noChangeArrowheads="1"/>
          </p:cNvSpPr>
          <p:nvPr/>
        </p:nvSpPr>
        <p:spPr bwMode="auto">
          <a:xfrm>
            <a:off x="1704975" y="1039813"/>
            <a:ext cx="1800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a:solidFill>
                  <a:schemeClr val="bg1"/>
                </a:solidFill>
              </a:rPr>
              <a:t>Auto Claim</a:t>
            </a:r>
            <a:br>
              <a:rPr lang="en-US">
                <a:solidFill>
                  <a:schemeClr val="bg1"/>
                </a:solidFill>
              </a:rPr>
            </a:br>
            <a:r>
              <a:rPr lang="en-US">
                <a:solidFill>
                  <a:schemeClr val="bg1"/>
                </a:solidFill>
              </a:rPr>
              <a:t>036-22-934712</a:t>
            </a:r>
          </a:p>
        </p:txBody>
      </p:sp>
      <p:sp>
        <p:nvSpPr>
          <p:cNvPr id="15368" name="AutoShape 79"/>
          <p:cNvSpPr>
            <a:spLocks noChangeArrowheads="1"/>
          </p:cNvSpPr>
          <p:nvPr/>
        </p:nvSpPr>
        <p:spPr bwMode="auto">
          <a:xfrm>
            <a:off x="1666875" y="2284413"/>
            <a:ext cx="704850" cy="7048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5369" name="Line 80"/>
          <p:cNvSpPr>
            <a:spLocks noChangeShapeType="1"/>
          </p:cNvSpPr>
          <p:nvPr/>
        </p:nvSpPr>
        <p:spPr bwMode="auto">
          <a:xfrm flipH="1">
            <a:off x="998538" y="2679700"/>
            <a:ext cx="6778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0" name="Text Box 81"/>
          <p:cNvSpPr txBox="1">
            <a:spLocks noChangeArrowheads="1"/>
          </p:cNvSpPr>
          <p:nvPr/>
        </p:nvSpPr>
        <p:spPr bwMode="auto">
          <a:xfrm>
            <a:off x="1795463" y="3071813"/>
            <a:ext cx="29495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2000" b="1">
                <a:solidFill>
                  <a:srgbClr val="FF0000"/>
                </a:solidFill>
                <a:latin typeface="Arial" pitchFamily="34" charset="0"/>
              </a:defRPr>
            </a:lvl1pPr>
            <a:lvl2pPr marL="742950" indent="-285750" eaLnBrk="0" hangingPunct="0">
              <a:tabLst>
                <a:tab pos="1371600" algn="l"/>
              </a:tabLst>
              <a:defRPr sz="2000" b="1">
                <a:solidFill>
                  <a:srgbClr val="FF0000"/>
                </a:solidFill>
                <a:latin typeface="Arial" pitchFamily="34" charset="0"/>
              </a:defRPr>
            </a:lvl2pPr>
            <a:lvl3pPr marL="1143000" indent="-228600" eaLnBrk="0" hangingPunct="0">
              <a:tabLst>
                <a:tab pos="1371600" algn="l"/>
              </a:tabLst>
              <a:defRPr sz="2000" b="1">
                <a:solidFill>
                  <a:srgbClr val="FF0000"/>
                </a:solidFill>
                <a:latin typeface="Arial" pitchFamily="34" charset="0"/>
              </a:defRPr>
            </a:lvl3pPr>
            <a:lvl4pPr marL="1600200" indent="-228600" eaLnBrk="0" hangingPunct="0">
              <a:tabLst>
                <a:tab pos="1371600" algn="l"/>
              </a:tabLst>
              <a:defRPr sz="2000" b="1">
                <a:solidFill>
                  <a:srgbClr val="FF0000"/>
                </a:solidFill>
                <a:latin typeface="Arial" pitchFamily="34" charset="0"/>
              </a:defRPr>
            </a:lvl4pPr>
            <a:lvl5pPr marL="2057400" indent="-228600" eaLnBrk="0" hangingPunct="0">
              <a:tabLst>
                <a:tab pos="1371600" algn="l"/>
              </a:tabLst>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9pPr>
          </a:lstStyle>
          <a:p>
            <a:pPr algn="l" eaLnBrk="1" hangingPunct="1"/>
            <a:r>
              <a:rPr lang="en-US">
                <a:solidFill>
                  <a:schemeClr val="bg1"/>
                </a:solidFill>
              </a:rPr>
              <a:t>Ellen Lopez</a:t>
            </a:r>
            <a:br>
              <a:rPr lang="en-US"/>
            </a:br>
            <a:r>
              <a:rPr lang="en-US"/>
              <a:t>- Insured	(policy)</a:t>
            </a:r>
            <a:br>
              <a:rPr lang="en-US"/>
            </a:br>
            <a:r>
              <a:rPr lang="en-US"/>
              <a:t>- Reporter	(entire claim)</a:t>
            </a:r>
            <a:br>
              <a:rPr lang="en-US"/>
            </a:br>
            <a:r>
              <a:rPr lang="en-US"/>
              <a:t>- Claimant	(exposure 1)</a:t>
            </a:r>
          </a:p>
        </p:txBody>
      </p:sp>
      <p:sp>
        <p:nvSpPr>
          <p:cNvPr id="15371" name="AutoShape 82"/>
          <p:cNvSpPr>
            <a:spLocks noChangeArrowheads="1"/>
          </p:cNvSpPr>
          <p:nvPr/>
        </p:nvSpPr>
        <p:spPr bwMode="auto">
          <a:xfrm>
            <a:off x="1677988" y="4678363"/>
            <a:ext cx="704850" cy="7048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5372" name="Line 83"/>
          <p:cNvSpPr>
            <a:spLocks noChangeShapeType="1"/>
          </p:cNvSpPr>
          <p:nvPr/>
        </p:nvSpPr>
        <p:spPr bwMode="auto">
          <a:xfrm flipH="1">
            <a:off x="1009650" y="5073650"/>
            <a:ext cx="6778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3" name="Text Box 84"/>
          <p:cNvSpPr txBox="1">
            <a:spLocks noChangeArrowheads="1"/>
          </p:cNvSpPr>
          <p:nvPr/>
        </p:nvSpPr>
        <p:spPr bwMode="auto">
          <a:xfrm>
            <a:off x="1806575" y="5465763"/>
            <a:ext cx="3035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2000" b="1">
                <a:solidFill>
                  <a:srgbClr val="FF0000"/>
                </a:solidFill>
                <a:latin typeface="Arial" pitchFamily="34" charset="0"/>
              </a:defRPr>
            </a:lvl1pPr>
            <a:lvl2pPr marL="742950" indent="-285750" eaLnBrk="0" hangingPunct="0">
              <a:tabLst>
                <a:tab pos="1371600" algn="l"/>
              </a:tabLst>
              <a:defRPr sz="2000" b="1">
                <a:solidFill>
                  <a:srgbClr val="FF0000"/>
                </a:solidFill>
                <a:latin typeface="Arial" pitchFamily="34" charset="0"/>
              </a:defRPr>
            </a:lvl2pPr>
            <a:lvl3pPr marL="1143000" indent="-228600" eaLnBrk="0" hangingPunct="0">
              <a:tabLst>
                <a:tab pos="1371600" algn="l"/>
              </a:tabLst>
              <a:defRPr sz="2000" b="1">
                <a:solidFill>
                  <a:srgbClr val="FF0000"/>
                </a:solidFill>
                <a:latin typeface="Arial" pitchFamily="34" charset="0"/>
              </a:defRPr>
            </a:lvl3pPr>
            <a:lvl4pPr marL="1600200" indent="-228600" eaLnBrk="0" hangingPunct="0">
              <a:tabLst>
                <a:tab pos="1371600" algn="l"/>
              </a:tabLst>
              <a:defRPr sz="2000" b="1">
                <a:solidFill>
                  <a:srgbClr val="FF0000"/>
                </a:solidFill>
                <a:latin typeface="Arial" pitchFamily="34" charset="0"/>
              </a:defRPr>
            </a:lvl4pPr>
            <a:lvl5pPr marL="2057400" indent="-228600" eaLnBrk="0" hangingPunct="0">
              <a:tabLst>
                <a:tab pos="1371600" algn="l"/>
              </a:tabLst>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9pPr>
          </a:lstStyle>
          <a:p>
            <a:pPr algn="l" eaLnBrk="1" hangingPunct="1"/>
            <a:r>
              <a:rPr lang="en-US">
                <a:solidFill>
                  <a:schemeClr val="bg1"/>
                </a:solidFill>
              </a:rPr>
              <a:t>Matt Sawyer</a:t>
            </a:r>
            <a:br>
              <a:rPr lang="en-US"/>
            </a:br>
            <a:r>
              <a:rPr lang="en-US"/>
              <a:t>- Doctor	(entire claim)</a:t>
            </a:r>
          </a:p>
        </p:txBody>
      </p:sp>
      <p:sp>
        <p:nvSpPr>
          <p:cNvPr id="15374" name="Line 85"/>
          <p:cNvSpPr>
            <a:spLocks noChangeShapeType="1"/>
          </p:cNvSpPr>
          <p:nvPr/>
        </p:nvSpPr>
        <p:spPr bwMode="auto">
          <a:xfrm flipV="1">
            <a:off x="5164138" y="1871663"/>
            <a:ext cx="0" cy="356393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5" name="Text Box 86"/>
          <p:cNvSpPr txBox="1">
            <a:spLocks noChangeArrowheads="1"/>
          </p:cNvSpPr>
          <p:nvPr/>
        </p:nvSpPr>
        <p:spPr bwMode="auto">
          <a:xfrm>
            <a:off x="5870575" y="1039813"/>
            <a:ext cx="2578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a:solidFill>
                  <a:schemeClr val="bg1"/>
                </a:solidFill>
              </a:rPr>
              <a:t>Workers' Comp Claim</a:t>
            </a:r>
            <a:br>
              <a:rPr lang="en-US">
                <a:solidFill>
                  <a:schemeClr val="bg1"/>
                </a:solidFill>
              </a:rPr>
            </a:br>
            <a:r>
              <a:rPr lang="en-US">
                <a:solidFill>
                  <a:schemeClr val="bg1"/>
                </a:solidFill>
              </a:rPr>
              <a:t>772-12-9000</a:t>
            </a:r>
          </a:p>
        </p:txBody>
      </p:sp>
      <p:sp>
        <p:nvSpPr>
          <p:cNvPr id="15376" name="Line 87"/>
          <p:cNvSpPr>
            <a:spLocks noChangeShapeType="1"/>
          </p:cNvSpPr>
          <p:nvPr/>
        </p:nvSpPr>
        <p:spPr bwMode="auto">
          <a:xfrm flipH="1">
            <a:off x="5164138" y="2390775"/>
            <a:ext cx="6778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7" name="Text Box 88"/>
          <p:cNvSpPr txBox="1">
            <a:spLocks noChangeArrowheads="1"/>
          </p:cNvSpPr>
          <p:nvPr/>
        </p:nvSpPr>
        <p:spPr bwMode="auto">
          <a:xfrm>
            <a:off x="5961063" y="2782888"/>
            <a:ext cx="27638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2000" b="1">
                <a:solidFill>
                  <a:srgbClr val="FF0000"/>
                </a:solidFill>
                <a:latin typeface="Arial" pitchFamily="34" charset="0"/>
              </a:defRPr>
            </a:lvl1pPr>
            <a:lvl2pPr marL="742950" indent="-285750" eaLnBrk="0" hangingPunct="0">
              <a:tabLst>
                <a:tab pos="1371600" algn="l"/>
              </a:tabLst>
              <a:defRPr sz="2000" b="1">
                <a:solidFill>
                  <a:srgbClr val="FF0000"/>
                </a:solidFill>
                <a:latin typeface="Arial" pitchFamily="34" charset="0"/>
              </a:defRPr>
            </a:lvl2pPr>
            <a:lvl3pPr marL="1143000" indent="-228600" eaLnBrk="0" hangingPunct="0">
              <a:tabLst>
                <a:tab pos="1371600" algn="l"/>
              </a:tabLst>
              <a:defRPr sz="2000" b="1">
                <a:solidFill>
                  <a:srgbClr val="FF0000"/>
                </a:solidFill>
                <a:latin typeface="Arial" pitchFamily="34" charset="0"/>
              </a:defRPr>
            </a:lvl3pPr>
            <a:lvl4pPr marL="1600200" indent="-228600" eaLnBrk="0" hangingPunct="0">
              <a:tabLst>
                <a:tab pos="1371600" algn="l"/>
              </a:tabLst>
              <a:defRPr sz="2000" b="1">
                <a:solidFill>
                  <a:srgbClr val="FF0000"/>
                </a:solidFill>
                <a:latin typeface="Arial" pitchFamily="34" charset="0"/>
              </a:defRPr>
            </a:lvl4pPr>
            <a:lvl5pPr marL="2057400" indent="-228600" eaLnBrk="0" hangingPunct="0">
              <a:tabLst>
                <a:tab pos="1371600" algn="l"/>
              </a:tabLst>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9pPr>
          </a:lstStyle>
          <a:p>
            <a:pPr algn="l" eaLnBrk="1" hangingPunct="1"/>
            <a:r>
              <a:rPr lang="en-US" err="1">
                <a:solidFill>
                  <a:schemeClr val="bg1"/>
                </a:solidFill>
              </a:rPr>
              <a:t>OmniTech</a:t>
            </a:r>
            <a:r>
              <a:rPr lang="en-US">
                <a:solidFill>
                  <a:schemeClr val="bg1"/>
                </a:solidFill>
              </a:rPr>
              <a:t> Inc.</a:t>
            </a:r>
            <a:br>
              <a:rPr lang="en-US"/>
            </a:br>
            <a:r>
              <a:rPr lang="en-US"/>
              <a:t>- Insured	(policy)</a:t>
            </a:r>
          </a:p>
        </p:txBody>
      </p:sp>
      <p:sp>
        <p:nvSpPr>
          <p:cNvPr id="15378" name="AutoShape 89"/>
          <p:cNvSpPr>
            <a:spLocks noChangeArrowheads="1"/>
          </p:cNvSpPr>
          <p:nvPr/>
        </p:nvSpPr>
        <p:spPr bwMode="auto">
          <a:xfrm>
            <a:off x="5843588" y="3522663"/>
            <a:ext cx="704850" cy="7048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5379" name="Line 90"/>
          <p:cNvSpPr>
            <a:spLocks noChangeShapeType="1"/>
          </p:cNvSpPr>
          <p:nvPr/>
        </p:nvSpPr>
        <p:spPr bwMode="auto">
          <a:xfrm flipH="1">
            <a:off x="5175250" y="3917950"/>
            <a:ext cx="6778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0" name="Text Box 91"/>
          <p:cNvSpPr txBox="1">
            <a:spLocks noChangeArrowheads="1"/>
          </p:cNvSpPr>
          <p:nvPr/>
        </p:nvSpPr>
        <p:spPr bwMode="auto">
          <a:xfrm>
            <a:off x="5972175" y="4310063"/>
            <a:ext cx="2898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2000" b="1">
                <a:solidFill>
                  <a:srgbClr val="FF0000"/>
                </a:solidFill>
                <a:latin typeface="Arial" pitchFamily="34" charset="0"/>
              </a:defRPr>
            </a:lvl1pPr>
            <a:lvl2pPr marL="742950" indent="-285750" eaLnBrk="0" hangingPunct="0">
              <a:tabLst>
                <a:tab pos="1371600" algn="l"/>
              </a:tabLst>
              <a:defRPr sz="2000" b="1">
                <a:solidFill>
                  <a:srgbClr val="FF0000"/>
                </a:solidFill>
                <a:latin typeface="Arial" pitchFamily="34" charset="0"/>
              </a:defRPr>
            </a:lvl2pPr>
            <a:lvl3pPr marL="1143000" indent="-228600" eaLnBrk="0" hangingPunct="0">
              <a:tabLst>
                <a:tab pos="1371600" algn="l"/>
              </a:tabLst>
              <a:defRPr sz="2000" b="1">
                <a:solidFill>
                  <a:srgbClr val="FF0000"/>
                </a:solidFill>
                <a:latin typeface="Arial" pitchFamily="34" charset="0"/>
              </a:defRPr>
            </a:lvl3pPr>
            <a:lvl4pPr marL="1600200" indent="-228600" eaLnBrk="0" hangingPunct="0">
              <a:tabLst>
                <a:tab pos="1371600" algn="l"/>
              </a:tabLst>
              <a:defRPr sz="2000" b="1">
                <a:solidFill>
                  <a:srgbClr val="FF0000"/>
                </a:solidFill>
                <a:latin typeface="Arial" pitchFamily="34" charset="0"/>
              </a:defRPr>
            </a:lvl4pPr>
            <a:lvl5pPr marL="2057400" indent="-228600" eaLnBrk="0" hangingPunct="0">
              <a:tabLst>
                <a:tab pos="1371600" algn="l"/>
              </a:tabLst>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9pPr>
          </a:lstStyle>
          <a:p>
            <a:pPr algn="l" eaLnBrk="1" hangingPunct="1"/>
            <a:r>
              <a:rPr lang="en-US">
                <a:solidFill>
                  <a:schemeClr val="bg1"/>
                </a:solidFill>
              </a:rPr>
              <a:t>Tommy Duke</a:t>
            </a:r>
            <a:br>
              <a:rPr lang="en-US"/>
            </a:br>
            <a:r>
              <a:rPr lang="en-US"/>
              <a:t>- Claimant	(exposure 1)</a:t>
            </a:r>
          </a:p>
        </p:txBody>
      </p:sp>
      <p:sp>
        <p:nvSpPr>
          <p:cNvPr id="15381" name="AutoShape 92"/>
          <p:cNvSpPr>
            <a:spLocks noChangeArrowheads="1"/>
          </p:cNvSpPr>
          <p:nvPr/>
        </p:nvSpPr>
        <p:spPr bwMode="auto">
          <a:xfrm>
            <a:off x="5833562" y="5030788"/>
            <a:ext cx="704850" cy="7048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5382" name="Line 93"/>
          <p:cNvSpPr>
            <a:spLocks noChangeShapeType="1"/>
          </p:cNvSpPr>
          <p:nvPr/>
        </p:nvSpPr>
        <p:spPr bwMode="auto">
          <a:xfrm flipH="1">
            <a:off x="5162550" y="5432425"/>
            <a:ext cx="6778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3" name="Text Box 94"/>
          <p:cNvSpPr txBox="1">
            <a:spLocks noChangeArrowheads="1"/>
          </p:cNvSpPr>
          <p:nvPr/>
        </p:nvSpPr>
        <p:spPr bwMode="auto">
          <a:xfrm>
            <a:off x="5959475" y="5824538"/>
            <a:ext cx="31845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2000" b="1">
                <a:solidFill>
                  <a:srgbClr val="FF0000"/>
                </a:solidFill>
                <a:latin typeface="Arial" pitchFamily="34" charset="0"/>
              </a:defRPr>
            </a:lvl1pPr>
            <a:lvl2pPr marL="742950" indent="-285750" eaLnBrk="0" hangingPunct="0">
              <a:tabLst>
                <a:tab pos="1371600" algn="l"/>
              </a:tabLst>
              <a:defRPr sz="2000" b="1">
                <a:solidFill>
                  <a:srgbClr val="FF0000"/>
                </a:solidFill>
                <a:latin typeface="Arial" pitchFamily="34" charset="0"/>
              </a:defRPr>
            </a:lvl2pPr>
            <a:lvl3pPr marL="1143000" indent="-228600" eaLnBrk="0" hangingPunct="0">
              <a:tabLst>
                <a:tab pos="1371600" algn="l"/>
              </a:tabLst>
              <a:defRPr sz="2000" b="1">
                <a:solidFill>
                  <a:srgbClr val="FF0000"/>
                </a:solidFill>
                <a:latin typeface="Arial" pitchFamily="34" charset="0"/>
              </a:defRPr>
            </a:lvl3pPr>
            <a:lvl4pPr marL="1600200" indent="-228600" eaLnBrk="0" hangingPunct="0">
              <a:tabLst>
                <a:tab pos="1371600" algn="l"/>
              </a:tabLst>
              <a:defRPr sz="2000" b="1">
                <a:solidFill>
                  <a:srgbClr val="FF0000"/>
                </a:solidFill>
                <a:latin typeface="Arial" pitchFamily="34" charset="0"/>
              </a:defRPr>
            </a:lvl4pPr>
            <a:lvl5pPr marL="2057400" indent="-228600" eaLnBrk="0" hangingPunct="0">
              <a:tabLst>
                <a:tab pos="1371600" algn="l"/>
              </a:tabLst>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2000" b="1">
                <a:solidFill>
                  <a:srgbClr val="FF0000"/>
                </a:solidFill>
                <a:latin typeface="Arial" pitchFamily="34" charset="0"/>
              </a:defRPr>
            </a:lvl9pPr>
          </a:lstStyle>
          <a:p>
            <a:pPr algn="l" eaLnBrk="1" hangingPunct="1"/>
            <a:r>
              <a:rPr lang="en-US">
                <a:solidFill>
                  <a:schemeClr val="bg1"/>
                </a:solidFill>
              </a:rPr>
              <a:t>Matt Sawyer</a:t>
            </a:r>
            <a:br>
              <a:rPr lang="en-US"/>
            </a:br>
            <a:r>
              <a:rPr lang="en-US"/>
              <a:t>- Doctor	(entire claim)</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16387" name="Rectangle 3"/>
          <p:cNvSpPr>
            <a:spLocks noGrp="1" noChangeArrowheads="1"/>
          </p:cNvSpPr>
          <p:nvPr>
            <p:ph idx="1"/>
          </p:nvPr>
        </p:nvSpPr>
        <p:spPr/>
        <p:txBody>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6" y="520700"/>
            <a:ext cx="4343692" cy="60579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700" name="Rectangle 2"/>
          <p:cNvSpPr>
            <a:spLocks noGrp="1" noChangeArrowheads="1"/>
          </p:cNvSpPr>
          <p:nvPr>
            <p:ph type="title"/>
          </p:nvPr>
        </p:nvSpPr>
        <p:spPr/>
        <p:txBody>
          <a:bodyPr/>
          <a:lstStyle/>
          <a:p>
            <a:pPr eaLnBrk="1" hangingPunct="1"/>
            <a:r>
              <a:rPr lang="en-US"/>
              <a:t>Creating contacts from the new claim wizard</a:t>
            </a:r>
          </a:p>
        </p:txBody>
      </p:sp>
      <p:sp>
        <p:nvSpPr>
          <p:cNvPr id="29701" name="Text Box 5"/>
          <p:cNvSpPr txBox="1">
            <a:spLocks noChangeArrowheads="1"/>
          </p:cNvSpPr>
          <p:nvPr/>
        </p:nvSpPr>
        <p:spPr bwMode="auto">
          <a:xfrm>
            <a:off x="4846638" y="1006475"/>
            <a:ext cx="367665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400" b="1">
                <a:solidFill>
                  <a:srgbClr val="C00000"/>
                </a:solidFill>
              </a:rPr>
              <a:t>Contacts added on the Basic Information step have a pre-defined role</a:t>
            </a:r>
          </a:p>
        </p:txBody>
      </p:sp>
      <p:sp>
        <p:nvSpPr>
          <p:cNvPr id="29702" name="Text Box 6"/>
          <p:cNvSpPr txBox="1">
            <a:spLocks noChangeArrowheads="1"/>
          </p:cNvSpPr>
          <p:nvPr/>
        </p:nvSpPr>
        <p:spPr bwMode="auto">
          <a:xfrm>
            <a:off x="4930775" y="5168900"/>
            <a:ext cx="381317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2400" b="1">
                <a:solidFill>
                  <a:srgbClr val="C00000"/>
                </a:solidFill>
              </a:rPr>
              <a:t>Contacts added on the Parties involved step can have any role</a:t>
            </a:r>
          </a:p>
        </p:txBody>
      </p:sp>
      <p:sp>
        <p:nvSpPr>
          <p:cNvPr id="29703" name="AutoShape 9"/>
          <p:cNvSpPr>
            <a:spLocks/>
          </p:cNvSpPr>
          <p:nvPr/>
        </p:nvSpPr>
        <p:spPr bwMode="auto">
          <a:xfrm>
            <a:off x="4733925" y="957263"/>
            <a:ext cx="3943350" cy="1352550"/>
          </a:xfrm>
          <a:prstGeom prst="borderCallout2">
            <a:avLst>
              <a:gd name="adj1" fmla="val 8449"/>
              <a:gd name="adj2" fmla="val -1931"/>
              <a:gd name="adj3" fmla="val 8449"/>
              <a:gd name="adj4" fmla="val -4431"/>
              <a:gd name="adj5" fmla="val 46477"/>
              <a:gd name="adj6" fmla="val -7005"/>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3737" y="2562223"/>
            <a:ext cx="5786438" cy="22766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704" name="AutoShape 11"/>
          <p:cNvSpPr>
            <a:spLocks/>
          </p:cNvSpPr>
          <p:nvPr/>
        </p:nvSpPr>
        <p:spPr bwMode="auto">
          <a:xfrm>
            <a:off x="5033963" y="5114925"/>
            <a:ext cx="3771900" cy="1252538"/>
          </a:xfrm>
          <a:prstGeom prst="borderCallout2">
            <a:avLst>
              <a:gd name="adj1" fmla="val 9125"/>
              <a:gd name="adj2" fmla="val -2019"/>
              <a:gd name="adj3" fmla="val 9125"/>
              <a:gd name="adj4" fmla="val -3537"/>
              <a:gd name="adj5" fmla="val -30796"/>
              <a:gd name="adj6" fmla="val -5051"/>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9" name="Picture 17" descr="claimcenter.pn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10533" y="499434"/>
            <a:ext cx="509609" cy="509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0493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470" y="4174768"/>
            <a:ext cx="6751930" cy="183385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3" name="Line 2"/>
          <p:cNvSpPr>
            <a:spLocks noChangeShapeType="1"/>
          </p:cNvSpPr>
          <p:nvPr/>
        </p:nvSpPr>
        <p:spPr bwMode="auto">
          <a:xfrm>
            <a:off x="2760663" y="1893888"/>
            <a:ext cx="0" cy="104933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4" name="Rectangle 3"/>
          <p:cNvSpPr>
            <a:spLocks noGrp="1" noChangeArrowheads="1"/>
          </p:cNvSpPr>
          <p:nvPr>
            <p:ph type="title"/>
          </p:nvPr>
        </p:nvSpPr>
        <p:spPr>
          <a:xfrm>
            <a:off x="495300" y="120650"/>
            <a:ext cx="8318500" cy="742950"/>
          </a:xfrm>
        </p:spPr>
        <p:txBody>
          <a:bodyPr/>
          <a:lstStyle/>
          <a:p>
            <a:pPr eaLnBrk="1" hangingPunct="1"/>
            <a:r>
              <a:rPr lang="en-US"/>
              <a:t>Roles in the User Interface</a:t>
            </a:r>
          </a:p>
        </p:txBody>
      </p:sp>
      <p:grpSp>
        <p:nvGrpSpPr>
          <p:cNvPr id="75" name="Group 5"/>
          <p:cNvGrpSpPr>
            <a:grpSpLocks/>
          </p:cNvGrpSpPr>
          <p:nvPr/>
        </p:nvGrpSpPr>
        <p:grpSpPr bwMode="auto">
          <a:xfrm>
            <a:off x="2387600" y="1427163"/>
            <a:ext cx="1160463" cy="855662"/>
            <a:chOff x="2083" y="1606"/>
            <a:chExt cx="1489" cy="1097"/>
          </a:xfrm>
        </p:grpSpPr>
        <p:sp>
          <p:nvSpPr>
            <p:cNvPr id="76"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7"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8"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9"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0"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81"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82"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3"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84" name="Freeform 14"/>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5" name="Freeform 15"/>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6"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7"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8"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89" name="Group 19"/>
            <p:cNvGrpSpPr>
              <a:grpSpLocks/>
            </p:cNvGrpSpPr>
            <p:nvPr/>
          </p:nvGrpSpPr>
          <p:grpSpPr bwMode="auto">
            <a:xfrm>
              <a:off x="2221" y="1871"/>
              <a:ext cx="518" cy="782"/>
              <a:chOff x="2400" y="1656"/>
              <a:chExt cx="752" cy="1136"/>
            </a:xfrm>
          </p:grpSpPr>
          <p:sp>
            <p:nvSpPr>
              <p:cNvPr id="102"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5"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6"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7"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8"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0" name="Group 27"/>
            <p:cNvGrpSpPr>
              <a:grpSpLocks/>
            </p:cNvGrpSpPr>
            <p:nvPr/>
          </p:nvGrpSpPr>
          <p:grpSpPr bwMode="auto">
            <a:xfrm rot="-6511945">
              <a:off x="2834" y="1842"/>
              <a:ext cx="518" cy="783"/>
              <a:chOff x="2400" y="1656"/>
              <a:chExt cx="752" cy="1136"/>
            </a:xfrm>
          </p:grpSpPr>
          <p:sp>
            <p:nvSpPr>
              <p:cNvPr id="95"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6"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7"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8"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9"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0"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1"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1" name="Freeform 35"/>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 name="Freeform 36"/>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4"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09" name="Text Box 39"/>
          <p:cNvSpPr txBox="1">
            <a:spLocks noChangeArrowheads="1"/>
          </p:cNvSpPr>
          <p:nvPr/>
        </p:nvSpPr>
        <p:spPr bwMode="auto">
          <a:xfrm>
            <a:off x="2074863" y="863600"/>
            <a:ext cx="1755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a:t>Claim</a:t>
            </a:r>
            <a:br>
              <a:rPr lang="en-US" sz="1800" b="1"/>
            </a:br>
            <a:r>
              <a:rPr lang="en-US" sz="1800" b="1"/>
              <a:t>235-53-373872</a:t>
            </a:r>
          </a:p>
        </p:txBody>
      </p:sp>
      <p:sp>
        <p:nvSpPr>
          <p:cNvPr id="110" name="AutoShape 40"/>
          <p:cNvSpPr>
            <a:spLocks noChangeArrowheads="1"/>
          </p:cNvSpPr>
          <p:nvPr/>
        </p:nvSpPr>
        <p:spPr bwMode="auto">
          <a:xfrm>
            <a:off x="5967413" y="2019300"/>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11" name="Text Box 41"/>
          <p:cNvSpPr txBox="1">
            <a:spLocks noChangeArrowheads="1"/>
          </p:cNvSpPr>
          <p:nvPr/>
        </p:nvSpPr>
        <p:spPr bwMode="auto">
          <a:xfrm>
            <a:off x="7137400" y="2320925"/>
            <a:ext cx="91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Helen</a:t>
            </a:r>
            <a:br>
              <a:rPr lang="en-US" sz="1800" b="1"/>
            </a:br>
            <a:r>
              <a:rPr lang="en-US" sz="1800" b="1"/>
              <a:t>Nixon</a:t>
            </a:r>
          </a:p>
        </p:txBody>
      </p:sp>
      <p:sp>
        <p:nvSpPr>
          <p:cNvPr id="112" name="Line 42"/>
          <p:cNvSpPr>
            <a:spLocks noChangeShapeType="1"/>
          </p:cNvSpPr>
          <p:nvPr/>
        </p:nvSpPr>
        <p:spPr bwMode="auto">
          <a:xfrm>
            <a:off x="3543300" y="1843088"/>
            <a:ext cx="2414588" cy="631825"/>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3" name="Text Box 43"/>
          <p:cNvSpPr txBox="1">
            <a:spLocks noChangeArrowheads="1"/>
          </p:cNvSpPr>
          <p:nvPr/>
        </p:nvSpPr>
        <p:spPr bwMode="auto">
          <a:xfrm>
            <a:off x="830922" y="5091697"/>
            <a:ext cx="136363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solidFill>
                  <a:srgbClr val="FF0000"/>
                </a:solidFill>
              </a:rPr>
              <a:t>(entire claim)</a:t>
            </a:r>
          </a:p>
        </p:txBody>
      </p:sp>
      <p:sp>
        <p:nvSpPr>
          <p:cNvPr id="114" name="Line 44"/>
          <p:cNvSpPr>
            <a:spLocks noChangeShapeType="1"/>
          </p:cNvSpPr>
          <p:nvPr/>
        </p:nvSpPr>
        <p:spPr bwMode="auto">
          <a:xfrm flipV="1">
            <a:off x="4254500" y="2640013"/>
            <a:ext cx="1722438" cy="271462"/>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5" name="Text Box 45"/>
          <p:cNvSpPr txBox="1">
            <a:spLocks noChangeArrowheads="1"/>
          </p:cNvSpPr>
          <p:nvPr/>
        </p:nvSpPr>
        <p:spPr bwMode="auto">
          <a:xfrm>
            <a:off x="4456113" y="2921000"/>
            <a:ext cx="157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solidFill>
                  <a:srgbClr val="FF0000"/>
                </a:solidFill>
              </a:rPr>
              <a:t>passenger</a:t>
            </a:r>
          </a:p>
        </p:txBody>
      </p:sp>
      <p:sp>
        <p:nvSpPr>
          <p:cNvPr id="116" name="Line 46"/>
          <p:cNvSpPr>
            <a:spLocks noChangeShapeType="1"/>
          </p:cNvSpPr>
          <p:nvPr/>
        </p:nvSpPr>
        <p:spPr bwMode="auto">
          <a:xfrm>
            <a:off x="2760663" y="2943225"/>
            <a:ext cx="642937"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7" name="Group 47"/>
          <p:cNvGrpSpPr>
            <a:grpSpLocks/>
          </p:cNvGrpSpPr>
          <p:nvPr/>
        </p:nvGrpSpPr>
        <p:grpSpPr bwMode="auto">
          <a:xfrm>
            <a:off x="3044825" y="2519363"/>
            <a:ext cx="1184275" cy="812800"/>
            <a:chOff x="463" y="1743"/>
            <a:chExt cx="1186" cy="813"/>
          </a:xfrm>
        </p:grpSpPr>
        <p:sp>
          <p:nvSpPr>
            <p:cNvPr id="118" name="Freeform 48"/>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 name="Freeform 4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0" name="AutoShape 5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21" name="AutoShape 5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22" name="Freeform 5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123" name="Freeform 5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 name="Freeform 5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5" name="Freeform 55"/>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6" name="Freeform 5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7" name="Freeform 57"/>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8" name="Freeform 5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9" name="Freeform 59"/>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30" name="Line 6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1" name="Line 6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2" name="Oval 6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33" name="Freeform 63"/>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 name="Freeform 64"/>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 name="Oval 6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36" name="Freeform 66"/>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7" name="Freeform 67"/>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8" name="Text Box 68"/>
          <p:cNvSpPr txBox="1">
            <a:spLocks noChangeArrowheads="1"/>
          </p:cNvSpPr>
          <p:nvPr/>
        </p:nvSpPr>
        <p:spPr bwMode="auto">
          <a:xfrm>
            <a:off x="2652713" y="3362325"/>
            <a:ext cx="1974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a:t>Incident</a:t>
            </a:r>
            <a:br>
              <a:rPr lang="en-US" sz="1800" b="1"/>
            </a:br>
            <a:r>
              <a:rPr lang="en-US" sz="1800" b="1"/>
              <a:t>2003 BMW 355i</a:t>
            </a:r>
          </a:p>
        </p:txBody>
      </p:sp>
      <p:sp>
        <p:nvSpPr>
          <p:cNvPr id="139" name="AutoShape 69"/>
          <p:cNvSpPr>
            <a:spLocks noChangeArrowheads="1"/>
          </p:cNvSpPr>
          <p:nvPr/>
        </p:nvSpPr>
        <p:spPr bwMode="auto">
          <a:xfrm>
            <a:off x="2631605" y="4761002"/>
            <a:ext cx="4505795" cy="11684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0" name="Text Box 70"/>
          <p:cNvSpPr txBox="1">
            <a:spLocks noChangeArrowheads="1"/>
          </p:cNvSpPr>
          <p:nvPr/>
        </p:nvSpPr>
        <p:spPr bwMode="auto">
          <a:xfrm>
            <a:off x="4587875" y="1933575"/>
            <a:ext cx="1444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solidFill>
                  <a:srgbClr val="FF0000"/>
                </a:solidFill>
              </a:rPr>
              <a:t>witness</a:t>
            </a:r>
          </a:p>
        </p:txBody>
      </p:sp>
      <p:sp>
        <p:nvSpPr>
          <p:cNvPr id="141" name="Line 7"/>
          <p:cNvSpPr>
            <a:spLocks noChangeShapeType="1"/>
          </p:cNvSpPr>
          <p:nvPr/>
        </p:nvSpPr>
        <p:spPr bwMode="auto">
          <a:xfrm flipV="1">
            <a:off x="1984180" y="5434610"/>
            <a:ext cx="1279627" cy="0"/>
          </a:xfrm>
          <a:prstGeom prst="line">
            <a:avLst/>
          </a:prstGeom>
          <a:noFill/>
          <a:ln w="19050">
            <a:solidFill>
              <a:srgbClr val="FF0000"/>
            </a:solidFill>
            <a:round/>
            <a:headEnd/>
            <a:tailEnd type="triangle"/>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083" y="586277"/>
            <a:ext cx="7822733" cy="431548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 name="Rectangle 4"/>
          <p:cNvSpPr>
            <a:spLocks noGrp="1" noChangeArrowheads="1"/>
          </p:cNvSpPr>
          <p:nvPr>
            <p:ph type="title"/>
          </p:nvPr>
        </p:nvSpPr>
        <p:spPr>
          <a:xfrm>
            <a:off x="495300" y="120650"/>
            <a:ext cx="8318500" cy="742950"/>
          </a:xfrm>
        </p:spPr>
        <p:txBody>
          <a:bodyPr/>
          <a:lstStyle/>
          <a:p>
            <a:pPr eaLnBrk="1" hangingPunct="1"/>
            <a:r>
              <a:rPr lang="en-US"/>
              <a:t>Transferring roles on a claim</a:t>
            </a:r>
          </a:p>
        </p:txBody>
      </p:sp>
      <p:sp>
        <p:nvSpPr>
          <p:cNvPr id="10" name="AutoShape 6"/>
          <p:cNvSpPr>
            <a:spLocks noChangeArrowheads="1"/>
          </p:cNvSpPr>
          <p:nvPr/>
        </p:nvSpPr>
        <p:spPr bwMode="auto">
          <a:xfrm>
            <a:off x="1552354" y="3451808"/>
            <a:ext cx="2509284" cy="30956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1" name="Content Placeholder 16"/>
          <p:cNvSpPr>
            <a:spLocks noGrp="1"/>
          </p:cNvSpPr>
          <p:nvPr>
            <p:ph idx="1"/>
          </p:nvPr>
        </p:nvSpPr>
        <p:spPr>
          <a:xfrm>
            <a:off x="1073888" y="4988176"/>
            <a:ext cx="7763726" cy="1313759"/>
          </a:xfrm>
          <a:solidFill>
            <a:schemeClr val="tx1"/>
          </a:solidFill>
        </p:spPr>
        <p:txBody>
          <a:bodyPr/>
          <a:lstStyle/>
          <a:p>
            <a:r>
              <a:rPr lang="en-US" sz="2000"/>
              <a:t>Transfer roles from other contacts… button initiates process to move roles from multiple contacts into one (surviving) contact</a:t>
            </a:r>
          </a:p>
          <a:p>
            <a:pPr lvl="1"/>
            <a:r>
              <a:rPr lang="en-US" sz="2000"/>
              <a:t>Contacts whose roles are transferred (chosen on next screen) will be removed</a:t>
            </a:r>
          </a:p>
          <a:p>
            <a:endParaRPr lang="en-US" sz="2000"/>
          </a:p>
          <a:p>
            <a:pPr lvl="1"/>
            <a:endParaRPr lang="en-US" sz="200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55" y="496728"/>
            <a:ext cx="6007949" cy="363569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7200" y="2802631"/>
            <a:ext cx="5998387" cy="364986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 name="Title 1"/>
          <p:cNvSpPr>
            <a:spLocks noGrp="1"/>
          </p:cNvSpPr>
          <p:nvPr>
            <p:ph type="title"/>
          </p:nvPr>
        </p:nvSpPr>
        <p:spPr>
          <a:xfrm>
            <a:off x="495300" y="120650"/>
            <a:ext cx="8318500" cy="742950"/>
          </a:xfrm>
        </p:spPr>
        <p:txBody>
          <a:bodyPr/>
          <a:lstStyle/>
          <a:p>
            <a:r>
              <a:rPr lang="en-US"/>
              <a:t>Transferring roles screen</a:t>
            </a:r>
          </a:p>
        </p:txBody>
      </p:sp>
      <p:sp>
        <p:nvSpPr>
          <p:cNvPr id="16" name="Content Placeholder 2"/>
          <p:cNvSpPr>
            <a:spLocks noGrp="1"/>
          </p:cNvSpPr>
          <p:nvPr>
            <p:ph idx="1"/>
          </p:nvPr>
        </p:nvSpPr>
        <p:spPr>
          <a:xfrm>
            <a:off x="6413537" y="124588"/>
            <a:ext cx="2582050" cy="2305903"/>
          </a:xfrm>
        </p:spPr>
        <p:txBody>
          <a:bodyPr/>
          <a:lstStyle/>
          <a:p>
            <a:r>
              <a:rPr lang="en-US" sz="2000"/>
              <a:t>Select contacts to merge into survivor </a:t>
            </a:r>
          </a:p>
          <a:p>
            <a:r>
              <a:rPr lang="en-US" sz="2000"/>
              <a:t>Selected contacts moved to “to be removed” list view</a:t>
            </a:r>
          </a:p>
          <a:p>
            <a:pPr lvl="1"/>
            <a:r>
              <a:rPr lang="en-US" sz="2000"/>
              <a:t>List of roles for survivor updated</a:t>
            </a:r>
          </a:p>
          <a:p>
            <a:pPr lvl="1"/>
            <a:endParaRPr lang="en-US" sz="2000"/>
          </a:p>
          <a:p>
            <a:endParaRPr lang="en-US" sz="2000"/>
          </a:p>
          <a:p>
            <a:endParaRPr lang="en-US" sz="2000"/>
          </a:p>
        </p:txBody>
      </p:sp>
      <p:sp>
        <p:nvSpPr>
          <p:cNvPr id="17" name="AutoShape 6"/>
          <p:cNvSpPr>
            <a:spLocks noChangeArrowheads="1"/>
          </p:cNvSpPr>
          <p:nvPr/>
        </p:nvSpPr>
        <p:spPr bwMode="auto">
          <a:xfrm>
            <a:off x="329055" y="3975334"/>
            <a:ext cx="2531103" cy="14621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8" name="AutoShape 6"/>
          <p:cNvSpPr>
            <a:spLocks noChangeArrowheads="1"/>
          </p:cNvSpPr>
          <p:nvPr/>
        </p:nvSpPr>
        <p:spPr bwMode="auto">
          <a:xfrm>
            <a:off x="421058" y="1597542"/>
            <a:ext cx="557138" cy="2857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cxnSp>
        <p:nvCxnSpPr>
          <p:cNvPr id="19" name="Straight Arrow Connector 14"/>
          <p:cNvCxnSpPr>
            <a:cxnSpLocks noChangeShapeType="1"/>
            <a:endCxn id="20" idx="1"/>
          </p:cNvCxnSpPr>
          <p:nvPr/>
        </p:nvCxnSpPr>
        <p:spPr bwMode="auto">
          <a:xfrm>
            <a:off x="1429801" y="4154722"/>
            <a:ext cx="1582757" cy="2224664"/>
          </a:xfrm>
          <a:prstGeom prst="straightConnector1">
            <a:avLst/>
          </a:prstGeom>
          <a:noFill/>
          <a:ln w="19050" algn="ctr">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20" name="AutoShape 6"/>
          <p:cNvSpPr>
            <a:spLocks noChangeArrowheads="1"/>
          </p:cNvSpPr>
          <p:nvPr/>
        </p:nvSpPr>
        <p:spPr bwMode="auto">
          <a:xfrm>
            <a:off x="3012558" y="6306278"/>
            <a:ext cx="3398875" cy="14621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619" y="2416913"/>
            <a:ext cx="7331148" cy="232623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693" y="755592"/>
            <a:ext cx="5610114" cy="72554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3" name="Title 1"/>
          <p:cNvSpPr>
            <a:spLocks noGrp="1"/>
          </p:cNvSpPr>
          <p:nvPr>
            <p:ph type="title"/>
          </p:nvPr>
        </p:nvSpPr>
        <p:spPr>
          <a:xfrm>
            <a:off x="495300" y="120650"/>
            <a:ext cx="8318500" cy="742950"/>
          </a:xfrm>
        </p:spPr>
        <p:txBody>
          <a:bodyPr/>
          <a:lstStyle/>
          <a:p>
            <a:r>
              <a:rPr lang="en-US"/>
              <a:t>Transfer the roles</a:t>
            </a:r>
          </a:p>
        </p:txBody>
      </p:sp>
      <p:sp>
        <p:nvSpPr>
          <p:cNvPr id="14" name="Content Placeholder 2"/>
          <p:cNvSpPr>
            <a:spLocks noGrp="1"/>
          </p:cNvSpPr>
          <p:nvPr>
            <p:ph idx="1"/>
          </p:nvPr>
        </p:nvSpPr>
        <p:spPr>
          <a:xfrm>
            <a:off x="519113" y="4778375"/>
            <a:ext cx="8318500" cy="1622425"/>
          </a:xfrm>
        </p:spPr>
        <p:txBody>
          <a:bodyPr/>
          <a:lstStyle/>
          <a:p>
            <a:r>
              <a:rPr lang="en-US"/>
              <a:t>Click Transfer Roles to perform transfer</a:t>
            </a:r>
          </a:p>
          <a:p>
            <a:pPr lvl="1"/>
            <a:r>
              <a:rPr lang="en-US"/>
              <a:t>ClaimCenter displays final message detailing roles survivor will have, and contacts to be removed from claim</a:t>
            </a:r>
          </a:p>
          <a:p>
            <a:pPr lvl="1"/>
            <a:r>
              <a:rPr lang="en-US"/>
              <a:t>Can only transfer if survivor allowed to have all selected roles</a:t>
            </a:r>
          </a:p>
          <a:p>
            <a:endParaRPr lang="en-US"/>
          </a:p>
          <a:p>
            <a:endParaRPr lang="en-US"/>
          </a:p>
          <a:p>
            <a:endParaRPr lang="en-US"/>
          </a:p>
        </p:txBody>
      </p:sp>
      <p:sp>
        <p:nvSpPr>
          <p:cNvPr id="15" name="AutoShape 6"/>
          <p:cNvSpPr>
            <a:spLocks noChangeArrowheads="1"/>
          </p:cNvSpPr>
          <p:nvPr/>
        </p:nvSpPr>
        <p:spPr bwMode="auto">
          <a:xfrm>
            <a:off x="2783183" y="3793331"/>
            <a:ext cx="3022194" cy="34766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16"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3183" y="1257854"/>
            <a:ext cx="5695950" cy="13144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 name="Line 10"/>
          <p:cNvSpPr>
            <a:spLocks noChangeShapeType="1"/>
          </p:cNvSpPr>
          <p:nvPr/>
        </p:nvSpPr>
        <p:spPr bwMode="auto">
          <a:xfrm>
            <a:off x="1041991" y="1118365"/>
            <a:ext cx="2264735" cy="52968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 name="Line 10"/>
          <p:cNvSpPr>
            <a:spLocks noChangeShapeType="1"/>
          </p:cNvSpPr>
          <p:nvPr/>
        </p:nvSpPr>
        <p:spPr bwMode="auto">
          <a:xfrm flipH="1">
            <a:off x="5209953" y="2441390"/>
            <a:ext cx="287079" cy="152577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Lesson outline</a:t>
            </a:r>
          </a:p>
        </p:txBody>
      </p:sp>
      <p:sp>
        <p:nvSpPr>
          <p:cNvPr id="22531" name="Rectangle 3"/>
          <p:cNvSpPr>
            <a:spLocks noGrp="1" noChangeArrowheads="1"/>
          </p:cNvSpPr>
          <p:nvPr>
            <p:ph idx="1"/>
          </p:nvPr>
        </p:nvSpPr>
        <p:spPr/>
        <p:txBody>
          <a:bodyPr/>
          <a:lstStyle/>
          <a:p>
            <a:pPr>
              <a:lnSpc>
                <a:spcPct val="150000"/>
              </a:lnSpc>
            </a:pPr>
            <a:r>
              <a:rPr lang="en-US" sz="2800">
                <a:solidFill>
                  <a:srgbClr val="C0C0C0"/>
                </a:solidFill>
              </a:rPr>
              <a:t>Contact basics</a:t>
            </a:r>
          </a:p>
          <a:p>
            <a:pPr>
              <a:lnSpc>
                <a:spcPct val="150000"/>
              </a:lnSpc>
            </a:pPr>
            <a:r>
              <a:rPr lang="en-US" sz="2800">
                <a:solidFill>
                  <a:srgbClr val="C0C0C0"/>
                </a:solidFill>
              </a:rPr>
              <a:t>Contact roles</a:t>
            </a:r>
          </a:p>
          <a:p>
            <a:pPr>
              <a:lnSpc>
                <a:spcPct val="150000"/>
              </a:lnSpc>
            </a:pPr>
            <a:r>
              <a:rPr lang="en-US" sz="2800"/>
              <a:t>Categorizing contact</a:t>
            </a:r>
          </a:p>
          <a:p>
            <a:pPr>
              <a:lnSpc>
                <a:spcPct val="150000"/>
              </a:lnSpc>
            </a:pPr>
            <a:r>
              <a:rPr lang="en-US" sz="2800">
                <a:solidFill>
                  <a:srgbClr val="C0C0C0"/>
                </a:solidFill>
              </a:rPr>
              <a:t>Contact role configuration</a:t>
            </a:r>
          </a:p>
          <a:p>
            <a:pPr>
              <a:lnSpc>
                <a:spcPct val="150000"/>
              </a:lnSpc>
            </a:pPr>
            <a:r>
              <a:rPr lang="en-US" sz="2800">
                <a:solidFill>
                  <a:srgbClr val="C0C0C0"/>
                </a:solidFill>
              </a:rPr>
              <a:t>Contact role type constraints</a:t>
            </a:r>
          </a:p>
          <a:p>
            <a:pPr>
              <a:lnSpc>
                <a:spcPct val="150000"/>
              </a:lnSpc>
            </a:pPr>
            <a:r>
              <a:rPr lang="en-US" sz="2800">
                <a:solidFill>
                  <a:srgbClr val="C0C0C0"/>
                </a:solidFill>
              </a:rPr>
              <a:t>Entity role constraints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Contact categorization</a:t>
            </a:r>
          </a:p>
        </p:txBody>
      </p:sp>
      <p:sp>
        <p:nvSpPr>
          <p:cNvPr id="23555" name="Rectangle 3"/>
          <p:cNvSpPr>
            <a:spLocks noGrp="1" noChangeArrowheads="1"/>
          </p:cNvSpPr>
          <p:nvPr>
            <p:ph idx="1"/>
          </p:nvPr>
        </p:nvSpPr>
        <p:spPr>
          <a:xfrm>
            <a:off x="519113" y="4464050"/>
            <a:ext cx="8318500" cy="1925638"/>
          </a:xfrm>
        </p:spPr>
        <p:txBody>
          <a:bodyPr/>
          <a:lstStyle/>
          <a:p>
            <a:r>
              <a:rPr lang="en-US"/>
              <a:t>Contact objects are categorized in two ways</a:t>
            </a:r>
          </a:p>
          <a:p>
            <a:pPr lvl="1"/>
            <a:r>
              <a:rPr lang="en-US"/>
              <a:t>By subtype</a:t>
            </a:r>
          </a:p>
          <a:p>
            <a:pPr lvl="1"/>
            <a:r>
              <a:rPr lang="en-US"/>
              <a:t>By role</a:t>
            </a:r>
          </a:p>
          <a:p>
            <a:r>
              <a:rPr lang="en-US"/>
              <a:t>Each categorization offers different functionality and involves different types of configuration</a:t>
            </a:r>
          </a:p>
        </p:txBody>
      </p:sp>
      <p:grpSp>
        <p:nvGrpSpPr>
          <p:cNvPr id="23556" name="Group 4"/>
          <p:cNvGrpSpPr>
            <a:grpSpLocks/>
          </p:cNvGrpSpPr>
          <p:nvPr/>
        </p:nvGrpSpPr>
        <p:grpSpPr bwMode="auto">
          <a:xfrm>
            <a:off x="5043488" y="1428750"/>
            <a:ext cx="920750" cy="833438"/>
            <a:chOff x="2780" y="1585"/>
            <a:chExt cx="668" cy="605"/>
          </a:xfrm>
        </p:grpSpPr>
        <p:sp>
          <p:nvSpPr>
            <p:cNvPr id="23589" name="AutoShape 5"/>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23590" name="Group 6"/>
            <p:cNvGrpSpPr>
              <a:grpSpLocks/>
            </p:cNvGrpSpPr>
            <p:nvPr/>
          </p:nvGrpSpPr>
          <p:grpSpPr bwMode="auto">
            <a:xfrm flipH="1">
              <a:off x="3089" y="1738"/>
              <a:ext cx="359" cy="452"/>
              <a:chOff x="4325" y="1984"/>
              <a:chExt cx="359" cy="452"/>
            </a:xfrm>
          </p:grpSpPr>
          <p:sp>
            <p:nvSpPr>
              <p:cNvPr id="23591" name="Freeform 7"/>
              <p:cNvSpPr>
                <a:spLocks/>
              </p:cNvSpPr>
              <p:nvPr/>
            </p:nvSpPr>
            <p:spPr bwMode="auto">
              <a:xfrm>
                <a:off x="4325" y="1984"/>
                <a:ext cx="359" cy="452"/>
              </a:xfrm>
              <a:custGeom>
                <a:avLst/>
                <a:gdLst>
                  <a:gd name="T0" fmla="*/ 1 w 717"/>
                  <a:gd name="T1" fmla="*/ 0 h 906"/>
                  <a:gd name="T2" fmla="*/ 1 w 717"/>
                  <a:gd name="T3" fmla="*/ 0 h 906"/>
                  <a:gd name="T4" fmla="*/ 1 w 717"/>
                  <a:gd name="T5" fmla="*/ 0 h 906"/>
                  <a:gd name="T6" fmla="*/ 1 w 717"/>
                  <a:gd name="T7" fmla="*/ 0 h 906"/>
                  <a:gd name="T8" fmla="*/ 1 w 717"/>
                  <a:gd name="T9" fmla="*/ 0 h 906"/>
                  <a:gd name="T10" fmla="*/ 1 w 717"/>
                  <a:gd name="T11" fmla="*/ 0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0 h 906"/>
                  <a:gd name="T32" fmla="*/ 1 w 717"/>
                  <a:gd name="T33" fmla="*/ 0 h 906"/>
                  <a:gd name="T34" fmla="*/ 1 w 717"/>
                  <a:gd name="T35" fmla="*/ 0 h 906"/>
                  <a:gd name="T36" fmla="*/ 1 w 717"/>
                  <a:gd name="T37" fmla="*/ 0 h 906"/>
                  <a:gd name="T38" fmla="*/ 1 w 717"/>
                  <a:gd name="T39" fmla="*/ 0 h 906"/>
                  <a:gd name="T40" fmla="*/ 1 w 717"/>
                  <a:gd name="T41" fmla="*/ 0 h 906"/>
                  <a:gd name="T42" fmla="*/ 1 w 717"/>
                  <a:gd name="T43" fmla="*/ 0 h 906"/>
                  <a:gd name="T44" fmla="*/ 1 w 717"/>
                  <a:gd name="T45" fmla="*/ 0 h 906"/>
                  <a:gd name="T46" fmla="*/ 1 w 717"/>
                  <a:gd name="T47" fmla="*/ 0 h 906"/>
                  <a:gd name="T48" fmla="*/ 1 w 717"/>
                  <a:gd name="T49" fmla="*/ 0 h 906"/>
                  <a:gd name="T50" fmla="*/ 1 w 717"/>
                  <a:gd name="T51" fmla="*/ 0 h 906"/>
                  <a:gd name="T52" fmla="*/ 1 w 717"/>
                  <a:gd name="T53" fmla="*/ 0 h 906"/>
                  <a:gd name="T54" fmla="*/ 1 w 717"/>
                  <a:gd name="T55" fmla="*/ 0 h 906"/>
                  <a:gd name="T56" fmla="*/ 1 w 717"/>
                  <a:gd name="T57" fmla="*/ 0 h 906"/>
                  <a:gd name="T58" fmla="*/ 1 w 717"/>
                  <a:gd name="T59" fmla="*/ 0 h 906"/>
                  <a:gd name="T60" fmla="*/ 1 w 717"/>
                  <a:gd name="T61" fmla="*/ 0 h 906"/>
                  <a:gd name="T62" fmla="*/ 1 w 717"/>
                  <a:gd name="T63" fmla="*/ 0 h 906"/>
                  <a:gd name="T64" fmla="*/ 1 w 717"/>
                  <a:gd name="T65" fmla="*/ 0 h 906"/>
                  <a:gd name="T66" fmla="*/ 1 w 717"/>
                  <a:gd name="T67" fmla="*/ 0 h 906"/>
                  <a:gd name="T68" fmla="*/ 1 w 717"/>
                  <a:gd name="T69" fmla="*/ 0 h 906"/>
                  <a:gd name="T70" fmla="*/ 1 w 717"/>
                  <a:gd name="T71" fmla="*/ 0 h 906"/>
                  <a:gd name="T72" fmla="*/ 1 w 717"/>
                  <a:gd name="T73" fmla="*/ 0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2" name="Freeform 8"/>
              <p:cNvSpPr>
                <a:spLocks/>
              </p:cNvSpPr>
              <p:nvPr/>
            </p:nvSpPr>
            <p:spPr bwMode="auto">
              <a:xfrm>
                <a:off x="4378" y="2075"/>
                <a:ext cx="281" cy="341"/>
              </a:xfrm>
              <a:custGeom>
                <a:avLst/>
                <a:gdLst>
                  <a:gd name="T0" fmla="*/ 1 w 562"/>
                  <a:gd name="T1" fmla="*/ 1 h 682"/>
                  <a:gd name="T2" fmla="*/ 1 w 562"/>
                  <a:gd name="T3" fmla="*/ 1 h 682"/>
                  <a:gd name="T4" fmla="*/ 1 w 562"/>
                  <a:gd name="T5" fmla="*/ 1 h 682"/>
                  <a:gd name="T6" fmla="*/ 1 w 562"/>
                  <a:gd name="T7" fmla="*/ 1 h 682"/>
                  <a:gd name="T8" fmla="*/ 1 w 562"/>
                  <a:gd name="T9" fmla="*/ 1 h 682"/>
                  <a:gd name="T10" fmla="*/ 1 w 562"/>
                  <a:gd name="T11" fmla="*/ 1 h 682"/>
                  <a:gd name="T12" fmla="*/ 1 w 562"/>
                  <a:gd name="T13" fmla="*/ 1 h 682"/>
                  <a:gd name="T14" fmla="*/ 1 w 562"/>
                  <a:gd name="T15" fmla="*/ 1 h 682"/>
                  <a:gd name="T16" fmla="*/ 1 w 562"/>
                  <a:gd name="T17" fmla="*/ 1 h 682"/>
                  <a:gd name="T18" fmla="*/ 1 w 562"/>
                  <a:gd name="T19" fmla="*/ 1 h 682"/>
                  <a:gd name="T20" fmla="*/ 1 w 562"/>
                  <a:gd name="T21" fmla="*/ 1 h 682"/>
                  <a:gd name="T22" fmla="*/ 1 w 562"/>
                  <a:gd name="T23" fmla="*/ 1 h 682"/>
                  <a:gd name="T24" fmla="*/ 1 w 562"/>
                  <a:gd name="T25" fmla="*/ 1 h 682"/>
                  <a:gd name="T26" fmla="*/ 1 w 562"/>
                  <a:gd name="T27" fmla="*/ 1 h 682"/>
                  <a:gd name="T28" fmla="*/ 1 w 562"/>
                  <a:gd name="T29" fmla="*/ 1 h 682"/>
                  <a:gd name="T30" fmla="*/ 1 w 562"/>
                  <a:gd name="T31" fmla="*/ 1 h 682"/>
                  <a:gd name="T32" fmla="*/ 0 w 562"/>
                  <a:gd name="T33" fmla="*/ 1 h 682"/>
                  <a:gd name="T34" fmla="*/ 1 w 562"/>
                  <a:gd name="T35" fmla="*/ 0 h 682"/>
                  <a:gd name="T36" fmla="*/ 1 w 562"/>
                  <a:gd name="T37" fmla="*/ 1 h 682"/>
                  <a:gd name="T38" fmla="*/ 1 w 562"/>
                  <a:gd name="T39" fmla="*/ 1 h 682"/>
                  <a:gd name="T40" fmla="*/ 1 w 562"/>
                  <a:gd name="T41" fmla="*/ 1 h 682"/>
                  <a:gd name="T42" fmla="*/ 1 w 562"/>
                  <a:gd name="T43" fmla="*/ 1 h 682"/>
                  <a:gd name="T44" fmla="*/ 1 w 562"/>
                  <a:gd name="T45" fmla="*/ 1 h 682"/>
                  <a:gd name="T46" fmla="*/ 1 w 562"/>
                  <a:gd name="T47" fmla="*/ 1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3557" name="Group 9"/>
          <p:cNvGrpSpPr>
            <a:grpSpLocks/>
          </p:cNvGrpSpPr>
          <p:nvPr/>
        </p:nvGrpSpPr>
        <p:grpSpPr bwMode="auto">
          <a:xfrm>
            <a:off x="5043488" y="2397125"/>
            <a:ext cx="776287" cy="776288"/>
            <a:chOff x="1350" y="686"/>
            <a:chExt cx="1132" cy="1132"/>
          </a:xfrm>
        </p:grpSpPr>
        <p:sp>
          <p:nvSpPr>
            <p:cNvPr id="23587" name="AutoShape 1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588" name="Picture 1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58" name="Group 12"/>
          <p:cNvGrpSpPr>
            <a:grpSpLocks/>
          </p:cNvGrpSpPr>
          <p:nvPr/>
        </p:nvGrpSpPr>
        <p:grpSpPr bwMode="auto">
          <a:xfrm>
            <a:off x="5043488" y="3309938"/>
            <a:ext cx="914400" cy="835025"/>
            <a:chOff x="1929" y="2960"/>
            <a:chExt cx="728" cy="665"/>
          </a:xfrm>
        </p:grpSpPr>
        <p:sp>
          <p:nvSpPr>
            <p:cNvPr id="23581" name="AutoShape 13"/>
            <p:cNvSpPr>
              <a:spLocks noChangeArrowheads="1"/>
            </p:cNvSpPr>
            <p:nvPr/>
          </p:nvSpPr>
          <p:spPr bwMode="auto">
            <a:xfrm>
              <a:off x="1929" y="2960"/>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23582" name="Group 14"/>
            <p:cNvGrpSpPr>
              <a:grpSpLocks/>
            </p:cNvGrpSpPr>
            <p:nvPr/>
          </p:nvGrpSpPr>
          <p:grpSpPr bwMode="auto">
            <a:xfrm>
              <a:off x="2328" y="3296"/>
              <a:ext cx="329" cy="329"/>
              <a:chOff x="2806" y="3358"/>
              <a:chExt cx="329" cy="329"/>
            </a:xfrm>
          </p:grpSpPr>
          <p:sp>
            <p:nvSpPr>
              <p:cNvPr id="23583" name="Oval 15"/>
              <p:cNvSpPr>
                <a:spLocks noChangeArrowheads="1"/>
              </p:cNvSpPr>
              <p:nvPr/>
            </p:nvSpPr>
            <p:spPr bwMode="auto">
              <a:xfrm>
                <a:off x="2806" y="3358"/>
                <a:ext cx="329" cy="329"/>
              </a:xfrm>
              <a:prstGeom prst="ellipse">
                <a:avLst/>
              </a:prstGeom>
              <a:solidFill>
                <a:srgbClr val="D39E54"/>
              </a:solidFill>
              <a:ln w="28575" algn="ctr">
                <a:solidFill>
                  <a:schemeClr val="bg1"/>
                </a:solidFill>
                <a:round/>
                <a:headEnd/>
                <a:tailEnd/>
              </a:ln>
            </p:spPr>
            <p:txBody>
              <a:bodyPr wrap="none" lIns="0" tIns="0" rIns="0" bIns="0" anchor="ctr">
                <a:spAutoFit/>
              </a:bodyPr>
              <a:lstStyle/>
              <a:p>
                <a:endParaRPr lang="en-US"/>
              </a:p>
            </p:txBody>
          </p:sp>
          <p:sp>
            <p:nvSpPr>
              <p:cNvPr id="23584" name="Freeform 16"/>
              <p:cNvSpPr>
                <a:spLocks/>
              </p:cNvSpPr>
              <p:nvPr/>
            </p:nvSpPr>
            <p:spPr bwMode="auto">
              <a:xfrm>
                <a:off x="2999" y="3399"/>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3585" name="Freeform 17"/>
              <p:cNvSpPr>
                <a:spLocks/>
              </p:cNvSpPr>
              <p:nvPr/>
            </p:nvSpPr>
            <p:spPr bwMode="auto">
              <a:xfrm flipH="1">
                <a:off x="2843" y="3395"/>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23586" name="Freeform 18"/>
              <p:cNvSpPr>
                <a:spLocks/>
              </p:cNvSpPr>
              <p:nvPr/>
            </p:nvSpPr>
            <p:spPr bwMode="auto">
              <a:xfrm>
                <a:off x="2879" y="3575"/>
                <a:ext cx="177" cy="72"/>
              </a:xfrm>
              <a:custGeom>
                <a:avLst/>
                <a:gdLst>
                  <a:gd name="T0" fmla="*/ 128 w 177"/>
                  <a:gd name="T1" fmla="*/ 5 h 68"/>
                  <a:gd name="T2" fmla="*/ 177 w 177"/>
                  <a:gd name="T3" fmla="*/ 56 h 68"/>
                  <a:gd name="T4" fmla="*/ 159 w 177"/>
                  <a:gd name="T5" fmla="*/ 85 h 68"/>
                  <a:gd name="T6" fmla="*/ 137 w 177"/>
                  <a:gd name="T7" fmla="*/ 104 h 68"/>
                  <a:gd name="T8" fmla="*/ 105 w 177"/>
                  <a:gd name="T9" fmla="*/ 120 h 68"/>
                  <a:gd name="T10" fmla="*/ 60 w 177"/>
                  <a:gd name="T11" fmla="*/ 110 h 68"/>
                  <a:gd name="T12" fmla="*/ 26 w 177"/>
                  <a:gd name="T13" fmla="*/ 95 h 68"/>
                  <a:gd name="T14" fmla="*/ 0 w 177"/>
                  <a:gd name="T15" fmla="*/ 61 h 68"/>
                  <a:gd name="T16" fmla="*/ 53 w 177"/>
                  <a:gd name="T17" fmla="*/ 0 h 68"/>
                  <a:gd name="T18" fmla="*/ 66 w 177"/>
                  <a:gd name="T19" fmla="*/ 7 h 68"/>
                  <a:gd name="T20" fmla="*/ 86 w 177"/>
                  <a:gd name="T21" fmla="*/ 21 h 68"/>
                  <a:gd name="T22" fmla="*/ 105 w 177"/>
                  <a:gd name="T23" fmla="*/ 21 h 68"/>
                  <a:gd name="T24" fmla="*/ 128 w 177"/>
                  <a:gd name="T25" fmla="*/ 5 h 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68"/>
                  <a:gd name="T41" fmla="*/ 177 w 177"/>
                  <a:gd name="T42" fmla="*/ 68 h 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68">
                    <a:moveTo>
                      <a:pt x="128" y="5"/>
                    </a:moveTo>
                    <a:lnTo>
                      <a:pt x="177" y="32"/>
                    </a:lnTo>
                    <a:lnTo>
                      <a:pt x="159" y="48"/>
                    </a:lnTo>
                    <a:lnTo>
                      <a:pt x="137" y="59"/>
                    </a:lnTo>
                    <a:lnTo>
                      <a:pt x="105" y="68"/>
                    </a:lnTo>
                    <a:lnTo>
                      <a:pt x="60" y="62"/>
                    </a:lnTo>
                    <a:lnTo>
                      <a:pt x="26" y="54"/>
                    </a:lnTo>
                    <a:lnTo>
                      <a:pt x="0" y="35"/>
                    </a:lnTo>
                    <a:lnTo>
                      <a:pt x="53" y="0"/>
                    </a:lnTo>
                    <a:lnTo>
                      <a:pt x="66" y="7"/>
                    </a:lnTo>
                    <a:lnTo>
                      <a:pt x="86" y="11"/>
                    </a:lnTo>
                    <a:lnTo>
                      <a:pt x="105" y="11"/>
                    </a:lnTo>
                    <a:lnTo>
                      <a:pt x="128" y="5"/>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grpSp>
      </p:grpSp>
      <p:sp>
        <p:nvSpPr>
          <p:cNvPr id="23559" name="Text Box 19"/>
          <p:cNvSpPr txBox="1">
            <a:spLocks noChangeArrowheads="1"/>
          </p:cNvSpPr>
          <p:nvPr/>
        </p:nvSpPr>
        <p:spPr bwMode="auto">
          <a:xfrm>
            <a:off x="6097588" y="1674813"/>
            <a:ext cx="24844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with role "reporter"</a:t>
            </a:r>
          </a:p>
        </p:txBody>
      </p:sp>
      <p:sp>
        <p:nvSpPr>
          <p:cNvPr id="23560" name="Text Box 20"/>
          <p:cNvSpPr txBox="1">
            <a:spLocks noChangeArrowheads="1"/>
          </p:cNvSpPr>
          <p:nvPr/>
        </p:nvSpPr>
        <p:spPr bwMode="auto">
          <a:xfrm>
            <a:off x="6097588" y="2605088"/>
            <a:ext cx="24844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with role "claimant"</a:t>
            </a:r>
          </a:p>
        </p:txBody>
      </p:sp>
      <p:sp>
        <p:nvSpPr>
          <p:cNvPr id="23561" name="Text Box 21"/>
          <p:cNvSpPr txBox="1">
            <a:spLocks noChangeArrowheads="1"/>
          </p:cNvSpPr>
          <p:nvPr/>
        </p:nvSpPr>
        <p:spPr bwMode="auto">
          <a:xfrm>
            <a:off x="6097588" y="3505200"/>
            <a:ext cx="24844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with role "driver"</a:t>
            </a:r>
          </a:p>
        </p:txBody>
      </p:sp>
      <p:sp>
        <p:nvSpPr>
          <p:cNvPr id="23562" name="Text Box 22"/>
          <p:cNvSpPr txBox="1">
            <a:spLocks noChangeArrowheads="1"/>
          </p:cNvSpPr>
          <p:nvPr/>
        </p:nvSpPr>
        <p:spPr bwMode="auto">
          <a:xfrm>
            <a:off x="5735638" y="914400"/>
            <a:ext cx="19796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2400"/>
              <a:t>By Role</a:t>
            </a:r>
          </a:p>
        </p:txBody>
      </p:sp>
      <p:sp>
        <p:nvSpPr>
          <p:cNvPr id="23563" name="Line 23"/>
          <p:cNvSpPr>
            <a:spLocks noChangeShapeType="1"/>
          </p:cNvSpPr>
          <p:nvPr/>
        </p:nvSpPr>
        <p:spPr bwMode="auto">
          <a:xfrm>
            <a:off x="4602163" y="884238"/>
            <a:ext cx="0" cy="341312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3564" name="Group 24"/>
          <p:cNvGrpSpPr>
            <a:grpSpLocks/>
          </p:cNvGrpSpPr>
          <p:nvPr/>
        </p:nvGrpSpPr>
        <p:grpSpPr bwMode="auto">
          <a:xfrm>
            <a:off x="1616075" y="1428750"/>
            <a:ext cx="1671638" cy="711200"/>
            <a:chOff x="2524" y="2022"/>
            <a:chExt cx="1053" cy="448"/>
          </a:xfrm>
        </p:grpSpPr>
        <p:sp>
          <p:nvSpPr>
            <p:cNvPr id="23579" name="AutoShape 2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3580" name="Text Box 2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Contact</a:t>
              </a:r>
            </a:p>
          </p:txBody>
        </p:sp>
      </p:grpSp>
      <p:sp>
        <p:nvSpPr>
          <p:cNvPr id="23565" name="Line 27"/>
          <p:cNvSpPr>
            <a:spLocks noChangeShapeType="1"/>
          </p:cNvSpPr>
          <p:nvPr/>
        </p:nvSpPr>
        <p:spPr bwMode="auto">
          <a:xfrm>
            <a:off x="3324225" y="3236913"/>
            <a:ext cx="0" cy="6223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6" name="Line 28"/>
          <p:cNvSpPr>
            <a:spLocks noChangeShapeType="1"/>
          </p:cNvSpPr>
          <p:nvPr/>
        </p:nvSpPr>
        <p:spPr bwMode="auto">
          <a:xfrm>
            <a:off x="1570038" y="3236913"/>
            <a:ext cx="177006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7" name="Line 29"/>
          <p:cNvSpPr>
            <a:spLocks noChangeShapeType="1"/>
          </p:cNvSpPr>
          <p:nvPr/>
        </p:nvSpPr>
        <p:spPr bwMode="auto">
          <a:xfrm flipV="1">
            <a:off x="1570038" y="3221038"/>
            <a:ext cx="0" cy="2206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8" name="Line 30"/>
          <p:cNvSpPr>
            <a:spLocks noChangeShapeType="1"/>
          </p:cNvSpPr>
          <p:nvPr/>
        </p:nvSpPr>
        <p:spPr bwMode="auto">
          <a:xfrm flipV="1">
            <a:off x="2446338" y="2149475"/>
            <a:ext cx="0" cy="10810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3569" name="Group 31"/>
          <p:cNvGrpSpPr>
            <a:grpSpLocks/>
          </p:cNvGrpSpPr>
          <p:nvPr/>
        </p:nvGrpSpPr>
        <p:grpSpPr bwMode="auto">
          <a:xfrm>
            <a:off x="1589088" y="2343150"/>
            <a:ext cx="1671637" cy="711200"/>
            <a:chOff x="2524" y="2022"/>
            <a:chExt cx="1053" cy="448"/>
          </a:xfrm>
        </p:grpSpPr>
        <p:sp>
          <p:nvSpPr>
            <p:cNvPr id="23577" name="AutoShape 32"/>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3578" name="Text Box 33"/>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Company</a:t>
              </a:r>
            </a:p>
          </p:txBody>
        </p:sp>
      </p:grpSp>
      <p:sp>
        <p:nvSpPr>
          <p:cNvPr id="23570" name="Text Box 34"/>
          <p:cNvSpPr txBox="1">
            <a:spLocks noChangeArrowheads="1"/>
          </p:cNvSpPr>
          <p:nvPr/>
        </p:nvSpPr>
        <p:spPr bwMode="auto">
          <a:xfrm>
            <a:off x="1458913" y="914400"/>
            <a:ext cx="19796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2400"/>
              <a:t>By Subtype</a:t>
            </a:r>
          </a:p>
        </p:txBody>
      </p:sp>
      <p:grpSp>
        <p:nvGrpSpPr>
          <p:cNvPr id="23571" name="Group 35"/>
          <p:cNvGrpSpPr>
            <a:grpSpLocks/>
          </p:cNvGrpSpPr>
          <p:nvPr/>
        </p:nvGrpSpPr>
        <p:grpSpPr bwMode="auto">
          <a:xfrm>
            <a:off x="741363" y="3463925"/>
            <a:ext cx="1671637" cy="711200"/>
            <a:chOff x="2524" y="2022"/>
            <a:chExt cx="1053" cy="448"/>
          </a:xfrm>
        </p:grpSpPr>
        <p:sp>
          <p:nvSpPr>
            <p:cNvPr id="23575" name="AutoShape 36"/>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3576" name="Text Box 37"/>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Auto Towing</a:t>
              </a:r>
            </a:p>
          </p:txBody>
        </p:sp>
      </p:grpSp>
      <p:grpSp>
        <p:nvGrpSpPr>
          <p:cNvPr id="23572" name="Group 38"/>
          <p:cNvGrpSpPr>
            <a:grpSpLocks/>
          </p:cNvGrpSpPr>
          <p:nvPr/>
        </p:nvGrpSpPr>
        <p:grpSpPr bwMode="auto">
          <a:xfrm>
            <a:off x="2498725" y="3476625"/>
            <a:ext cx="1671638" cy="711200"/>
            <a:chOff x="2524" y="2022"/>
            <a:chExt cx="1053" cy="448"/>
          </a:xfrm>
        </p:grpSpPr>
        <p:sp>
          <p:nvSpPr>
            <p:cNvPr id="23573" name="AutoShape 39"/>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3574" name="Text Box 40"/>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Auto Repair</a:t>
              </a:r>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Categorization by subtype</a:t>
            </a:r>
          </a:p>
        </p:txBody>
      </p:sp>
      <p:sp>
        <p:nvSpPr>
          <p:cNvPr id="24579" name="Rectangle 3"/>
          <p:cNvSpPr>
            <a:spLocks noGrp="1" noChangeArrowheads="1"/>
          </p:cNvSpPr>
          <p:nvPr>
            <p:ph idx="1"/>
          </p:nvPr>
        </p:nvSpPr>
        <p:spPr>
          <a:xfrm>
            <a:off x="519113" y="4546600"/>
            <a:ext cx="8318500" cy="1843088"/>
          </a:xfrm>
        </p:spPr>
        <p:txBody>
          <a:bodyPr/>
          <a:lstStyle/>
          <a:p>
            <a:r>
              <a:rPr lang="en-US"/>
              <a:t>Contact entity is subtyped</a:t>
            </a:r>
          </a:p>
          <a:p>
            <a:pPr lvl="1"/>
            <a:r>
              <a:rPr lang="en-US"/>
              <a:t>Fields inherited in hierarchical manner</a:t>
            </a:r>
          </a:p>
          <a:p>
            <a:pPr lvl="1"/>
            <a:r>
              <a:rPr lang="en-US"/>
              <a:t>Mirrors behavior of contacts in real world</a:t>
            </a:r>
          </a:p>
          <a:p>
            <a:r>
              <a:rPr lang="en-US"/>
              <a:t>Subtype categories reflect data gathered about a contact</a:t>
            </a:r>
          </a:p>
        </p:txBody>
      </p:sp>
      <p:grpSp>
        <p:nvGrpSpPr>
          <p:cNvPr id="24580" name="Group 4"/>
          <p:cNvGrpSpPr>
            <a:grpSpLocks/>
          </p:cNvGrpSpPr>
          <p:nvPr/>
        </p:nvGrpSpPr>
        <p:grpSpPr bwMode="auto">
          <a:xfrm>
            <a:off x="3565525" y="1068388"/>
            <a:ext cx="1671638" cy="711200"/>
            <a:chOff x="2524" y="2022"/>
            <a:chExt cx="1053" cy="448"/>
          </a:xfrm>
        </p:grpSpPr>
        <p:sp>
          <p:nvSpPr>
            <p:cNvPr id="24598" name="AutoShape 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4599" name="Text Box 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Contact</a:t>
              </a:r>
            </a:p>
          </p:txBody>
        </p:sp>
      </p:grpSp>
      <p:sp>
        <p:nvSpPr>
          <p:cNvPr id="24581" name="Line 7"/>
          <p:cNvSpPr>
            <a:spLocks noChangeShapeType="1"/>
          </p:cNvSpPr>
          <p:nvPr/>
        </p:nvSpPr>
        <p:spPr bwMode="auto">
          <a:xfrm>
            <a:off x="5273675" y="2876550"/>
            <a:ext cx="0" cy="6223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2" name="Line 8"/>
          <p:cNvSpPr>
            <a:spLocks noChangeShapeType="1"/>
          </p:cNvSpPr>
          <p:nvPr/>
        </p:nvSpPr>
        <p:spPr bwMode="auto">
          <a:xfrm>
            <a:off x="3519488" y="2876550"/>
            <a:ext cx="177006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3" name="Line 9"/>
          <p:cNvSpPr>
            <a:spLocks noChangeShapeType="1"/>
          </p:cNvSpPr>
          <p:nvPr/>
        </p:nvSpPr>
        <p:spPr bwMode="auto">
          <a:xfrm flipV="1">
            <a:off x="3519488" y="2860675"/>
            <a:ext cx="0" cy="2206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4" name="Line 10"/>
          <p:cNvSpPr>
            <a:spLocks noChangeShapeType="1"/>
          </p:cNvSpPr>
          <p:nvPr/>
        </p:nvSpPr>
        <p:spPr bwMode="auto">
          <a:xfrm flipV="1">
            <a:off x="4395788" y="1789113"/>
            <a:ext cx="0" cy="10810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4585" name="Group 11"/>
          <p:cNvGrpSpPr>
            <a:grpSpLocks/>
          </p:cNvGrpSpPr>
          <p:nvPr/>
        </p:nvGrpSpPr>
        <p:grpSpPr bwMode="auto">
          <a:xfrm>
            <a:off x="3538538" y="1982788"/>
            <a:ext cx="1671637" cy="711200"/>
            <a:chOff x="2524" y="2022"/>
            <a:chExt cx="1053" cy="448"/>
          </a:xfrm>
        </p:grpSpPr>
        <p:sp>
          <p:nvSpPr>
            <p:cNvPr id="24596" name="AutoShape 12"/>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4597" name="Text Box 13"/>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Company</a:t>
              </a:r>
            </a:p>
          </p:txBody>
        </p:sp>
      </p:grpSp>
      <p:grpSp>
        <p:nvGrpSpPr>
          <p:cNvPr id="24586" name="Group 14"/>
          <p:cNvGrpSpPr>
            <a:grpSpLocks/>
          </p:cNvGrpSpPr>
          <p:nvPr/>
        </p:nvGrpSpPr>
        <p:grpSpPr bwMode="auto">
          <a:xfrm>
            <a:off x="2690813" y="3103563"/>
            <a:ext cx="1671637" cy="711200"/>
            <a:chOff x="2524" y="2022"/>
            <a:chExt cx="1053" cy="448"/>
          </a:xfrm>
        </p:grpSpPr>
        <p:sp>
          <p:nvSpPr>
            <p:cNvPr id="24594" name="AutoShape 1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4595" name="Text Box 1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Auto Towing</a:t>
              </a:r>
            </a:p>
          </p:txBody>
        </p:sp>
      </p:grpSp>
      <p:grpSp>
        <p:nvGrpSpPr>
          <p:cNvPr id="24587" name="Group 17"/>
          <p:cNvGrpSpPr>
            <a:grpSpLocks/>
          </p:cNvGrpSpPr>
          <p:nvPr/>
        </p:nvGrpSpPr>
        <p:grpSpPr bwMode="auto">
          <a:xfrm>
            <a:off x="4448175" y="3103563"/>
            <a:ext cx="1671638" cy="711200"/>
            <a:chOff x="2524" y="2022"/>
            <a:chExt cx="1053" cy="448"/>
          </a:xfrm>
        </p:grpSpPr>
        <p:sp>
          <p:nvSpPr>
            <p:cNvPr id="24592" name="AutoShape 18"/>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4593" name="Text Box 19"/>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Auto Repair</a:t>
              </a:r>
            </a:p>
          </p:txBody>
        </p:sp>
      </p:grpSp>
      <p:sp>
        <p:nvSpPr>
          <p:cNvPr id="24588" name="Text Box 20"/>
          <p:cNvSpPr txBox="1">
            <a:spLocks noChangeArrowheads="1"/>
          </p:cNvSpPr>
          <p:nvPr/>
        </p:nvSpPr>
        <p:spPr bwMode="auto">
          <a:xfrm>
            <a:off x="5295900" y="1136650"/>
            <a:ext cx="20145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t>Primary Address</a:t>
            </a:r>
            <a:br>
              <a:rPr lang="en-US" sz="1800"/>
            </a:br>
            <a:r>
              <a:rPr lang="en-US" sz="1800"/>
              <a:t>Primary Phone</a:t>
            </a:r>
          </a:p>
        </p:txBody>
      </p:sp>
      <p:sp>
        <p:nvSpPr>
          <p:cNvPr id="24589" name="Text Box 21"/>
          <p:cNvSpPr txBox="1">
            <a:spLocks noChangeArrowheads="1"/>
          </p:cNvSpPr>
          <p:nvPr/>
        </p:nvSpPr>
        <p:spPr bwMode="auto">
          <a:xfrm>
            <a:off x="5294313" y="1909763"/>
            <a:ext cx="2014537"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Primary Address</a:t>
            </a:r>
            <a:br>
              <a:rPr lang="en-US" sz="1800">
                <a:solidFill>
                  <a:schemeClr val="bg1"/>
                </a:solidFill>
              </a:rPr>
            </a:br>
            <a:r>
              <a:rPr lang="en-US" sz="1800">
                <a:solidFill>
                  <a:schemeClr val="bg1"/>
                </a:solidFill>
              </a:rPr>
              <a:t>Primary Phone</a:t>
            </a:r>
            <a:br>
              <a:rPr lang="en-US" sz="1800">
                <a:solidFill>
                  <a:schemeClr val="bg1"/>
                </a:solidFill>
              </a:rPr>
            </a:br>
            <a:r>
              <a:rPr lang="en-US" sz="1800"/>
              <a:t>Employees</a:t>
            </a:r>
          </a:p>
        </p:txBody>
      </p:sp>
      <p:sp>
        <p:nvSpPr>
          <p:cNvPr id="24590" name="Text Box 22"/>
          <p:cNvSpPr txBox="1">
            <a:spLocks noChangeArrowheads="1"/>
          </p:cNvSpPr>
          <p:nvPr/>
        </p:nvSpPr>
        <p:spPr bwMode="auto">
          <a:xfrm>
            <a:off x="6191250" y="3068638"/>
            <a:ext cx="230822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Primary Address</a:t>
            </a:r>
            <a:br>
              <a:rPr lang="en-US" sz="1800">
                <a:solidFill>
                  <a:schemeClr val="bg1"/>
                </a:solidFill>
              </a:rPr>
            </a:br>
            <a:r>
              <a:rPr lang="en-US" sz="1800">
                <a:solidFill>
                  <a:schemeClr val="bg1"/>
                </a:solidFill>
              </a:rPr>
              <a:t>Primary Phone</a:t>
            </a:r>
            <a:br>
              <a:rPr lang="en-US" sz="1800">
                <a:solidFill>
                  <a:schemeClr val="bg1"/>
                </a:solidFill>
              </a:rPr>
            </a:br>
            <a:r>
              <a:rPr lang="en-US" sz="1800">
                <a:solidFill>
                  <a:schemeClr val="bg1"/>
                </a:solidFill>
              </a:rPr>
              <a:t>Employees</a:t>
            </a:r>
            <a:br>
              <a:rPr lang="en-US" sz="1800"/>
            </a:br>
            <a:r>
              <a:rPr lang="en-US" sz="1800"/>
              <a:t>AutoRepairLicense</a:t>
            </a:r>
          </a:p>
        </p:txBody>
      </p:sp>
      <p:sp>
        <p:nvSpPr>
          <p:cNvPr id="24591" name="Text Box 23"/>
          <p:cNvSpPr txBox="1">
            <a:spLocks noChangeArrowheads="1"/>
          </p:cNvSpPr>
          <p:nvPr/>
        </p:nvSpPr>
        <p:spPr bwMode="auto">
          <a:xfrm>
            <a:off x="596900" y="3068638"/>
            <a:ext cx="2008188"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r" eaLnBrk="1" hangingPunct="1"/>
            <a:r>
              <a:rPr lang="en-US" sz="1800">
                <a:solidFill>
                  <a:schemeClr val="bg1"/>
                </a:solidFill>
              </a:rPr>
              <a:t>Primary Address</a:t>
            </a:r>
            <a:br>
              <a:rPr lang="en-US" sz="1800">
                <a:solidFill>
                  <a:schemeClr val="bg1"/>
                </a:solidFill>
              </a:rPr>
            </a:br>
            <a:r>
              <a:rPr lang="en-US" sz="1800">
                <a:solidFill>
                  <a:schemeClr val="bg1"/>
                </a:solidFill>
              </a:rPr>
              <a:t>Primary Phone</a:t>
            </a:r>
            <a:br>
              <a:rPr lang="en-US" sz="1800">
                <a:solidFill>
                  <a:schemeClr val="bg1"/>
                </a:solidFill>
              </a:rPr>
            </a:br>
            <a:r>
              <a:rPr lang="en-US" sz="1800">
                <a:solidFill>
                  <a:schemeClr val="bg1"/>
                </a:solidFill>
              </a:rPr>
              <a:t>Employees</a:t>
            </a:r>
            <a:br>
              <a:rPr lang="en-US" sz="1800"/>
            </a:br>
            <a:r>
              <a:rPr lang="en-US" sz="1800"/>
              <a:t>AutoTowLicense</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384" y="689627"/>
            <a:ext cx="5286375" cy="331470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2" name="Rectangle 2"/>
          <p:cNvSpPr>
            <a:spLocks noGrp="1" noChangeArrowheads="1"/>
          </p:cNvSpPr>
          <p:nvPr>
            <p:ph type="title"/>
          </p:nvPr>
        </p:nvSpPr>
        <p:spPr/>
        <p:txBody>
          <a:bodyPr/>
          <a:lstStyle/>
          <a:p>
            <a:pPr eaLnBrk="1" hangingPunct="1"/>
            <a:r>
              <a:rPr lang="en-US"/>
              <a:t>Categorization by role</a:t>
            </a:r>
          </a:p>
        </p:txBody>
      </p:sp>
      <p:sp>
        <p:nvSpPr>
          <p:cNvPr id="25603" name="Rectangle 3"/>
          <p:cNvSpPr>
            <a:spLocks noGrp="1" noChangeArrowheads="1"/>
          </p:cNvSpPr>
          <p:nvPr>
            <p:ph idx="1"/>
          </p:nvPr>
        </p:nvSpPr>
        <p:spPr>
          <a:xfrm>
            <a:off x="495300" y="4368800"/>
            <a:ext cx="8318500" cy="2116138"/>
          </a:xfrm>
        </p:spPr>
        <p:txBody>
          <a:bodyPr/>
          <a:lstStyle/>
          <a:p>
            <a:r>
              <a:rPr lang="en-US"/>
              <a:t>Role describes relationship between contact and claim</a:t>
            </a:r>
          </a:p>
          <a:p>
            <a:pPr lvl="1"/>
            <a:r>
              <a:rPr lang="en-US"/>
              <a:t>Each contact must have at least one role</a:t>
            </a:r>
          </a:p>
          <a:p>
            <a:pPr lvl="1"/>
            <a:r>
              <a:rPr lang="en-US"/>
              <a:t>Each role is "owned by" entire claim or one of its sub-objects (policy, exposure, incident, and so on)</a:t>
            </a:r>
          </a:p>
        </p:txBody>
      </p:sp>
      <p:sp>
        <p:nvSpPr>
          <p:cNvPr id="25611" name="AutoShape 24"/>
          <p:cNvSpPr>
            <a:spLocks noChangeArrowheads="1"/>
          </p:cNvSpPr>
          <p:nvPr/>
        </p:nvSpPr>
        <p:spPr bwMode="auto">
          <a:xfrm>
            <a:off x="2269475" y="2463644"/>
            <a:ext cx="3359284" cy="10620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5" name="AutoShape 24"/>
          <p:cNvSpPr>
            <a:spLocks noChangeArrowheads="1"/>
          </p:cNvSpPr>
          <p:nvPr/>
        </p:nvSpPr>
        <p:spPr bwMode="auto">
          <a:xfrm>
            <a:off x="342385" y="3613534"/>
            <a:ext cx="2378782" cy="37199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 name="Arc 39"/>
          <p:cNvSpPr>
            <a:spLocks/>
          </p:cNvSpPr>
          <p:nvPr/>
        </p:nvSpPr>
        <p:spPr bwMode="auto">
          <a:xfrm rot="6395967" flipH="1">
            <a:off x="4354408" y="1417939"/>
            <a:ext cx="1650569" cy="3963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F0000"/>
            </a:solidFill>
            <a:round/>
            <a:headEnd type="triangle"/>
            <a:tailEnd type="none"/>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pPr eaLnBrk="1" hangingPunct="1"/>
            <a:r>
              <a:rPr lang="en-US"/>
              <a:t>The contact role data model</a:t>
            </a:r>
          </a:p>
        </p:txBody>
      </p:sp>
      <p:sp>
        <p:nvSpPr>
          <p:cNvPr id="26627" name="Rectangle 5"/>
          <p:cNvSpPr>
            <a:spLocks noChangeArrowheads="1"/>
          </p:cNvSpPr>
          <p:nvPr/>
        </p:nvSpPr>
        <p:spPr bwMode="auto">
          <a:xfrm>
            <a:off x="3167063" y="1812925"/>
            <a:ext cx="2130425" cy="703263"/>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0"/>
              </a:spcBef>
              <a:spcAft>
                <a:spcPct val="0"/>
              </a:spcAft>
              <a:buClrTx/>
            </a:pPr>
            <a:r>
              <a:rPr lang="en-US" sz="2200">
                <a:solidFill>
                  <a:schemeClr val="bg1"/>
                </a:solidFill>
              </a:rPr>
              <a:t>Claim</a:t>
            </a:r>
          </a:p>
        </p:txBody>
      </p:sp>
      <p:sp>
        <p:nvSpPr>
          <p:cNvPr id="26628" name="Rectangle 6"/>
          <p:cNvSpPr>
            <a:spLocks noChangeArrowheads="1"/>
          </p:cNvSpPr>
          <p:nvPr/>
        </p:nvSpPr>
        <p:spPr bwMode="auto">
          <a:xfrm>
            <a:off x="3167063" y="3216275"/>
            <a:ext cx="2130425" cy="703263"/>
          </a:xfrm>
          <a:prstGeom prst="rect">
            <a:avLst/>
          </a:prstGeom>
          <a:solidFill>
            <a:schemeClr val="tx1"/>
          </a:solidFill>
          <a:ln w="19050" algn="ctr">
            <a:solidFill>
              <a:schemeClr val="bg1"/>
            </a:solidFill>
            <a:miter lim="800000"/>
            <a:headEnd/>
            <a:tailEnd/>
          </a:ln>
        </p:spPr>
        <p:txBody>
          <a:bodyPr wrap="none" anchor="ctr"/>
          <a:lstStyle/>
          <a:p>
            <a:pPr>
              <a:spcBef>
                <a:spcPct val="0"/>
              </a:spcBef>
              <a:spcAft>
                <a:spcPct val="0"/>
              </a:spcAft>
              <a:buClrTx/>
            </a:pPr>
            <a:r>
              <a:rPr lang="en-US" sz="2200">
                <a:solidFill>
                  <a:schemeClr val="bg1"/>
                </a:solidFill>
              </a:rPr>
              <a:t>ClaimContact</a:t>
            </a:r>
          </a:p>
        </p:txBody>
      </p:sp>
      <p:sp>
        <p:nvSpPr>
          <p:cNvPr id="26629" name="Rectangle 7"/>
          <p:cNvSpPr>
            <a:spLocks noChangeArrowheads="1"/>
          </p:cNvSpPr>
          <p:nvPr/>
        </p:nvSpPr>
        <p:spPr bwMode="auto">
          <a:xfrm>
            <a:off x="5608638" y="3216275"/>
            <a:ext cx="3352800" cy="703263"/>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0"/>
              </a:spcBef>
              <a:spcAft>
                <a:spcPct val="0"/>
              </a:spcAft>
              <a:buClrTx/>
            </a:pPr>
            <a:r>
              <a:rPr lang="en-US" sz="2200">
                <a:solidFill>
                  <a:schemeClr val="bg1"/>
                </a:solidFill>
              </a:rPr>
              <a:t>Contact</a:t>
            </a:r>
            <a:br>
              <a:rPr lang="en-US" sz="2200">
                <a:solidFill>
                  <a:schemeClr val="bg1"/>
                </a:solidFill>
              </a:rPr>
            </a:br>
            <a:endParaRPr lang="en-US" sz="2200">
              <a:solidFill>
                <a:schemeClr val="bg1"/>
              </a:solidFill>
            </a:endParaRPr>
          </a:p>
        </p:txBody>
      </p:sp>
      <p:grpSp>
        <p:nvGrpSpPr>
          <p:cNvPr id="26630" name="Group 12"/>
          <p:cNvGrpSpPr>
            <a:grpSpLocks/>
          </p:cNvGrpSpPr>
          <p:nvPr/>
        </p:nvGrpSpPr>
        <p:grpSpPr bwMode="auto">
          <a:xfrm>
            <a:off x="3951288" y="2516188"/>
            <a:ext cx="649287" cy="700087"/>
            <a:chOff x="776" y="1927"/>
            <a:chExt cx="287" cy="311"/>
          </a:xfrm>
        </p:grpSpPr>
        <p:sp>
          <p:nvSpPr>
            <p:cNvPr id="26648" name="Line 9"/>
            <p:cNvSpPr>
              <a:spLocks noChangeShapeType="1"/>
            </p:cNvSpPr>
            <p:nvPr/>
          </p:nvSpPr>
          <p:spPr bwMode="auto">
            <a:xfrm>
              <a:off x="920" y="1927"/>
              <a:ext cx="0" cy="299"/>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6649" name="Line 10"/>
            <p:cNvSpPr>
              <a:spLocks noChangeShapeType="1"/>
            </p:cNvSpPr>
            <p:nvPr/>
          </p:nvSpPr>
          <p:spPr bwMode="auto">
            <a:xfrm flipH="1">
              <a:off x="776" y="2064"/>
              <a:ext cx="144" cy="17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6650" name="Line 11"/>
            <p:cNvSpPr>
              <a:spLocks noChangeShapeType="1"/>
            </p:cNvSpPr>
            <p:nvPr/>
          </p:nvSpPr>
          <p:spPr bwMode="auto">
            <a:xfrm>
              <a:off x="920" y="2064"/>
              <a:ext cx="143" cy="17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
        <p:nvSpPr>
          <p:cNvPr id="26631" name="Text Box 11"/>
          <p:cNvSpPr txBox="1">
            <a:spLocks noChangeArrowheads="1"/>
          </p:cNvSpPr>
          <p:nvPr/>
        </p:nvSpPr>
        <p:spPr bwMode="auto">
          <a:xfrm>
            <a:off x="3090863" y="2538413"/>
            <a:ext cx="2330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rgbClr val="3366FF"/>
                </a:solidFill>
              </a:rPr>
              <a:t>Contacts</a:t>
            </a:r>
          </a:p>
        </p:txBody>
      </p:sp>
      <p:sp>
        <p:nvSpPr>
          <p:cNvPr id="26632" name="Rectangle 7"/>
          <p:cNvSpPr>
            <a:spLocks noChangeArrowheads="1"/>
          </p:cNvSpPr>
          <p:nvPr/>
        </p:nvSpPr>
        <p:spPr bwMode="auto">
          <a:xfrm>
            <a:off x="5661025" y="3581400"/>
            <a:ext cx="1058863" cy="261938"/>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0"/>
              </a:spcBef>
              <a:spcAft>
                <a:spcPct val="0"/>
              </a:spcAft>
              <a:buClrTx/>
            </a:pPr>
            <a:r>
              <a:rPr lang="en-US" sz="1800">
                <a:solidFill>
                  <a:schemeClr val="bg1"/>
                </a:solidFill>
              </a:rPr>
              <a:t>Person</a:t>
            </a:r>
          </a:p>
        </p:txBody>
      </p:sp>
      <p:sp>
        <p:nvSpPr>
          <p:cNvPr id="26633" name="Rectangle 7"/>
          <p:cNvSpPr>
            <a:spLocks noChangeArrowheads="1"/>
          </p:cNvSpPr>
          <p:nvPr/>
        </p:nvSpPr>
        <p:spPr bwMode="auto">
          <a:xfrm>
            <a:off x="6757988" y="3581400"/>
            <a:ext cx="1058862" cy="261938"/>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0"/>
              </a:spcBef>
              <a:spcAft>
                <a:spcPct val="0"/>
              </a:spcAft>
              <a:buClrTx/>
            </a:pPr>
            <a:r>
              <a:rPr lang="en-US" sz="1800">
                <a:solidFill>
                  <a:schemeClr val="bg1"/>
                </a:solidFill>
              </a:rPr>
              <a:t>Company</a:t>
            </a:r>
          </a:p>
        </p:txBody>
      </p:sp>
      <p:sp>
        <p:nvSpPr>
          <p:cNvPr id="26634" name="Rectangle 7"/>
          <p:cNvSpPr>
            <a:spLocks noChangeArrowheads="1"/>
          </p:cNvSpPr>
          <p:nvPr/>
        </p:nvSpPr>
        <p:spPr bwMode="auto">
          <a:xfrm>
            <a:off x="7854950" y="3581400"/>
            <a:ext cx="1058863" cy="261938"/>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0"/>
              </a:spcBef>
              <a:spcAft>
                <a:spcPct val="0"/>
              </a:spcAft>
              <a:buClrTx/>
            </a:pPr>
            <a:r>
              <a:rPr lang="en-US" sz="1800">
                <a:solidFill>
                  <a:schemeClr val="bg1"/>
                </a:solidFill>
              </a:rPr>
              <a:t>Venue</a:t>
            </a:r>
          </a:p>
        </p:txBody>
      </p:sp>
      <p:sp>
        <p:nvSpPr>
          <p:cNvPr id="26635" name="Rectangle 6"/>
          <p:cNvSpPr>
            <a:spLocks noChangeArrowheads="1"/>
          </p:cNvSpPr>
          <p:nvPr/>
        </p:nvSpPr>
        <p:spPr bwMode="auto">
          <a:xfrm>
            <a:off x="3167063" y="4613275"/>
            <a:ext cx="2130425" cy="703263"/>
          </a:xfrm>
          <a:prstGeom prst="rect">
            <a:avLst/>
          </a:prstGeom>
          <a:solidFill>
            <a:schemeClr val="tx1"/>
          </a:solidFill>
          <a:ln w="19050" algn="ctr">
            <a:solidFill>
              <a:schemeClr val="bg1"/>
            </a:solidFill>
            <a:miter lim="800000"/>
            <a:headEnd/>
            <a:tailEnd/>
          </a:ln>
        </p:spPr>
        <p:txBody>
          <a:bodyPr wrap="none" anchor="ctr"/>
          <a:lstStyle/>
          <a:p>
            <a:pPr>
              <a:spcBef>
                <a:spcPct val="0"/>
              </a:spcBef>
              <a:spcAft>
                <a:spcPct val="0"/>
              </a:spcAft>
              <a:buClrTx/>
            </a:pPr>
            <a:r>
              <a:rPr lang="en-US" sz="2200">
                <a:solidFill>
                  <a:schemeClr val="bg1"/>
                </a:solidFill>
              </a:rPr>
              <a:t>ClaimContact</a:t>
            </a:r>
            <a:br>
              <a:rPr lang="en-US" sz="2200">
                <a:solidFill>
                  <a:schemeClr val="bg1"/>
                </a:solidFill>
              </a:rPr>
            </a:br>
            <a:r>
              <a:rPr lang="en-US" sz="2200">
                <a:solidFill>
                  <a:schemeClr val="bg1"/>
                </a:solidFill>
              </a:rPr>
              <a:t>Role</a:t>
            </a:r>
          </a:p>
        </p:txBody>
      </p:sp>
      <p:grpSp>
        <p:nvGrpSpPr>
          <p:cNvPr id="26636" name="Group 12"/>
          <p:cNvGrpSpPr>
            <a:grpSpLocks/>
          </p:cNvGrpSpPr>
          <p:nvPr/>
        </p:nvGrpSpPr>
        <p:grpSpPr bwMode="auto">
          <a:xfrm>
            <a:off x="3951288" y="3916363"/>
            <a:ext cx="649287" cy="700087"/>
            <a:chOff x="776" y="1927"/>
            <a:chExt cx="287" cy="311"/>
          </a:xfrm>
        </p:grpSpPr>
        <p:sp>
          <p:nvSpPr>
            <p:cNvPr id="26645" name="Line 9"/>
            <p:cNvSpPr>
              <a:spLocks noChangeShapeType="1"/>
            </p:cNvSpPr>
            <p:nvPr/>
          </p:nvSpPr>
          <p:spPr bwMode="auto">
            <a:xfrm>
              <a:off x="920" y="1927"/>
              <a:ext cx="0" cy="299"/>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6646" name="Line 10"/>
            <p:cNvSpPr>
              <a:spLocks noChangeShapeType="1"/>
            </p:cNvSpPr>
            <p:nvPr/>
          </p:nvSpPr>
          <p:spPr bwMode="auto">
            <a:xfrm flipH="1">
              <a:off x="776" y="2064"/>
              <a:ext cx="144" cy="17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6647" name="Line 11"/>
            <p:cNvSpPr>
              <a:spLocks noChangeShapeType="1"/>
            </p:cNvSpPr>
            <p:nvPr/>
          </p:nvSpPr>
          <p:spPr bwMode="auto">
            <a:xfrm>
              <a:off x="920" y="2064"/>
              <a:ext cx="143" cy="17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
        <p:nvSpPr>
          <p:cNvPr id="26637" name="Rectangle 6"/>
          <p:cNvSpPr>
            <a:spLocks noChangeArrowheads="1"/>
          </p:cNvSpPr>
          <p:nvPr/>
        </p:nvSpPr>
        <p:spPr bwMode="auto">
          <a:xfrm>
            <a:off x="790575" y="4610100"/>
            <a:ext cx="2087563" cy="703263"/>
          </a:xfrm>
          <a:prstGeom prst="rect">
            <a:avLst/>
          </a:prstGeom>
          <a:solidFill>
            <a:schemeClr val="tx1"/>
          </a:solidFill>
          <a:ln w="19050" algn="ctr">
            <a:solidFill>
              <a:schemeClr val="bg1"/>
            </a:solidFill>
            <a:miter lim="800000"/>
            <a:headEnd/>
            <a:tailEnd/>
          </a:ln>
        </p:spPr>
        <p:txBody>
          <a:bodyPr wrap="none" anchor="ctr"/>
          <a:lstStyle/>
          <a:p>
            <a:pPr>
              <a:spcBef>
                <a:spcPct val="0"/>
              </a:spcBef>
              <a:spcAft>
                <a:spcPct val="0"/>
              </a:spcAft>
              <a:buClrTx/>
            </a:pPr>
            <a:r>
              <a:rPr lang="en-US" sz="2200">
                <a:solidFill>
                  <a:schemeClr val="bg1"/>
                </a:solidFill>
              </a:rPr>
              <a:t>ClaimContact</a:t>
            </a:r>
            <a:br>
              <a:rPr lang="en-US" sz="2200">
                <a:solidFill>
                  <a:schemeClr val="bg1"/>
                </a:solidFill>
              </a:rPr>
            </a:br>
            <a:r>
              <a:rPr lang="en-US" sz="2200">
                <a:solidFill>
                  <a:schemeClr val="bg1"/>
                </a:solidFill>
              </a:rPr>
              <a:t>RoleOwner</a:t>
            </a:r>
          </a:p>
        </p:txBody>
      </p:sp>
      <p:sp>
        <p:nvSpPr>
          <p:cNvPr id="26638" name="Line 17"/>
          <p:cNvSpPr>
            <a:spLocks noChangeShapeType="1"/>
          </p:cNvSpPr>
          <p:nvPr/>
        </p:nvSpPr>
        <p:spPr bwMode="auto">
          <a:xfrm>
            <a:off x="2887663" y="4972050"/>
            <a:ext cx="277812" cy="0"/>
          </a:xfrm>
          <a:prstGeom prst="line">
            <a:avLst/>
          </a:prstGeom>
          <a:noFill/>
          <a:ln w="19050">
            <a:solidFill>
              <a:schemeClr val="bg1"/>
            </a:solidFill>
            <a:round/>
            <a:headEnd/>
            <a:tailEnd type="none" w="med" len="sm"/>
          </a:ln>
          <a:extLst>
            <a:ext uri="{909E8E84-426E-40DD-AFC4-6F175D3DCCD1}">
              <a14:hiddenFill xmlns:a14="http://schemas.microsoft.com/office/drawing/2010/main">
                <a:noFill/>
              </a14:hiddenFill>
            </a:ext>
          </a:extLst>
        </p:spPr>
        <p:txBody>
          <a:bodyPr anchor="ctr"/>
          <a:lstStyle/>
          <a:p>
            <a:endParaRPr lang="en-US"/>
          </a:p>
        </p:txBody>
      </p:sp>
      <p:sp>
        <p:nvSpPr>
          <p:cNvPr id="26639" name="Text Box 23"/>
          <p:cNvSpPr txBox="1">
            <a:spLocks noChangeArrowheads="1"/>
          </p:cNvSpPr>
          <p:nvPr/>
        </p:nvSpPr>
        <p:spPr bwMode="auto">
          <a:xfrm>
            <a:off x="812800" y="3148013"/>
            <a:ext cx="2278063"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r" eaLnBrk="1" hangingPunct="1"/>
            <a:r>
              <a:rPr lang="en-US" sz="1800"/>
              <a:t>Links contact to a claim and its role(s) on the claim</a:t>
            </a:r>
          </a:p>
        </p:txBody>
      </p:sp>
      <p:sp>
        <p:nvSpPr>
          <p:cNvPr id="26640" name="Text Box 24"/>
          <p:cNvSpPr txBox="1">
            <a:spLocks noChangeArrowheads="1"/>
          </p:cNvSpPr>
          <p:nvPr/>
        </p:nvSpPr>
        <p:spPr bwMode="auto">
          <a:xfrm>
            <a:off x="5675313" y="2657475"/>
            <a:ext cx="31226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t>Stores fundamental information about contact</a:t>
            </a:r>
          </a:p>
        </p:txBody>
      </p:sp>
      <p:sp>
        <p:nvSpPr>
          <p:cNvPr id="26641" name="Text Box 25"/>
          <p:cNvSpPr txBox="1">
            <a:spLocks noChangeArrowheads="1"/>
          </p:cNvSpPr>
          <p:nvPr/>
        </p:nvSpPr>
        <p:spPr bwMode="auto">
          <a:xfrm>
            <a:off x="3227388" y="5334000"/>
            <a:ext cx="20955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t>Identifies role(s) contact has on claim</a:t>
            </a:r>
          </a:p>
        </p:txBody>
      </p:sp>
      <p:sp>
        <p:nvSpPr>
          <p:cNvPr id="26642" name="Text Box 26"/>
          <p:cNvSpPr txBox="1">
            <a:spLocks noChangeArrowheads="1"/>
          </p:cNvSpPr>
          <p:nvPr/>
        </p:nvSpPr>
        <p:spPr bwMode="auto">
          <a:xfrm>
            <a:off x="690563" y="5334000"/>
            <a:ext cx="22637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t>For each role, identifies owner (claim or subobject)</a:t>
            </a:r>
          </a:p>
        </p:txBody>
      </p:sp>
      <p:sp>
        <p:nvSpPr>
          <p:cNvPr id="26643" name="Line 17"/>
          <p:cNvSpPr>
            <a:spLocks noChangeShapeType="1"/>
          </p:cNvSpPr>
          <p:nvPr/>
        </p:nvSpPr>
        <p:spPr bwMode="auto">
          <a:xfrm>
            <a:off x="5314950" y="3562350"/>
            <a:ext cx="277813" cy="0"/>
          </a:xfrm>
          <a:prstGeom prst="line">
            <a:avLst/>
          </a:prstGeom>
          <a:noFill/>
          <a:ln w="19050">
            <a:solidFill>
              <a:schemeClr val="bg1"/>
            </a:solidFill>
            <a:round/>
            <a:headEnd/>
            <a:tailEnd type="none" w="med" len="sm"/>
          </a:ln>
          <a:extLst>
            <a:ext uri="{909E8E84-426E-40DD-AFC4-6F175D3DCCD1}">
              <a14:hiddenFill xmlns:a14="http://schemas.microsoft.com/office/drawing/2010/main">
                <a:noFill/>
              </a14:hiddenFill>
            </a:ext>
          </a:extLst>
        </p:spPr>
        <p:txBody>
          <a:bodyPr anchor="ctr"/>
          <a:lstStyle/>
          <a:p>
            <a:endParaRPr lang="en-US"/>
          </a:p>
        </p:txBody>
      </p:sp>
      <p:sp>
        <p:nvSpPr>
          <p:cNvPr id="26644" name="Text Box 28"/>
          <p:cNvSpPr txBox="1">
            <a:spLocks noChangeArrowheads="1"/>
          </p:cNvSpPr>
          <p:nvPr/>
        </p:nvSpPr>
        <p:spPr bwMode="auto">
          <a:xfrm>
            <a:off x="3148013" y="3929063"/>
            <a:ext cx="2330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rgbClr val="3366FF"/>
                </a:solidFill>
              </a:rPr>
              <a:t>Roles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Intersection of roles and subtypes</a:t>
            </a:r>
          </a:p>
        </p:txBody>
      </p:sp>
      <p:sp>
        <p:nvSpPr>
          <p:cNvPr id="28675" name="Rectangle 3"/>
          <p:cNvSpPr>
            <a:spLocks noGrp="1" noChangeArrowheads="1"/>
          </p:cNvSpPr>
          <p:nvPr>
            <p:ph idx="1"/>
          </p:nvPr>
        </p:nvSpPr>
        <p:spPr>
          <a:xfrm>
            <a:off x="519113" y="4787900"/>
            <a:ext cx="3924300" cy="1601788"/>
          </a:xfrm>
        </p:spPr>
        <p:txBody>
          <a:bodyPr/>
          <a:lstStyle/>
          <a:p>
            <a:r>
              <a:rPr lang="en-US"/>
              <a:t>Two contacts of the same subtype could exist on the same claim with different roles (and this is quite common)</a:t>
            </a:r>
          </a:p>
        </p:txBody>
      </p:sp>
      <p:grpSp>
        <p:nvGrpSpPr>
          <p:cNvPr id="28676" name="Group 4"/>
          <p:cNvGrpSpPr>
            <a:grpSpLocks/>
          </p:cNvGrpSpPr>
          <p:nvPr/>
        </p:nvGrpSpPr>
        <p:grpSpPr bwMode="auto">
          <a:xfrm>
            <a:off x="830263" y="1727200"/>
            <a:ext cx="1671637" cy="711200"/>
            <a:chOff x="2524" y="2022"/>
            <a:chExt cx="1053" cy="448"/>
          </a:xfrm>
        </p:grpSpPr>
        <p:sp>
          <p:nvSpPr>
            <p:cNvPr id="28734" name="AutoShape 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8735" name="Text Box 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Doctor</a:t>
              </a:r>
            </a:p>
          </p:txBody>
        </p:sp>
      </p:grpSp>
      <p:grpSp>
        <p:nvGrpSpPr>
          <p:cNvPr id="28677" name="Group 7"/>
          <p:cNvGrpSpPr>
            <a:grpSpLocks/>
          </p:cNvGrpSpPr>
          <p:nvPr/>
        </p:nvGrpSpPr>
        <p:grpSpPr bwMode="auto">
          <a:xfrm>
            <a:off x="1941513" y="1122363"/>
            <a:ext cx="1011237" cy="1001712"/>
            <a:chOff x="2461" y="1618"/>
            <a:chExt cx="635" cy="629"/>
          </a:xfrm>
        </p:grpSpPr>
        <p:sp>
          <p:nvSpPr>
            <p:cNvPr id="28726" name="AutoShape 8"/>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28727" name="Freeform 9"/>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28728" name="Group 10"/>
            <p:cNvGrpSpPr>
              <a:grpSpLocks/>
            </p:cNvGrpSpPr>
            <p:nvPr/>
          </p:nvGrpSpPr>
          <p:grpSpPr bwMode="auto">
            <a:xfrm>
              <a:off x="2461" y="1618"/>
              <a:ext cx="275" cy="318"/>
              <a:chOff x="2983" y="1384"/>
              <a:chExt cx="275" cy="318"/>
            </a:xfrm>
          </p:grpSpPr>
          <p:sp>
            <p:nvSpPr>
              <p:cNvPr id="28729" name="Freeform 11"/>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0" name="Freeform 12"/>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1" name="Freeform 13"/>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2" name="Freeform 14"/>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3" name="Freeform 15"/>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8678" name="Group 16"/>
          <p:cNvGrpSpPr>
            <a:grpSpLocks/>
          </p:cNvGrpSpPr>
          <p:nvPr/>
        </p:nvGrpSpPr>
        <p:grpSpPr bwMode="auto">
          <a:xfrm>
            <a:off x="830263" y="3465513"/>
            <a:ext cx="1671637" cy="711200"/>
            <a:chOff x="2524" y="2022"/>
            <a:chExt cx="1053" cy="448"/>
          </a:xfrm>
        </p:grpSpPr>
        <p:sp>
          <p:nvSpPr>
            <p:cNvPr id="28724" name="AutoShape 17"/>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8725" name="Text Box 18"/>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Doctor</a:t>
              </a:r>
            </a:p>
          </p:txBody>
        </p:sp>
      </p:grpSp>
      <p:sp>
        <p:nvSpPr>
          <p:cNvPr id="28679" name="AutoShape 19"/>
          <p:cNvSpPr>
            <a:spLocks noChangeArrowheads="1"/>
          </p:cNvSpPr>
          <p:nvPr/>
        </p:nvSpPr>
        <p:spPr bwMode="auto">
          <a:xfrm>
            <a:off x="2022475" y="2886075"/>
            <a:ext cx="889000" cy="889000"/>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28680" name="Text Box 20"/>
          <p:cNvSpPr txBox="1">
            <a:spLocks noChangeArrowheads="1"/>
          </p:cNvSpPr>
          <p:nvPr/>
        </p:nvSpPr>
        <p:spPr bwMode="auto">
          <a:xfrm>
            <a:off x="2563813" y="2098675"/>
            <a:ext cx="20288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primary doctor</a:t>
            </a:r>
          </a:p>
        </p:txBody>
      </p:sp>
      <p:sp>
        <p:nvSpPr>
          <p:cNvPr id="28681" name="Text Box 21"/>
          <p:cNvSpPr txBox="1">
            <a:spLocks noChangeArrowheads="1"/>
          </p:cNvSpPr>
          <p:nvPr/>
        </p:nvSpPr>
        <p:spPr bwMode="auto">
          <a:xfrm>
            <a:off x="2578100" y="3878263"/>
            <a:ext cx="2124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physical therapist</a:t>
            </a:r>
          </a:p>
        </p:txBody>
      </p:sp>
      <p:sp>
        <p:nvSpPr>
          <p:cNvPr id="28682" name="Rectangle 22"/>
          <p:cNvSpPr>
            <a:spLocks noChangeArrowheads="1"/>
          </p:cNvSpPr>
          <p:nvPr/>
        </p:nvSpPr>
        <p:spPr bwMode="auto">
          <a:xfrm>
            <a:off x="4703763" y="4811168"/>
            <a:ext cx="3924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indent="-285750" algn="l" eaLnBrk="0" hangingPunct="0">
              <a:spcBef>
                <a:spcPct val="40000"/>
              </a:spcBef>
              <a:spcAft>
                <a:spcPct val="0"/>
              </a:spcAft>
              <a:buClr>
                <a:srgbClr val="04628C"/>
              </a:buClr>
              <a:buSzPct val="90000"/>
              <a:buFont typeface="Arial" pitchFamily="34" charset="0"/>
              <a:buChar char="•"/>
            </a:pPr>
            <a:r>
              <a:rPr lang="en-US" sz="2400" b="0">
                <a:solidFill>
                  <a:schemeClr val="bg1"/>
                </a:solidFill>
                <a:latin typeface="+mn-lt"/>
                <a:ea typeface="Calibri" pitchFamily="34" charset="0"/>
                <a:cs typeface="Calibri" pitchFamily="34" charset="0"/>
              </a:rPr>
              <a:t>Typically, two contacts of different subtypes cannot have the same role</a:t>
            </a:r>
          </a:p>
        </p:txBody>
      </p:sp>
      <p:grpSp>
        <p:nvGrpSpPr>
          <p:cNvPr id="28683" name="Group 23"/>
          <p:cNvGrpSpPr>
            <a:grpSpLocks/>
          </p:cNvGrpSpPr>
          <p:nvPr/>
        </p:nvGrpSpPr>
        <p:grpSpPr bwMode="auto">
          <a:xfrm>
            <a:off x="5205413" y="1727200"/>
            <a:ext cx="1671637" cy="711200"/>
            <a:chOff x="2524" y="2022"/>
            <a:chExt cx="1053" cy="448"/>
          </a:xfrm>
        </p:grpSpPr>
        <p:sp>
          <p:nvSpPr>
            <p:cNvPr id="28722" name="AutoShape 24"/>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8723" name="Text Box 25"/>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Person</a:t>
              </a:r>
            </a:p>
          </p:txBody>
        </p:sp>
      </p:grpSp>
      <p:grpSp>
        <p:nvGrpSpPr>
          <p:cNvPr id="28684" name="Group 26"/>
          <p:cNvGrpSpPr>
            <a:grpSpLocks/>
          </p:cNvGrpSpPr>
          <p:nvPr/>
        </p:nvGrpSpPr>
        <p:grpSpPr bwMode="auto">
          <a:xfrm>
            <a:off x="5205413" y="3465513"/>
            <a:ext cx="1671637" cy="711200"/>
            <a:chOff x="2524" y="2022"/>
            <a:chExt cx="1053" cy="448"/>
          </a:xfrm>
        </p:grpSpPr>
        <p:sp>
          <p:nvSpPr>
            <p:cNvPr id="28720" name="AutoShape 27"/>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28721" name="Text Box 28"/>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Company</a:t>
              </a:r>
            </a:p>
          </p:txBody>
        </p:sp>
      </p:grpSp>
      <p:sp>
        <p:nvSpPr>
          <p:cNvPr id="28685" name="Text Box 29"/>
          <p:cNvSpPr txBox="1">
            <a:spLocks noChangeArrowheads="1"/>
          </p:cNvSpPr>
          <p:nvPr/>
        </p:nvSpPr>
        <p:spPr bwMode="auto">
          <a:xfrm>
            <a:off x="6938963" y="2098675"/>
            <a:ext cx="1870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primary doctor</a:t>
            </a:r>
          </a:p>
        </p:txBody>
      </p:sp>
      <p:sp>
        <p:nvSpPr>
          <p:cNvPr id="28686" name="Text Box 30"/>
          <p:cNvSpPr txBox="1">
            <a:spLocks noChangeArrowheads="1"/>
          </p:cNvSpPr>
          <p:nvPr/>
        </p:nvSpPr>
        <p:spPr bwMode="auto">
          <a:xfrm>
            <a:off x="6953250" y="3878263"/>
            <a:ext cx="1806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primary doctor</a:t>
            </a:r>
          </a:p>
        </p:txBody>
      </p:sp>
      <p:grpSp>
        <p:nvGrpSpPr>
          <p:cNvPr id="28687" name="Group 31"/>
          <p:cNvGrpSpPr>
            <a:grpSpLocks/>
          </p:cNvGrpSpPr>
          <p:nvPr/>
        </p:nvGrpSpPr>
        <p:grpSpPr bwMode="auto">
          <a:xfrm>
            <a:off x="6535738" y="3036888"/>
            <a:ext cx="1011237" cy="673100"/>
            <a:chOff x="2496" y="1641"/>
            <a:chExt cx="767" cy="510"/>
          </a:xfrm>
        </p:grpSpPr>
        <p:sp>
          <p:nvSpPr>
            <p:cNvPr id="28716" name="AutoShape 32"/>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28717" name="Rectangle 33"/>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28718" name="Rectangle 34"/>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8719" name="Rectangle 35"/>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28688" name="Group 36"/>
          <p:cNvGrpSpPr>
            <a:grpSpLocks/>
          </p:cNvGrpSpPr>
          <p:nvPr/>
        </p:nvGrpSpPr>
        <p:grpSpPr bwMode="auto">
          <a:xfrm>
            <a:off x="6370638" y="1030288"/>
            <a:ext cx="1011237" cy="1001712"/>
            <a:chOff x="2461" y="1618"/>
            <a:chExt cx="635" cy="629"/>
          </a:xfrm>
        </p:grpSpPr>
        <p:sp>
          <p:nvSpPr>
            <p:cNvPr id="28708" name="AutoShape 37"/>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28709" name="Freeform 38"/>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28710" name="Group 39"/>
            <p:cNvGrpSpPr>
              <a:grpSpLocks/>
            </p:cNvGrpSpPr>
            <p:nvPr/>
          </p:nvGrpSpPr>
          <p:grpSpPr bwMode="auto">
            <a:xfrm>
              <a:off x="2461" y="1618"/>
              <a:ext cx="275" cy="318"/>
              <a:chOff x="2983" y="1384"/>
              <a:chExt cx="275" cy="318"/>
            </a:xfrm>
          </p:grpSpPr>
          <p:sp>
            <p:nvSpPr>
              <p:cNvPr id="28711" name="Freeform 40"/>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2" name="Freeform 41"/>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3" name="Freeform 42"/>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4" name="Freeform 43"/>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5" name="Freeform 44"/>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8689" name="Group 45"/>
          <p:cNvGrpSpPr>
            <a:grpSpLocks/>
          </p:cNvGrpSpPr>
          <p:nvPr/>
        </p:nvGrpSpPr>
        <p:grpSpPr bwMode="auto">
          <a:xfrm rot="977326">
            <a:off x="6476303" y="2792296"/>
            <a:ext cx="949325" cy="506413"/>
            <a:chOff x="6253" y="1854"/>
            <a:chExt cx="598" cy="319"/>
          </a:xfrm>
        </p:grpSpPr>
        <p:sp>
          <p:nvSpPr>
            <p:cNvPr id="28701" name="Freeform 46"/>
            <p:cNvSpPr>
              <a:spLocks/>
            </p:cNvSpPr>
            <p:nvPr/>
          </p:nvSpPr>
          <p:spPr bwMode="auto">
            <a:xfrm>
              <a:off x="6469" y="1994"/>
              <a:ext cx="382" cy="70"/>
            </a:xfrm>
            <a:custGeom>
              <a:avLst/>
              <a:gdLst>
                <a:gd name="T0" fmla="*/ 18 w 381"/>
                <a:gd name="T1" fmla="*/ 0 h 69"/>
                <a:gd name="T2" fmla="*/ 337 w 381"/>
                <a:gd name="T3" fmla="*/ 0 h 69"/>
                <a:gd name="T4" fmla="*/ 391 w 381"/>
                <a:gd name="T5" fmla="*/ 79 h 69"/>
                <a:gd name="T6" fmla="*/ 0 w 381"/>
                <a:gd name="T7" fmla="*/ 7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28702" name="Group 47"/>
            <p:cNvGrpSpPr>
              <a:grpSpLocks/>
            </p:cNvGrpSpPr>
            <p:nvPr/>
          </p:nvGrpSpPr>
          <p:grpSpPr bwMode="auto">
            <a:xfrm>
              <a:off x="6253" y="1854"/>
              <a:ext cx="276" cy="319"/>
              <a:chOff x="2983" y="1384"/>
              <a:chExt cx="275" cy="318"/>
            </a:xfrm>
          </p:grpSpPr>
          <p:sp>
            <p:nvSpPr>
              <p:cNvPr id="28703" name="Freeform 48"/>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4" name="Freeform 49"/>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5" name="Freeform 50"/>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6" name="Freeform 51"/>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7" name="Freeform 52"/>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28690" name="Line 53"/>
          <p:cNvSpPr>
            <a:spLocks noChangeShapeType="1"/>
          </p:cNvSpPr>
          <p:nvPr/>
        </p:nvSpPr>
        <p:spPr bwMode="auto">
          <a:xfrm>
            <a:off x="1625600" y="2270125"/>
            <a:ext cx="0" cy="1420813"/>
          </a:xfrm>
          <a:prstGeom prst="line">
            <a:avLst/>
          </a:prstGeom>
          <a:noFill/>
          <a:ln w="19050">
            <a:solidFill>
              <a:srgbClr val="008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91" name="AutoShape 54"/>
          <p:cNvSpPr>
            <a:spLocks noChangeArrowheads="1"/>
          </p:cNvSpPr>
          <p:nvPr/>
        </p:nvSpPr>
        <p:spPr bwMode="auto">
          <a:xfrm>
            <a:off x="925513" y="2592388"/>
            <a:ext cx="669925" cy="66992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327" y="10800"/>
                </a:moveTo>
                <a:cubicBezTo>
                  <a:pt x="3327" y="14927"/>
                  <a:pt x="6673" y="18273"/>
                  <a:pt x="10800" y="18273"/>
                </a:cubicBezTo>
                <a:cubicBezTo>
                  <a:pt x="14927" y="18273"/>
                  <a:pt x="18273" y="14927"/>
                  <a:pt x="18273" y="10800"/>
                </a:cubicBezTo>
                <a:cubicBezTo>
                  <a:pt x="18273" y="6673"/>
                  <a:pt x="14927" y="3327"/>
                  <a:pt x="10800" y="3327"/>
                </a:cubicBezTo>
                <a:cubicBezTo>
                  <a:pt x="6673" y="3327"/>
                  <a:pt x="3327" y="6673"/>
                  <a:pt x="3327" y="10800"/>
                </a:cubicBezTo>
                <a:close/>
              </a:path>
            </a:pathLst>
          </a:custGeom>
          <a:solidFill>
            <a:srgbClr val="00990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8692" name="AutoShape 55"/>
          <p:cNvSpPr>
            <a:spLocks noChangeArrowheads="1"/>
          </p:cNvSpPr>
          <p:nvPr/>
        </p:nvSpPr>
        <p:spPr bwMode="auto">
          <a:xfrm>
            <a:off x="7959725" y="3044825"/>
            <a:ext cx="676275" cy="6762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8693" name="Line 56"/>
          <p:cNvSpPr>
            <a:spLocks noChangeShapeType="1"/>
          </p:cNvSpPr>
          <p:nvPr/>
        </p:nvSpPr>
        <p:spPr bwMode="auto">
          <a:xfrm>
            <a:off x="8008938" y="2708275"/>
            <a:ext cx="0" cy="1422400"/>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694" name="AutoShape 57"/>
          <p:cNvSpPr>
            <a:spLocks noChangeAspect="1" noChangeArrowheads="1" noTextEdit="1"/>
          </p:cNvSpPr>
          <p:nvPr/>
        </p:nvSpPr>
        <p:spPr bwMode="auto">
          <a:xfrm>
            <a:off x="2474913" y="3294063"/>
            <a:ext cx="9413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695" name="Freeform 58"/>
          <p:cNvSpPr>
            <a:spLocks/>
          </p:cNvSpPr>
          <p:nvPr/>
        </p:nvSpPr>
        <p:spPr bwMode="auto">
          <a:xfrm>
            <a:off x="2957513" y="3294063"/>
            <a:ext cx="246062" cy="584200"/>
          </a:xfrm>
          <a:custGeom>
            <a:avLst/>
            <a:gdLst>
              <a:gd name="T0" fmla="*/ 2147483647 w 621"/>
              <a:gd name="T1" fmla="*/ 2147483647 h 1471"/>
              <a:gd name="T2" fmla="*/ 2147483647 w 621"/>
              <a:gd name="T3" fmla="*/ 2147483647 h 1471"/>
              <a:gd name="T4" fmla="*/ 2147483647 w 621"/>
              <a:gd name="T5" fmla="*/ 2147483647 h 1471"/>
              <a:gd name="T6" fmla="*/ 2147483647 w 621"/>
              <a:gd name="T7" fmla="*/ 2147483647 h 1471"/>
              <a:gd name="T8" fmla="*/ 2147483647 w 621"/>
              <a:gd name="T9" fmla="*/ 2147483647 h 1471"/>
              <a:gd name="T10" fmla="*/ 2147483647 w 621"/>
              <a:gd name="T11" fmla="*/ 2147483647 h 1471"/>
              <a:gd name="T12" fmla="*/ 2147483647 w 621"/>
              <a:gd name="T13" fmla="*/ 2147483647 h 1471"/>
              <a:gd name="T14" fmla="*/ 2147483647 w 621"/>
              <a:gd name="T15" fmla="*/ 2147483647 h 1471"/>
              <a:gd name="T16" fmla="*/ 2147483647 w 621"/>
              <a:gd name="T17" fmla="*/ 2147483647 h 1471"/>
              <a:gd name="T18" fmla="*/ 2147483647 w 621"/>
              <a:gd name="T19" fmla="*/ 2147483647 h 1471"/>
              <a:gd name="T20" fmla="*/ 2147483647 w 621"/>
              <a:gd name="T21" fmla="*/ 2147483647 h 1471"/>
              <a:gd name="T22" fmla="*/ 2147483647 w 621"/>
              <a:gd name="T23" fmla="*/ 2147483647 h 1471"/>
              <a:gd name="T24" fmla="*/ 2147483647 w 621"/>
              <a:gd name="T25" fmla="*/ 2147483647 h 1471"/>
              <a:gd name="T26" fmla="*/ 2147483647 w 621"/>
              <a:gd name="T27" fmla="*/ 2147483647 h 1471"/>
              <a:gd name="T28" fmla="*/ 2147483647 w 621"/>
              <a:gd name="T29" fmla="*/ 2147483647 h 1471"/>
              <a:gd name="T30" fmla="*/ 2147483647 w 621"/>
              <a:gd name="T31" fmla="*/ 2147483647 h 1471"/>
              <a:gd name="T32" fmla="*/ 2147483647 w 621"/>
              <a:gd name="T33" fmla="*/ 2147483647 h 1471"/>
              <a:gd name="T34" fmla="*/ 2147483647 w 621"/>
              <a:gd name="T35" fmla="*/ 2147483647 h 1471"/>
              <a:gd name="T36" fmla="*/ 2147483647 w 621"/>
              <a:gd name="T37" fmla="*/ 2147483647 h 1471"/>
              <a:gd name="T38" fmla="*/ 2147483647 w 621"/>
              <a:gd name="T39" fmla="*/ 2147483647 h 1471"/>
              <a:gd name="T40" fmla="*/ 2147483647 w 621"/>
              <a:gd name="T41" fmla="*/ 2147483647 h 1471"/>
              <a:gd name="T42" fmla="*/ 2147483647 w 621"/>
              <a:gd name="T43" fmla="*/ 2147483647 h 1471"/>
              <a:gd name="T44" fmla="*/ 2147483647 w 621"/>
              <a:gd name="T45" fmla="*/ 2147483647 h 1471"/>
              <a:gd name="T46" fmla="*/ 2147483647 w 621"/>
              <a:gd name="T47" fmla="*/ 2147483647 h 1471"/>
              <a:gd name="T48" fmla="*/ 2147483647 w 621"/>
              <a:gd name="T49" fmla="*/ 2147483647 h 1471"/>
              <a:gd name="T50" fmla="*/ 2147483647 w 621"/>
              <a:gd name="T51" fmla="*/ 2147483647 h 1471"/>
              <a:gd name="T52" fmla="*/ 2147483647 w 621"/>
              <a:gd name="T53" fmla="*/ 2147483647 h 1471"/>
              <a:gd name="T54" fmla="*/ 2147483647 w 621"/>
              <a:gd name="T55" fmla="*/ 2147483647 h 1471"/>
              <a:gd name="T56" fmla="*/ 2147483647 w 621"/>
              <a:gd name="T57" fmla="*/ 2147483647 h 1471"/>
              <a:gd name="T58" fmla="*/ 2147483647 w 621"/>
              <a:gd name="T59" fmla="*/ 2147483647 h 1471"/>
              <a:gd name="T60" fmla="*/ 2147483647 w 621"/>
              <a:gd name="T61" fmla="*/ 2147483647 h 1471"/>
              <a:gd name="T62" fmla="*/ 2147483647 w 621"/>
              <a:gd name="T63" fmla="*/ 2147483647 h 14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21"/>
              <a:gd name="T97" fmla="*/ 0 h 1471"/>
              <a:gd name="T98" fmla="*/ 621 w 621"/>
              <a:gd name="T99" fmla="*/ 1471 h 147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21" h="1471">
                <a:moveTo>
                  <a:pt x="309" y="1471"/>
                </a:moveTo>
                <a:lnTo>
                  <a:pt x="341" y="1467"/>
                </a:lnTo>
                <a:lnTo>
                  <a:pt x="372" y="1457"/>
                </a:lnTo>
                <a:lnTo>
                  <a:pt x="402" y="1438"/>
                </a:lnTo>
                <a:lnTo>
                  <a:pt x="431" y="1413"/>
                </a:lnTo>
                <a:lnTo>
                  <a:pt x="458" y="1382"/>
                </a:lnTo>
                <a:lnTo>
                  <a:pt x="483" y="1346"/>
                </a:lnTo>
                <a:lnTo>
                  <a:pt x="507" y="1303"/>
                </a:lnTo>
                <a:lnTo>
                  <a:pt x="530" y="1255"/>
                </a:lnTo>
                <a:lnTo>
                  <a:pt x="549" y="1203"/>
                </a:lnTo>
                <a:lnTo>
                  <a:pt x="568" y="1147"/>
                </a:lnTo>
                <a:lnTo>
                  <a:pt x="583" y="1086"/>
                </a:lnTo>
                <a:lnTo>
                  <a:pt x="596" y="1023"/>
                </a:lnTo>
                <a:lnTo>
                  <a:pt x="606" y="955"/>
                </a:lnTo>
                <a:lnTo>
                  <a:pt x="615" y="885"/>
                </a:lnTo>
                <a:lnTo>
                  <a:pt x="619" y="812"/>
                </a:lnTo>
                <a:lnTo>
                  <a:pt x="621" y="737"/>
                </a:lnTo>
                <a:lnTo>
                  <a:pt x="619" y="661"/>
                </a:lnTo>
                <a:lnTo>
                  <a:pt x="615" y="589"/>
                </a:lnTo>
                <a:lnTo>
                  <a:pt x="606" y="517"/>
                </a:lnTo>
                <a:lnTo>
                  <a:pt x="596" y="450"/>
                </a:lnTo>
                <a:lnTo>
                  <a:pt x="583" y="386"/>
                </a:lnTo>
                <a:lnTo>
                  <a:pt x="568" y="325"/>
                </a:lnTo>
                <a:lnTo>
                  <a:pt x="549" y="268"/>
                </a:lnTo>
                <a:lnTo>
                  <a:pt x="530" y="216"/>
                </a:lnTo>
                <a:lnTo>
                  <a:pt x="507" y="168"/>
                </a:lnTo>
                <a:lnTo>
                  <a:pt x="483" y="126"/>
                </a:lnTo>
                <a:lnTo>
                  <a:pt x="458" y="89"/>
                </a:lnTo>
                <a:lnTo>
                  <a:pt x="431" y="58"/>
                </a:lnTo>
                <a:lnTo>
                  <a:pt x="402" y="33"/>
                </a:lnTo>
                <a:lnTo>
                  <a:pt x="372" y="15"/>
                </a:lnTo>
                <a:lnTo>
                  <a:pt x="341" y="4"/>
                </a:lnTo>
                <a:lnTo>
                  <a:pt x="309" y="0"/>
                </a:lnTo>
                <a:lnTo>
                  <a:pt x="278" y="4"/>
                </a:lnTo>
                <a:lnTo>
                  <a:pt x="247" y="15"/>
                </a:lnTo>
                <a:lnTo>
                  <a:pt x="218" y="33"/>
                </a:lnTo>
                <a:lnTo>
                  <a:pt x="189" y="58"/>
                </a:lnTo>
                <a:lnTo>
                  <a:pt x="162" y="89"/>
                </a:lnTo>
                <a:lnTo>
                  <a:pt x="137" y="126"/>
                </a:lnTo>
                <a:lnTo>
                  <a:pt x="113" y="168"/>
                </a:lnTo>
                <a:lnTo>
                  <a:pt x="91" y="216"/>
                </a:lnTo>
                <a:lnTo>
                  <a:pt x="71" y="268"/>
                </a:lnTo>
                <a:lnTo>
                  <a:pt x="53" y="325"/>
                </a:lnTo>
                <a:lnTo>
                  <a:pt x="37" y="386"/>
                </a:lnTo>
                <a:lnTo>
                  <a:pt x="24" y="450"/>
                </a:lnTo>
                <a:lnTo>
                  <a:pt x="14" y="517"/>
                </a:lnTo>
                <a:lnTo>
                  <a:pt x="6" y="589"/>
                </a:lnTo>
                <a:lnTo>
                  <a:pt x="1" y="661"/>
                </a:lnTo>
                <a:lnTo>
                  <a:pt x="0" y="737"/>
                </a:lnTo>
                <a:lnTo>
                  <a:pt x="1" y="812"/>
                </a:lnTo>
                <a:lnTo>
                  <a:pt x="6" y="885"/>
                </a:lnTo>
                <a:lnTo>
                  <a:pt x="14" y="955"/>
                </a:lnTo>
                <a:lnTo>
                  <a:pt x="24" y="1023"/>
                </a:lnTo>
                <a:lnTo>
                  <a:pt x="37" y="1086"/>
                </a:lnTo>
                <a:lnTo>
                  <a:pt x="53" y="1147"/>
                </a:lnTo>
                <a:lnTo>
                  <a:pt x="71" y="1203"/>
                </a:lnTo>
                <a:lnTo>
                  <a:pt x="91" y="1255"/>
                </a:lnTo>
                <a:lnTo>
                  <a:pt x="113" y="1303"/>
                </a:lnTo>
                <a:lnTo>
                  <a:pt x="137" y="1346"/>
                </a:lnTo>
                <a:lnTo>
                  <a:pt x="162" y="1382"/>
                </a:lnTo>
                <a:lnTo>
                  <a:pt x="189" y="1413"/>
                </a:lnTo>
                <a:lnTo>
                  <a:pt x="218" y="1438"/>
                </a:lnTo>
                <a:lnTo>
                  <a:pt x="247" y="1457"/>
                </a:lnTo>
                <a:lnTo>
                  <a:pt x="278" y="1467"/>
                </a:lnTo>
                <a:lnTo>
                  <a:pt x="309" y="1471"/>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96" name="Freeform 59"/>
          <p:cNvSpPr>
            <a:spLocks/>
          </p:cNvSpPr>
          <p:nvPr/>
        </p:nvSpPr>
        <p:spPr bwMode="auto">
          <a:xfrm>
            <a:off x="2525713" y="3294063"/>
            <a:ext cx="247650" cy="584200"/>
          </a:xfrm>
          <a:custGeom>
            <a:avLst/>
            <a:gdLst>
              <a:gd name="T0" fmla="*/ 2147483647 w 622"/>
              <a:gd name="T1" fmla="*/ 2147483647 h 1471"/>
              <a:gd name="T2" fmla="*/ 2147483647 w 622"/>
              <a:gd name="T3" fmla="*/ 2147483647 h 1471"/>
              <a:gd name="T4" fmla="*/ 2147483647 w 622"/>
              <a:gd name="T5" fmla="*/ 2147483647 h 1471"/>
              <a:gd name="T6" fmla="*/ 2147483647 w 622"/>
              <a:gd name="T7" fmla="*/ 2147483647 h 1471"/>
              <a:gd name="T8" fmla="*/ 2147483647 w 622"/>
              <a:gd name="T9" fmla="*/ 2147483647 h 1471"/>
              <a:gd name="T10" fmla="*/ 2147483647 w 622"/>
              <a:gd name="T11" fmla="*/ 2147483647 h 1471"/>
              <a:gd name="T12" fmla="*/ 2147483647 w 622"/>
              <a:gd name="T13" fmla="*/ 2147483647 h 1471"/>
              <a:gd name="T14" fmla="*/ 2147483647 w 622"/>
              <a:gd name="T15" fmla="*/ 2147483647 h 1471"/>
              <a:gd name="T16" fmla="*/ 2147483647 w 622"/>
              <a:gd name="T17" fmla="*/ 2147483647 h 1471"/>
              <a:gd name="T18" fmla="*/ 2147483647 w 622"/>
              <a:gd name="T19" fmla="*/ 2147483647 h 1471"/>
              <a:gd name="T20" fmla="*/ 2147483647 w 622"/>
              <a:gd name="T21" fmla="*/ 2147483647 h 1471"/>
              <a:gd name="T22" fmla="*/ 2147483647 w 622"/>
              <a:gd name="T23" fmla="*/ 2147483647 h 1471"/>
              <a:gd name="T24" fmla="*/ 2147483647 w 622"/>
              <a:gd name="T25" fmla="*/ 2147483647 h 1471"/>
              <a:gd name="T26" fmla="*/ 2147483647 w 622"/>
              <a:gd name="T27" fmla="*/ 2147483647 h 1471"/>
              <a:gd name="T28" fmla="*/ 2147483647 w 622"/>
              <a:gd name="T29" fmla="*/ 2147483647 h 1471"/>
              <a:gd name="T30" fmla="*/ 2147483647 w 622"/>
              <a:gd name="T31" fmla="*/ 2147483647 h 1471"/>
              <a:gd name="T32" fmla="*/ 2147483647 w 622"/>
              <a:gd name="T33" fmla="*/ 2147483647 h 1471"/>
              <a:gd name="T34" fmla="*/ 2147483647 w 622"/>
              <a:gd name="T35" fmla="*/ 2147483647 h 1471"/>
              <a:gd name="T36" fmla="*/ 2147483647 w 622"/>
              <a:gd name="T37" fmla="*/ 2147483647 h 1471"/>
              <a:gd name="T38" fmla="*/ 2147483647 w 622"/>
              <a:gd name="T39" fmla="*/ 2147483647 h 1471"/>
              <a:gd name="T40" fmla="*/ 2147483647 w 622"/>
              <a:gd name="T41" fmla="*/ 2147483647 h 1471"/>
              <a:gd name="T42" fmla="*/ 2147483647 w 622"/>
              <a:gd name="T43" fmla="*/ 2147483647 h 1471"/>
              <a:gd name="T44" fmla="*/ 2147483647 w 622"/>
              <a:gd name="T45" fmla="*/ 2147483647 h 1471"/>
              <a:gd name="T46" fmla="*/ 2147483647 w 622"/>
              <a:gd name="T47" fmla="*/ 2147483647 h 1471"/>
              <a:gd name="T48" fmla="*/ 2147483647 w 622"/>
              <a:gd name="T49" fmla="*/ 2147483647 h 1471"/>
              <a:gd name="T50" fmla="*/ 2147483647 w 622"/>
              <a:gd name="T51" fmla="*/ 2147483647 h 1471"/>
              <a:gd name="T52" fmla="*/ 2147483647 w 622"/>
              <a:gd name="T53" fmla="*/ 2147483647 h 1471"/>
              <a:gd name="T54" fmla="*/ 2147483647 w 622"/>
              <a:gd name="T55" fmla="*/ 2147483647 h 1471"/>
              <a:gd name="T56" fmla="*/ 2147483647 w 622"/>
              <a:gd name="T57" fmla="*/ 2147483647 h 1471"/>
              <a:gd name="T58" fmla="*/ 2147483647 w 622"/>
              <a:gd name="T59" fmla="*/ 2147483647 h 1471"/>
              <a:gd name="T60" fmla="*/ 2147483647 w 622"/>
              <a:gd name="T61" fmla="*/ 2147483647 h 1471"/>
              <a:gd name="T62" fmla="*/ 2147483647 w 622"/>
              <a:gd name="T63" fmla="*/ 2147483647 h 14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22"/>
              <a:gd name="T97" fmla="*/ 0 h 1471"/>
              <a:gd name="T98" fmla="*/ 622 w 622"/>
              <a:gd name="T99" fmla="*/ 1471 h 147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22" h="1471">
                <a:moveTo>
                  <a:pt x="311" y="1471"/>
                </a:moveTo>
                <a:lnTo>
                  <a:pt x="342" y="1467"/>
                </a:lnTo>
                <a:lnTo>
                  <a:pt x="374" y="1457"/>
                </a:lnTo>
                <a:lnTo>
                  <a:pt x="404" y="1438"/>
                </a:lnTo>
                <a:lnTo>
                  <a:pt x="432" y="1413"/>
                </a:lnTo>
                <a:lnTo>
                  <a:pt x="459" y="1382"/>
                </a:lnTo>
                <a:lnTo>
                  <a:pt x="485" y="1346"/>
                </a:lnTo>
                <a:lnTo>
                  <a:pt x="509" y="1303"/>
                </a:lnTo>
                <a:lnTo>
                  <a:pt x="530" y="1255"/>
                </a:lnTo>
                <a:lnTo>
                  <a:pt x="551" y="1203"/>
                </a:lnTo>
                <a:lnTo>
                  <a:pt x="569" y="1147"/>
                </a:lnTo>
                <a:lnTo>
                  <a:pt x="585" y="1086"/>
                </a:lnTo>
                <a:lnTo>
                  <a:pt x="598" y="1023"/>
                </a:lnTo>
                <a:lnTo>
                  <a:pt x="608" y="955"/>
                </a:lnTo>
                <a:lnTo>
                  <a:pt x="616" y="885"/>
                </a:lnTo>
                <a:lnTo>
                  <a:pt x="621" y="812"/>
                </a:lnTo>
                <a:lnTo>
                  <a:pt x="622" y="737"/>
                </a:lnTo>
                <a:lnTo>
                  <a:pt x="621" y="661"/>
                </a:lnTo>
                <a:lnTo>
                  <a:pt x="616" y="589"/>
                </a:lnTo>
                <a:lnTo>
                  <a:pt x="608" y="517"/>
                </a:lnTo>
                <a:lnTo>
                  <a:pt x="598" y="450"/>
                </a:lnTo>
                <a:lnTo>
                  <a:pt x="585" y="386"/>
                </a:lnTo>
                <a:lnTo>
                  <a:pt x="569" y="325"/>
                </a:lnTo>
                <a:lnTo>
                  <a:pt x="551" y="268"/>
                </a:lnTo>
                <a:lnTo>
                  <a:pt x="530" y="216"/>
                </a:lnTo>
                <a:lnTo>
                  <a:pt x="509" y="168"/>
                </a:lnTo>
                <a:lnTo>
                  <a:pt x="485" y="126"/>
                </a:lnTo>
                <a:lnTo>
                  <a:pt x="459" y="89"/>
                </a:lnTo>
                <a:lnTo>
                  <a:pt x="432" y="58"/>
                </a:lnTo>
                <a:lnTo>
                  <a:pt x="404" y="33"/>
                </a:lnTo>
                <a:lnTo>
                  <a:pt x="374" y="15"/>
                </a:lnTo>
                <a:lnTo>
                  <a:pt x="342" y="4"/>
                </a:lnTo>
                <a:lnTo>
                  <a:pt x="311" y="0"/>
                </a:lnTo>
                <a:lnTo>
                  <a:pt x="280" y="4"/>
                </a:lnTo>
                <a:lnTo>
                  <a:pt x="248" y="15"/>
                </a:lnTo>
                <a:lnTo>
                  <a:pt x="218" y="33"/>
                </a:lnTo>
                <a:lnTo>
                  <a:pt x="189" y="58"/>
                </a:lnTo>
                <a:lnTo>
                  <a:pt x="163" y="89"/>
                </a:lnTo>
                <a:lnTo>
                  <a:pt x="137" y="126"/>
                </a:lnTo>
                <a:lnTo>
                  <a:pt x="113" y="168"/>
                </a:lnTo>
                <a:lnTo>
                  <a:pt x="90" y="216"/>
                </a:lnTo>
                <a:lnTo>
                  <a:pt x="71" y="268"/>
                </a:lnTo>
                <a:lnTo>
                  <a:pt x="53" y="325"/>
                </a:lnTo>
                <a:lnTo>
                  <a:pt x="37" y="386"/>
                </a:lnTo>
                <a:lnTo>
                  <a:pt x="24" y="450"/>
                </a:lnTo>
                <a:lnTo>
                  <a:pt x="14" y="517"/>
                </a:lnTo>
                <a:lnTo>
                  <a:pt x="6" y="589"/>
                </a:lnTo>
                <a:lnTo>
                  <a:pt x="1" y="661"/>
                </a:lnTo>
                <a:lnTo>
                  <a:pt x="0" y="737"/>
                </a:lnTo>
                <a:lnTo>
                  <a:pt x="1" y="812"/>
                </a:lnTo>
                <a:lnTo>
                  <a:pt x="6" y="885"/>
                </a:lnTo>
                <a:lnTo>
                  <a:pt x="14" y="955"/>
                </a:lnTo>
                <a:lnTo>
                  <a:pt x="24" y="1023"/>
                </a:lnTo>
                <a:lnTo>
                  <a:pt x="37" y="1086"/>
                </a:lnTo>
                <a:lnTo>
                  <a:pt x="53" y="1147"/>
                </a:lnTo>
                <a:lnTo>
                  <a:pt x="71" y="1203"/>
                </a:lnTo>
                <a:lnTo>
                  <a:pt x="90" y="1255"/>
                </a:lnTo>
                <a:lnTo>
                  <a:pt x="113" y="1303"/>
                </a:lnTo>
                <a:lnTo>
                  <a:pt x="137" y="1346"/>
                </a:lnTo>
                <a:lnTo>
                  <a:pt x="163" y="1382"/>
                </a:lnTo>
                <a:lnTo>
                  <a:pt x="189" y="1413"/>
                </a:lnTo>
                <a:lnTo>
                  <a:pt x="218" y="1438"/>
                </a:lnTo>
                <a:lnTo>
                  <a:pt x="248" y="1457"/>
                </a:lnTo>
                <a:lnTo>
                  <a:pt x="280" y="1467"/>
                </a:lnTo>
                <a:lnTo>
                  <a:pt x="311" y="1471"/>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97" name="Freeform 60"/>
          <p:cNvSpPr>
            <a:spLocks/>
          </p:cNvSpPr>
          <p:nvPr/>
        </p:nvSpPr>
        <p:spPr bwMode="auto">
          <a:xfrm>
            <a:off x="2474913" y="3546475"/>
            <a:ext cx="122237" cy="90488"/>
          </a:xfrm>
          <a:custGeom>
            <a:avLst/>
            <a:gdLst>
              <a:gd name="T0" fmla="*/ 2147483647 w 306"/>
              <a:gd name="T1" fmla="*/ 2147483647 h 229"/>
              <a:gd name="T2" fmla="*/ 2147483647 w 306"/>
              <a:gd name="T3" fmla="*/ 2147483647 h 229"/>
              <a:gd name="T4" fmla="*/ 2147483647 w 306"/>
              <a:gd name="T5" fmla="*/ 2147483647 h 229"/>
              <a:gd name="T6" fmla="*/ 2147483647 w 306"/>
              <a:gd name="T7" fmla="*/ 2147483647 h 229"/>
              <a:gd name="T8" fmla="*/ 2147483647 w 306"/>
              <a:gd name="T9" fmla="*/ 2147483647 h 229"/>
              <a:gd name="T10" fmla="*/ 2147483647 w 306"/>
              <a:gd name="T11" fmla="*/ 2147483647 h 229"/>
              <a:gd name="T12" fmla="*/ 2147483647 w 306"/>
              <a:gd name="T13" fmla="*/ 2147483647 h 229"/>
              <a:gd name="T14" fmla="*/ 2147483647 w 306"/>
              <a:gd name="T15" fmla="*/ 2147483647 h 229"/>
              <a:gd name="T16" fmla="*/ 2147483647 w 306"/>
              <a:gd name="T17" fmla="*/ 2147483647 h 229"/>
              <a:gd name="T18" fmla="*/ 0 w 306"/>
              <a:gd name="T19" fmla="*/ 2147483647 h 229"/>
              <a:gd name="T20" fmla="*/ 0 w 306"/>
              <a:gd name="T21" fmla="*/ 2147483647 h 229"/>
              <a:gd name="T22" fmla="*/ 2147483647 w 306"/>
              <a:gd name="T23" fmla="*/ 2147483647 h 229"/>
              <a:gd name="T24" fmla="*/ 2147483647 w 306"/>
              <a:gd name="T25" fmla="*/ 2147483647 h 229"/>
              <a:gd name="T26" fmla="*/ 2147483647 w 306"/>
              <a:gd name="T27" fmla="*/ 2147483647 h 229"/>
              <a:gd name="T28" fmla="*/ 2147483647 w 306"/>
              <a:gd name="T29" fmla="*/ 2147483647 h 229"/>
              <a:gd name="T30" fmla="*/ 2147483647 w 306"/>
              <a:gd name="T31" fmla="*/ 2147483647 h 229"/>
              <a:gd name="T32" fmla="*/ 2147483647 w 306"/>
              <a:gd name="T33" fmla="*/ 2147483647 h 229"/>
              <a:gd name="T34" fmla="*/ 2147483647 w 306"/>
              <a:gd name="T35" fmla="*/ 2147483647 h 229"/>
              <a:gd name="T36" fmla="*/ 2147483647 w 306"/>
              <a:gd name="T37" fmla="*/ 0 h 229"/>
              <a:gd name="T38" fmla="*/ 2147483647 w 306"/>
              <a:gd name="T39" fmla="*/ 0 h 229"/>
              <a:gd name="T40" fmla="*/ 2147483647 w 306"/>
              <a:gd name="T41" fmla="*/ 2147483647 h 229"/>
              <a:gd name="T42" fmla="*/ 2147483647 w 306"/>
              <a:gd name="T43" fmla="*/ 2147483647 h 229"/>
              <a:gd name="T44" fmla="*/ 2147483647 w 306"/>
              <a:gd name="T45" fmla="*/ 2147483647 h 229"/>
              <a:gd name="T46" fmla="*/ 2147483647 w 306"/>
              <a:gd name="T47" fmla="*/ 2147483647 h 229"/>
              <a:gd name="T48" fmla="*/ 2147483647 w 306"/>
              <a:gd name="T49" fmla="*/ 2147483647 h 229"/>
              <a:gd name="T50" fmla="*/ 2147483647 w 306"/>
              <a:gd name="T51" fmla="*/ 2147483647 h 229"/>
              <a:gd name="T52" fmla="*/ 2147483647 w 306"/>
              <a:gd name="T53" fmla="*/ 2147483647 h 229"/>
              <a:gd name="T54" fmla="*/ 2147483647 w 306"/>
              <a:gd name="T55" fmla="*/ 2147483647 h 22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06"/>
              <a:gd name="T85" fmla="*/ 0 h 229"/>
              <a:gd name="T86" fmla="*/ 306 w 306"/>
              <a:gd name="T87" fmla="*/ 229 h 22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06" h="229">
                <a:moveTo>
                  <a:pt x="248" y="229"/>
                </a:moveTo>
                <a:lnTo>
                  <a:pt x="95" y="229"/>
                </a:lnTo>
                <a:lnTo>
                  <a:pt x="76" y="228"/>
                </a:lnTo>
                <a:lnTo>
                  <a:pt x="58" y="223"/>
                </a:lnTo>
                <a:lnTo>
                  <a:pt x="42" y="217"/>
                </a:lnTo>
                <a:lnTo>
                  <a:pt x="28" y="208"/>
                </a:lnTo>
                <a:lnTo>
                  <a:pt x="16" y="197"/>
                </a:lnTo>
                <a:lnTo>
                  <a:pt x="7" y="184"/>
                </a:lnTo>
                <a:lnTo>
                  <a:pt x="2" y="170"/>
                </a:lnTo>
                <a:lnTo>
                  <a:pt x="0" y="155"/>
                </a:lnTo>
                <a:lnTo>
                  <a:pt x="0" y="75"/>
                </a:lnTo>
                <a:lnTo>
                  <a:pt x="2" y="59"/>
                </a:lnTo>
                <a:lnTo>
                  <a:pt x="7" y="46"/>
                </a:lnTo>
                <a:lnTo>
                  <a:pt x="16" y="33"/>
                </a:lnTo>
                <a:lnTo>
                  <a:pt x="28" y="22"/>
                </a:lnTo>
                <a:lnTo>
                  <a:pt x="42" y="12"/>
                </a:lnTo>
                <a:lnTo>
                  <a:pt x="58" y="6"/>
                </a:lnTo>
                <a:lnTo>
                  <a:pt x="76" y="2"/>
                </a:lnTo>
                <a:lnTo>
                  <a:pt x="95" y="0"/>
                </a:lnTo>
                <a:lnTo>
                  <a:pt x="248" y="0"/>
                </a:lnTo>
                <a:lnTo>
                  <a:pt x="277" y="10"/>
                </a:lnTo>
                <a:lnTo>
                  <a:pt x="297" y="37"/>
                </a:lnTo>
                <a:lnTo>
                  <a:pt x="305" y="73"/>
                </a:lnTo>
                <a:lnTo>
                  <a:pt x="306" y="115"/>
                </a:lnTo>
                <a:lnTo>
                  <a:pt x="300" y="157"/>
                </a:lnTo>
                <a:lnTo>
                  <a:pt x="288" y="193"/>
                </a:lnTo>
                <a:lnTo>
                  <a:pt x="270" y="220"/>
                </a:lnTo>
                <a:lnTo>
                  <a:pt x="248" y="22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98" name="Freeform 61"/>
          <p:cNvSpPr>
            <a:spLocks/>
          </p:cNvSpPr>
          <p:nvPr/>
        </p:nvSpPr>
        <p:spPr bwMode="auto">
          <a:xfrm>
            <a:off x="2597150" y="3455988"/>
            <a:ext cx="109538" cy="257175"/>
          </a:xfrm>
          <a:custGeom>
            <a:avLst/>
            <a:gdLst>
              <a:gd name="T0" fmla="*/ 0 w 274"/>
              <a:gd name="T1" fmla="*/ 0 h 646"/>
              <a:gd name="T2" fmla="*/ 2147483647 w 274"/>
              <a:gd name="T3" fmla="*/ 0 h 646"/>
              <a:gd name="T4" fmla="*/ 2147483647 w 274"/>
              <a:gd name="T5" fmla="*/ 2147483647 h 646"/>
              <a:gd name="T6" fmla="*/ 2147483647 w 274"/>
              <a:gd name="T7" fmla="*/ 2147483647 h 646"/>
              <a:gd name="T8" fmla="*/ 2147483647 w 274"/>
              <a:gd name="T9" fmla="*/ 2147483647 h 646"/>
              <a:gd name="T10" fmla="*/ 2147483647 w 274"/>
              <a:gd name="T11" fmla="*/ 2147483647 h 646"/>
              <a:gd name="T12" fmla="*/ 2147483647 w 274"/>
              <a:gd name="T13" fmla="*/ 2147483647 h 646"/>
              <a:gd name="T14" fmla="*/ 2147483647 w 274"/>
              <a:gd name="T15" fmla="*/ 2147483647 h 646"/>
              <a:gd name="T16" fmla="*/ 2147483647 w 274"/>
              <a:gd name="T17" fmla="*/ 2147483647 h 646"/>
              <a:gd name="T18" fmla="*/ 2147483647 w 274"/>
              <a:gd name="T19" fmla="*/ 2147483647 h 646"/>
              <a:gd name="T20" fmla="*/ 2147483647 w 274"/>
              <a:gd name="T21" fmla="*/ 2147483647 h 646"/>
              <a:gd name="T22" fmla="*/ 2147483647 w 274"/>
              <a:gd name="T23" fmla="*/ 2147483647 h 646"/>
              <a:gd name="T24" fmla="*/ 2147483647 w 274"/>
              <a:gd name="T25" fmla="*/ 2147483647 h 646"/>
              <a:gd name="T26" fmla="*/ 2147483647 w 274"/>
              <a:gd name="T27" fmla="*/ 2147483647 h 646"/>
              <a:gd name="T28" fmla="*/ 2147483647 w 274"/>
              <a:gd name="T29" fmla="*/ 2147483647 h 646"/>
              <a:gd name="T30" fmla="*/ 2147483647 w 274"/>
              <a:gd name="T31" fmla="*/ 2147483647 h 646"/>
              <a:gd name="T32" fmla="*/ 2147483647 w 274"/>
              <a:gd name="T33" fmla="*/ 2147483647 h 646"/>
              <a:gd name="T34" fmla="*/ 2147483647 w 274"/>
              <a:gd name="T35" fmla="*/ 2147483647 h 646"/>
              <a:gd name="T36" fmla="*/ 2147483647 w 274"/>
              <a:gd name="T37" fmla="*/ 2147483647 h 646"/>
              <a:gd name="T38" fmla="*/ 2147483647 w 274"/>
              <a:gd name="T39" fmla="*/ 2147483647 h 646"/>
              <a:gd name="T40" fmla="*/ 2147483647 w 274"/>
              <a:gd name="T41" fmla="*/ 2147483647 h 646"/>
              <a:gd name="T42" fmla="*/ 2147483647 w 274"/>
              <a:gd name="T43" fmla="*/ 2147483647 h 646"/>
              <a:gd name="T44" fmla="*/ 0 w 274"/>
              <a:gd name="T45" fmla="*/ 2147483647 h 646"/>
              <a:gd name="T46" fmla="*/ 2147483647 w 274"/>
              <a:gd name="T47" fmla="*/ 2147483647 h 646"/>
              <a:gd name="T48" fmla="*/ 2147483647 w 274"/>
              <a:gd name="T49" fmla="*/ 2147483647 h 646"/>
              <a:gd name="T50" fmla="*/ 2147483647 w 274"/>
              <a:gd name="T51" fmla="*/ 2147483647 h 646"/>
              <a:gd name="T52" fmla="*/ 2147483647 w 274"/>
              <a:gd name="T53" fmla="*/ 2147483647 h 646"/>
              <a:gd name="T54" fmla="*/ 2147483647 w 274"/>
              <a:gd name="T55" fmla="*/ 2147483647 h 646"/>
              <a:gd name="T56" fmla="*/ 2147483647 w 274"/>
              <a:gd name="T57" fmla="*/ 2147483647 h 646"/>
              <a:gd name="T58" fmla="*/ 2147483647 w 274"/>
              <a:gd name="T59" fmla="*/ 2147483647 h 646"/>
              <a:gd name="T60" fmla="*/ 2147483647 w 274"/>
              <a:gd name="T61" fmla="*/ 2147483647 h 646"/>
              <a:gd name="T62" fmla="*/ 2147483647 w 274"/>
              <a:gd name="T63" fmla="*/ 2147483647 h 646"/>
              <a:gd name="T64" fmla="*/ 2147483647 w 274"/>
              <a:gd name="T65" fmla="*/ 2147483647 h 646"/>
              <a:gd name="T66" fmla="*/ 2147483647 w 274"/>
              <a:gd name="T67" fmla="*/ 2147483647 h 646"/>
              <a:gd name="T68" fmla="*/ 2147483647 w 274"/>
              <a:gd name="T69" fmla="*/ 2147483647 h 646"/>
              <a:gd name="T70" fmla="*/ 2147483647 w 274"/>
              <a:gd name="T71" fmla="*/ 2147483647 h 646"/>
              <a:gd name="T72" fmla="*/ 2147483647 w 274"/>
              <a:gd name="T73" fmla="*/ 2147483647 h 646"/>
              <a:gd name="T74" fmla="*/ 2147483647 w 274"/>
              <a:gd name="T75" fmla="*/ 2147483647 h 646"/>
              <a:gd name="T76" fmla="*/ 0 w 274"/>
              <a:gd name="T77" fmla="*/ 0 h 64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4"/>
              <a:gd name="T118" fmla="*/ 0 h 646"/>
              <a:gd name="T119" fmla="*/ 274 w 274"/>
              <a:gd name="T120" fmla="*/ 646 h 64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4" h="646">
                <a:moveTo>
                  <a:pt x="0" y="0"/>
                </a:moveTo>
                <a:lnTo>
                  <a:pt x="158" y="0"/>
                </a:lnTo>
                <a:lnTo>
                  <a:pt x="170" y="1"/>
                </a:lnTo>
                <a:lnTo>
                  <a:pt x="181" y="6"/>
                </a:lnTo>
                <a:lnTo>
                  <a:pt x="192" y="14"/>
                </a:lnTo>
                <a:lnTo>
                  <a:pt x="203" y="25"/>
                </a:lnTo>
                <a:lnTo>
                  <a:pt x="212" y="38"/>
                </a:lnTo>
                <a:lnTo>
                  <a:pt x="222" y="55"/>
                </a:lnTo>
                <a:lnTo>
                  <a:pt x="231" y="73"/>
                </a:lnTo>
                <a:lnTo>
                  <a:pt x="240" y="94"/>
                </a:lnTo>
                <a:lnTo>
                  <a:pt x="254" y="142"/>
                </a:lnTo>
                <a:lnTo>
                  <a:pt x="264" y="198"/>
                </a:lnTo>
                <a:lnTo>
                  <a:pt x="271" y="258"/>
                </a:lnTo>
                <a:lnTo>
                  <a:pt x="274" y="323"/>
                </a:lnTo>
                <a:lnTo>
                  <a:pt x="271" y="388"/>
                </a:lnTo>
                <a:lnTo>
                  <a:pt x="264" y="448"/>
                </a:lnTo>
                <a:lnTo>
                  <a:pt x="254" y="504"/>
                </a:lnTo>
                <a:lnTo>
                  <a:pt x="240" y="551"/>
                </a:lnTo>
                <a:lnTo>
                  <a:pt x="223" y="591"/>
                </a:lnTo>
                <a:lnTo>
                  <a:pt x="203" y="621"/>
                </a:lnTo>
                <a:lnTo>
                  <a:pt x="181" y="640"/>
                </a:lnTo>
                <a:lnTo>
                  <a:pt x="158" y="646"/>
                </a:lnTo>
                <a:lnTo>
                  <a:pt x="0" y="646"/>
                </a:lnTo>
                <a:lnTo>
                  <a:pt x="23" y="640"/>
                </a:lnTo>
                <a:lnTo>
                  <a:pt x="45" y="621"/>
                </a:lnTo>
                <a:lnTo>
                  <a:pt x="65" y="591"/>
                </a:lnTo>
                <a:lnTo>
                  <a:pt x="82" y="551"/>
                </a:lnTo>
                <a:lnTo>
                  <a:pt x="96" y="504"/>
                </a:lnTo>
                <a:lnTo>
                  <a:pt x="106" y="448"/>
                </a:lnTo>
                <a:lnTo>
                  <a:pt x="113" y="388"/>
                </a:lnTo>
                <a:lnTo>
                  <a:pt x="116" y="323"/>
                </a:lnTo>
                <a:lnTo>
                  <a:pt x="113" y="258"/>
                </a:lnTo>
                <a:lnTo>
                  <a:pt x="106" y="198"/>
                </a:lnTo>
                <a:lnTo>
                  <a:pt x="96" y="142"/>
                </a:lnTo>
                <a:lnTo>
                  <a:pt x="82" y="94"/>
                </a:lnTo>
                <a:lnTo>
                  <a:pt x="65" y="55"/>
                </a:lnTo>
                <a:lnTo>
                  <a:pt x="45" y="25"/>
                </a:lnTo>
                <a:lnTo>
                  <a:pt x="23" y="6"/>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99" name="Freeform 62"/>
          <p:cNvSpPr>
            <a:spLocks/>
          </p:cNvSpPr>
          <p:nvPr/>
        </p:nvSpPr>
        <p:spPr bwMode="auto">
          <a:xfrm>
            <a:off x="2641600" y="3294063"/>
            <a:ext cx="473075" cy="582612"/>
          </a:xfrm>
          <a:custGeom>
            <a:avLst/>
            <a:gdLst>
              <a:gd name="T0" fmla="*/ 0 w 1193"/>
              <a:gd name="T1" fmla="*/ 2147483647 h 1470"/>
              <a:gd name="T2" fmla="*/ 2147483647 w 1193"/>
              <a:gd name="T3" fmla="*/ 2147483647 h 1470"/>
              <a:gd name="T4" fmla="*/ 2147483647 w 1193"/>
              <a:gd name="T5" fmla="*/ 2147483647 h 1470"/>
              <a:gd name="T6" fmla="*/ 2147483647 w 1193"/>
              <a:gd name="T7" fmla="*/ 2147483647 h 1470"/>
              <a:gd name="T8" fmla="*/ 2147483647 w 1193"/>
              <a:gd name="T9" fmla="*/ 2147483647 h 1470"/>
              <a:gd name="T10" fmla="*/ 2147483647 w 1193"/>
              <a:gd name="T11" fmla="*/ 2147483647 h 1470"/>
              <a:gd name="T12" fmla="*/ 2147483647 w 1193"/>
              <a:gd name="T13" fmla="*/ 2147483647 h 1470"/>
              <a:gd name="T14" fmla="*/ 2147483647 w 1193"/>
              <a:gd name="T15" fmla="*/ 2147483647 h 1470"/>
              <a:gd name="T16" fmla="*/ 2147483647 w 1193"/>
              <a:gd name="T17" fmla="*/ 2147483647 h 1470"/>
              <a:gd name="T18" fmla="*/ 2147483647 w 1193"/>
              <a:gd name="T19" fmla="*/ 2147483647 h 1470"/>
              <a:gd name="T20" fmla="*/ 2147483647 w 1193"/>
              <a:gd name="T21" fmla="*/ 2147483647 h 1470"/>
              <a:gd name="T22" fmla="*/ 2147483647 w 1193"/>
              <a:gd name="T23" fmla="*/ 2147483647 h 1470"/>
              <a:gd name="T24" fmla="*/ 2147483647 w 1193"/>
              <a:gd name="T25" fmla="*/ 2147483647 h 1470"/>
              <a:gd name="T26" fmla="*/ 2147483647 w 1193"/>
              <a:gd name="T27" fmla="*/ 2147483647 h 1470"/>
              <a:gd name="T28" fmla="*/ 2147483647 w 1193"/>
              <a:gd name="T29" fmla="*/ 2147483647 h 1470"/>
              <a:gd name="T30" fmla="*/ 2147483647 w 1193"/>
              <a:gd name="T31" fmla="*/ 2147483647 h 1470"/>
              <a:gd name="T32" fmla="*/ 2147483647 w 1193"/>
              <a:gd name="T33" fmla="*/ 2147483647 h 1470"/>
              <a:gd name="T34" fmla="*/ 2147483647 w 1193"/>
              <a:gd name="T35" fmla="*/ 2147483647 h 1470"/>
              <a:gd name="T36" fmla="*/ 2147483647 w 1193"/>
              <a:gd name="T37" fmla="*/ 2147483647 h 1470"/>
              <a:gd name="T38" fmla="*/ 2147483647 w 1193"/>
              <a:gd name="T39" fmla="*/ 2147483647 h 1470"/>
              <a:gd name="T40" fmla="*/ 2147483647 w 1193"/>
              <a:gd name="T41" fmla="*/ 2147483647 h 1470"/>
              <a:gd name="T42" fmla="*/ 2147483647 w 1193"/>
              <a:gd name="T43" fmla="*/ 2147483647 h 1470"/>
              <a:gd name="T44" fmla="*/ 2147483647 w 1193"/>
              <a:gd name="T45" fmla="*/ 2147483647 h 1470"/>
              <a:gd name="T46" fmla="*/ 2147483647 w 1193"/>
              <a:gd name="T47" fmla="*/ 2147483647 h 1470"/>
              <a:gd name="T48" fmla="*/ 2147483647 w 1193"/>
              <a:gd name="T49" fmla="*/ 2147483647 h 1470"/>
              <a:gd name="T50" fmla="*/ 2147483647 w 1193"/>
              <a:gd name="T51" fmla="*/ 2147483647 h 1470"/>
              <a:gd name="T52" fmla="*/ 2147483647 w 1193"/>
              <a:gd name="T53" fmla="*/ 2147483647 h 1470"/>
              <a:gd name="T54" fmla="*/ 2147483647 w 1193"/>
              <a:gd name="T55" fmla="*/ 2147483647 h 1470"/>
              <a:gd name="T56" fmla="*/ 2147483647 w 1193"/>
              <a:gd name="T57" fmla="*/ 2147483647 h 1470"/>
              <a:gd name="T58" fmla="*/ 2147483647 w 1193"/>
              <a:gd name="T59" fmla="*/ 2147483647 h 1470"/>
              <a:gd name="T60" fmla="*/ 2147483647 w 1193"/>
              <a:gd name="T61" fmla="*/ 2147483647 h 1470"/>
              <a:gd name="T62" fmla="*/ 2147483647 w 1193"/>
              <a:gd name="T63" fmla="*/ 2147483647 h 1470"/>
              <a:gd name="T64" fmla="*/ 2147483647 w 1193"/>
              <a:gd name="T65" fmla="*/ 2147483647 h 1470"/>
              <a:gd name="T66" fmla="*/ 2147483647 w 1193"/>
              <a:gd name="T67" fmla="*/ 2147483647 h 1470"/>
              <a:gd name="T68" fmla="*/ 2147483647 w 1193"/>
              <a:gd name="T69" fmla="*/ 2147483647 h 1470"/>
              <a:gd name="T70" fmla="*/ 2147483647 w 1193"/>
              <a:gd name="T71" fmla="*/ 2147483647 h 1470"/>
              <a:gd name="T72" fmla="*/ 2147483647 w 1193"/>
              <a:gd name="T73" fmla="*/ 2147483647 h 1470"/>
              <a:gd name="T74" fmla="*/ 2147483647 w 1193"/>
              <a:gd name="T75" fmla="*/ 2147483647 h 1470"/>
              <a:gd name="T76" fmla="*/ 2147483647 w 1193"/>
              <a:gd name="T77" fmla="*/ 2147483647 h 1470"/>
              <a:gd name="T78" fmla="*/ 2147483647 w 1193"/>
              <a:gd name="T79" fmla="*/ 2147483647 h 1470"/>
              <a:gd name="T80" fmla="*/ 2147483647 w 1193"/>
              <a:gd name="T81" fmla="*/ 2147483647 h 1470"/>
              <a:gd name="T82" fmla="*/ 2147483647 w 1193"/>
              <a:gd name="T83" fmla="*/ 2147483647 h 1470"/>
              <a:gd name="T84" fmla="*/ 2147483647 w 1193"/>
              <a:gd name="T85" fmla="*/ 2147483647 h 1470"/>
              <a:gd name="T86" fmla="*/ 2147483647 w 1193"/>
              <a:gd name="T87" fmla="*/ 2147483647 h 1470"/>
              <a:gd name="T88" fmla="*/ 2147483647 w 1193"/>
              <a:gd name="T89" fmla="*/ 2147483647 h 1470"/>
              <a:gd name="T90" fmla="*/ 2147483647 w 1193"/>
              <a:gd name="T91" fmla="*/ 2147483647 h 1470"/>
              <a:gd name="T92" fmla="*/ 2147483647 w 1193"/>
              <a:gd name="T93" fmla="*/ 2147483647 h 147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93"/>
              <a:gd name="T142" fmla="*/ 0 h 1470"/>
              <a:gd name="T143" fmla="*/ 1193 w 1193"/>
              <a:gd name="T144" fmla="*/ 1470 h 147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93" h="1470">
                <a:moveTo>
                  <a:pt x="221" y="1470"/>
                </a:moveTo>
                <a:lnTo>
                  <a:pt x="0" y="1470"/>
                </a:lnTo>
                <a:lnTo>
                  <a:pt x="32" y="1466"/>
                </a:lnTo>
                <a:lnTo>
                  <a:pt x="63" y="1455"/>
                </a:lnTo>
                <a:lnTo>
                  <a:pt x="93" y="1437"/>
                </a:lnTo>
                <a:lnTo>
                  <a:pt x="122" y="1412"/>
                </a:lnTo>
                <a:lnTo>
                  <a:pt x="149" y="1380"/>
                </a:lnTo>
                <a:lnTo>
                  <a:pt x="175" y="1344"/>
                </a:lnTo>
                <a:lnTo>
                  <a:pt x="199" y="1302"/>
                </a:lnTo>
                <a:lnTo>
                  <a:pt x="221" y="1254"/>
                </a:lnTo>
                <a:lnTo>
                  <a:pt x="242" y="1202"/>
                </a:lnTo>
                <a:lnTo>
                  <a:pt x="260" y="1145"/>
                </a:lnTo>
                <a:lnTo>
                  <a:pt x="275" y="1085"/>
                </a:lnTo>
                <a:lnTo>
                  <a:pt x="289" y="1021"/>
                </a:lnTo>
                <a:lnTo>
                  <a:pt x="298" y="954"/>
                </a:lnTo>
                <a:lnTo>
                  <a:pt x="307" y="884"/>
                </a:lnTo>
                <a:lnTo>
                  <a:pt x="312" y="810"/>
                </a:lnTo>
                <a:lnTo>
                  <a:pt x="313" y="735"/>
                </a:lnTo>
                <a:lnTo>
                  <a:pt x="312" y="690"/>
                </a:lnTo>
                <a:lnTo>
                  <a:pt x="310" y="645"/>
                </a:lnTo>
                <a:lnTo>
                  <a:pt x="308" y="600"/>
                </a:lnTo>
                <a:lnTo>
                  <a:pt x="303" y="557"/>
                </a:lnTo>
                <a:lnTo>
                  <a:pt x="298" y="514"/>
                </a:lnTo>
                <a:lnTo>
                  <a:pt x="292" y="473"/>
                </a:lnTo>
                <a:lnTo>
                  <a:pt x="285" y="432"/>
                </a:lnTo>
                <a:lnTo>
                  <a:pt x="277" y="393"/>
                </a:lnTo>
                <a:lnTo>
                  <a:pt x="269" y="363"/>
                </a:lnTo>
                <a:lnTo>
                  <a:pt x="260" y="334"/>
                </a:lnTo>
                <a:lnTo>
                  <a:pt x="249" y="305"/>
                </a:lnTo>
                <a:lnTo>
                  <a:pt x="237" y="276"/>
                </a:lnTo>
                <a:lnTo>
                  <a:pt x="224" y="247"/>
                </a:lnTo>
                <a:lnTo>
                  <a:pt x="208" y="219"/>
                </a:lnTo>
                <a:lnTo>
                  <a:pt x="193" y="192"/>
                </a:lnTo>
                <a:lnTo>
                  <a:pt x="177" y="166"/>
                </a:lnTo>
                <a:lnTo>
                  <a:pt x="160" y="141"/>
                </a:lnTo>
                <a:lnTo>
                  <a:pt x="143" y="117"/>
                </a:lnTo>
                <a:lnTo>
                  <a:pt x="126" y="94"/>
                </a:lnTo>
                <a:lnTo>
                  <a:pt x="109" y="74"/>
                </a:lnTo>
                <a:lnTo>
                  <a:pt x="92" y="54"/>
                </a:lnTo>
                <a:lnTo>
                  <a:pt x="75" y="36"/>
                </a:lnTo>
                <a:lnTo>
                  <a:pt x="60" y="20"/>
                </a:lnTo>
                <a:lnTo>
                  <a:pt x="45" y="6"/>
                </a:lnTo>
                <a:lnTo>
                  <a:pt x="221" y="0"/>
                </a:lnTo>
                <a:lnTo>
                  <a:pt x="250" y="4"/>
                </a:lnTo>
                <a:lnTo>
                  <a:pt x="279" y="12"/>
                </a:lnTo>
                <a:lnTo>
                  <a:pt x="307" y="28"/>
                </a:lnTo>
                <a:lnTo>
                  <a:pt x="333" y="49"/>
                </a:lnTo>
                <a:lnTo>
                  <a:pt x="359" y="75"/>
                </a:lnTo>
                <a:lnTo>
                  <a:pt x="383" y="106"/>
                </a:lnTo>
                <a:lnTo>
                  <a:pt x="406" y="143"/>
                </a:lnTo>
                <a:lnTo>
                  <a:pt x="427" y="183"/>
                </a:lnTo>
                <a:lnTo>
                  <a:pt x="448" y="228"/>
                </a:lnTo>
                <a:lnTo>
                  <a:pt x="466" y="277"/>
                </a:lnTo>
                <a:lnTo>
                  <a:pt x="482" y="329"/>
                </a:lnTo>
                <a:lnTo>
                  <a:pt x="496" y="386"/>
                </a:lnTo>
                <a:lnTo>
                  <a:pt x="508" y="445"/>
                </a:lnTo>
                <a:lnTo>
                  <a:pt x="518" y="506"/>
                </a:lnTo>
                <a:lnTo>
                  <a:pt x="526" y="570"/>
                </a:lnTo>
                <a:lnTo>
                  <a:pt x="531" y="637"/>
                </a:lnTo>
                <a:lnTo>
                  <a:pt x="1122" y="637"/>
                </a:lnTo>
                <a:lnTo>
                  <a:pt x="1136" y="640"/>
                </a:lnTo>
                <a:lnTo>
                  <a:pt x="1150" y="647"/>
                </a:lnTo>
                <a:lnTo>
                  <a:pt x="1162" y="659"/>
                </a:lnTo>
                <a:lnTo>
                  <a:pt x="1173" y="672"/>
                </a:lnTo>
                <a:lnTo>
                  <a:pt x="1181" y="685"/>
                </a:lnTo>
                <a:lnTo>
                  <a:pt x="1187" y="697"/>
                </a:lnTo>
                <a:lnTo>
                  <a:pt x="1192" y="704"/>
                </a:lnTo>
                <a:lnTo>
                  <a:pt x="1193" y="708"/>
                </a:lnTo>
                <a:lnTo>
                  <a:pt x="1193" y="786"/>
                </a:lnTo>
                <a:lnTo>
                  <a:pt x="1189" y="800"/>
                </a:lnTo>
                <a:lnTo>
                  <a:pt x="1182" y="814"/>
                </a:lnTo>
                <a:lnTo>
                  <a:pt x="1170" y="825"/>
                </a:lnTo>
                <a:lnTo>
                  <a:pt x="1158" y="835"/>
                </a:lnTo>
                <a:lnTo>
                  <a:pt x="1145" y="844"/>
                </a:lnTo>
                <a:lnTo>
                  <a:pt x="1133" y="850"/>
                </a:lnTo>
                <a:lnTo>
                  <a:pt x="1126" y="855"/>
                </a:lnTo>
                <a:lnTo>
                  <a:pt x="1122" y="856"/>
                </a:lnTo>
                <a:lnTo>
                  <a:pt x="530" y="856"/>
                </a:lnTo>
                <a:lnTo>
                  <a:pt x="524" y="920"/>
                </a:lnTo>
                <a:lnTo>
                  <a:pt x="515" y="983"/>
                </a:lnTo>
                <a:lnTo>
                  <a:pt x="506" y="1042"/>
                </a:lnTo>
                <a:lnTo>
                  <a:pt x="492" y="1098"/>
                </a:lnTo>
                <a:lnTo>
                  <a:pt x="478" y="1153"/>
                </a:lnTo>
                <a:lnTo>
                  <a:pt x="462" y="1203"/>
                </a:lnTo>
                <a:lnTo>
                  <a:pt x="444" y="1250"/>
                </a:lnTo>
                <a:lnTo>
                  <a:pt x="425" y="1294"/>
                </a:lnTo>
                <a:lnTo>
                  <a:pt x="403" y="1332"/>
                </a:lnTo>
                <a:lnTo>
                  <a:pt x="380" y="1367"/>
                </a:lnTo>
                <a:lnTo>
                  <a:pt x="356" y="1397"/>
                </a:lnTo>
                <a:lnTo>
                  <a:pt x="331" y="1423"/>
                </a:lnTo>
                <a:lnTo>
                  <a:pt x="306" y="1443"/>
                </a:lnTo>
                <a:lnTo>
                  <a:pt x="278" y="1458"/>
                </a:lnTo>
                <a:lnTo>
                  <a:pt x="250" y="1466"/>
                </a:lnTo>
                <a:lnTo>
                  <a:pt x="221" y="147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0" name="Freeform 63"/>
          <p:cNvSpPr>
            <a:spLocks/>
          </p:cNvSpPr>
          <p:nvPr/>
        </p:nvSpPr>
        <p:spPr bwMode="auto">
          <a:xfrm>
            <a:off x="3068638" y="3294063"/>
            <a:ext cx="336550" cy="582612"/>
          </a:xfrm>
          <a:custGeom>
            <a:avLst/>
            <a:gdLst>
              <a:gd name="T0" fmla="*/ 2147483647 w 850"/>
              <a:gd name="T1" fmla="*/ 2147483647 h 1470"/>
              <a:gd name="T2" fmla="*/ 2147483647 w 850"/>
              <a:gd name="T3" fmla="*/ 2147483647 h 1470"/>
              <a:gd name="T4" fmla="*/ 2147483647 w 850"/>
              <a:gd name="T5" fmla="*/ 2147483647 h 1470"/>
              <a:gd name="T6" fmla="*/ 2147483647 w 850"/>
              <a:gd name="T7" fmla="*/ 2147483647 h 1470"/>
              <a:gd name="T8" fmla="*/ 2147483647 w 850"/>
              <a:gd name="T9" fmla="*/ 2147483647 h 1470"/>
              <a:gd name="T10" fmla="*/ 2147483647 w 850"/>
              <a:gd name="T11" fmla="*/ 2147483647 h 1470"/>
              <a:gd name="T12" fmla="*/ 2147483647 w 850"/>
              <a:gd name="T13" fmla="*/ 2147483647 h 1470"/>
              <a:gd name="T14" fmla="*/ 2147483647 w 850"/>
              <a:gd name="T15" fmla="*/ 2147483647 h 1470"/>
              <a:gd name="T16" fmla="*/ 2147483647 w 850"/>
              <a:gd name="T17" fmla="*/ 2147483647 h 1470"/>
              <a:gd name="T18" fmla="*/ 2147483647 w 850"/>
              <a:gd name="T19" fmla="*/ 2147483647 h 1470"/>
              <a:gd name="T20" fmla="*/ 2147483647 w 850"/>
              <a:gd name="T21" fmla="*/ 2147483647 h 1470"/>
              <a:gd name="T22" fmla="*/ 2147483647 w 850"/>
              <a:gd name="T23" fmla="*/ 2147483647 h 1470"/>
              <a:gd name="T24" fmla="*/ 2147483647 w 850"/>
              <a:gd name="T25" fmla="*/ 2147483647 h 1470"/>
              <a:gd name="T26" fmla="*/ 2147483647 w 850"/>
              <a:gd name="T27" fmla="*/ 2147483647 h 1470"/>
              <a:gd name="T28" fmla="*/ 2147483647 w 850"/>
              <a:gd name="T29" fmla="*/ 2147483647 h 1470"/>
              <a:gd name="T30" fmla="*/ 0 w 850"/>
              <a:gd name="T31" fmla="*/ 2147483647 h 1470"/>
              <a:gd name="T32" fmla="*/ 2147483647 w 850"/>
              <a:gd name="T33" fmla="*/ 2147483647 h 1470"/>
              <a:gd name="T34" fmla="*/ 2147483647 w 850"/>
              <a:gd name="T35" fmla="*/ 2147483647 h 1470"/>
              <a:gd name="T36" fmla="*/ 2147483647 w 850"/>
              <a:gd name="T37" fmla="*/ 2147483647 h 1470"/>
              <a:gd name="T38" fmla="*/ 2147483647 w 850"/>
              <a:gd name="T39" fmla="*/ 2147483647 h 1470"/>
              <a:gd name="T40" fmla="*/ 2147483647 w 850"/>
              <a:gd name="T41" fmla="*/ 2147483647 h 1470"/>
              <a:gd name="T42" fmla="*/ 2147483647 w 850"/>
              <a:gd name="T43" fmla="*/ 2147483647 h 1470"/>
              <a:gd name="T44" fmla="*/ 2147483647 w 850"/>
              <a:gd name="T45" fmla="*/ 2147483647 h 1470"/>
              <a:gd name="T46" fmla="*/ 2147483647 w 850"/>
              <a:gd name="T47" fmla="*/ 2147483647 h 1470"/>
              <a:gd name="T48" fmla="*/ 2147483647 w 850"/>
              <a:gd name="T49" fmla="*/ 2147483647 h 1470"/>
              <a:gd name="T50" fmla="*/ 2147483647 w 850"/>
              <a:gd name="T51" fmla="*/ 2147483647 h 1470"/>
              <a:gd name="T52" fmla="*/ 2147483647 w 850"/>
              <a:gd name="T53" fmla="*/ 2147483647 h 1470"/>
              <a:gd name="T54" fmla="*/ 2147483647 w 850"/>
              <a:gd name="T55" fmla="*/ 2147483647 h 1470"/>
              <a:gd name="T56" fmla="*/ 2147483647 w 850"/>
              <a:gd name="T57" fmla="*/ 2147483647 h 1470"/>
              <a:gd name="T58" fmla="*/ 2147483647 w 850"/>
              <a:gd name="T59" fmla="*/ 2147483647 h 1470"/>
              <a:gd name="T60" fmla="*/ 2147483647 w 850"/>
              <a:gd name="T61" fmla="*/ 2147483647 h 1470"/>
              <a:gd name="T62" fmla="*/ 0 w 850"/>
              <a:gd name="T63" fmla="*/ 0 h 1470"/>
              <a:gd name="T64" fmla="*/ 2147483647 w 850"/>
              <a:gd name="T65" fmla="*/ 2147483647 h 1470"/>
              <a:gd name="T66" fmla="*/ 2147483647 w 850"/>
              <a:gd name="T67" fmla="*/ 2147483647 h 1470"/>
              <a:gd name="T68" fmla="*/ 2147483647 w 850"/>
              <a:gd name="T69" fmla="*/ 2147483647 h 1470"/>
              <a:gd name="T70" fmla="*/ 2147483647 w 850"/>
              <a:gd name="T71" fmla="*/ 2147483647 h 1470"/>
              <a:gd name="T72" fmla="*/ 2147483647 w 850"/>
              <a:gd name="T73" fmla="*/ 2147483647 h 1470"/>
              <a:gd name="T74" fmla="*/ 2147483647 w 850"/>
              <a:gd name="T75" fmla="*/ 2147483647 h 1470"/>
              <a:gd name="T76" fmla="*/ 2147483647 w 850"/>
              <a:gd name="T77" fmla="*/ 2147483647 h 1470"/>
              <a:gd name="T78" fmla="*/ 2147483647 w 850"/>
              <a:gd name="T79" fmla="*/ 2147483647 h 1470"/>
              <a:gd name="T80" fmla="*/ 2147483647 w 850"/>
              <a:gd name="T81" fmla="*/ 2147483647 h 1470"/>
              <a:gd name="T82" fmla="*/ 2147483647 w 850"/>
              <a:gd name="T83" fmla="*/ 2147483647 h 1470"/>
              <a:gd name="T84" fmla="*/ 2147483647 w 850"/>
              <a:gd name="T85" fmla="*/ 2147483647 h 1470"/>
              <a:gd name="T86" fmla="*/ 2147483647 w 850"/>
              <a:gd name="T87" fmla="*/ 2147483647 h 1470"/>
              <a:gd name="T88" fmla="*/ 2147483647 w 850"/>
              <a:gd name="T89" fmla="*/ 2147483647 h 1470"/>
              <a:gd name="T90" fmla="*/ 2147483647 w 850"/>
              <a:gd name="T91" fmla="*/ 2147483647 h 1470"/>
              <a:gd name="T92" fmla="*/ 2147483647 w 850"/>
              <a:gd name="T93" fmla="*/ 2147483647 h 1470"/>
              <a:gd name="T94" fmla="*/ 2147483647 w 850"/>
              <a:gd name="T95" fmla="*/ 2147483647 h 1470"/>
              <a:gd name="T96" fmla="*/ 2147483647 w 850"/>
              <a:gd name="T97" fmla="*/ 2147483647 h 147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850"/>
              <a:gd name="T148" fmla="*/ 0 h 1470"/>
              <a:gd name="T149" fmla="*/ 850 w 850"/>
              <a:gd name="T150" fmla="*/ 1470 h 147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850" h="1470">
                <a:moveTo>
                  <a:pt x="815" y="867"/>
                </a:moveTo>
                <a:lnTo>
                  <a:pt x="802" y="867"/>
                </a:lnTo>
                <a:lnTo>
                  <a:pt x="791" y="867"/>
                </a:lnTo>
                <a:lnTo>
                  <a:pt x="784" y="867"/>
                </a:lnTo>
                <a:lnTo>
                  <a:pt x="780" y="867"/>
                </a:lnTo>
                <a:lnTo>
                  <a:pt x="698" y="864"/>
                </a:lnTo>
                <a:lnTo>
                  <a:pt x="691" y="903"/>
                </a:lnTo>
                <a:lnTo>
                  <a:pt x="681" y="939"/>
                </a:lnTo>
                <a:lnTo>
                  <a:pt x="671" y="970"/>
                </a:lnTo>
                <a:lnTo>
                  <a:pt x="659" y="997"/>
                </a:lnTo>
                <a:lnTo>
                  <a:pt x="645" y="1019"/>
                </a:lnTo>
                <a:lnTo>
                  <a:pt x="631" y="1034"/>
                </a:lnTo>
                <a:lnTo>
                  <a:pt x="616" y="1044"/>
                </a:lnTo>
                <a:lnTo>
                  <a:pt x="601" y="1048"/>
                </a:lnTo>
                <a:lnTo>
                  <a:pt x="542" y="1048"/>
                </a:lnTo>
                <a:lnTo>
                  <a:pt x="531" y="1093"/>
                </a:lnTo>
                <a:lnTo>
                  <a:pt x="516" y="1137"/>
                </a:lnTo>
                <a:lnTo>
                  <a:pt x="499" y="1179"/>
                </a:lnTo>
                <a:lnTo>
                  <a:pt x="480" y="1219"/>
                </a:lnTo>
                <a:lnTo>
                  <a:pt x="460" y="1256"/>
                </a:lnTo>
                <a:lnTo>
                  <a:pt x="437" y="1291"/>
                </a:lnTo>
                <a:lnTo>
                  <a:pt x="413" y="1323"/>
                </a:lnTo>
                <a:lnTo>
                  <a:pt x="387" y="1353"/>
                </a:lnTo>
                <a:lnTo>
                  <a:pt x="361" y="1379"/>
                </a:lnTo>
                <a:lnTo>
                  <a:pt x="334" y="1402"/>
                </a:lnTo>
                <a:lnTo>
                  <a:pt x="306" y="1423"/>
                </a:lnTo>
                <a:lnTo>
                  <a:pt x="279" y="1438"/>
                </a:lnTo>
                <a:lnTo>
                  <a:pt x="252" y="1452"/>
                </a:lnTo>
                <a:lnTo>
                  <a:pt x="224" y="1461"/>
                </a:lnTo>
                <a:lnTo>
                  <a:pt x="198" y="1467"/>
                </a:lnTo>
                <a:lnTo>
                  <a:pt x="173" y="1470"/>
                </a:lnTo>
                <a:lnTo>
                  <a:pt x="0" y="1470"/>
                </a:lnTo>
                <a:lnTo>
                  <a:pt x="35" y="1466"/>
                </a:lnTo>
                <a:lnTo>
                  <a:pt x="68" y="1455"/>
                </a:lnTo>
                <a:lnTo>
                  <a:pt x="100" y="1437"/>
                </a:lnTo>
                <a:lnTo>
                  <a:pt x="132" y="1412"/>
                </a:lnTo>
                <a:lnTo>
                  <a:pt x="160" y="1380"/>
                </a:lnTo>
                <a:lnTo>
                  <a:pt x="188" y="1344"/>
                </a:lnTo>
                <a:lnTo>
                  <a:pt x="214" y="1302"/>
                </a:lnTo>
                <a:lnTo>
                  <a:pt x="238" y="1254"/>
                </a:lnTo>
                <a:lnTo>
                  <a:pt x="259" y="1202"/>
                </a:lnTo>
                <a:lnTo>
                  <a:pt x="279" y="1145"/>
                </a:lnTo>
                <a:lnTo>
                  <a:pt x="296" y="1085"/>
                </a:lnTo>
                <a:lnTo>
                  <a:pt x="310" y="1021"/>
                </a:lnTo>
                <a:lnTo>
                  <a:pt x="321" y="954"/>
                </a:lnTo>
                <a:lnTo>
                  <a:pt x="329" y="884"/>
                </a:lnTo>
                <a:lnTo>
                  <a:pt x="335" y="810"/>
                </a:lnTo>
                <a:lnTo>
                  <a:pt x="337" y="735"/>
                </a:lnTo>
                <a:lnTo>
                  <a:pt x="335" y="661"/>
                </a:lnTo>
                <a:lnTo>
                  <a:pt x="329" y="587"/>
                </a:lnTo>
                <a:lnTo>
                  <a:pt x="321" y="517"/>
                </a:lnTo>
                <a:lnTo>
                  <a:pt x="310" y="450"/>
                </a:lnTo>
                <a:lnTo>
                  <a:pt x="296" y="385"/>
                </a:lnTo>
                <a:lnTo>
                  <a:pt x="279" y="324"/>
                </a:lnTo>
                <a:lnTo>
                  <a:pt x="259" y="268"/>
                </a:lnTo>
                <a:lnTo>
                  <a:pt x="238" y="216"/>
                </a:lnTo>
                <a:lnTo>
                  <a:pt x="214" y="168"/>
                </a:lnTo>
                <a:lnTo>
                  <a:pt x="188" y="125"/>
                </a:lnTo>
                <a:lnTo>
                  <a:pt x="160" y="89"/>
                </a:lnTo>
                <a:lnTo>
                  <a:pt x="132" y="58"/>
                </a:lnTo>
                <a:lnTo>
                  <a:pt x="100" y="33"/>
                </a:lnTo>
                <a:lnTo>
                  <a:pt x="68" y="14"/>
                </a:lnTo>
                <a:lnTo>
                  <a:pt x="35" y="4"/>
                </a:lnTo>
                <a:lnTo>
                  <a:pt x="0" y="0"/>
                </a:lnTo>
                <a:lnTo>
                  <a:pt x="182" y="0"/>
                </a:lnTo>
                <a:lnTo>
                  <a:pt x="208" y="2"/>
                </a:lnTo>
                <a:lnTo>
                  <a:pt x="233" y="7"/>
                </a:lnTo>
                <a:lnTo>
                  <a:pt x="258" y="17"/>
                </a:lnTo>
                <a:lnTo>
                  <a:pt x="285" y="29"/>
                </a:lnTo>
                <a:lnTo>
                  <a:pt x="311" y="45"/>
                </a:lnTo>
                <a:lnTo>
                  <a:pt x="337" y="64"/>
                </a:lnTo>
                <a:lnTo>
                  <a:pt x="363" y="86"/>
                </a:lnTo>
                <a:lnTo>
                  <a:pt x="387" y="111"/>
                </a:lnTo>
                <a:lnTo>
                  <a:pt x="411" y="139"/>
                </a:lnTo>
                <a:lnTo>
                  <a:pt x="434" y="169"/>
                </a:lnTo>
                <a:lnTo>
                  <a:pt x="456" y="203"/>
                </a:lnTo>
                <a:lnTo>
                  <a:pt x="476" y="237"/>
                </a:lnTo>
                <a:lnTo>
                  <a:pt x="495" y="275"/>
                </a:lnTo>
                <a:lnTo>
                  <a:pt x="511" y="315"/>
                </a:lnTo>
                <a:lnTo>
                  <a:pt x="525" y="357"/>
                </a:lnTo>
                <a:lnTo>
                  <a:pt x="537" y="400"/>
                </a:lnTo>
                <a:lnTo>
                  <a:pt x="601" y="400"/>
                </a:lnTo>
                <a:lnTo>
                  <a:pt x="619" y="405"/>
                </a:lnTo>
                <a:lnTo>
                  <a:pt x="636" y="418"/>
                </a:lnTo>
                <a:lnTo>
                  <a:pt x="651" y="439"/>
                </a:lnTo>
                <a:lnTo>
                  <a:pt x="666" y="467"/>
                </a:lnTo>
                <a:lnTo>
                  <a:pt x="679" y="502"/>
                </a:lnTo>
                <a:lnTo>
                  <a:pt x="690" y="541"/>
                </a:lnTo>
                <a:lnTo>
                  <a:pt x="698" y="586"/>
                </a:lnTo>
                <a:lnTo>
                  <a:pt x="704" y="635"/>
                </a:lnTo>
                <a:lnTo>
                  <a:pt x="820" y="637"/>
                </a:lnTo>
                <a:lnTo>
                  <a:pt x="830" y="653"/>
                </a:lnTo>
                <a:lnTo>
                  <a:pt x="838" y="674"/>
                </a:lnTo>
                <a:lnTo>
                  <a:pt x="845" y="698"/>
                </a:lnTo>
                <a:lnTo>
                  <a:pt x="850" y="726"/>
                </a:lnTo>
                <a:lnTo>
                  <a:pt x="850" y="757"/>
                </a:lnTo>
                <a:lnTo>
                  <a:pt x="845" y="791"/>
                </a:lnTo>
                <a:lnTo>
                  <a:pt x="835" y="828"/>
                </a:lnTo>
                <a:lnTo>
                  <a:pt x="815" y="86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Lesson outline</a:t>
            </a:r>
          </a:p>
        </p:txBody>
      </p:sp>
      <p:sp>
        <p:nvSpPr>
          <p:cNvPr id="29699" name="Rectangle 3"/>
          <p:cNvSpPr>
            <a:spLocks noGrp="1" noChangeArrowheads="1"/>
          </p:cNvSpPr>
          <p:nvPr>
            <p:ph idx="1"/>
          </p:nvPr>
        </p:nvSpPr>
        <p:spPr/>
        <p:txBody>
          <a:bodyPr/>
          <a:lstStyle/>
          <a:p>
            <a:pPr>
              <a:lnSpc>
                <a:spcPct val="150000"/>
              </a:lnSpc>
            </a:pPr>
            <a:r>
              <a:rPr lang="en-US" sz="2800">
                <a:solidFill>
                  <a:srgbClr val="C0C0C0"/>
                </a:solidFill>
              </a:rPr>
              <a:t>Contact basics</a:t>
            </a:r>
          </a:p>
          <a:p>
            <a:pPr>
              <a:lnSpc>
                <a:spcPct val="150000"/>
              </a:lnSpc>
            </a:pPr>
            <a:r>
              <a:rPr lang="en-US" sz="2800">
                <a:solidFill>
                  <a:srgbClr val="C0C0C0"/>
                </a:solidFill>
              </a:rPr>
              <a:t>Contact roles</a:t>
            </a:r>
          </a:p>
          <a:p>
            <a:pPr>
              <a:lnSpc>
                <a:spcPct val="150000"/>
              </a:lnSpc>
            </a:pPr>
            <a:r>
              <a:rPr lang="en-US" sz="2800">
                <a:solidFill>
                  <a:srgbClr val="C0C0C0"/>
                </a:solidFill>
              </a:rPr>
              <a:t>Categorizing contact</a:t>
            </a:r>
          </a:p>
          <a:p>
            <a:pPr>
              <a:lnSpc>
                <a:spcPct val="150000"/>
              </a:lnSpc>
            </a:pPr>
            <a:r>
              <a:rPr lang="en-US" sz="2800"/>
              <a:t>Contact role configuration</a:t>
            </a:r>
          </a:p>
          <a:p>
            <a:pPr>
              <a:lnSpc>
                <a:spcPct val="150000"/>
              </a:lnSpc>
            </a:pPr>
            <a:r>
              <a:rPr lang="en-US" sz="2800">
                <a:solidFill>
                  <a:srgbClr val="C0C0C0"/>
                </a:solidFill>
              </a:rPr>
              <a:t>Contact role type constraints</a:t>
            </a:r>
          </a:p>
          <a:p>
            <a:pPr>
              <a:lnSpc>
                <a:spcPct val="150000"/>
              </a:lnSpc>
            </a:pPr>
            <a:r>
              <a:rPr lang="en-US" sz="2800">
                <a:solidFill>
                  <a:srgbClr val="C0C0C0"/>
                </a:solidFill>
              </a:rPr>
              <a:t>Entity role constraints</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026" y="739664"/>
            <a:ext cx="5674102" cy="514087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2" name="Rectangle 2"/>
          <p:cNvSpPr>
            <a:spLocks noGrp="1" noChangeArrowheads="1"/>
          </p:cNvSpPr>
          <p:nvPr>
            <p:ph type="title"/>
          </p:nvPr>
        </p:nvSpPr>
        <p:spPr/>
        <p:txBody>
          <a:bodyPr/>
          <a:lstStyle/>
          <a:p>
            <a:pPr eaLnBrk="1" hangingPunct="1"/>
            <a:r>
              <a:rPr lang="en-US"/>
              <a:t>Contact roles</a:t>
            </a:r>
          </a:p>
        </p:txBody>
      </p:sp>
      <p:sp>
        <p:nvSpPr>
          <p:cNvPr id="30723" name="Rectangle 3"/>
          <p:cNvSpPr>
            <a:spLocks noGrp="1" noChangeArrowheads="1"/>
          </p:cNvSpPr>
          <p:nvPr>
            <p:ph idx="1"/>
          </p:nvPr>
        </p:nvSpPr>
        <p:spPr>
          <a:xfrm>
            <a:off x="6188617" y="739665"/>
            <a:ext cx="2955383" cy="5650024"/>
          </a:xfrm>
        </p:spPr>
        <p:txBody>
          <a:bodyPr/>
          <a:lstStyle/>
          <a:p>
            <a:r>
              <a:rPr lang="en-US"/>
              <a:t>The </a:t>
            </a:r>
            <a:r>
              <a:rPr lang="en-US" err="1"/>
              <a:t>ContactRole</a:t>
            </a:r>
            <a:r>
              <a:rPr lang="en-US"/>
              <a:t> typelist lists all contact roles</a:t>
            </a:r>
          </a:p>
          <a:p>
            <a:pPr lvl="1"/>
            <a:r>
              <a:rPr lang="en-US"/>
              <a:t>To create a new role, add a </a:t>
            </a:r>
            <a:r>
              <a:rPr lang="en-US" err="1"/>
              <a:t>typecode</a:t>
            </a:r>
            <a:r>
              <a:rPr lang="en-US"/>
              <a:t> to the typelist</a:t>
            </a:r>
          </a:p>
        </p:txBody>
      </p:sp>
      <p:sp>
        <p:nvSpPr>
          <p:cNvPr id="6" name="AutoShape 14"/>
          <p:cNvSpPr>
            <a:spLocks noChangeArrowheads="1"/>
          </p:cNvSpPr>
          <p:nvPr/>
        </p:nvSpPr>
        <p:spPr bwMode="auto">
          <a:xfrm>
            <a:off x="278025" y="1107135"/>
            <a:ext cx="1976443" cy="43813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131" y="4293393"/>
            <a:ext cx="4994335" cy="165020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131" y="823783"/>
            <a:ext cx="4991100" cy="24003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8" name="Rectangle 4"/>
          <p:cNvSpPr>
            <a:spLocks noGrp="1" noChangeArrowheads="1"/>
          </p:cNvSpPr>
          <p:nvPr>
            <p:ph type="title"/>
          </p:nvPr>
        </p:nvSpPr>
        <p:spPr/>
        <p:txBody>
          <a:bodyPr/>
          <a:lstStyle/>
          <a:p>
            <a:pPr eaLnBrk="1" hangingPunct="1"/>
            <a:r>
              <a:rPr lang="en-US"/>
              <a:t>The contacts list view filter</a:t>
            </a:r>
          </a:p>
        </p:txBody>
      </p:sp>
      <p:sp>
        <p:nvSpPr>
          <p:cNvPr id="31750" name="Line 6"/>
          <p:cNvSpPr>
            <a:spLocks noChangeShapeType="1"/>
          </p:cNvSpPr>
          <p:nvPr/>
        </p:nvSpPr>
        <p:spPr bwMode="auto">
          <a:xfrm flipH="1" flipV="1">
            <a:off x="2606675" y="1489075"/>
            <a:ext cx="357188" cy="23510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1" name="Line 7"/>
          <p:cNvSpPr>
            <a:spLocks noChangeShapeType="1"/>
          </p:cNvSpPr>
          <p:nvPr/>
        </p:nvSpPr>
        <p:spPr bwMode="auto">
          <a:xfrm flipV="1">
            <a:off x="2613025" y="1122363"/>
            <a:ext cx="355600" cy="203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2" name="Text Box 8"/>
          <p:cNvSpPr txBox="1">
            <a:spLocks noChangeArrowheads="1"/>
          </p:cNvSpPr>
          <p:nvPr/>
        </p:nvSpPr>
        <p:spPr bwMode="auto">
          <a:xfrm>
            <a:off x="6265069" y="1866901"/>
            <a:ext cx="1117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t>entity</a:t>
            </a:r>
            <a:br>
              <a:rPr lang="en-US" sz="1800"/>
            </a:br>
            <a:r>
              <a:rPr lang="en-US" sz="1800"/>
              <a:t>filtering</a:t>
            </a:r>
          </a:p>
        </p:txBody>
      </p:sp>
      <p:sp>
        <p:nvSpPr>
          <p:cNvPr id="31754" name="AutoShape 10"/>
          <p:cNvSpPr>
            <a:spLocks/>
          </p:cNvSpPr>
          <p:nvPr/>
        </p:nvSpPr>
        <p:spPr bwMode="auto">
          <a:xfrm>
            <a:off x="5533231" y="1614488"/>
            <a:ext cx="642938" cy="998538"/>
          </a:xfrm>
          <a:prstGeom prst="rightBrace">
            <a:avLst>
              <a:gd name="adj1" fmla="val 12942"/>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756" name="AutoShape 12"/>
          <p:cNvSpPr>
            <a:spLocks noChangeArrowheads="1"/>
          </p:cNvSpPr>
          <p:nvPr/>
        </p:nvSpPr>
        <p:spPr bwMode="auto">
          <a:xfrm>
            <a:off x="744130" y="4792663"/>
            <a:ext cx="2219733" cy="43973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 name="AutoShape 12"/>
          <p:cNvSpPr>
            <a:spLocks noChangeArrowheads="1"/>
          </p:cNvSpPr>
          <p:nvPr/>
        </p:nvSpPr>
        <p:spPr bwMode="auto">
          <a:xfrm>
            <a:off x="841248" y="1325563"/>
            <a:ext cx="1771778" cy="2325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3863" y="1104901"/>
            <a:ext cx="2703512" cy="308049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53" name="Text Box 9"/>
          <p:cNvSpPr txBox="1">
            <a:spLocks noChangeArrowheads="1"/>
          </p:cNvSpPr>
          <p:nvPr/>
        </p:nvSpPr>
        <p:spPr bwMode="auto">
          <a:xfrm>
            <a:off x="4557712" y="3000282"/>
            <a:ext cx="12033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t>contact role</a:t>
            </a:r>
            <a:br>
              <a:rPr lang="en-US" sz="1800"/>
            </a:br>
            <a:r>
              <a:rPr lang="en-US" sz="1800"/>
              <a:t>category</a:t>
            </a:r>
            <a:br>
              <a:rPr lang="en-US" sz="1800"/>
            </a:br>
            <a:r>
              <a:rPr lang="en-US" sz="1800"/>
              <a:t>filtering</a:t>
            </a:r>
          </a:p>
        </p:txBody>
      </p:sp>
      <p:sp>
        <p:nvSpPr>
          <p:cNvPr id="31755" name="AutoShape 11"/>
          <p:cNvSpPr>
            <a:spLocks/>
          </p:cNvSpPr>
          <p:nvPr/>
        </p:nvSpPr>
        <p:spPr bwMode="auto">
          <a:xfrm>
            <a:off x="3990974" y="2974134"/>
            <a:ext cx="566737" cy="1134223"/>
          </a:xfrm>
          <a:prstGeom prst="rightBrace">
            <a:avLst>
              <a:gd name="adj1" fmla="val 13601"/>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 y="2357438"/>
            <a:ext cx="7182458" cy="404336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2770" name="Rectangle 2"/>
          <p:cNvSpPr>
            <a:spLocks noGrp="1" noChangeArrowheads="1"/>
          </p:cNvSpPr>
          <p:nvPr>
            <p:ph type="title"/>
          </p:nvPr>
        </p:nvSpPr>
        <p:spPr/>
        <p:txBody>
          <a:bodyPr/>
          <a:lstStyle/>
          <a:p>
            <a:pPr eaLnBrk="1" hangingPunct="1"/>
            <a:r>
              <a:rPr lang="en-US"/>
              <a:t>Contact role categories</a:t>
            </a:r>
          </a:p>
        </p:txBody>
      </p:sp>
      <p:sp>
        <p:nvSpPr>
          <p:cNvPr id="32775" name="TextBox 6"/>
          <p:cNvSpPr txBox="1">
            <a:spLocks noChangeArrowheads="1"/>
          </p:cNvSpPr>
          <p:nvPr/>
        </p:nvSpPr>
        <p:spPr bwMode="auto">
          <a:xfrm>
            <a:off x="6007100" y="766763"/>
            <a:ext cx="1782763"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This typelist exists purely for filtering the contacts list view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t>Role constraints</a:t>
            </a:r>
          </a:p>
        </p:txBody>
      </p:sp>
      <p:sp>
        <p:nvSpPr>
          <p:cNvPr id="33795" name="Rectangle 3"/>
          <p:cNvSpPr>
            <a:spLocks noGrp="1" noChangeArrowheads="1"/>
          </p:cNvSpPr>
          <p:nvPr>
            <p:ph idx="1"/>
          </p:nvPr>
        </p:nvSpPr>
        <p:spPr>
          <a:xfrm>
            <a:off x="519113" y="4262438"/>
            <a:ext cx="8318500" cy="2127250"/>
          </a:xfrm>
        </p:spPr>
        <p:txBody>
          <a:bodyPr/>
          <a:lstStyle/>
          <a:p>
            <a:r>
              <a:rPr lang="en-US"/>
              <a:t>Role constraints prevent users from assigning roles to contacts in a manner that does not make business sense</a:t>
            </a:r>
          </a:p>
        </p:txBody>
      </p:sp>
      <p:grpSp>
        <p:nvGrpSpPr>
          <p:cNvPr id="33796" name="Group 4"/>
          <p:cNvGrpSpPr>
            <a:grpSpLocks/>
          </p:cNvGrpSpPr>
          <p:nvPr/>
        </p:nvGrpSpPr>
        <p:grpSpPr bwMode="auto">
          <a:xfrm>
            <a:off x="1274763" y="1757363"/>
            <a:ext cx="1671637" cy="711200"/>
            <a:chOff x="2524" y="2022"/>
            <a:chExt cx="1053" cy="448"/>
          </a:xfrm>
        </p:grpSpPr>
        <p:sp>
          <p:nvSpPr>
            <p:cNvPr id="33863" name="AutoShape 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33864" name="Text Box 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Attorney</a:t>
              </a:r>
            </a:p>
          </p:txBody>
        </p:sp>
      </p:grpSp>
      <p:sp>
        <p:nvSpPr>
          <p:cNvPr id="33797" name="Text Box 7"/>
          <p:cNvSpPr txBox="1">
            <a:spLocks noChangeArrowheads="1"/>
          </p:cNvSpPr>
          <p:nvPr/>
        </p:nvSpPr>
        <p:spPr bwMode="auto">
          <a:xfrm>
            <a:off x="3451225" y="1657350"/>
            <a:ext cx="1042988"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primary</a:t>
            </a:r>
            <a:br>
              <a:rPr lang="en-US" sz="1800">
                <a:solidFill>
                  <a:schemeClr val="bg1"/>
                </a:solidFill>
              </a:rPr>
            </a:br>
            <a:r>
              <a:rPr lang="en-US" sz="1800">
                <a:solidFill>
                  <a:schemeClr val="bg1"/>
                </a:solidFill>
              </a:rPr>
              <a:t>doctor</a:t>
            </a:r>
          </a:p>
        </p:txBody>
      </p:sp>
      <p:grpSp>
        <p:nvGrpSpPr>
          <p:cNvPr id="33798" name="Group 8"/>
          <p:cNvGrpSpPr>
            <a:grpSpLocks/>
          </p:cNvGrpSpPr>
          <p:nvPr/>
        </p:nvGrpSpPr>
        <p:grpSpPr bwMode="auto">
          <a:xfrm>
            <a:off x="2386013" y="1152525"/>
            <a:ext cx="1011237" cy="1001713"/>
            <a:chOff x="2461" y="1618"/>
            <a:chExt cx="635" cy="629"/>
          </a:xfrm>
        </p:grpSpPr>
        <p:sp>
          <p:nvSpPr>
            <p:cNvPr id="33855" name="AutoShape 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33856" name="Freeform 1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33857" name="Group 11"/>
            <p:cNvGrpSpPr>
              <a:grpSpLocks/>
            </p:cNvGrpSpPr>
            <p:nvPr/>
          </p:nvGrpSpPr>
          <p:grpSpPr bwMode="auto">
            <a:xfrm>
              <a:off x="2461" y="1618"/>
              <a:ext cx="275" cy="318"/>
              <a:chOff x="2983" y="1384"/>
              <a:chExt cx="275" cy="318"/>
            </a:xfrm>
          </p:grpSpPr>
          <p:sp>
            <p:nvSpPr>
              <p:cNvPr id="33858" name="Freeform 12"/>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59" name="Freeform 13"/>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60" name="Freeform 14"/>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61" name="Freeform 15"/>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62" name="Freeform 16"/>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3799" name="AutoShape 17"/>
          <p:cNvSpPr>
            <a:spLocks noChangeArrowheads="1"/>
          </p:cNvSpPr>
          <p:nvPr/>
        </p:nvSpPr>
        <p:spPr bwMode="auto">
          <a:xfrm>
            <a:off x="920750" y="1252538"/>
            <a:ext cx="676275" cy="6762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33800" name="Group 18"/>
          <p:cNvGrpSpPr>
            <a:grpSpLocks/>
          </p:cNvGrpSpPr>
          <p:nvPr/>
        </p:nvGrpSpPr>
        <p:grpSpPr bwMode="auto">
          <a:xfrm>
            <a:off x="7254875" y="1436688"/>
            <a:ext cx="1274763" cy="873125"/>
            <a:chOff x="463" y="1743"/>
            <a:chExt cx="1186" cy="813"/>
          </a:xfrm>
        </p:grpSpPr>
        <p:sp>
          <p:nvSpPr>
            <p:cNvPr id="33835" name="Freeform 19"/>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36" name="Freeform 20"/>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37" name="AutoShape 21"/>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3838" name="AutoShape 22"/>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33839" name="Freeform 23"/>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33840" name="Freeform 24"/>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3841" name="Freeform 25"/>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sp>
          <p:nvSpPr>
            <p:cNvPr id="33842" name="Freeform 26"/>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43" name="Freeform 27"/>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44" name="Freeform 28"/>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45" name="Freeform 29"/>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46" name="Freeform 30"/>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33847" name="Line 31"/>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48" name="Line 32"/>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49" name="Oval 33"/>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3850" name="Freeform 34"/>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51" name="Freeform 35"/>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52" name="Oval 36"/>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33853" name="Freeform 37"/>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54" name="Freeform 38"/>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3801" name="Group 39"/>
          <p:cNvGrpSpPr>
            <a:grpSpLocks/>
          </p:cNvGrpSpPr>
          <p:nvPr/>
        </p:nvGrpSpPr>
        <p:grpSpPr bwMode="auto">
          <a:xfrm>
            <a:off x="4973638" y="887413"/>
            <a:ext cx="2038350" cy="687387"/>
            <a:chOff x="3293" y="599"/>
            <a:chExt cx="1284" cy="433"/>
          </a:xfrm>
        </p:grpSpPr>
        <p:grpSp>
          <p:nvGrpSpPr>
            <p:cNvPr id="33827" name="Group 40"/>
            <p:cNvGrpSpPr>
              <a:grpSpLocks/>
            </p:cNvGrpSpPr>
            <p:nvPr/>
          </p:nvGrpSpPr>
          <p:grpSpPr bwMode="auto">
            <a:xfrm>
              <a:off x="3293" y="599"/>
              <a:ext cx="474" cy="433"/>
              <a:chOff x="1929" y="2960"/>
              <a:chExt cx="728" cy="665"/>
            </a:xfrm>
          </p:grpSpPr>
          <p:sp>
            <p:nvSpPr>
              <p:cNvPr id="33829" name="AutoShape 41"/>
              <p:cNvSpPr>
                <a:spLocks noChangeArrowheads="1"/>
              </p:cNvSpPr>
              <p:nvPr/>
            </p:nvSpPr>
            <p:spPr bwMode="auto">
              <a:xfrm>
                <a:off x="1929" y="2960"/>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33830" name="Group 42"/>
              <p:cNvGrpSpPr>
                <a:grpSpLocks/>
              </p:cNvGrpSpPr>
              <p:nvPr/>
            </p:nvGrpSpPr>
            <p:grpSpPr bwMode="auto">
              <a:xfrm>
                <a:off x="2328" y="3296"/>
                <a:ext cx="329" cy="329"/>
                <a:chOff x="2806" y="3358"/>
                <a:chExt cx="329" cy="329"/>
              </a:xfrm>
            </p:grpSpPr>
            <p:sp>
              <p:nvSpPr>
                <p:cNvPr id="33831" name="Oval 43"/>
                <p:cNvSpPr>
                  <a:spLocks noChangeArrowheads="1"/>
                </p:cNvSpPr>
                <p:nvPr/>
              </p:nvSpPr>
              <p:spPr bwMode="auto">
                <a:xfrm>
                  <a:off x="2806" y="3358"/>
                  <a:ext cx="329" cy="329"/>
                </a:xfrm>
                <a:prstGeom prst="ellipse">
                  <a:avLst/>
                </a:prstGeom>
                <a:solidFill>
                  <a:srgbClr val="D39E54"/>
                </a:solidFill>
                <a:ln w="28575" algn="ctr">
                  <a:solidFill>
                    <a:schemeClr val="bg1"/>
                  </a:solidFill>
                  <a:round/>
                  <a:headEnd/>
                  <a:tailEnd/>
                </a:ln>
              </p:spPr>
              <p:txBody>
                <a:bodyPr wrap="none" lIns="0" tIns="0" rIns="0" bIns="0" anchor="ctr">
                  <a:spAutoFit/>
                </a:bodyPr>
                <a:lstStyle/>
                <a:p>
                  <a:endParaRPr lang="en-US"/>
                </a:p>
              </p:txBody>
            </p:sp>
            <p:sp>
              <p:nvSpPr>
                <p:cNvPr id="33832" name="Freeform 44"/>
                <p:cNvSpPr>
                  <a:spLocks/>
                </p:cNvSpPr>
                <p:nvPr/>
              </p:nvSpPr>
              <p:spPr bwMode="auto">
                <a:xfrm>
                  <a:off x="2999" y="3399"/>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3833" name="Freeform 45"/>
                <p:cNvSpPr>
                  <a:spLocks/>
                </p:cNvSpPr>
                <p:nvPr/>
              </p:nvSpPr>
              <p:spPr bwMode="auto">
                <a:xfrm flipH="1">
                  <a:off x="2843" y="3395"/>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33834" name="Freeform 46"/>
                <p:cNvSpPr>
                  <a:spLocks/>
                </p:cNvSpPr>
                <p:nvPr/>
              </p:nvSpPr>
              <p:spPr bwMode="auto">
                <a:xfrm>
                  <a:off x="2879" y="3575"/>
                  <a:ext cx="177" cy="72"/>
                </a:xfrm>
                <a:custGeom>
                  <a:avLst/>
                  <a:gdLst>
                    <a:gd name="T0" fmla="*/ 128 w 177"/>
                    <a:gd name="T1" fmla="*/ 5 h 68"/>
                    <a:gd name="T2" fmla="*/ 177 w 177"/>
                    <a:gd name="T3" fmla="*/ 56 h 68"/>
                    <a:gd name="T4" fmla="*/ 159 w 177"/>
                    <a:gd name="T5" fmla="*/ 85 h 68"/>
                    <a:gd name="T6" fmla="*/ 137 w 177"/>
                    <a:gd name="T7" fmla="*/ 104 h 68"/>
                    <a:gd name="T8" fmla="*/ 105 w 177"/>
                    <a:gd name="T9" fmla="*/ 120 h 68"/>
                    <a:gd name="T10" fmla="*/ 60 w 177"/>
                    <a:gd name="T11" fmla="*/ 110 h 68"/>
                    <a:gd name="T12" fmla="*/ 26 w 177"/>
                    <a:gd name="T13" fmla="*/ 95 h 68"/>
                    <a:gd name="T14" fmla="*/ 0 w 177"/>
                    <a:gd name="T15" fmla="*/ 61 h 68"/>
                    <a:gd name="T16" fmla="*/ 53 w 177"/>
                    <a:gd name="T17" fmla="*/ 0 h 68"/>
                    <a:gd name="T18" fmla="*/ 66 w 177"/>
                    <a:gd name="T19" fmla="*/ 7 h 68"/>
                    <a:gd name="T20" fmla="*/ 86 w 177"/>
                    <a:gd name="T21" fmla="*/ 21 h 68"/>
                    <a:gd name="T22" fmla="*/ 105 w 177"/>
                    <a:gd name="T23" fmla="*/ 21 h 68"/>
                    <a:gd name="T24" fmla="*/ 128 w 177"/>
                    <a:gd name="T25" fmla="*/ 5 h 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68"/>
                    <a:gd name="T41" fmla="*/ 177 w 177"/>
                    <a:gd name="T42" fmla="*/ 68 h 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68">
                      <a:moveTo>
                        <a:pt x="128" y="5"/>
                      </a:moveTo>
                      <a:lnTo>
                        <a:pt x="177" y="32"/>
                      </a:lnTo>
                      <a:lnTo>
                        <a:pt x="159" y="48"/>
                      </a:lnTo>
                      <a:lnTo>
                        <a:pt x="137" y="59"/>
                      </a:lnTo>
                      <a:lnTo>
                        <a:pt x="105" y="68"/>
                      </a:lnTo>
                      <a:lnTo>
                        <a:pt x="60" y="62"/>
                      </a:lnTo>
                      <a:lnTo>
                        <a:pt x="26" y="54"/>
                      </a:lnTo>
                      <a:lnTo>
                        <a:pt x="0" y="35"/>
                      </a:lnTo>
                      <a:lnTo>
                        <a:pt x="53" y="0"/>
                      </a:lnTo>
                      <a:lnTo>
                        <a:pt x="66" y="7"/>
                      </a:lnTo>
                      <a:lnTo>
                        <a:pt x="86" y="11"/>
                      </a:lnTo>
                      <a:lnTo>
                        <a:pt x="105" y="11"/>
                      </a:lnTo>
                      <a:lnTo>
                        <a:pt x="128" y="5"/>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grpSp>
        </p:grpSp>
        <p:sp>
          <p:nvSpPr>
            <p:cNvPr id="33828" name="Text Box 47"/>
            <p:cNvSpPr txBox="1">
              <a:spLocks noChangeArrowheads="1"/>
            </p:cNvSpPr>
            <p:nvPr/>
          </p:nvSpPr>
          <p:spPr bwMode="auto">
            <a:xfrm>
              <a:off x="3764" y="689"/>
              <a:ext cx="81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 driver</a:t>
              </a:r>
            </a:p>
          </p:txBody>
        </p:sp>
      </p:grpSp>
      <p:grpSp>
        <p:nvGrpSpPr>
          <p:cNvPr id="33802" name="Group 48"/>
          <p:cNvGrpSpPr>
            <a:grpSpLocks/>
          </p:cNvGrpSpPr>
          <p:nvPr/>
        </p:nvGrpSpPr>
        <p:grpSpPr bwMode="auto">
          <a:xfrm>
            <a:off x="4973638" y="1612900"/>
            <a:ext cx="2038350" cy="687388"/>
            <a:chOff x="3293" y="599"/>
            <a:chExt cx="1284" cy="433"/>
          </a:xfrm>
        </p:grpSpPr>
        <p:grpSp>
          <p:nvGrpSpPr>
            <p:cNvPr id="33819" name="Group 49"/>
            <p:cNvGrpSpPr>
              <a:grpSpLocks/>
            </p:cNvGrpSpPr>
            <p:nvPr/>
          </p:nvGrpSpPr>
          <p:grpSpPr bwMode="auto">
            <a:xfrm>
              <a:off x="3293" y="599"/>
              <a:ext cx="474" cy="433"/>
              <a:chOff x="1929" y="2960"/>
              <a:chExt cx="728" cy="665"/>
            </a:xfrm>
          </p:grpSpPr>
          <p:sp>
            <p:nvSpPr>
              <p:cNvPr id="33821" name="AutoShape 50"/>
              <p:cNvSpPr>
                <a:spLocks noChangeArrowheads="1"/>
              </p:cNvSpPr>
              <p:nvPr/>
            </p:nvSpPr>
            <p:spPr bwMode="auto">
              <a:xfrm>
                <a:off x="1929" y="2960"/>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33822" name="Group 51"/>
              <p:cNvGrpSpPr>
                <a:grpSpLocks/>
              </p:cNvGrpSpPr>
              <p:nvPr/>
            </p:nvGrpSpPr>
            <p:grpSpPr bwMode="auto">
              <a:xfrm>
                <a:off x="2328" y="3296"/>
                <a:ext cx="329" cy="329"/>
                <a:chOff x="2806" y="3358"/>
                <a:chExt cx="329" cy="329"/>
              </a:xfrm>
            </p:grpSpPr>
            <p:sp>
              <p:nvSpPr>
                <p:cNvPr id="33823" name="Oval 52"/>
                <p:cNvSpPr>
                  <a:spLocks noChangeArrowheads="1"/>
                </p:cNvSpPr>
                <p:nvPr/>
              </p:nvSpPr>
              <p:spPr bwMode="auto">
                <a:xfrm>
                  <a:off x="2806" y="3358"/>
                  <a:ext cx="329" cy="329"/>
                </a:xfrm>
                <a:prstGeom prst="ellipse">
                  <a:avLst/>
                </a:prstGeom>
                <a:solidFill>
                  <a:srgbClr val="D39E54"/>
                </a:solidFill>
                <a:ln w="28575" algn="ctr">
                  <a:solidFill>
                    <a:schemeClr val="bg1"/>
                  </a:solidFill>
                  <a:round/>
                  <a:headEnd/>
                  <a:tailEnd/>
                </a:ln>
              </p:spPr>
              <p:txBody>
                <a:bodyPr wrap="none" lIns="0" tIns="0" rIns="0" bIns="0" anchor="ctr">
                  <a:spAutoFit/>
                </a:bodyPr>
                <a:lstStyle/>
                <a:p>
                  <a:endParaRPr lang="en-US"/>
                </a:p>
              </p:txBody>
            </p:sp>
            <p:sp>
              <p:nvSpPr>
                <p:cNvPr id="33824" name="Freeform 53"/>
                <p:cNvSpPr>
                  <a:spLocks/>
                </p:cNvSpPr>
                <p:nvPr/>
              </p:nvSpPr>
              <p:spPr bwMode="auto">
                <a:xfrm>
                  <a:off x="2999" y="3399"/>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3825" name="Freeform 54"/>
                <p:cNvSpPr>
                  <a:spLocks/>
                </p:cNvSpPr>
                <p:nvPr/>
              </p:nvSpPr>
              <p:spPr bwMode="auto">
                <a:xfrm flipH="1">
                  <a:off x="2843" y="3395"/>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33826" name="Freeform 55"/>
                <p:cNvSpPr>
                  <a:spLocks/>
                </p:cNvSpPr>
                <p:nvPr/>
              </p:nvSpPr>
              <p:spPr bwMode="auto">
                <a:xfrm>
                  <a:off x="2879" y="3575"/>
                  <a:ext cx="177" cy="72"/>
                </a:xfrm>
                <a:custGeom>
                  <a:avLst/>
                  <a:gdLst>
                    <a:gd name="T0" fmla="*/ 128 w 177"/>
                    <a:gd name="T1" fmla="*/ 5 h 68"/>
                    <a:gd name="T2" fmla="*/ 177 w 177"/>
                    <a:gd name="T3" fmla="*/ 56 h 68"/>
                    <a:gd name="T4" fmla="*/ 159 w 177"/>
                    <a:gd name="T5" fmla="*/ 85 h 68"/>
                    <a:gd name="T6" fmla="*/ 137 w 177"/>
                    <a:gd name="T7" fmla="*/ 104 h 68"/>
                    <a:gd name="T8" fmla="*/ 105 w 177"/>
                    <a:gd name="T9" fmla="*/ 120 h 68"/>
                    <a:gd name="T10" fmla="*/ 60 w 177"/>
                    <a:gd name="T11" fmla="*/ 110 h 68"/>
                    <a:gd name="T12" fmla="*/ 26 w 177"/>
                    <a:gd name="T13" fmla="*/ 95 h 68"/>
                    <a:gd name="T14" fmla="*/ 0 w 177"/>
                    <a:gd name="T15" fmla="*/ 61 h 68"/>
                    <a:gd name="T16" fmla="*/ 53 w 177"/>
                    <a:gd name="T17" fmla="*/ 0 h 68"/>
                    <a:gd name="T18" fmla="*/ 66 w 177"/>
                    <a:gd name="T19" fmla="*/ 7 h 68"/>
                    <a:gd name="T20" fmla="*/ 86 w 177"/>
                    <a:gd name="T21" fmla="*/ 21 h 68"/>
                    <a:gd name="T22" fmla="*/ 105 w 177"/>
                    <a:gd name="T23" fmla="*/ 21 h 68"/>
                    <a:gd name="T24" fmla="*/ 128 w 177"/>
                    <a:gd name="T25" fmla="*/ 5 h 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68"/>
                    <a:gd name="T41" fmla="*/ 177 w 177"/>
                    <a:gd name="T42" fmla="*/ 68 h 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68">
                      <a:moveTo>
                        <a:pt x="128" y="5"/>
                      </a:moveTo>
                      <a:lnTo>
                        <a:pt x="177" y="32"/>
                      </a:lnTo>
                      <a:lnTo>
                        <a:pt x="159" y="48"/>
                      </a:lnTo>
                      <a:lnTo>
                        <a:pt x="137" y="59"/>
                      </a:lnTo>
                      <a:lnTo>
                        <a:pt x="105" y="68"/>
                      </a:lnTo>
                      <a:lnTo>
                        <a:pt x="60" y="62"/>
                      </a:lnTo>
                      <a:lnTo>
                        <a:pt x="26" y="54"/>
                      </a:lnTo>
                      <a:lnTo>
                        <a:pt x="0" y="35"/>
                      </a:lnTo>
                      <a:lnTo>
                        <a:pt x="53" y="0"/>
                      </a:lnTo>
                      <a:lnTo>
                        <a:pt x="66" y="7"/>
                      </a:lnTo>
                      <a:lnTo>
                        <a:pt x="86" y="11"/>
                      </a:lnTo>
                      <a:lnTo>
                        <a:pt x="105" y="11"/>
                      </a:lnTo>
                      <a:lnTo>
                        <a:pt x="128" y="5"/>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grpSp>
        </p:grpSp>
        <p:sp>
          <p:nvSpPr>
            <p:cNvPr id="33820" name="Text Box 56"/>
            <p:cNvSpPr txBox="1">
              <a:spLocks noChangeArrowheads="1"/>
            </p:cNvSpPr>
            <p:nvPr/>
          </p:nvSpPr>
          <p:spPr bwMode="auto">
            <a:xfrm>
              <a:off x="3764" y="689"/>
              <a:ext cx="81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 driver</a:t>
              </a:r>
            </a:p>
          </p:txBody>
        </p:sp>
      </p:grpSp>
      <p:grpSp>
        <p:nvGrpSpPr>
          <p:cNvPr id="33803" name="Group 57"/>
          <p:cNvGrpSpPr>
            <a:grpSpLocks/>
          </p:cNvGrpSpPr>
          <p:nvPr/>
        </p:nvGrpSpPr>
        <p:grpSpPr bwMode="auto">
          <a:xfrm>
            <a:off x="4973638" y="2324100"/>
            <a:ext cx="2038350" cy="687388"/>
            <a:chOff x="3293" y="599"/>
            <a:chExt cx="1284" cy="433"/>
          </a:xfrm>
        </p:grpSpPr>
        <p:grpSp>
          <p:nvGrpSpPr>
            <p:cNvPr id="33811" name="Group 58"/>
            <p:cNvGrpSpPr>
              <a:grpSpLocks/>
            </p:cNvGrpSpPr>
            <p:nvPr/>
          </p:nvGrpSpPr>
          <p:grpSpPr bwMode="auto">
            <a:xfrm>
              <a:off x="3293" y="599"/>
              <a:ext cx="474" cy="433"/>
              <a:chOff x="1929" y="2960"/>
              <a:chExt cx="728" cy="665"/>
            </a:xfrm>
          </p:grpSpPr>
          <p:sp>
            <p:nvSpPr>
              <p:cNvPr id="33813" name="AutoShape 59"/>
              <p:cNvSpPr>
                <a:spLocks noChangeArrowheads="1"/>
              </p:cNvSpPr>
              <p:nvPr/>
            </p:nvSpPr>
            <p:spPr bwMode="auto">
              <a:xfrm>
                <a:off x="1929" y="2960"/>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33814" name="Group 60"/>
              <p:cNvGrpSpPr>
                <a:grpSpLocks/>
              </p:cNvGrpSpPr>
              <p:nvPr/>
            </p:nvGrpSpPr>
            <p:grpSpPr bwMode="auto">
              <a:xfrm>
                <a:off x="2328" y="3296"/>
                <a:ext cx="329" cy="329"/>
                <a:chOff x="2806" y="3358"/>
                <a:chExt cx="329" cy="329"/>
              </a:xfrm>
            </p:grpSpPr>
            <p:sp>
              <p:nvSpPr>
                <p:cNvPr id="33815" name="Oval 61"/>
                <p:cNvSpPr>
                  <a:spLocks noChangeArrowheads="1"/>
                </p:cNvSpPr>
                <p:nvPr/>
              </p:nvSpPr>
              <p:spPr bwMode="auto">
                <a:xfrm>
                  <a:off x="2806" y="3358"/>
                  <a:ext cx="329" cy="329"/>
                </a:xfrm>
                <a:prstGeom prst="ellipse">
                  <a:avLst/>
                </a:prstGeom>
                <a:solidFill>
                  <a:srgbClr val="D39E54"/>
                </a:solidFill>
                <a:ln w="28575" algn="ctr">
                  <a:solidFill>
                    <a:schemeClr val="bg1"/>
                  </a:solidFill>
                  <a:round/>
                  <a:headEnd/>
                  <a:tailEnd/>
                </a:ln>
              </p:spPr>
              <p:txBody>
                <a:bodyPr wrap="none" lIns="0" tIns="0" rIns="0" bIns="0" anchor="ctr">
                  <a:spAutoFit/>
                </a:bodyPr>
                <a:lstStyle/>
                <a:p>
                  <a:endParaRPr lang="en-US"/>
                </a:p>
              </p:txBody>
            </p:sp>
            <p:sp>
              <p:nvSpPr>
                <p:cNvPr id="33816" name="Freeform 62"/>
                <p:cNvSpPr>
                  <a:spLocks/>
                </p:cNvSpPr>
                <p:nvPr/>
              </p:nvSpPr>
              <p:spPr bwMode="auto">
                <a:xfrm>
                  <a:off x="2999" y="3399"/>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3817" name="Freeform 63"/>
                <p:cNvSpPr>
                  <a:spLocks/>
                </p:cNvSpPr>
                <p:nvPr/>
              </p:nvSpPr>
              <p:spPr bwMode="auto">
                <a:xfrm flipH="1">
                  <a:off x="2843" y="3395"/>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33818" name="Freeform 64"/>
                <p:cNvSpPr>
                  <a:spLocks/>
                </p:cNvSpPr>
                <p:nvPr/>
              </p:nvSpPr>
              <p:spPr bwMode="auto">
                <a:xfrm>
                  <a:off x="2879" y="3575"/>
                  <a:ext cx="177" cy="72"/>
                </a:xfrm>
                <a:custGeom>
                  <a:avLst/>
                  <a:gdLst>
                    <a:gd name="T0" fmla="*/ 128 w 177"/>
                    <a:gd name="T1" fmla="*/ 5 h 68"/>
                    <a:gd name="T2" fmla="*/ 177 w 177"/>
                    <a:gd name="T3" fmla="*/ 56 h 68"/>
                    <a:gd name="T4" fmla="*/ 159 w 177"/>
                    <a:gd name="T5" fmla="*/ 85 h 68"/>
                    <a:gd name="T6" fmla="*/ 137 w 177"/>
                    <a:gd name="T7" fmla="*/ 104 h 68"/>
                    <a:gd name="T8" fmla="*/ 105 w 177"/>
                    <a:gd name="T9" fmla="*/ 120 h 68"/>
                    <a:gd name="T10" fmla="*/ 60 w 177"/>
                    <a:gd name="T11" fmla="*/ 110 h 68"/>
                    <a:gd name="T12" fmla="*/ 26 w 177"/>
                    <a:gd name="T13" fmla="*/ 95 h 68"/>
                    <a:gd name="T14" fmla="*/ 0 w 177"/>
                    <a:gd name="T15" fmla="*/ 61 h 68"/>
                    <a:gd name="T16" fmla="*/ 53 w 177"/>
                    <a:gd name="T17" fmla="*/ 0 h 68"/>
                    <a:gd name="T18" fmla="*/ 66 w 177"/>
                    <a:gd name="T19" fmla="*/ 7 h 68"/>
                    <a:gd name="T20" fmla="*/ 86 w 177"/>
                    <a:gd name="T21" fmla="*/ 21 h 68"/>
                    <a:gd name="T22" fmla="*/ 105 w 177"/>
                    <a:gd name="T23" fmla="*/ 21 h 68"/>
                    <a:gd name="T24" fmla="*/ 128 w 177"/>
                    <a:gd name="T25" fmla="*/ 5 h 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68"/>
                    <a:gd name="T41" fmla="*/ 177 w 177"/>
                    <a:gd name="T42" fmla="*/ 68 h 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68">
                      <a:moveTo>
                        <a:pt x="128" y="5"/>
                      </a:moveTo>
                      <a:lnTo>
                        <a:pt x="177" y="32"/>
                      </a:lnTo>
                      <a:lnTo>
                        <a:pt x="159" y="48"/>
                      </a:lnTo>
                      <a:lnTo>
                        <a:pt x="137" y="59"/>
                      </a:lnTo>
                      <a:lnTo>
                        <a:pt x="105" y="68"/>
                      </a:lnTo>
                      <a:lnTo>
                        <a:pt x="60" y="62"/>
                      </a:lnTo>
                      <a:lnTo>
                        <a:pt x="26" y="54"/>
                      </a:lnTo>
                      <a:lnTo>
                        <a:pt x="0" y="35"/>
                      </a:lnTo>
                      <a:lnTo>
                        <a:pt x="53" y="0"/>
                      </a:lnTo>
                      <a:lnTo>
                        <a:pt x="66" y="7"/>
                      </a:lnTo>
                      <a:lnTo>
                        <a:pt x="86" y="11"/>
                      </a:lnTo>
                      <a:lnTo>
                        <a:pt x="105" y="11"/>
                      </a:lnTo>
                      <a:lnTo>
                        <a:pt x="128" y="5"/>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grpSp>
        </p:grpSp>
        <p:sp>
          <p:nvSpPr>
            <p:cNvPr id="33812" name="Text Box 65"/>
            <p:cNvSpPr txBox="1">
              <a:spLocks noChangeArrowheads="1"/>
            </p:cNvSpPr>
            <p:nvPr/>
          </p:nvSpPr>
          <p:spPr bwMode="auto">
            <a:xfrm>
              <a:off x="3764" y="689"/>
              <a:ext cx="81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 driver</a:t>
              </a:r>
            </a:p>
          </p:txBody>
        </p:sp>
      </p:grpSp>
      <p:sp>
        <p:nvSpPr>
          <p:cNvPr id="33804" name="Line 66"/>
          <p:cNvSpPr>
            <a:spLocks noChangeShapeType="1"/>
          </p:cNvSpPr>
          <p:nvPr/>
        </p:nvSpPr>
        <p:spPr bwMode="auto">
          <a:xfrm>
            <a:off x="6989763" y="1889125"/>
            <a:ext cx="26352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5" name="Line 67"/>
          <p:cNvSpPr>
            <a:spLocks noChangeShapeType="1"/>
          </p:cNvSpPr>
          <p:nvPr/>
        </p:nvSpPr>
        <p:spPr bwMode="auto">
          <a:xfrm flipV="1">
            <a:off x="6973888" y="2276475"/>
            <a:ext cx="295275" cy="2635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6" name="Line 68"/>
          <p:cNvSpPr>
            <a:spLocks noChangeShapeType="1"/>
          </p:cNvSpPr>
          <p:nvPr/>
        </p:nvSpPr>
        <p:spPr bwMode="auto">
          <a:xfrm>
            <a:off x="6989763" y="1144588"/>
            <a:ext cx="279400" cy="279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7" name="Text Box 69"/>
          <p:cNvSpPr txBox="1">
            <a:spLocks noChangeArrowheads="1"/>
          </p:cNvSpPr>
          <p:nvPr/>
        </p:nvSpPr>
        <p:spPr bwMode="auto">
          <a:xfrm>
            <a:off x="700088" y="2554288"/>
            <a:ext cx="31162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2400"/>
              <a:t>An attorney who's the primary doctor?</a:t>
            </a:r>
          </a:p>
        </p:txBody>
      </p:sp>
      <p:sp>
        <p:nvSpPr>
          <p:cNvPr id="33808" name="Text Box 70"/>
          <p:cNvSpPr txBox="1">
            <a:spLocks noChangeArrowheads="1"/>
          </p:cNvSpPr>
          <p:nvPr/>
        </p:nvSpPr>
        <p:spPr bwMode="auto">
          <a:xfrm>
            <a:off x="5053013" y="3074988"/>
            <a:ext cx="31162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2400"/>
              <a:t>Three people were driving the car?</a:t>
            </a:r>
          </a:p>
        </p:txBody>
      </p:sp>
      <p:sp>
        <p:nvSpPr>
          <p:cNvPr id="33809" name="AutoShape 86"/>
          <p:cNvSpPr>
            <a:spLocks noChangeArrowheads="1"/>
          </p:cNvSpPr>
          <p:nvPr/>
        </p:nvSpPr>
        <p:spPr bwMode="auto">
          <a:xfrm>
            <a:off x="4513263" y="1420813"/>
            <a:ext cx="676275" cy="6762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3810" name="AutoShape 87"/>
          <p:cNvSpPr>
            <a:spLocks noChangeArrowheads="1"/>
          </p:cNvSpPr>
          <p:nvPr/>
        </p:nvSpPr>
        <p:spPr bwMode="auto">
          <a:xfrm>
            <a:off x="4514850" y="2165350"/>
            <a:ext cx="676275" cy="6762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2"/>
          <p:cNvGrpSpPr>
            <a:grpSpLocks/>
          </p:cNvGrpSpPr>
          <p:nvPr/>
        </p:nvGrpSpPr>
        <p:grpSpPr bwMode="auto">
          <a:xfrm>
            <a:off x="7291388" y="2773363"/>
            <a:ext cx="622300" cy="700087"/>
            <a:chOff x="2324" y="435"/>
            <a:chExt cx="933" cy="1052"/>
          </a:xfrm>
        </p:grpSpPr>
        <p:sp>
          <p:nvSpPr>
            <p:cNvPr id="34869" name="AutoShape 3"/>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4870" name="Freeform 4"/>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34871" name="Freeform 5"/>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34872" name="Freeform 6"/>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4873" name="Group 7"/>
            <p:cNvGrpSpPr>
              <a:grpSpLocks/>
            </p:cNvGrpSpPr>
            <p:nvPr/>
          </p:nvGrpSpPr>
          <p:grpSpPr bwMode="auto">
            <a:xfrm>
              <a:off x="2889" y="957"/>
              <a:ext cx="348" cy="510"/>
              <a:chOff x="2784" y="3210"/>
              <a:chExt cx="523" cy="772"/>
            </a:xfrm>
          </p:grpSpPr>
          <p:sp>
            <p:nvSpPr>
              <p:cNvPr id="34874" name="AutoShape 8"/>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4875" name="AutoShape 9"/>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4876" name="AutoShape 10"/>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4877" name="Oval 11"/>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34819" name="Rectangle 12"/>
          <p:cNvSpPr>
            <a:spLocks noGrp="1" noChangeArrowheads="1"/>
          </p:cNvSpPr>
          <p:nvPr>
            <p:ph type="title"/>
          </p:nvPr>
        </p:nvSpPr>
        <p:spPr/>
        <p:txBody>
          <a:bodyPr/>
          <a:lstStyle/>
          <a:p>
            <a:pPr eaLnBrk="1" hangingPunct="1"/>
            <a:r>
              <a:rPr lang="en-US"/>
              <a:t>Two types of role constraints</a:t>
            </a:r>
          </a:p>
        </p:txBody>
      </p:sp>
      <p:grpSp>
        <p:nvGrpSpPr>
          <p:cNvPr id="34820" name="Group 14"/>
          <p:cNvGrpSpPr>
            <a:grpSpLocks/>
          </p:cNvGrpSpPr>
          <p:nvPr/>
        </p:nvGrpSpPr>
        <p:grpSpPr bwMode="auto">
          <a:xfrm>
            <a:off x="1003300" y="1665288"/>
            <a:ext cx="1671638" cy="711200"/>
            <a:chOff x="2524" y="2022"/>
            <a:chExt cx="1053" cy="448"/>
          </a:xfrm>
        </p:grpSpPr>
        <p:sp>
          <p:nvSpPr>
            <p:cNvPr id="34867" name="AutoShape 1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34868" name="Text Box 1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Doctor</a:t>
              </a:r>
            </a:p>
          </p:txBody>
        </p:sp>
      </p:grpSp>
      <p:grpSp>
        <p:nvGrpSpPr>
          <p:cNvPr id="34821" name="Group 17"/>
          <p:cNvGrpSpPr>
            <a:grpSpLocks/>
          </p:cNvGrpSpPr>
          <p:nvPr/>
        </p:nvGrpSpPr>
        <p:grpSpPr bwMode="auto">
          <a:xfrm>
            <a:off x="2114550" y="1060450"/>
            <a:ext cx="1011238" cy="1001713"/>
            <a:chOff x="2461" y="1618"/>
            <a:chExt cx="635" cy="629"/>
          </a:xfrm>
        </p:grpSpPr>
        <p:sp>
          <p:nvSpPr>
            <p:cNvPr id="34859" name="AutoShape 18"/>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34860" name="Freeform 19"/>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34861" name="Group 20"/>
            <p:cNvGrpSpPr>
              <a:grpSpLocks/>
            </p:cNvGrpSpPr>
            <p:nvPr/>
          </p:nvGrpSpPr>
          <p:grpSpPr bwMode="auto">
            <a:xfrm>
              <a:off x="2461" y="1618"/>
              <a:ext cx="275" cy="318"/>
              <a:chOff x="2983" y="1384"/>
              <a:chExt cx="275" cy="318"/>
            </a:xfrm>
          </p:grpSpPr>
          <p:sp>
            <p:nvSpPr>
              <p:cNvPr id="34862" name="Freeform 21"/>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63" name="Freeform 22"/>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64" name="Freeform 23"/>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65" name="Freeform 24"/>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66" name="Freeform 25"/>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4822" name="Text Box 26"/>
          <p:cNvSpPr txBox="1">
            <a:spLocks noChangeArrowheads="1"/>
          </p:cNvSpPr>
          <p:nvPr/>
        </p:nvSpPr>
        <p:spPr bwMode="auto">
          <a:xfrm>
            <a:off x="3179763" y="1565275"/>
            <a:ext cx="104298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primary</a:t>
            </a:r>
            <a:br>
              <a:rPr lang="en-US" sz="1800">
                <a:solidFill>
                  <a:schemeClr val="bg1"/>
                </a:solidFill>
              </a:rPr>
            </a:br>
            <a:r>
              <a:rPr lang="en-US" sz="1800">
                <a:solidFill>
                  <a:schemeClr val="bg1"/>
                </a:solidFill>
              </a:rPr>
              <a:t>doctor</a:t>
            </a:r>
          </a:p>
        </p:txBody>
      </p:sp>
      <p:grpSp>
        <p:nvGrpSpPr>
          <p:cNvPr id="34823" name="Group 27"/>
          <p:cNvGrpSpPr>
            <a:grpSpLocks/>
          </p:cNvGrpSpPr>
          <p:nvPr/>
        </p:nvGrpSpPr>
        <p:grpSpPr bwMode="auto">
          <a:xfrm>
            <a:off x="998538" y="3275013"/>
            <a:ext cx="1671637" cy="711200"/>
            <a:chOff x="2524" y="2022"/>
            <a:chExt cx="1053" cy="448"/>
          </a:xfrm>
        </p:grpSpPr>
        <p:sp>
          <p:nvSpPr>
            <p:cNvPr id="34857" name="AutoShape 28"/>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34858" name="Text Box 29"/>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Attorney</a:t>
              </a:r>
            </a:p>
          </p:txBody>
        </p:sp>
      </p:grpSp>
      <p:sp>
        <p:nvSpPr>
          <p:cNvPr id="34824" name="Text Box 30"/>
          <p:cNvSpPr txBox="1">
            <a:spLocks noChangeArrowheads="1"/>
          </p:cNvSpPr>
          <p:nvPr/>
        </p:nvSpPr>
        <p:spPr bwMode="auto">
          <a:xfrm>
            <a:off x="3175000" y="3175000"/>
            <a:ext cx="1042988"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primary</a:t>
            </a:r>
            <a:br>
              <a:rPr lang="en-US" sz="1800">
                <a:solidFill>
                  <a:schemeClr val="bg1"/>
                </a:solidFill>
              </a:rPr>
            </a:br>
            <a:r>
              <a:rPr lang="en-US" sz="1800">
                <a:solidFill>
                  <a:schemeClr val="bg1"/>
                </a:solidFill>
              </a:rPr>
              <a:t>doctor</a:t>
            </a:r>
          </a:p>
        </p:txBody>
      </p:sp>
      <p:grpSp>
        <p:nvGrpSpPr>
          <p:cNvPr id="34825" name="Group 31"/>
          <p:cNvGrpSpPr>
            <a:grpSpLocks/>
          </p:cNvGrpSpPr>
          <p:nvPr/>
        </p:nvGrpSpPr>
        <p:grpSpPr bwMode="auto">
          <a:xfrm>
            <a:off x="2109788" y="2670175"/>
            <a:ext cx="1011237" cy="1001713"/>
            <a:chOff x="2461" y="1618"/>
            <a:chExt cx="635" cy="629"/>
          </a:xfrm>
        </p:grpSpPr>
        <p:sp>
          <p:nvSpPr>
            <p:cNvPr id="34849" name="AutoShape 32"/>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34850" name="Freeform 33"/>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34851" name="Group 34"/>
            <p:cNvGrpSpPr>
              <a:grpSpLocks/>
            </p:cNvGrpSpPr>
            <p:nvPr/>
          </p:nvGrpSpPr>
          <p:grpSpPr bwMode="auto">
            <a:xfrm>
              <a:off x="2461" y="1618"/>
              <a:ext cx="275" cy="318"/>
              <a:chOff x="2983" y="1384"/>
              <a:chExt cx="275" cy="318"/>
            </a:xfrm>
          </p:grpSpPr>
          <p:sp>
            <p:nvSpPr>
              <p:cNvPr id="34852" name="Freeform 35"/>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53" name="Freeform 36"/>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54" name="Freeform 37"/>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55" name="Freeform 38"/>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56" name="Freeform 39"/>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4826" name="AutoShape 40"/>
          <p:cNvSpPr>
            <a:spLocks noChangeArrowheads="1"/>
          </p:cNvSpPr>
          <p:nvPr/>
        </p:nvSpPr>
        <p:spPr bwMode="auto">
          <a:xfrm>
            <a:off x="687388" y="1169988"/>
            <a:ext cx="669925" cy="66992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327" y="10800"/>
                </a:moveTo>
                <a:cubicBezTo>
                  <a:pt x="3327" y="14927"/>
                  <a:pt x="6673" y="18273"/>
                  <a:pt x="10800" y="18273"/>
                </a:cubicBezTo>
                <a:cubicBezTo>
                  <a:pt x="14927" y="18273"/>
                  <a:pt x="18273" y="14927"/>
                  <a:pt x="18273" y="10800"/>
                </a:cubicBezTo>
                <a:cubicBezTo>
                  <a:pt x="18273" y="6673"/>
                  <a:pt x="14927" y="3327"/>
                  <a:pt x="10800" y="3327"/>
                </a:cubicBezTo>
                <a:cubicBezTo>
                  <a:pt x="6673" y="3327"/>
                  <a:pt x="3327" y="6673"/>
                  <a:pt x="3327" y="10800"/>
                </a:cubicBezTo>
                <a:close/>
              </a:path>
            </a:pathLst>
          </a:custGeom>
          <a:solidFill>
            <a:srgbClr val="00990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4827" name="AutoShape 41"/>
          <p:cNvSpPr>
            <a:spLocks noChangeArrowheads="1"/>
          </p:cNvSpPr>
          <p:nvPr/>
        </p:nvSpPr>
        <p:spPr bwMode="auto">
          <a:xfrm>
            <a:off x="644525" y="2770188"/>
            <a:ext cx="676275" cy="6762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34828" name="Group 42"/>
          <p:cNvGrpSpPr>
            <a:grpSpLocks/>
          </p:cNvGrpSpPr>
          <p:nvPr/>
        </p:nvGrpSpPr>
        <p:grpSpPr bwMode="auto">
          <a:xfrm>
            <a:off x="7307263" y="1292225"/>
            <a:ext cx="641350" cy="636588"/>
            <a:chOff x="3360" y="800"/>
            <a:chExt cx="620" cy="616"/>
          </a:xfrm>
        </p:grpSpPr>
        <p:sp>
          <p:nvSpPr>
            <p:cNvPr id="34843" name="AutoShape 4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4844" name="Freeform 44"/>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4845" name="Group 45"/>
            <p:cNvGrpSpPr>
              <a:grpSpLocks/>
            </p:cNvGrpSpPr>
            <p:nvPr/>
          </p:nvGrpSpPr>
          <p:grpSpPr bwMode="auto">
            <a:xfrm flipH="1">
              <a:off x="3749" y="1171"/>
              <a:ext cx="212" cy="213"/>
              <a:chOff x="1350" y="686"/>
              <a:chExt cx="1132" cy="1132"/>
            </a:xfrm>
          </p:grpSpPr>
          <p:sp>
            <p:nvSpPr>
              <p:cNvPr id="34847" name="AutoShape 4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4848" name="Picture 4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4846" name="Picture 4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4829" name="Text Box 49"/>
          <p:cNvSpPr txBox="1">
            <a:spLocks noChangeArrowheads="1"/>
          </p:cNvSpPr>
          <p:nvPr/>
        </p:nvSpPr>
        <p:spPr bwMode="auto">
          <a:xfrm>
            <a:off x="6945313" y="1968500"/>
            <a:ext cx="13287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exposure</a:t>
            </a:r>
            <a:br>
              <a:rPr lang="en-US" sz="1800">
                <a:solidFill>
                  <a:schemeClr val="bg1"/>
                </a:solidFill>
              </a:rPr>
            </a:br>
            <a:r>
              <a:rPr lang="en-US" sz="1800">
                <a:solidFill>
                  <a:schemeClr val="bg1"/>
                </a:solidFill>
              </a:rPr>
              <a:t>(exactly 1)</a:t>
            </a:r>
          </a:p>
        </p:txBody>
      </p:sp>
      <p:grpSp>
        <p:nvGrpSpPr>
          <p:cNvPr id="34830" name="Group 50"/>
          <p:cNvGrpSpPr>
            <a:grpSpLocks/>
          </p:cNvGrpSpPr>
          <p:nvPr/>
        </p:nvGrpSpPr>
        <p:grpSpPr bwMode="auto">
          <a:xfrm>
            <a:off x="5637213" y="1268413"/>
            <a:ext cx="688975" cy="688975"/>
            <a:chOff x="1350" y="686"/>
            <a:chExt cx="1132" cy="1132"/>
          </a:xfrm>
        </p:grpSpPr>
        <p:sp>
          <p:nvSpPr>
            <p:cNvPr id="34841" name="AutoShape 5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4842" name="Picture 5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4831" name="Text Box 53"/>
          <p:cNvSpPr txBox="1">
            <a:spLocks noChangeArrowheads="1"/>
          </p:cNvSpPr>
          <p:nvPr/>
        </p:nvSpPr>
        <p:spPr bwMode="auto">
          <a:xfrm>
            <a:off x="5199063" y="1981200"/>
            <a:ext cx="15255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role: claimant</a:t>
            </a:r>
          </a:p>
        </p:txBody>
      </p:sp>
      <p:sp>
        <p:nvSpPr>
          <p:cNvPr id="34832" name="AutoShape 54"/>
          <p:cNvSpPr>
            <a:spLocks noChangeArrowheads="1"/>
          </p:cNvSpPr>
          <p:nvPr/>
        </p:nvSpPr>
        <p:spPr bwMode="auto">
          <a:xfrm>
            <a:off x="6269038" y="1457325"/>
            <a:ext cx="1057275" cy="346075"/>
          </a:xfrm>
          <a:prstGeom prst="rightArrow">
            <a:avLst>
              <a:gd name="adj1" fmla="val 50000"/>
              <a:gd name="adj2" fmla="val 76376"/>
            </a:avLst>
          </a:prstGeom>
          <a:solidFill>
            <a:srgbClr val="008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4833" name="Text Box 55"/>
          <p:cNvSpPr txBox="1">
            <a:spLocks noChangeArrowheads="1"/>
          </p:cNvSpPr>
          <p:nvPr/>
        </p:nvSpPr>
        <p:spPr bwMode="auto">
          <a:xfrm>
            <a:off x="6954838" y="3478213"/>
            <a:ext cx="13287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policy</a:t>
            </a:r>
            <a:br>
              <a:rPr lang="en-US" sz="1800">
                <a:solidFill>
                  <a:schemeClr val="bg1"/>
                </a:solidFill>
              </a:rPr>
            </a:br>
            <a:r>
              <a:rPr lang="en-US" sz="1800">
                <a:solidFill>
                  <a:schemeClr val="bg1"/>
                </a:solidFill>
              </a:rPr>
              <a:t>(0)</a:t>
            </a:r>
          </a:p>
        </p:txBody>
      </p:sp>
      <p:grpSp>
        <p:nvGrpSpPr>
          <p:cNvPr id="34834" name="Group 56"/>
          <p:cNvGrpSpPr>
            <a:grpSpLocks/>
          </p:cNvGrpSpPr>
          <p:nvPr/>
        </p:nvGrpSpPr>
        <p:grpSpPr bwMode="auto">
          <a:xfrm>
            <a:off x="5646738" y="2778125"/>
            <a:ext cx="688975" cy="688975"/>
            <a:chOff x="1350" y="686"/>
            <a:chExt cx="1132" cy="1132"/>
          </a:xfrm>
        </p:grpSpPr>
        <p:sp>
          <p:nvSpPr>
            <p:cNvPr id="34839" name="AutoShape 5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4840" name="Picture 5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4835" name="Text Box 59"/>
          <p:cNvSpPr txBox="1">
            <a:spLocks noChangeArrowheads="1"/>
          </p:cNvSpPr>
          <p:nvPr/>
        </p:nvSpPr>
        <p:spPr bwMode="auto">
          <a:xfrm>
            <a:off x="5208588" y="3490913"/>
            <a:ext cx="15255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role: claimant</a:t>
            </a:r>
          </a:p>
        </p:txBody>
      </p:sp>
      <p:sp>
        <p:nvSpPr>
          <p:cNvPr id="34836" name="AutoShape 60"/>
          <p:cNvSpPr>
            <a:spLocks noChangeArrowheads="1"/>
          </p:cNvSpPr>
          <p:nvPr/>
        </p:nvSpPr>
        <p:spPr bwMode="auto">
          <a:xfrm>
            <a:off x="6278563" y="2967038"/>
            <a:ext cx="1057275" cy="346075"/>
          </a:xfrm>
          <a:prstGeom prst="rightArrow">
            <a:avLst>
              <a:gd name="adj1" fmla="val 50000"/>
              <a:gd name="adj2" fmla="val 76376"/>
            </a:avLst>
          </a:prstGeom>
          <a:solidFill>
            <a:srgbClr val="008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4837" name="Rectangle 62"/>
          <p:cNvSpPr>
            <a:spLocks noChangeArrowheads="1"/>
          </p:cNvSpPr>
          <p:nvPr/>
        </p:nvSpPr>
        <p:spPr bwMode="auto">
          <a:xfrm>
            <a:off x="519113" y="4297363"/>
            <a:ext cx="3946525"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None/>
            </a:pPr>
            <a:r>
              <a:rPr lang="en-US" sz="2400" b="0">
                <a:solidFill>
                  <a:srgbClr val="9933FF"/>
                </a:solidFill>
              </a:rPr>
              <a:t>Contact role type constraint</a:t>
            </a:r>
            <a:r>
              <a:rPr lang="en-US" sz="2400" b="0"/>
              <a:t> </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Which subtypes can have this role?</a:t>
            </a:r>
          </a:p>
        </p:txBody>
      </p:sp>
      <p:sp>
        <p:nvSpPr>
          <p:cNvPr id="34838" name="Rectangle 63"/>
          <p:cNvSpPr>
            <a:spLocks noChangeArrowheads="1"/>
          </p:cNvSpPr>
          <p:nvPr/>
        </p:nvSpPr>
        <p:spPr bwMode="auto">
          <a:xfrm>
            <a:off x="4833938" y="4297363"/>
            <a:ext cx="3860800"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None/>
            </a:pPr>
            <a:r>
              <a:rPr lang="en-US" sz="2400" b="0">
                <a:solidFill>
                  <a:srgbClr val="3366FF"/>
                </a:solidFill>
              </a:rPr>
              <a:t>Entity role constraint</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Which types of entity can own the role?</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How many contacts can you have with role?</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descr="C:\Users\trhoades\AppData\Local\Temp\SNAGHTML23e7f52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1366" y="3748087"/>
            <a:ext cx="3230128" cy="310991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Users\trhoades\AppData\Local\Temp\SNAGHTML23e6e5b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1366" y="124187"/>
            <a:ext cx="3889452" cy="3533413"/>
          </a:xfrm>
          <a:prstGeom prst="rect">
            <a:avLst/>
          </a:prstGeom>
          <a:noFill/>
          <a:extLst>
            <a:ext uri="{909E8E84-426E-40DD-AFC4-6F175D3DCCD1}">
              <a14:hiddenFill xmlns:a14="http://schemas.microsoft.com/office/drawing/2010/main">
                <a:solidFill>
                  <a:srgbClr val="FFFFFF"/>
                </a:solidFill>
              </a14:hiddenFill>
            </a:ext>
          </a:extLst>
        </p:spPr>
      </p:pic>
      <p:sp>
        <p:nvSpPr>
          <p:cNvPr id="35842" name="Rectangle 2"/>
          <p:cNvSpPr>
            <a:spLocks noGrp="1" noChangeArrowheads="1"/>
          </p:cNvSpPr>
          <p:nvPr>
            <p:ph type="title"/>
          </p:nvPr>
        </p:nvSpPr>
        <p:spPr>
          <a:xfrm>
            <a:off x="495300" y="120650"/>
            <a:ext cx="4455435" cy="742950"/>
          </a:xfrm>
        </p:spPr>
        <p:txBody>
          <a:bodyPr/>
          <a:lstStyle/>
          <a:p>
            <a:pPr eaLnBrk="1" hangingPunct="1"/>
            <a:r>
              <a:rPr lang="en-US"/>
              <a:t>Specifying role constraints</a:t>
            </a:r>
          </a:p>
        </p:txBody>
      </p:sp>
      <p:sp>
        <p:nvSpPr>
          <p:cNvPr id="35843" name="Rectangle 3"/>
          <p:cNvSpPr>
            <a:spLocks noGrp="1" noChangeArrowheads="1"/>
          </p:cNvSpPr>
          <p:nvPr>
            <p:ph idx="1"/>
          </p:nvPr>
        </p:nvSpPr>
        <p:spPr>
          <a:xfrm>
            <a:off x="519113" y="1192213"/>
            <a:ext cx="4675187" cy="5197475"/>
          </a:xfrm>
        </p:spPr>
        <p:txBody>
          <a:bodyPr/>
          <a:lstStyle/>
          <a:p>
            <a:r>
              <a:rPr lang="en-US"/>
              <a:t>Both type are specified in entityroleconstraints-config.xml</a:t>
            </a:r>
          </a:p>
        </p:txBody>
      </p:sp>
      <p:sp>
        <p:nvSpPr>
          <p:cNvPr id="35846" name="Line 6"/>
          <p:cNvSpPr>
            <a:spLocks noChangeShapeType="1"/>
          </p:cNvSpPr>
          <p:nvPr/>
        </p:nvSpPr>
        <p:spPr bwMode="auto">
          <a:xfrm flipH="1">
            <a:off x="5057775" y="2360171"/>
            <a:ext cx="391715" cy="1083117"/>
          </a:xfrm>
          <a:prstGeom prst="line">
            <a:avLst/>
          </a:prstGeom>
          <a:noFill/>
          <a:ln w="19050">
            <a:solidFill>
              <a:srgbClr val="9933FF"/>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5847" name="Group 7"/>
          <p:cNvGrpSpPr>
            <a:grpSpLocks/>
          </p:cNvGrpSpPr>
          <p:nvPr/>
        </p:nvGrpSpPr>
        <p:grpSpPr bwMode="auto">
          <a:xfrm>
            <a:off x="3430588" y="4445000"/>
            <a:ext cx="641350" cy="636588"/>
            <a:chOff x="3360" y="800"/>
            <a:chExt cx="620" cy="616"/>
          </a:xfrm>
        </p:grpSpPr>
        <p:sp>
          <p:nvSpPr>
            <p:cNvPr id="35871" name="AutoShape 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5872" name="Freeform 9"/>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5873" name="Group 10"/>
            <p:cNvGrpSpPr>
              <a:grpSpLocks/>
            </p:cNvGrpSpPr>
            <p:nvPr/>
          </p:nvGrpSpPr>
          <p:grpSpPr bwMode="auto">
            <a:xfrm flipH="1">
              <a:off x="3749" y="1171"/>
              <a:ext cx="212" cy="213"/>
              <a:chOff x="1350" y="686"/>
              <a:chExt cx="1132" cy="1132"/>
            </a:xfrm>
          </p:grpSpPr>
          <p:sp>
            <p:nvSpPr>
              <p:cNvPr id="35875" name="AutoShape 1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5876" name="Picture 12" descr="j015193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5874" name="Picture 13" descr="BS01887_"/>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5848" name="Text Box 14"/>
          <p:cNvSpPr txBox="1">
            <a:spLocks noChangeArrowheads="1"/>
          </p:cNvSpPr>
          <p:nvPr/>
        </p:nvSpPr>
        <p:spPr bwMode="auto">
          <a:xfrm>
            <a:off x="3068638" y="5121275"/>
            <a:ext cx="13287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exposure</a:t>
            </a:r>
            <a:br>
              <a:rPr lang="en-US" sz="1800">
                <a:solidFill>
                  <a:schemeClr val="bg1"/>
                </a:solidFill>
              </a:rPr>
            </a:br>
            <a:r>
              <a:rPr lang="en-US" sz="1800">
                <a:solidFill>
                  <a:schemeClr val="bg1"/>
                </a:solidFill>
              </a:rPr>
              <a:t>(exactly 1)</a:t>
            </a:r>
          </a:p>
        </p:txBody>
      </p:sp>
      <p:grpSp>
        <p:nvGrpSpPr>
          <p:cNvPr id="35849" name="Group 15"/>
          <p:cNvGrpSpPr>
            <a:grpSpLocks/>
          </p:cNvGrpSpPr>
          <p:nvPr/>
        </p:nvGrpSpPr>
        <p:grpSpPr bwMode="auto">
          <a:xfrm>
            <a:off x="1740693" y="4422939"/>
            <a:ext cx="688975" cy="688975"/>
            <a:chOff x="1350" y="686"/>
            <a:chExt cx="1132" cy="1132"/>
          </a:xfrm>
        </p:grpSpPr>
        <p:sp>
          <p:nvSpPr>
            <p:cNvPr id="35869" name="AutoShape 1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5870" name="Picture 17" descr="j015193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5850" name="Text Box 18"/>
          <p:cNvSpPr txBox="1">
            <a:spLocks noChangeArrowheads="1"/>
          </p:cNvSpPr>
          <p:nvPr/>
        </p:nvSpPr>
        <p:spPr bwMode="auto">
          <a:xfrm>
            <a:off x="1322388" y="5133975"/>
            <a:ext cx="15255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role: claimant</a:t>
            </a:r>
          </a:p>
        </p:txBody>
      </p:sp>
      <p:sp>
        <p:nvSpPr>
          <p:cNvPr id="35851" name="AutoShape 19"/>
          <p:cNvSpPr>
            <a:spLocks noChangeArrowheads="1"/>
          </p:cNvSpPr>
          <p:nvPr/>
        </p:nvSpPr>
        <p:spPr bwMode="auto">
          <a:xfrm>
            <a:off x="2392363" y="4610100"/>
            <a:ext cx="1057275" cy="346075"/>
          </a:xfrm>
          <a:prstGeom prst="rightArrow">
            <a:avLst>
              <a:gd name="adj1" fmla="val 50000"/>
              <a:gd name="adj2" fmla="val 76376"/>
            </a:avLst>
          </a:prstGeom>
          <a:solidFill>
            <a:srgbClr val="008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5853" name="Text Box 21"/>
          <p:cNvSpPr txBox="1">
            <a:spLocks noChangeArrowheads="1"/>
          </p:cNvSpPr>
          <p:nvPr/>
        </p:nvSpPr>
        <p:spPr bwMode="auto">
          <a:xfrm>
            <a:off x="871538" y="3379788"/>
            <a:ext cx="42719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2400">
                <a:solidFill>
                  <a:srgbClr val="9933FF"/>
                </a:solidFill>
              </a:rPr>
              <a:t>Contact role type constraints</a:t>
            </a:r>
          </a:p>
        </p:txBody>
      </p:sp>
      <p:sp>
        <p:nvSpPr>
          <p:cNvPr id="35854" name="Text Box 22"/>
          <p:cNvSpPr txBox="1">
            <a:spLocks noChangeArrowheads="1"/>
          </p:cNvSpPr>
          <p:nvPr/>
        </p:nvSpPr>
        <p:spPr bwMode="auto">
          <a:xfrm>
            <a:off x="781050" y="5686425"/>
            <a:ext cx="42719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2400">
                <a:solidFill>
                  <a:srgbClr val="3366FF"/>
                </a:solidFill>
              </a:rPr>
              <a:t>Entity role constraints</a:t>
            </a:r>
          </a:p>
        </p:txBody>
      </p:sp>
      <p:sp>
        <p:nvSpPr>
          <p:cNvPr id="35855" name="Line 23"/>
          <p:cNvSpPr>
            <a:spLocks noChangeShapeType="1"/>
          </p:cNvSpPr>
          <p:nvPr/>
        </p:nvSpPr>
        <p:spPr bwMode="auto">
          <a:xfrm flipV="1">
            <a:off x="4557713" y="5270896"/>
            <a:ext cx="891777" cy="486967"/>
          </a:xfrm>
          <a:prstGeom prst="line">
            <a:avLst/>
          </a:prstGeom>
          <a:noFill/>
          <a:ln w="19050">
            <a:solidFill>
              <a:srgbClr val="3366FF"/>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5856" name="Group 24"/>
          <p:cNvGrpSpPr>
            <a:grpSpLocks/>
          </p:cNvGrpSpPr>
          <p:nvPr/>
        </p:nvGrpSpPr>
        <p:grpSpPr bwMode="auto">
          <a:xfrm>
            <a:off x="1525588" y="2603500"/>
            <a:ext cx="1671637" cy="711200"/>
            <a:chOff x="2524" y="2022"/>
            <a:chExt cx="1053" cy="448"/>
          </a:xfrm>
        </p:grpSpPr>
        <p:sp>
          <p:nvSpPr>
            <p:cNvPr id="35867" name="AutoShape 2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35868" name="Text Box 2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Doctor</a:t>
              </a:r>
            </a:p>
          </p:txBody>
        </p:sp>
      </p:grpSp>
      <p:grpSp>
        <p:nvGrpSpPr>
          <p:cNvPr id="35857" name="Group 27"/>
          <p:cNvGrpSpPr>
            <a:grpSpLocks/>
          </p:cNvGrpSpPr>
          <p:nvPr/>
        </p:nvGrpSpPr>
        <p:grpSpPr bwMode="auto">
          <a:xfrm>
            <a:off x="2636838" y="1998663"/>
            <a:ext cx="1011237" cy="1001712"/>
            <a:chOff x="2461" y="1618"/>
            <a:chExt cx="635" cy="629"/>
          </a:xfrm>
        </p:grpSpPr>
        <p:sp>
          <p:nvSpPr>
            <p:cNvPr id="35859" name="AutoShape 28"/>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35860" name="Freeform 29"/>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35861" name="Group 30"/>
            <p:cNvGrpSpPr>
              <a:grpSpLocks/>
            </p:cNvGrpSpPr>
            <p:nvPr/>
          </p:nvGrpSpPr>
          <p:grpSpPr bwMode="auto">
            <a:xfrm>
              <a:off x="2461" y="1618"/>
              <a:ext cx="275" cy="318"/>
              <a:chOff x="2983" y="1384"/>
              <a:chExt cx="275" cy="318"/>
            </a:xfrm>
          </p:grpSpPr>
          <p:sp>
            <p:nvSpPr>
              <p:cNvPr id="35862" name="Freeform 31"/>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3" name="Freeform 32"/>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4" name="Freeform 33"/>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5" name="Freeform 34"/>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6" name="Freeform 35"/>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5858" name="Text Box 36"/>
          <p:cNvSpPr txBox="1">
            <a:spLocks noChangeArrowheads="1"/>
          </p:cNvSpPr>
          <p:nvPr/>
        </p:nvSpPr>
        <p:spPr bwMode="auto">
          <a:xfrm>
            <a:off x="3702050" y="2503488"/>
            <a:ext cx="104298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primary</a:t>
            </a:r>
            <a:br>
              <a:rPr lang="en-US" sz="1800">
                <a:solidFill>
                  <a:schemeClr val="bg1"/>
                </a:solidFill>
              </a:rPr>
            </a:br>
            <a:r>
              <a:rPr lang="en-US" sz="1800">
                <a:solidFill>
                  <a:schemeClr val="bg1"/>
                </a:solidFill>
              </a:rPr>
              <a:t>doctor</a:t>
            </a:r>
          </a:p>
        </p:txBody>
      </p:sp>
      <p:sp>
        <p:nvSpPr>
          <p:cNvPr id="2" name="Rectangle 1"/>
          <p:cNvSpPr/>
          <p:nvPr/>
        </p:nvSpPr>
        <p:spPr bwMode="auto">
          <a:xfrm>
            <a:off x="5449490" y="3750468"/>
            <a:ext cx="2992004" cy="3040857"/>
          </a:xfrm>
          <a:prstGeom prst="rect">
            <a:avLst/>
          </a:prstGeom>
          <a:noFill/>
          <a:ln w="19050" algn="ctr">
            <a:solidFill>
              <a:srgbClr val="3366FF"/>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1" name="Rectangle 40"/>
          <p:cNvSpPr/>
          <p:nvPr/>
        </p:nvSpPr>
        <p:spPr bwMode="auto">
          <a:xfrm>
            <a:off x="5449490" y="616743"/>
            <a:ext cx="3651327" cy="3040857"/>
          </a:xfrm>
          <a:prstGeom prst="rect">
            <a:avLst/>
          </a:prstGeom>
          <a:noFill/>
          <a:ln w="19050" algn="ctr">
            <a:solidFill>
              <a:srgbClr val="7030A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t>Lesson outline</a:t>
            </a:r>
          </a:p>
        </p:txBody>
      </p:sp>
      <p:sp>
        <p:nvSpPr>
          <p:cNvPr id="36867" name="Rectangle 3"/>
          <p:cNvSpPr>
            <a:spLocks noGrp="1" noChangeArrowheads="1"/>
          </p:cNvSpPr>
          <p:nvPr>
            <p:ph idx="1"/>
          </p:nvPr>
        </p:nvSpPr>
        <p:spPr/>
        <p:txBody>
          <a:bodyPr/>
          <a:lstStyle/>
          <a:p>
            <a:pPr>
              <a:lnSpc>
                <a:spcPct val="150000"/>
              </a:lnSpc>
            </a:pPr>
            <a:r>
              <a:rPr lang="en-US" sz="2800">
                <a:solidFill>
                  <a:srgbClr val="C0C0C0"/>
                </a:solidFill>
              </a:rPr>
              <a:t>Contact basics</a:t>
            </a:r>
          </a:p>
          <a:p>
            <a:pPr>
              <a:lnSpc>
                <a:spcPct val="150000"/>
              </a:lnSpc>
            </a:pPr>
            <a:r>
              <a:rPr lang="en-US" sz="2800">
                <a:solidFill>
                  <a:srgbClr val="C0C0C0"/>
                </a:solidFill>
              </a:rPr>
              <a:t>Contact roles</a:t>
            </a:r>
          </a:p>
          <a:p>
            <a:pPr>
              <a:lnSpc>
                <a:spcPct val="150000"/>
              </a:lnSpc>
            </a:pPr>
            <a:r>
              <a:rPr lang="en-US" sz="2800">
                <a:solidFill>
                  <a:srgbClr val="C0C0C0"/>
                </a:solidFill>
              </a:rPr>
              <a:t>Categorizing contact</a:t>
            </a:r>
          </a:p>
          <a:p>
            <a:pPr>
              <a:lnSpc>
                <a:spcPct val="150000"/>
              </a:lnSpc>
            </a:pPr>
            <a:r>
              <a:rPr lang="en-US" sz="2800">
                <a:solidFill>
                  <a:srgbClr val="C0C0C0"/>
                </a:solidFill>
              </a:rPr>
              <a:t>Contact role configuration</a:t>
            </a:r>
          </a:p>
          <a:p>
            <a:pPr>
              <a:lnSpc>
                <a:spcPct val="150000"/>
              </a:lnSpc>
            </a:pPr>
            <a:r>
              <a:rPr lang="en-US" sz="2800"/>
              <a:t>Contact role type constraints</a:t>
            </a:r>
          </a:p>
          <a:p>
            <a:pPr>
              <a:lnSpc>
                <a:spcPct val="150000"/>
              </a:lnSpc>
            </a:pPr>
            <a:r>
              <a:rPr lang="en-US" sz="2800">
                <a:solidFill>
                  <a:srgbClr val="C0C0C0"/>
                </a:solidFill>
              </a:rPr>
              <a:t>Entity role constraints</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7738" y="557212"/>
            <a:ext cx="5838825" cy="42957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7891" name="Rectangle 3"/>
          <p:cNvSpPr>
            <a:spLocks noGrp="1" noChangeArrowheads="1"/>
          </p:cNvSpPr>
          <p:nvPr>
            <p:ph type="title"/>
          </p:nvPr>
        </p:nvSpPr>
        <p:spPr>
          <a:xfrm>
            <a:off x="495300" y="115888"/>
            <a:ext cx="8318500" cy="742950"/>
          </a:xfrm>
        </p:spPr>
        <p:txBody>
          <a:bodyPr/>
          <a:lstStyle/>
          <a:p>
            <a:pPr eaLnBrk="1" hangingPunct="1"/>
            <a:r>
              <a:rPr lang="en-US"/>
              <a:t>Contact role type constraints in the user interface</a:t>
            </a:r>
          </a:p>
        </p:txBody>
      </p:sp>
      <p:sp>
        <p:nvSpPr>
          <p:cNvPr id="37892" name="Rectangle 4"/>
          <p:cNvSpPr>
            <a:spLocks noGrp="1" noChangeArrowheads="1"/>
          </p:cNvSpPr>
          <p:nvPr>
            <p:ph idx="1"/>
          </p:nvPr>
        </p:nvSpPr>
        <p:spPr>
          <a:xfrm>
            <a:off x="519113" y="4886325"/>
            <a:ext cx="8318500" cy="1503363"/>
          </a:xfrm>
        </p:spPr>
        <p:txBody>
          <a:bodyPr/>
          <a:lstStyle/>
          <a:p>
            <a:r>
              <a:rPr lang="en-US"/>
              <a:t>Prevents user from assigning given role to contact of given subtype</a:t>
            </a:r>
          </a:p>
          <a:p>
            <a:pPr lvl="1"/>
            <a:r>
              <a:rPr lang="en-US"/>
              <a:t>Role appears in dropdown, but attempts to save contact fail</a:t>
            </a:r>
          </a:p>
        </p:txBody>
      </p:sp>
      <p:grpSp>
        <p:nvGrpSpPr>
          <p:cNvPr id="37893" name="Group 5"/>
          <p:cNvGrpSpPr>
            <a:grpSpLocks/>
          </p:cNvGrpSpPr>
          <p:nvPr/>
        </p:nvGrpSpPr>
        <p:grpSpPr bwMode="auto">
          <a:xfrm>
            <a:off x="5297488" y="3440112"/>
            <a:ext cx="1671637" cy="711200"/>
            <a:chOff x="2524" y="2022"/>
            <a:chExt cx="1053" cy="448"/>
          </a:xfrm>
        </p:grpSpPr>
        <p:sp>
          <p:nvSpPr>
            <p:cNvPr id="37908" name="AutoShape 6"/>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37909" name="Text Box 7"/>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Attorney</a:t>
              </a:r>
            </a:p>
          </p:txBody>
        </p:sp>
      </p:grpSp>
      <p:sp>
        <p:nvSpPr>
          <p:cNvPr id="37894" name="Text Box 8"/>
          <p:cNvSpPr txBox="1">
            <a:spLocks noChangeArrowheads="1"/>
          </p:cNvSpPr>
          <p:nvPr/>
        </p:nvSpPr>
        <p:spPr bwMode="auto">
          <a:xfrm>
            <a:off x="6017345" y="1846218"/>
            <a:ext cx="104298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role:</a:t>
            </a:r>
            <a:br>
              <a:rPr lang="en-US" sz="1800">
                <a:solidFill>
                  <a:schemeClr val="bg1"/>
                </a:solidFill>
              </a:rPr>
            </a:br>
            <a:r>
              <a:rPr lang="en-US" sz="1800">
                <a:solidFill>
                  <a:schemeClr val="bg1"/>
                </a:solidFill>
              </a:rPr>
              <a:t>primary</a:t>
            </a:r>
            <a:br>
              <a:rPr lang="en-US" sz="1800">
                <a:solidFill>
                  <a:schemeClr val="bg1"/>
                </a:solidFill>
              </a:rPr>
            </a:br>
            <a:r>
              <a:rPr lang="en-US" sz="1800">
                <a:solidFill>
                  <a:schemeClr val="bg1"/>
                </a:solidFill>
              </a:rPr>
              <a:t>doctor</a:t>
            </a:r>
          </a:p>
        </p:txBody>
      </p:sp>
      <p:grpSp>
        <p:nvGrpSpPr>
          <p:cNvPr id="37895" name="Group 9"/>
          <p:cNvGrpSpPr>
            <a:grpSpLocks/>
          </p:cNvGrpSpPr>
          <p:nvPr/>
        </p:nvGrpSpPr>
        <p:grpSpPr bwMode="auto">
          <a:xfrm>
            <a:off x="6717946" y="1401781"/>
            <a:ext cx="1011237" cy="1001712"/>
            <a:chOff x="2461" y="1618"/>
            <a:chExt cx="635" cy="629"/>
          </a:xfrm>
        </p:grpSpPr>
        <p:sp>
          <p:nvSpPr>
            <p:cNvPr id="37900" name="AutoShape 10"/>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37901" name="Freeform 11"/>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37902" name="Group 12"/>
            <p:cNvGrpSpPr>
              <a:grpSpLocks/>
            </p:cNvGrpSpPr>
            <p:nvPr/>
          </p:nvGrpSpPr>
          <p:grpSpPr bwMode="auto">
            <a:xfrm>
              <a:off x="2461" y="1618"/>
              <a:ext cx="275" cy="318"/>
              <a:chOff x="2983" y="1384"/>
              <a:chExt cx="275" cy="318"/>
            </a:xfrm>
          </p:grpSpPr>
          <p:sp>
            <p:nvSpPr>
              <p:cNvPr id="37903" name="Freeform 13"/>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04" name="Freeform 14"/>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05" name="Freeform 15"/>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06" name="Freeform 16"/>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07" name="Freeform 17"/>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7896" name="AutoShape 18"/>
          <p:cNvSpPr>
            <a:spLocks noChangeArrowheads="1"/>
          </p:cNvSpPr>
          <p:nvPr/>
        </p:nvSpPr>
        <p:spPr bwMode="auto">
          <a:xfrm>
            <a:off x="5054600" y="3119437"/>
            <a:ext cx="676275" cy="6762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7897" name="Line 19"/>
          <p:cNvSpPr>
            <a:spLocks noChangeShapeType="1"/>
          </p:cNvSpPr>
          <p:nvPr/>
        </p:nvSpPr>
        <p:spPr bwMode="auto">
          <a:xfrm flipV="1">
            <a:off x="5786438" y="1308100"/>
            <a:ext cx="0" cy="1371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898" name="Line 20"/>
          <p:cNvSpPr>
            <a:spLocks noChangeShapeType="1"/>
          </p:cNvSpPr>
          <p:nvPr/>
        </p:nvSpPr>
        <p:spPr bwMode="auto">
          <a:xfrm flipH="1" flipV="1">
            <a:off x="5210174" y="1181100"/>
            <a:ext cx="576263" cy="1270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7899" name="Line 21"/>
          <p:cNvSpPr>
            <a:spLocks noChangeShapeType="1"/>
          </p:cNvSpPr>
          <p:nvPr/>
        </p:nvSpPr>
        <p:spPr bwMode="auto">
          <a:xfrm flipH="1">
            <a:off x="6319837" y="2657475"/>
            <a:ext cx="0" cy="32698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Contact role type constraint configuration</a:t>
            </a:r>
          </a:p>
        </p:txBody>
      </p:sp>
      <p:sp>
        <p:nvSpPr>
          <p:cNvPr id="38915" name="Rectangle 3"/>
          <p:cNvSpPr>
            <a:spLocks noGrp="1" noChangeArrowheads="1"/>
          </p:cNvSpPr>
          <p:nvPr>
            <p:ph idx="1"/>
          </p:nvPr>
        </p:nvSpPr>
        <p:spPr>
          <a:xfrm>
            <a:off x="519113" y="4406900"/>
            <a:ext cx="8318500" cy="1993900"/>
          </a:xfrm>
        </p:spPr>
        <p:txBody>
          <a:bodyPr/>
          <a:lstStyle/>
          <a:p>
            <a:r>
              <a:rPr lang="en-US"/>
              <a:t>Identifies a contact role (such as "</a:t>
            </a:r>
            <a:r>
              <a:rPr lang="en-US" err="1"/>
              <a:t>PrimaryDoctor</a:t>
            </a:r>
            <a:r>
              <a:rPr lang="en-US"/>
              <a:t>") and the base subtype which is valid for that role (such as "Doctor")</a:t>
            </a:r>
          </a:p>
          <a:p>
            <a:pPr lvl="1"/>
            <a:r>
              <a:rPr lang="en-US"/>
              <a:t>Children subtypes of the base subtype also valid</a:t>
            </a:r>
          </a:p>
          <a:p>
            <a:pPr lvl="1"/>
            <a:r>
              <a:rPr lang="en-US"/>
              <a:t>In most cases, only one base subtype valid for each role</a:t>
            </a:r>
          </a:p>
          <a:p>
            <a:pPr lvl="1"/>
            <a:r>
              <a:rPr lang="en-US"/>
              <a:t>Given base subtype may be valid for multiple roles</a:t>
            </a:r>
          </a:p>
        </p:txBody>
      </p:sp>
      <p:grpSp>
        <p:nvGrpSpPr>
          <p:cNvPr id="38917" name="Group 5"/>
          <p:cNvGrpSpPr>
            <a:grpSpLocks/>
          </p:cNvGrpSpPr>
          <p:nvPr/>
        </p:nvGrpSpPr>
        <p:grpSpPr bwMode="auto">
          <a:xfrm>
            <a:off x="1228725" y="1470025"/>
            <a:ext cx="1671638" cy="711200"/>
            <a:chOff x="2524" y="2022"/>
            <a:chExt cx="1053" cy="448"/>
          </a:xfrm>
        </p:grpSpPr>
        <p:sp>
          <p:nvSpPr>
            <p:cNvPr id="38959" name="AutoShape 6"/>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38960" name="Text Box 7"/>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Doctor</a:t>
              </a:r>
            </a:p>
          </p:txBody>
        </p:sp>
      </p:grpSp>
      <p:grpSp>
        <p:nvGrpSpPr>
          <p:cNvPr id="38918" name="Group 8"/>
          <p:cNvGrpSpPr>
            <a:grpSpLocks/>
          </p:cNvGrpSpPr>
          <p:nvPr/>
        </p:nvGrpSpPr>
        <p:grpSpPr bwMode="auto">
          <a:xfrm>
            <a:off x="2339975" y="865188"/>
            <a:ext cx="1011238" cy="1001712"/>
            <a:chOff x="2461" y="1618"/>
            <a:chExt cx="635" cy="629"/>
          </a:xfrm>
        </p:grpSpPr>
        <p:sp>
          <p:nvSpPr>
            <p:cNvPr id="38951" name="AutoShape 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38952" name="Freeform 1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38953" name="Group 11"/>
            <p:cNvGrpSpPr>
              <a:grpSpLocks/>
            </p:cNvGrpSpPr>
            <p:nvPr/>
          </p:nvGrpSpPr>
          <p:grpSpPr bwMode="auto">
            <a:xfrm>
              <a:off x="2461" y="1618"/>
              <a:ext cx="275" cy="318"/>
              <a:chOff x="2983" y="1384"/>
              <a:chExt cx="275" cy="318"/>
            </a:xfrm>
          </p:grpSpPr>
          <p:sp>
            <p:nvSpPr>
              <p:cNvPr id="38954" name="Freeform 12"/>
              <p:cNvSpPr>
                <a:spLocks/>
              </p:cNvSpPr>
              <p:nvPr/>
            </p:nvSpPr>
            <p:spPr bwMode="auto">
              <a:xfrm>
                <a:off x="2983" y="1384"/>
                <a:ext cx="275" cy="318"/>
              </a:xfrm>
              <a:custGeom>
                <a:avLst/>
                <a:gdLst>
                  <a:gd name="T0" fmla="*/ 0 w 343"/>
                  <a:gd name="T1" fmla="*/ 22 h 396"/>
                  <a:gd name="T2" fmla="*/ 2 w 343"/>
                  <a:gd name="T3" fmla="*/ 27 h 396"/>
                  <a:gd name="T4" fmla="*/ 2 w 343"/>
                  <a:gd name="T5" fmla="*/ 31 h 396"/>
                  <a:gd name="T6" fmla="*/ 3 w 343"/>
                  <a:gd name="T7" fmla="*/ 35 h 396"/>
                  <a:gd name="T8" fmla="*/ 6 w 343"/>
                  <a:gd name="T9" fmla="*/ 38 h 396"/>
                  <a:gd name="T10" fmla="*/ 8 w 343"/>
                  <a:gd name="T11" fmla="*/ 41 h 396"/>
                  <a:gd name="T12" fmla="*/ 11 w 343"/>
                  <a:gd name="T13" fmla="*/ 43 h 396"/>
                  <a:gd name="T14" fmla="*/ 15 w 343"/>
                  <a:gd name="T15" fmla="*/ 43 h 396"/>
                  <a:gd name="T16" fmla="*/ 19 w 343"/>
                  <a:gd name="T17" fmla="*/ 44 h 396"/>
                  <a:gd name="T18" fmla="*/ 22 w 343"/>
                  <a:gd name="T19" fmla="*/ 43 h 396"/>
                  <a:gd name="T20" fmla="*/ 26 w 343"/>
                  <a:gd name="T21" fmla="*/ 43 h 396"/>
                  <a:gd name="T22" fmla="*/ 30 w 343"/>
                  <a:gd name="T23" fmla="*/ 41 h 396"/>
                  <a:gd name="T24" fmla="*/ 33 w 343"/>
                  <a:gd name="T25" fmla="*/ 38 h 396"/>
                  <a:gd name="T26" fmla="*/ 34 w 343"/>
                  <a:gd name="T27" fmla="*/ 35 h 396"/>
                  <a:gd name="T28" fmla="*/ 36 w 343"/>
                  <a:gd name="T29" fmla="*/ 31 h 396"/>
                  <a:gd name="T30" fmla="*/ 38 w 343"/>
                  <a:gd name="T31" fmla="*/ 27 h 396"/>
                  <a:gd name="T32" fmla="*/ 38 w 343"/>
                  <a:gd name="T33" fmla="*/ 22 h 396"/>
                  <a:gd name="T34" fmla="*/ 38 w 343"/>
                  <a:gd name="T35" fmla="*/ 18 h 396"/>
                  <a:gd name="T36" fmla="*/ 36 w 343"/>
                  <a:gd name="T37" fmla="*/ 14 h 396"/>
                  <a:gd name="T38" fmla="*/ 34 w 343"/>
                  <a:gd name="T39" fmla="*/ 9 h 396"/>
                  <a:gd name="T40" fmla="*/ 33 w 343"/>
                  <a:gd name="T41" fmla="*/ 6 h 396"/>
                  <a:gd name="T42" fmla="*/ 30 w 343"/>
                  <a:gd name="T43" fmla="*/ 4 h 396"/>
                  <a:gd name="T44" fmla="*/ 26 w 343"/>
                  <a:gd name="T45" fmla="*/ 2 h 396"/>
                  <a:gd name="T46" fmla="*/ 22 w 343"/>
                  <a:gd name="T47" fmla="*/ 2 h 396"/>
                  <a:gd name="T48" fmla="*/ 19 w 343"/>
                  <a:gd name="T49" fmla="*/ 0 h 396"/>
                  <a:gd name="T50" fmla="*/ 15 w 343"/>
                  <a:gd name="T51" fmla="*/ 2 h 396"/>
                  <a:gd name="T52" fmla="*/ 11 w 343"/>
                  <a:gd name="T53" fmla="*/ 2 h 396"/>
                  <a:gd name="T54" fmla="*/ 8 w 343"/>
                  <a:gd name="T55" fmla="*/ 4 h 396"/>
                  <a:gd name="T56" fmla="*/ 6 w 343"/>
                  <a:gd name="T57" fmla="*/ 6 h 396"/>
                  <a:gd name="T58" fmla="*/ 3 w 343"/>
                  <a:gd name="T59" fmla="*/ 9 h 396"/>
                  <a:gd name="T60" fmla="*/ 2 w 343"/>
                  <a:gd name="T61" fmla="*/ 14 h 396"/>
                  <a:gd name="T62" fmla="*/ 2 w 343"/>
                  <a:gd name="T63" fmla="*/ 18 h 396"/>
                  <a:gd name="T64" fmla="*/ 0 w 343"/>
                  <a:gd name="T65" fmla="*/ 2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55" name="Freeform 13"/>
              <p:cNvSpPr>
                <a:spLocks/>
              </p:cNvSpPr>
              <p:nvPr/>
            </p:nvSpPr>
            <p:spPr bwMode="auto">
              <a:xfrm>
                <a:off x="2999" y="1400"/>
                <a:ext cx="243" cy="286"/>
              </a:xfrm>
              <a:custGeom>
                <a:avLst/>
                <a:gdLst>
                  <a:gd name="T0" fmla="*/ 0 w 303"/>
                  <a:gd name="T1" fmla="*/ 20 h 356"/>
                  <a:gd name="T2" fmla="*/ 2 w 303"/>
                  <a:gd name="T3" fmla="*/ 16 h 356"/>
                  <a:gd name="T4" fmla="*/ 2 w 303"/>
                  <a:gd name="T5" fmla="*/ 12 h 356"/>
                  <a:gd name="T6" fmla="*/ 3 w 303"/>
                  <a:gd name="T7" fmla="*/ 9 h 356"/>
                  <a:gd name="T8" fmla="*/ 5 w 303"/>
                  <a:gd name="T9" fmla="*/ 6 h 356"/>
                  <a:gd name="T10" fmla="*/ 7 w 303"/>
                  <a:gd name="T11" fmla="*/ 3 h 356"/>
                  <a:gd name="T12" fmla="*/ 10 w 303"/>
                  <a:gd name="T13" fmla="*/ 2 h 356"/>
                  <a:gd name="T14" fmla="*/ 14 w 303"/>
                  <a:gd name="T15" fmla="*/ 2 h 356"/>
                  <a:gd name="T16" fmla="*/ 17 w 303"/>
                  <a:gd name="T17" fmla="*/ 0 h 356"/>
                  <a:gd name="T18" fmla="*/ 19 w 303"/>
                  <a:gd name="T19" fmla="*/ 2 h 356"/>
                  <a:gd name="T20" fmla="*/ 23 w 303"/>
                  <a:gd name="T21" fmla="*/ 2 h 356"/>
                  <a:gd name="T22" fmla="*/ 26 w 303"/>
                  <a:gd name="T23" fmla="*/ 3 h 356"/>
                  <a:gd name="T24" fmla="*/ 28 w 303"/>
                  <a:gd name="T25" fmla="*/ 6 h 356"/>
                  <a:gd name="T26" fmla="*/ 30 w 303"/>
                  <a:gd name="T27" fmla="*/ 9 h 356"/>
                  <a:gd name="T28" fmla="*/ 32 w 303"/>
                  <a:gd name="T29" fmla="*/ 12 h 356"/>
                  <a:gd name="T30" fmla="*/ 33 w 303"/>
                  <a:gd name="T31" fmla="*/ 16 h 356"/>
                  <a:gd name="T32" fmla="*/ 33 w 303"/>
                  <a:gd name="T33" fmla="*/ 20 h 356"/>
                  <a:gd name="T34" fmla="*/ 33 w 303"/>
                  <a:gd name="T35" fmla="*/ 25 h 356"/>
                  <a:gd name="T36" fmla="*/ 32 w 303"/>
                  <a:gd name="T37" fmla="*/ 28 h 356"/>
                  <a:gd name="T38" fmla="*/ 30 w 303"/>
                  <a:gd name="T39" fmla="*/ 31 h 356"/>
                  <a:gd name="T40" fmla="*/ 28 w 303"/>
                  <a:gd name="T41" fmla="*/ 34 h 356"/>
                  <a:gd name="T42" fmla="*/ 26 w 303"/>
                  <a:gd name="T43" fmla="*/ 37 h 356"/>
                  <a:gd name="T44" fmla="*/ 23 w 303"/>
                  <a:gd name="T45" fmla="*/ 38 h 356"/>
                  <a:gd name="T46" fmla="*/ 19 w 303"/>
                  <a:gd name="T47" fmla="*/ 39 h 356"/>
                  <a:gd name="T48" fmla="*/ 17 w 303"/>
                  <a:gd name="T49" fmla="*/ 40 h 356"/>
                  <a:gd name="T50" fmla="*/ 14 w 303"/>
                  <a:gd name="T51" fmla="*/ 39 h 356"/>
                  <a:gd name="T52" fmla="*/ 10 w 303"/>
                  <a:gd name="T53" fmla="*/ 38 h 356"/>
                  <a:gd name="T54" fmla="*/ 7 w 303"/>
                  <a:gd name="T55" fmla="*/ 37 h 356"/>
                  <a:gd name="T56" fmla="*/ 5 w 303"/>
                  <a:gd name="T57" fmla="*/ 34 h 356"/>
                  <a:gd name="T58" fmla="*/ 3 w 303"/>
                  <a:gd name="T59" fmla="*/ 31 h 356"/>
                  <a:gd name="T60" fmla="*/ 2 w 303"/>
                  <a:gd name="T61" fmla="*/ 28 h 356"/>
                  <a:gd name="T62" fmla="*/ 2 w 303"/>
                  <a:gd name="T63" fmla="*/ 25 h 356"/>
                  <a:gd name="T64" fmla="*/ 0 w 303"/>
                  <a:gd name="T65" fmla="*/ 20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56" name="Freeform 14"/>
              <p:cNvSpPr>
                <a:spLocks/>
              </p:cNvSpPr>
              <p:nvPr/>
            </p:nvSpPr>
            <p:spPr bwMode="auto">
              <a:xfrm>
                <a:off x="3127" y="1444"/>
                <a:ext cx="77" cy="167"/>
              </a:xfrm>
              <a:custGeom>
                <a:avLst/>
                <a:gdLst>
                  <a:gd name="T0" fmla="*/ 0 w 95"/>
                  <a:gd name="T1" fmla="*/ 2 h 208"/>
                  <a:gd name="T2" fmla="*/ 2 w 95"/>
                  <a:gd name="T3" fmla="*/ 2 h 208"/>
                  <a:gd name="T4" fmla="*/ 2 w 95"/>
                  <a:gd name="T5" fmla="*/ 2 h 208"/>
                  <a:gd name="T6" fmla="*/ 2 w 95"/>
                  <a:gd name="T7" fmla="*/ 2 h 208"/>
                  <a:gd name="T8" fmla="*/ 3 w 95"/>
                  <a:gd name="T9" fmla="*/ 3 h 208"/>
                  <a:gd name="T10" fmla="*/ 4 w 95"/>
                  <a:gd name="T11" fmla="*/ 4 h 208"/>
                  <a:gd name="T12" fmla="*/ 6 w 95"/>
                  <a:gd name="T13" fmla="*/ 5 h 208"/>
                  <a:gd name="T14" fmla="*/ 6 w 95"/>
                  <a:gd name="T15" fmla="*/ 6 h 208"/>
                  <a:gd name="T16" fmla="*/ 8 w 95"/>
                  <a:gd name="T17" fmla="*/ 7 h 208"/>
                  <a:gd name="T18" fmla="*/ 9 w 95"/>
                  <a:gd name="T19" fmla="*/ 10 h 208"/>
                  <a:gd name="T20" fmla="*/ 9 w 95"/>
                  <a:gd name="T21" fmla="*/ 14 h 208"/>
                  <a:gd name="T22" fmla="*/ 8 w 95"/>
                  <a:gd name="T23" fmla="*/ 18 h 208"/>
                  <a:gd name="T24" fmla="*/ 6 w 95"/>
                  <a:gd name="T25" fmla="*/ 22 h 208"/>
                  <a:gd name="T26" fmla="*/ 8 w 95"/>
                  <a:gd name="T27" fmla="*/ 23 h 208"/>
                  <a:gd name="T28" fmla="*/ 10 w 95"/>
                  <a:gd name="T29" fmla="*/ 18 h 208"/>
                  <a:gd name="T30" fmla="*/ 12 w 95"/>
                  <a:gd name="T31" fmla="*/ 14 h 208"/>
                  <a:gd name="T32" fmla="*/ 11 w 95"/>
                  <a:gd name="T33" fmla="*/ 9 h 208"/>
                  <a:gd name="T34" fmla="*/ 10 w 95"/>
                  <a:gd name="T35" fmla="*/ 6 h 208"/>
                  <a:gd name="T36" fmla="*/ 9 w 95"/>
                  <a:gd name="T37" fmla="*/ 5 h 208"/>
                  <a:gd name="T38" fmla="*/ 7 w 95"/>
                  <a:gd name="T39" fmla="*/ 3 h 208"/>
                  <a:gd name="T40" fmla="*/ 6 w 95"/>
                  <a:gd name="T41" fmla="*/ 2 h 208"/>
                  <a:gd name="T42" fmla="*/ 4 w 95"/>
                  <a:gd name="T43" fmla="*/ 2 h 208"/>
                  <a:gd name="T44" fmla="*/ 2 w 95"/>
                  <a:gd name="T45" fmla="*/ 2 h 208"/>
                  <a:gd name="T46" fmla="*/ 2 w 95"/>
                  <a:gd name="T47" fmla="*/ 2 h 208"/>
                  <a:gd name="T48" fmla="*/ 2 w 95"/>
                  <a:gd name="T49" fmla="*/ 0 h 208"/>
                  <a:gd name="T50" fmla="*/ 2 w 95"/>
                  <a:gd name="T51" fmla="*/ 0 h 208"/>
                  <a:gd name="T52" fmla="*/ 0 w 95"/>
                  <a:gd name="T53" fmla="*/ 2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57" name="Freeform 15"/>
              <p:cNvSpPr>
                <a:spLocks/>
              </p:cNvSpPr>
              <p:nvPr/>
            </p:nvSpPr>
            <p:spPr bwMode="auto">
              <a:xfrm>
                <a:off x="3074" y="1506"/>
                <a:ext cx="72" cy="95"/>
              </a:xfrm>
              <a:custGeom>
                <a:avLst/>
                <a:gdLst>
                  <a:gd name="T0" fmla="*/ 0 w 90"/>
                  <a:gd name="T1" fmla="*/ 6 h 118"/>
                  <a:gd name="T2" fmla="*/ 2 w 90"/>
                  <a:gd name="T3" fmla="*/ 8 h 118"/>
                  <a:gd name="T4" fmla="*/ 2 w 90"/>
                  <a:gd name="T5" fmla="*/ 10 h 118"/>
                  <a:gd name="T6" fmla="*/ 2 w 90"/>
                  <a:gd name="T7" fmla="*/ 10 h 118"/>
                  <a:gd name="T8" fmla="*/ 2 w 90"/>
                  <a:gd name="T9" fmla="*/ 11 h 118"/>
                  <a:gd name="T10" fmla="*/ 2 w 90"/>
                  <a:gd name="T11" fmla="*/ 12 h 118"/>
                  <a:gd name="T12" fmla="*/ 3 w 90"/>
                  <a:gd name="T13" fmla="*/ 13 h 118"/>
                  <a:gd name="T14" fmla="*/ 4 w 90"/>
                  <a:gd name="T15" fmla="*/ 13 h 118"/>
                  <a:gd name="T16" fmla="*/ 5 w 90"/>
                  <a:gd name="T17" fmla="*/ 13 h 118"/>
                  <a:gd name="T18" fmla="*/ 6 w 90"/>
                  <a:gd name="T19" fmla="*/ 13 h 118"/>
                  <a:gd name="T20" fmla="*/ 7 w 90"/>
                  <a:gd name="T21" fmla="*/ 13 h 118"/>
                  <a:gd name="T22" fmla="*/ 7 w 90"/>
                  <a:gd name="T23" fmla="*/ 12 h 118"/>
                  <a:gd name="T24" fmla="*/ 9 w 90"/>
                  <a:gd name="T25" fmla="*/ 11 h 118"/>
                  <a:gd name="T26" fmla="*/ 9 w 90"/>
                  <a:gd name="T27" fmla="*/ 10 h 118"/>
                  <a:gd name="T28" fmla="*/ 9 w 90"/>
                  <a:gd name="T29" fmla="*/ 10 h 118"/>
                  <a:gd name="T30" fmla="*/ 10 w 90"/>
                  <a:gd name="T31" fmla="*/ 8 h 118"/>
                  <a:gd name="T32" fmla="*/ 10 w 90"/>
                  <a:gd name="T33" fmla="*/ 6 h 118"/>
                  <a:gd name="T34" fmla="*/ 10 w 90"/>
                  <a:gd name="T35" fmla="*/ 5 h 118"/>
                  <a:gd name="T36" fmla="*/ 9 w 90"/>
                  <a:gd name="T37" fmla="*/ 4 h 118"/>
                  <a:gd name="T38" fmla="*/ 9 w 90"/>
                  <a:gd name="T39" fmla="*/ 3 h 118"/>
                  <a:gd name="T40" fmla="*/ 9 w 90"/>
                  <a:gd name="T41" fmla="*/ 2 h 118"/>
                  <a:gd name="T42" fmla="*/ 7 w 90"/>
                  <a:gd name="T43" fmla="*/ 2 h 118"/>
                  <a:gd name="T44" fmla="*/ 7 w 90"/>
                  <a:gd name="T45" fmla="*/ 2 h 118"/>
                  <a:gd name="T46" fmla="*/ 6 w 90"/>
                  <a:gd name="T47" fmla="*/ 2 h 118"/>
                  <a:gd name="T48" fmla="*/ 5 w 90"/>
                  <a:gd name="T49" fmla="*/ 0 h 118"/>
                  <a:gd name="T50" fmla="*/ 4 w 90"/>
                  <a:gd name="T51" fmla="*/ 2 h 118"/>
                  <a:gd name="T52" fmla="*/ 3 w 90"/>
                  <a:gd name="T53" fmla="*/ 2 h 118"/>
                  <a:gd name="T54" fmla="*/ 2 w 90"/>
                  <a:gd name="T55" fmla="*/ 2 h 118"/>
                  <a:gd name="T56" fmla="*/ 2 w 90"/>
                  <a:gd name="T57" fmla="*/ 2 h 118"/>
                  <a:gd name="T58" fmla="*/ 2 w 90"/>
                  <a:gd name="T59" fmla="*/ 3 h 118"/>
                  <a:gd name="T60" fmla="*/ 2 w 90"/>
                  <a:gd name="T61" fmla="*/ 4 h 118"/>
                  <a:gd name="T62" fmla="*/ 2 w 90"/>
                  <a:gd name="T63" fmla="*/ 5 h 118"/>
                  <a:gd name="T64" fmla="*/ 0 w 90"/>
                  <a:gd name="T65" fmla="*/ 6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58" name="Freeform 16"/>
              <p:cNvSpPr>
                <a:spLocks/>
              </p:cNvSpPr>
              <p:nvPr/>
            </p:nvSpPr>
            <p:spPr bwMode="auto">
              <a:xfrm>
                <a:off x="3082" y="1514"/>
                <a:ext cx="56" cy="79"/>
              </a:xfrm>
              <a:custGeom>
                <a:avLst/>
                <a:gdLst>
                  <a:gd name="T0" fmla="*/ 0 w 70"/>
                  <a:gd name="T1" fmla="*/ 6 h 98"/>
                  <a:gd name="T2" fmla="*/ 2 w 70"/>
                  <a:gd name="T3" fmla="*/ 3 h 98"/>
                  <a:gd name="T4" fmla="*/ 2 w 70"/>
                  <a:gd name="T5" fmla="*/ 2 h 98"/>
                  <a:gd name="T6" fmla="*/ 2 w 70"/>
                  <a:gd name="T7" fmla="*/ 2 h 98"/>
                  <a:gd name="T8" fmla="*/ 4 w 70"/>
                  <a:gd name="T9" fmla="*/ 0 h 98"/>
                  <a:gd name="T10" fmla="*/ 5 w 70"/>
                  <a:gd name="T11" fmla="*/ 2 h 98"/>
                  <a:gd name="T12" fmla="*/ 6 w 70"/>
                  <a:gd name="T13" fmla="*/ 2 h 98"/>
                  <a:gd name="T14" fmla="*/ 7 w 70"/>
                  <a:gd name="T15" fmla="*/ 3 h 98"/>
                  <a:gd name="T16" fmla="*/ 7 w 70"/>
                  <a:gd name="T17" fmla="*/ 6 h 98"/>
                  <a:gd name="T18" fmla="*/ 7 w 70"/>
                  <a:gd name="T19" fmla="*/ 8 h 98"/>
                  <a:gd name="T20" fmla="*/ 6 w 70"/>
                  <a:gd name="T21" fmla="*/ 10 h 98"/>
                  <a:gd name="T22" fmla="*/ 5 w 70"/>
                  <a:gd name="T23" fmla="*/ 10 h 98"/>
                  <a:gd name="T24" fmla="*/ 4 w 70"/>
                  <a:gd name="T25" fmla="*/ 12 h 98"/>
                  <a:gd name="T26" fmla="*/ 2 w 70"/>
                  <a:gd name="T27" fmla="*/ 10 h 98"/>
                  <a:gd name="T28" fmla="*/ 2 w 70"/>
                  <a:gd name="T29" fmla="*/ 10 h 98"/>
                  <a:gd name="T30" fmla="*/ 2 w 70"/>
                  <a:gd name="T31" fmla="*/ 8 h 98"/>
                  <a:gd name="T32" fmla="*/ 0 w 70"/>
                  <a:gd name="T33" fmla="*/ 6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8919" name="Text Box 17"/>
          <p:cNvSpPr txBox="1">
            <a:spLocks noChangeArrowheads="1"/>
          </p:cNvSpPr>
          <p:nvPr/>
        </p:nvSpPr>
        <p:spPr bwMode="auto">
          <a:xfrm>
            <a:off x="1274763" y="2203450"/>
            <a:ext cx="2822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tabLst>
                <a:tab pos="625475" algn="l"/>
              </a:tabLst>
              <a:defRPr sz="2000" b="1">
                <a:solidFill>
                  <a:srgbClr val="FF0000"/>
                </a:solidFill>
                <a:latin typeface="Arial" pitchFamily="34" charset="0"/>
              </a:defRPr>
            </a:lvl1pPr>
            <a:lvl2pPr marL="742950" indent="-285750" eaLnBrk="0" hangingPunct="0">
              <a:tabLst>
                <a:tab pos="625475" algn="l"/>
              </a:tabLst>
              <a:defRPr sz="2000" b="1">
                <a:solidFill>
                  <a:srgbClr val="FF0000"/>
                </a:solidFill>
                <a:latin typeface="Arial" pitchFamily="34" charset="0"/>
              </a:defRPr>
            </a:lvl2pPr>
            <a:lvl3pPr marL="1143000" indent="-228600" eaLnBrk="0" hangingPunct="0">
              <a:tabLst>
                <a:tab pos="625475" algn="l"/>
              </a:tabLst>
              <a:defRPr sz="2000" b="1">
                <a:solidFill>
                  <a:srgbClr val="FF0000"/>
                </a:solidFill>
                <a:latin typeface="Arial" pitchFamily="34" charset="0"/>
              </a:defRPr>
            </a:lvl3pPr>
            <a:lvl4pPr marL="1600200" indent="-228600" eaLnBrk="0" hangingPunct="0">
              <a:tabLst>
                <a:tab pos="625475" algn="l"/>
              </a:tabLst>
              <a:defRPr sz="2000" b="1">
                <a:solidFill>
                  <a:srgbClr val="FF0000"/>
                </a:solidFill>
                <a:latin typeface="Arial" pitchFamily="34" charset="0"/>
              </a:defRPr>
            </a:lvl4pPr>
            <a:lvl5pPr marL="2057400" indent="-228600" eaLnBrk="0" hangingPunct="0">
              <a:tabLst>
                <a:tab pos="625475" algn="l"/>
              </a:tabLst>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tabLst>
                <a:tab pos="625475" algn="l"/>
              </a:tabLst>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tabLst>
                <a:tab pos="625475" algn="l"/>
              </a:tabLst>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tabLst>
                <a:tab pos="625475" algn="l"/>
              </a:tabLst>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tabLst>
                <a:tab pos="625475" algn="l"/>
              </a:tabLst>
              <a:defRPr sz="2000" b="1">
                <a:solidFill>
                  <a:srgbClr val="FF0000"/>
                </a:solidFill>
                <a:latin typeface="Arial" pitchFamily="34" charset="0"/>
              </a:defRPr>
            </a:lvl9pPr>
          </a:lstStyle>
          <a:p>
            <a:pPr algn="l" eaLnBrk="1" hangingPunct="1"/>
            <a:r>
              <a:rPr lang="en-US" sz="1800">
                <a:solidFill>
                  <a:schemeClr val="bg1"/>
                </a:solidFill>
              </a:rPr>
              <a:t>roles:	first intake doctor</a:t>
            </a:r>
            <a:br>
              <a:rPr lang="en-US" sz="1800">
                <a:solidFill>
                  <a:schemeClr val="bg1"/>
                </a:solidFill>
              </a:rPr>
            </a:br>
            <a:r>
              <a:rPr lang="en-US" sz="1800">
                <a:solidFill>
                  <a:schemeClr val="bg1"/>
                </a:solidFill>
              </a:rPr>
              <a:t>   	primary doctor</a:t>
            </a:r>
          </a:p>
        </p:txBody>
      </p:sp>
      <p:sp>
        <p:nvSpPr>
          <p:cNvPr id="38920" name="AutoShape 18"/>
          <p:cNvSpPr>
            <a:spLocks noChangeArrowheads="1"/>
          </p:cNvSpPr>
          <p:nvPr/>
        </p:nvSpPr>
        <p:spPr bwMode="auto">
          <a:xfrm>
            <a:off x="912813" y="974725"/>
            <a:ext cx="669925" cy="66992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327" y="10800"/>
                </a:moveTo>
                <a:cubicBezTo>
                  <a:pt x="3327" y="14927"/>
                  <a:pt x="6673" y="18273"/>
                  <a:pt x="10800" y="18273"/>
                </a:cubicBezTo>
                <a:cubicBezTo>
                  <a:pt x="14927" y="18273"/>
                  <a:pt x="18273" y="14927"/>
                  <a:pt x="18273" y="10800"/>
                </a:cubicBezTo>
                <a:cubicBezTo>
                  <a:pt x="18273" y="6673"/>
                  <a:pt x="14927" y="3327"/>
                  <a:pt x="10800" y="3327"/>
                </a:cubicBezTo>
                <a:cubicBezTo>
                  <a:pt x="6673" y="3327"/>
                  <a:pt x="3327" y="6673"/>
                  <a:pt x="3327" y="10800"/>
                </a:cubicBezTo>
                <a:close/>
              </a:path>
            </a:pathLst>
          </a:custGeom>
          <a:solidFill>
            <a:srgbClr val="00990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8921" name="AutoShape 19"/>
          <p:cNvSpPr>
            <a:spLocks noChangeArrowheads="1"/>
          </p:cNvSpPr>
          <p:nvPr/>
        </p:nvSpPr>
        <p:spPr bwMode="auto">
          <a:xfrm>
            <a:off x="4894263" y="1462088"/>
            <a:ext cx="1671637" cy="711200"/>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38922" name="Text Box 20"/>
          <p:cNvSpPr txBox="1">
            <a:spLocks noChangeArrowheads="1"/>
          </p:cNvSpPr>
          <p:nvPr/>
        </p:nvSpPr>
        <p:spPr bwMode="auto">
          <a:xfrm>
            <a:off x="4949825" y="1522413"/>
            <a:ext cx="1560513" cy="609600"/>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a:solidFill>
                  <a:schemeClr val="bg1"/>
                </a:solidFill>
              </a:rPr>
              <a:t>AutoTowing</a:t>
            </a:r>
            <a:br>
              <a:rPr lang="en-US">
                <a:solidFill>
                  <a:schemeClr val="bg1"/>
                </a:solidFill>
              </a:rPr>
            </a:br>
            <a:r>
              <a:rPr lang="en-US">
                <a:solidFill>
                  <a:schemeClr val="bg1"/>
                </a:solidFill>
              </a:rPr>
              <a:t>Agcy</a:t>
            </a:r>
          </a:p>
        </p:txBody>
      </p:sp>
      <p:sp>
        <p:nvSpPr>
          <p:cNvPr id="38923" name="Text Box 21"/>
          <p:cNvSpPr txBox="1">
            <a:spLocks noChangeArrowheads="1"/>
          </p:cNvSpPr>
          <p:nvPr/>
        </p:nvSpPr>
        <p:spPr bwMode="auto">
          <a:xfrm>
            <a:off x="4940300" y="2195513"/>
            <a:ext cx="28225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tabLst>
                <a:tab pos="625475" algn="l"/>
              </a:tabLst>
              <a:defRPr sz="2000" b="1">
                <a:solidFill>
                  <a:srgbClr val="FF0000"/>
                </a:solidFill>
                <a:latin typeface="Arial" pitchFamily="34" charset="0"/>
              </a:defRPr>
            </a:lvl1pPr>
            <a:lvl2pPr marL="742950" indent="-285750" eaLnBrk="0" hangingPunct="0">
              <a:tabLst>
                <a:tab pos="625475" algn="l"/>
              </a:tabLst>
              <a:defRPr sz="2000" b="1">
                <a:solidFill>
                  <a:srgbClr val="FF0000"/>
                </a:solidFill>
                <a:latin typeface="Arial" pitchFamily="34" charset="0"/>
              </a:defRPr>
            </a:lvl2pPr>
            <a:lvl3pPr marL="1143000" indent="-228600" eaLnBrk="0" hangingPunct="0">
              <a:tabLst>
                <a:tab pos="625475" algn="l"/>
              </a:tabLst>
              <a:defRPr sz="2000" b="1">
                <a:solidFill>
                  <a:srgbClr val="FF0000"/>
                </a:solidFill>
                <a:latin typeface="Arial" pitchFamily="34" charset="0"/>
              </a:defRPr>
            </a:lvl3pPr>
            <a:lvl4pPr marL="1600200" indent="-228600" eaLnBrk="0" hangingPunct="0">
              <a:tabLst>
                <a:tab pos="625475" algn="l"/>
              </a:tabLst>
              <a:defRPr sz="2000" b="1">
                <a:solidFill>
                  <a:srgbClr val="FF0000"/>
                </a:solidFill>
                <a:latin typeface="Arial" pitchFamily="34" charset="0"/>
              </a:defRPr>
            </a:lvl4pPr>
            <a:lvl5pPr marL="2057400" indent="-228600" eaLnBrk="0" hangingPunct="0">
              <a:tabLst>
                <a:tab pos="625475" algn="l"/>
              </a:tabLst>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tabLst>
                <a:tab pos="625475" algn="l"/>
              </a:tabLst>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tabLst>
                <a:tab pos="625475" algn="l"/>
              </a:tabLst>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tabLst>
                <a:tab pos="625475" algn="l"/>
              </a:tabLst>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tabLst>
                <a:tab pos="625475" algn="l"/>
              </a:tabLst>
              <a:defRPr sz="2000" b="1">
                <a:solidFill>
                  <a:srgbClr val="FF0000"/>
                </a:solidFill>
                <a:latin typeface="Arial" pitchFamily="34" charset="0"/>
              </a:defRPr>
            </a:lvl9pPr>
          </a:lstStyle>
          <a:p>
            <a:pPr algn="l" eaLnBrk="1" hangingPunct="1"/>
            <a:r>
              <a:rPr lang="en-US" sz="1800">
                <a:solidFill>
                  <a:schemeClr val="bg1"/>
                </a:solidFill>
              </a:rPr>
              <a:t>role:	towing agency</a:t>
            </a:r>
          </a:p>
        </p:txBody>
      </p:sp>
      <p:sp>
        <p:nvSpPr>
          <p:cNvPr id="38924" name="AutoShape 22"/>
          <p:cNvSpPr>
            <a:spLocks noChangeArrowheads="1"/>
          </p:cNvSpPr>
          <p:nvPr/>
        </p:nvSpPr>
        <p:spPr bwMode="auto">
          <a:xfrm>
            <a:off x="4578350" y="966788"/>
            <a:ext cx="669925" cy="66992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327" y="10800"/>
                </a:moveTo>
                <a:cubicBezTo>
                  <a:pt x="3327" y="14927"/>
                  <a:pt x="6673" y="18273"/>
                  <a:pt x="10800" y="18273"/>
                </a:cubicBezTo>
                <a:cubicBezTo>
                  <a:pt x="14927" y="18273"/>
                  <a:pt x="18273" y="14927"/>
                  <a:pt x="18273" y="10800"/>
                </a:cubicBezTo>
                <a:cubicBezTo>
                  <a:pt x="18273" y="6673"/>
                  <a:pt x="14927" y="3327"/>
                  <a:pt x="10800" y="3327"/>
                </a:cubicBezTo>
                <a:cubicBezTo>
                  <a:pt x="6673" y="3327"/>
                  <a:pt x="3327" y="6673"/>
                  <a:pt x="3327" y="10800"/>
                </a:cubicBezTo>
                <a:close/>
              </a:path>
            </a:pathLst>
          </a:custGeom>
          <a:solidFill>
            <a:srgbClr val="00990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nvGrpSpPr>
          <p:cNvPr id="38925" name="Group 23"/>
          <p:cNvGrpSpPr>
            <a:grpSpLocks/>
          </p:cNvGrpSpPr>
          <p:nvPr/>
        </p:nvGrpSpPr>
        <p:grpSpPr bwMode="auto">
          <a:xfrm>
            <a:off x="6529388" y="989013"/>
            <a:ext cx="1217612" cy="809625"/>
            <a:chOff x="2496" y="1641"/>
            <a:chExt cx="767" cy="510"/>
          </a:xfrm>
        </p:grpSpPr>
        <p:sp>
          <p:nvSpPr>
            <p:cNvPr id="38947" name="AutoShape 24"/>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38948" name="Rectangle 25"/>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38949" name="Rectangle 26"/>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8950" name="Rectangle 27"/>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38926" name="Group 28"/>
          <p:cNvGrpSpPr>
            <a:grpSpLocks/>
          </p:cNvGrpSpPr>
          <p:nvPr/>
        </p:nvGrpSpPr>
        <p:grpSpPr bwMode="auto">
          <a:xfrm>
            <a:off x="7391400" y="1050925"/>
            <a:ext cx="647700" cy="647700"/>
            <a:chOff x="4656" y="572"/>
            <a:chExt cx="408" cy="408"/>
          </a:xfrm>
        </p:grpSpPr>
        <p:sp>
          <p:nvSpPr>
            <p:cNvPr id="38927" name="AutoShape 29"/>
            <p:cNvSpPr>
              <a:spLocks noChangeAspect="1" noChangeArrowheads="1" noTextEdit="1"/>
            </p:cNvSpPr>
            <p:nvPr/>
          </p:nvSpPr>
          <p:spPr bwMode="auto">
            <a:xfrm>
              <a:off x="4656" y="572"/>
              <a:ext cx="408"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8928" name="Freeform 30"/>
            <p:cNvSpPr>
              <a:spLocks/>
            </p:cNvSpPr>
            <p:nvPr/>
          </p:nvSpPr>
          <p:spPr bwMode="auto">
            <a:xfrm>
              <a:off x="4667" y="589"/>
              <a:ext cx="378" cy="381"/>
            </a:xfrm>
            <a:custGeom>
              <a:avLst/>
              <a:gdLst>
                <a:gd name="T0" fmla="*/ 0 w 1135"/>
                <a:gd name="T1" fmla="*/ 0 h 1141"/>
                <a:gd name="T2" fmla="*/ 0 w 1135"/>
                <a:gd name="T3" fmla="*/ 0 h 1141"/>
                <a:gd name="T4" fmla="*/ 0 w 1135"/>
                <a:gd name="T5" fmla="*/ 0 h 1141"/>
                <a:gd name="T6" fmla="*/ 0 w 1135"/>
                <a:gd name="T7" fmla="*/ 0 h 1141"/>
                <a:gd name="T8" fmla="*/ 0 w 1135"/>
                <a:gd name="T9" fmla="*/ 0 h 1141"/>
                <a:gd name="T10" fmla="*/ 0 w 1135"/>
                <a:gd name="T11" fmla="*/ 0 h 1141"/>
                <a:gd name="T12" fmla="*/ 0 w 1135"/>
                <a:gd name="T13" fmla="*/ 0 h 1141"/>
                <a:gd name="T14" fmla="*/ 0 w 1135"/>
                <a:gd name="T15" fmla="*/ 0 h 1141"/>
                <a:gd name="T16" fmla="*/ 0 w 1135"/>
                <a:gd name="T17" fmla="*/ 0 h 1141"/>
                <a:gd name="T18" fmla="*/ 0 w 1135"/>
                <a:gd name="T19" fmla="*/ 0 h 1141"/>
                <a:gd name="T20" fmla="*/ 0 w 1135"/>
                <a:gd name="T21" fmla="*/ 0 h 1141"/>
                <a:gd name="T22" fmla="*/ 0 w 1135"/>
                <a:gd name="T23" fmla="*/ 0 h 1141"/>
                <a:gd name="T24" fmla="*/ 0 w 1135"/>
                <a:gd name="T25" fmla="*/ 0 h 1141"/>
                <a:gd name="T26" fmla="*/ 0 w 1135"/>
                <a:gd name="T27" fmla="*/ 0 h 1141"/>
                <a:gd name="T28" fmla="*/ 0 w 1135"/>
                <a:gd name="T29" fmla="*/ 0 h 1141"/>
                <a:gd name="T30" fmla="*/ 0 w 1135"/>
                <a:gd name="T31" fmla="*/ 0 h 1141"/>
                <a:gd name="T32" fmla="*/ 0 w 1135"/>
                <a:gd name="T33" fmla="*/ 0 h 1141"/>
                <a:gd name="T34" fmla="*/ 0 w 1135"/>
                <a:gd name="T35" fmla="*/ 0 h 1141"/>
                <a:gd name="T36" fmla="*/ 0 w 1135"/>
                <a:gd name="T37" fmla="*/ 0 h 1141"/>
                <a:gd name="T38" fmla="*/ 0 w 1135"/>
                <a:gd name="T39" fmla="*/ 0 h 1141"/>
                <a:gd name="T40" fmla="*/ 0 w 1135"/>
                <a:gd name="T41" fmla="*/ 0 h 1141"/>
                <a:gd name="T42" fmla="*/ 0 w 1135"/>
                <a:gd name="T43" fmla="*/ 0 h 1141"/>
                <a:gd name="T44" fmla="*/ 0 w 1135"/>
                <a:gd name="T45" fmla="*/ 0 h 1141"/>
                <a:gd name="T46" fmla="*/ 0 w 1135"/>
                <a:gd name="T47" fmla="*/ 0 h 1141"/>
                <a:gd name="T48" fmla="*/ 0 w 1135"/>
                <a:gd name="T49" fmla="*/ 0 h 1141"/>
                <a:gd name="T50" fmla="*/ 0 w 1135"/>
                <a:gd name="T51" fmla="*/ 0 h 1141"/>
                <a:gd name="T52" fmla="*/ 0 w 1135"/>
                <a:gd name="T53" fmla="*/ 0 h 1141"/>
                <a:gd name="T54" fmla="*/ 0 w 1135"/>
                <a:gd name="T55" fmla="*/ 0 h 1141"/>
                <a:gd name="T56" fmla="*/ 0 w 1135"/>
                <a:gd name="T57" fmla="*/ 0 h 1141"/>
                <a:gd name="T58" fmla="*/ 0 w 1135"/>
                <a:gd name="T59" fmla="*/ 0 h 1141"/>
                <a:gd name="T60" fmla="*/ 0 w 1135"/>
                <a:gd name="T61" fmla="*/ 0 h 1141"/>
                <a:gd name="T62" fmla="*/ 0 w 1135"/>
                <a:gd name="T63" fmla="*/ 0 h 1141"/>
                <a:gd name="T64" fmla="*/ 0 w 1135"/>
                <a:gd name="T65" fmla="*/ 0 h 1141"/>
                <a:gd name="T66" fmla="*/ 0 w 1135"/>
                <a:gd name="T67" fmla="*/ 0 h 1141"/>
                <a:gd name="T68" fmla="*/ 0 w 1135"/>
                <a:gd name="T69" fmla="*/ 0 h 1141"/>
                <a:gd name="T70" fmla="*/ 0 w 1135"/>
                <a:gd name="T71" fmla="*/ 0 h 1141"/>
                <a:gd name="T72" fmla="*/ 0 w 1135"/>
                <a:gd name="T73" fmla="*/ 0 h 114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135"/>
                <a:gd name="T112" fmla="*/ 0 h 1141"/>
                <a:gd name="T113" fmla="*/ 1135 w 1135"/>
                <a:gd name="T114" fmla="*/ 1141 h 114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135" h="1141">
                  <a:moveTo>
                    <a:pt x="115" y="1141"/>
                  </a:moveTo>
                  <a:lnTo>
                    <a:pt x="92" y="1139"/>
                  </a:lnTo>
                  <a:lnTo>
                    <a:pt x="71" y="1132"/>
                  </a:lnTo>
                  <a:lnTo>
                    <a:pt x="51" y="1121"/>
                  </a:lnTo>
                  <a:lnTo>
                    <a:pt x="34" y="1106"/>
                  </a:lnTo>
                  <a:lnTo>
                    <a:pt x="20" y="1090"/>
                  </a:lnTo>
                  <a:lnTo>
                    <a:pt x="9" y="1071"/>
                  </a:lnTo>
                  <a:lnTo>
                    <a:pt x="3" y="1048"/>
                  </a:lnTo>
                  <a:lnTo>
                    <a:pt x="0" y="1025"/>
                  </a:lnTo>
                  <a:lnTo>
                    <a:pt x="0" y="115"/>
                  </a:lnTo>
                  <a:lnTo>
                    <a:pt x="3" y="92"/>
                  </a:lnTo>
                  <a:lnTo>
                    <a:pt x="9" y="71"/>
                  </a:lnTo>
                  <a:lnTo>
                    <a:pt x="20" y="51"/>
                  </a:lnTo>
                  <a:lnTo>
                    <a:pt x="34" y="33"/>
                  </a:lnTo>
                  <a:lnTo>
                    <a:pt x="51" y="20"/>
                  </a:lnTo>
                  <a:lnTo>
                    <a:pt x="71" y="9"/>
                  </a:lnTo>
                  <a:lnTo>
                    <a:pt x="92" y="2"/>
                  </a:lnTo>
                  <a:lnTo>
                    <a:pt x="115" y="0"/>
                  </a:lnTo>
                  <a:lnTo>
                    <a:pt x="1020" y="0"/>
                  </a:lnTo>
                  <a:lnTo>
                    <a:pt x="1044" y="2"/>
                  </a:lnTo>
                  <a:lnTo>
                    <a:pt x="1065" y="9"/>
                  </a:lnTo>
                  <a:lnTo>
                    <a:pt x="1084" y="20"/>
                  </a:lnTo>
                  <a:lnTo>
                    <a:pt x="1102" y="33"/>
                  </a:lnTo>
                  <a:lnTo>
                    <a:pt x="1115" y="51"/>
                  </a:lnTo>
                  <a:lnTo>
                    <a:pt x="1126" y="71"/>
                  </a:lnTo>
                  <a:lnTo>
                    <a:pt x="1133" y="92"/>
                  </a:lnTo>
                  <a:lnTo>
                    <a:pt x="1135" y="115"/>
                  </a:lnTo>
                  <a:lnTo>
                    <a:pt x="1135" y="1025"/>
                  </a:lnTo>
                  <a:lnTo>
                    <a:pt x="1133" y="1048"/>
                  </a:lnTo>
                  <a:lnTo>
                    <a:pt x="1126" y="1071"/>
                  </a:lnTo>
                  <a:lnTo>
                    <a:pt x="1115" y="1090"/>
                  </a:lnTo>
                  <a:lnTo>
                    <a:pt x="1102" y="1106"/>
                  </a:lnTo>
                  <a:lnTo>
                    <a:pt x="1084" y="1121"/>
                  </a:lnTo>
                  <a:lnTo>
                    <a:pt x="1065" y="1132"/>
                  </a:lnTo>
                  <a:lnTo>
                    <a:pt x="1044" y="1139"/>
                  </a:lnTo>
                  <a:lnTo>
                    <a:pt x="1020" y="1141"/>
                  </a:lnTo>
                  <a:lnTo>
                    <a:pt x="115" y="1141"/>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29" name="Freeform 31"/>
            <p:cNvSpPr>
              <a:spLocks/>
            </p:cNvSpPr>
            <p:nvPr/>
          </p:nvSpPr>
          <p:spPr bwMode="auto">
            <a:xfrm>
              <a:off x="4656" y="572"/>
              <a:ext cx="408" cy="408"/>
            </a:xfrm>
            <a:custGeom>
              <a:avLst/>
              <a:gdLst>
                <a:gd name="T0" fmla="*/ 0 w 1224"/>
                <a:gd name="T1" fmla="*/ 0 h 1224"/>
                <a:gd name="T2" fmla="*/ 0 w 1224"/>
                <a:gd name="T3" fmla="*/ 0 h 1224"/>
                <a:gd name="T4" fmla="*/ 0 w 1224"/>
                <a:gd name="T5" fmla="*/ 0 h 1224"/>
                <a:gd name="T6" fmla="*/ 0 w 1224"/>
                <a:gd name="T7" fmla="*/ 0 h 1224"/>
                <a:gd name="T8" fmla="*/ 0 w 1224"/>
                <a:gd name="T9" fmla="*/ 0 h 1224"/>
                <a:gd name="T10" fmla="*/ 0 w 1224"/>
                <a:gd name="T11" fmla="*/ 0 h 1224"/>
                <a:gd name="T12" fmla="*/ 0 w 1224"/>
                <a:gd name="T13" fmla="*/ 0 h 1224"/>
                <a:gd name="T14" fmla="*/ 0 w 1224"/>
                <a:gd name="T15" fmla="*/ 0 h 1224"/>
                <a:gd name="T16" fmla="*/ 0 w 1224"/>
                <a:gd name="T17" fmla="*/ 0 h 1224"/>
                <a:gd name="T18" fmla="*/ 0 w 1224"/>
                <a:gd name="T19" fmla="*/ 0 h 1224"/>
                <a:gd name="T20" fmla="*/ 0 w 1224"/>
                <a:gd name="T21" fmla="*/ 0 h 1224"/>
                <a:gd name="T22" fmla="*/ 0 w 1224"/>
                <a:gd name="T23" fmla="*/ 0 h 1224"/>
                <a:gd name="T24" fmla="*/ 0 w 1224"/>
                <a:gd name="T25" fmla="*/ 0 h 1224"/>
                <a:gd name="T26" fmla="*/ 0 w 1224"/>
                <a:gd name="T27" fmla="*/ 0 h 1224"/>
                <a:gd name="T28" fmla="*/ 0 w 1224"/>
                <a:gd name="T29" fmla="*/ 0 h 1224"/>
                <a:gd name="T30" fmla="*/ 0 w 1224"/>
                <a:gd name="T31" fmla="*/ 0 h 1224"/>
                <a:gd name="T32" fmla="*/ 0 w 1224"/>
                <a:gd name="T33" fmla="*/ 0 h 1224"/>
                <a:gd name="T34" fmla="*/ 0 w 1224"/>
                <a:gd name="T35" fmla="*/ 0 h 1224"/>
                <a:gd name="T36" fmla="*/ 0 w 1224"/>
                <a:gd name="T37" fmla="*/ 0 h 1224"/>
                <a:gd name="T38" fmla="*/ 0 w 1224"/>
                <a:gd name="T39" fmla="*/ 0 h 1224"/>
                <a:gd name="T40" fmla="*/ 0 w 1224"/>
                <a:gd name="T41" fmla="*/ 0 h 1224"/>
                <a:gd name="T42" fmla="*/ 0 w 1224"/>
                <a:gd name="T43" fmla="*/ 0 h 1224"/>
                <a:gd name="T44" fmla="*/ 0 w 1224"/>
                <a:gd name="T45" fmla="*/ 0 h 1224"/>
                <a:gd name="T46" fmla="*/ 0 w 1224"/>
                <a:gd name="T47" fmla="*/ 0 h 1224"/>
                <a:gd name="T48" fmla="*/ 0 w 1224"/>
                <a:gd name="T49" fmla="*/ 0 h 1224"/>
                <a:gd name="T50" fmla="*/ 0 w 1224"/>
                <a:gd name="T51" fmla="*/ 0 h 1224"/>
                <a:gd name="T52" fmla="*/ 0 w 1224"/>
                <a:gd name="T53" fmla="*/ 0 h 1224"/>
                <a:gd name="T54" fmla="*/ 0 w 1224"/>
                <a:gd name="T55" fmla="*/ 0 h 1224"/>
                <a:gd name="T56" fmla="*/ 0 w 1224"/>
                <a:gd name="T57" fmla="*/ 0 h 1224"/>
                <a:gd name="T58" fmla="*/ 0 w 1224"/>
                <a:gd name="T59" fmla="*/ 0 h 1224"/>
                <a:gd name="T60" fmla="*/ 0 w 1224"/>
                <a:gd name="T61" fmla="*/ 0 h 1224"/>
                <a:gd name="T62" fmla="*/ 0 w 1224"/>
                <a:gd name="T63" fmla="*/ 0 h 1224"/>
                <a:gd name="T64" fmla="*/ 0 w 1224"/>
                <a:gd name="T65" fmla="*/ 0 h 1224"/>
                <a:gd name="T66" fmla="*/ 0 w 1224"/>
                <a:gd name="T67" fmla="*/ 0 h 1224"/>
                <a:gd name="T68" fmla="*/ 0 w 1224"/>
                <a:gd name="T69" fmla="*/ 0 h 1224"/>
                <a:gd name="T70" fmla="*/ 0 w 1224"/>
                <a:gd name="T71" fmla="*/ 0 h 1224"/>
                <a:gd name="T72" fmla="*/ 0 w 1224"/>
                <a:gd name="T73" fmla="*/ 0 h 1224"/>
                <a:gd name="T74" fmla="*/ 0 w 1224"/>
                <a:gd name="T75" fmla="*/ 0 h 1224"/>
                <a:gd name="T76" fmla="*/ 0 w 1224"/>
                <a:gd name="T77" fmla="*/ 0 h 1224"/>
                <a:gd name="T78" fmla="*/ 0 w 1224"/>
                <a:gd name="T79" fmla="*/ 0 h 1224"/>
                <a:gd name="T80" fmla="*/ 0 w 1224"/>
                <a:gd name="T81" fmla="*/ 0 h 1224"/>
                <a:gd name="T82" fmla="*/ 0 w 1224"/>
                <a:gd name="T83" fmla="*/ 0 h 1224"/>
                <a:gd name="T84" fmla="*/ 0 w 1224"/>
                <a:gd name="T85" fmla="*/ 0 h 1224"/>
                <a:gd name="T86" fmla="*/ 0 w 1224"/>
                <a:gd name="T87" fmla="*/ 0 h 1224"/>
                <a:gd name="T88" fmla="*/ 0 w 1224"/>
                <a:gd name="T89" fmla="*/ 0 h 1224"/>
                <a:gd name="T90" fmla="*/ 0 w 1224"/>
                <a:gd name="T91" fmla="*/ 0 h 1224"/>
                <a:gd name="T92" fmla="*/ 0 w 1224"/>
                <a:gd name="T93" fmla="*/ 0 h 1224"/>
                <a:gd name="T94" fmla="*/ 0 w 1224"/>
                <a:gd name="T95" fmla="*/ 0 h 1224"/>
                <a:gd name="T96" fmla="*/ 0 w 1224"/>
                <a:gd name="T97" fmla="*/ 0 h 1224"/>
                <a:gd name="T98" fmla="*/ 0 w 1224"/>
                <a:gd name="T99" fmla="*/ 0 h 1224"/>
                <a:gd name="T100" fmla="*/ 0 w 1224"/>
                <a:gd name="T101" fmla="*/ 0 h 1224"/>
                <a:gd name="T102" fmla="*/ 0 w 1224"/>
                <a:gd name="T103" fmla="*/ 0 h 1224"/>
                <a:gd name="T104" fmla="*/ 0 w 1224"/>
                <a:gd name="T105" fmla="*/ 0 h 1224"/>
                <a:gd name="T106" fmla="*/ 0 w 1224"/>
                <a:gd name="T107" fmla="*/ 0 h 1224"/>
                <a:gd name="T108" fmla="*/ 0 w 1224"/>
                <a:gd name="T109" fmla="*/ 0 h 1224"/>
                <a:gd name="T110" fmla="*/ 0 w 1224"/>
                <a:gd name="T111" fmla="*/ 0 h 12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224"/>
                <a:gd name="T169" fmla="*/ 0 h 1224"/>
                <a:gd name="T170" fmla="*/ 1224 w 1224"/>
                <a:gd name="T171" fmla="*/ 1224 h 12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224" h="1224">
                  <a:moveTo>
                    <a:pt x="45" y="45"/>
                  </a:moveTo>
                  <a:lnTo>
                    <a:pt x="56" y="35"/>
                  </a:lnTo>
                  <a:lnTo>
                    <a:pt x="68" y="26"/>
                  </a:lnTo>
                  <a:lnTo>
                    <a:pt x="80" y="19"/>
                  </a:lnTo>
                  <a:lnTo>
                    <a:pt x="94" y="11"/>
                  </a:lnTo>
                  <a:lnTo>
                    <a:pt x="108" y="6"/>
                  </a:lnTo>
                  <a:lnTo>
                    <a:pt x="122" y="2"/>
                  </a:lnTo>
                  <a:lnTo>
                    <a:pt x="137" y="1"/>
                  </a:lnTo>
                  <a:lnTo>
                    <a:pt x="152" y="0"/>
                  </a:lnTo>
                  <a:lnTo>
                    <a:pt x="1072" y="0"/>
                  </a:lnTo>
                  <a:lnTo>
                    <a:pt x="1103" y="2"/>
                  </a:lnTo>
                  <a:lnTo>
                    <a:pt x="1131" y="12"/>
                  </a:lnTo>
                  <a:lnTo>
                    <a:pt x="1157" y="26"/>
                  </a:lnTo>
                  <a:lnTo>
                    <a:pt x="1179" y="45"/>
                  </a:lnTo>
                  <a:lnTo>
                    <a:pt x="1198" y="67"/>
                  </a:lnTo>
                  <a:lnTo>
                    <a:pt x="1212" y="93"/>
                  </a:lnTo>
                  <a:lnTo>
                    <a:pt x="1222" y="121"/>
                  </a:lnTo>
                  <a:lnTo>
                    <a:pt x="1224" y="152"/>
                  </a:lnTo>
                  <a:lnTo>
                    <a:pt x="1224" y="580"/>
                  </a:lnTo>
                  <a:lnTo>
                    <a:pt x="1151" y="580"/>
                  </a:lnTo>
                  <a:lnTo>
                    <a:pt x="1151" y="152"/>
                  </a:lnTo>
                  <a:lnTo>
                    <a:pt x="1150" y="136"/>
                  </a:lnTo>
                  <a:lnTo>
                    <a:pt x="1146" y="121"/>
                  </a:lnTo>
                  <a:lnTo>
                    <a:pt x="1139" y="108"/>
                  </a:lnTo>
                  <a:lnTo>
                    <a:pt x="1129" y="95"/>
                  </a:lnTo>
                  <a:lnTo>
                    <a:pt x="1123" y="90"/>
                  </a:lnTo>
                  <a:lnTo>
                    <a:pt x="1116" y="85"/>
                  </a:lnTo>
                  <a:lnTo>
                    <a:pt x="1109" y="82"/>
                  </a:lnTo>
                  <a:lnTo>
                    <a:pt x="1103" y="78"/>
                  </a:lnTo>
                  <a:lnTo>
                    <a:pt x="1095" y="75"/>
                  </a:lnTo>
                  <a:lnTo>
                    <a:pt x="1088" y="73"/>
                  </a:lnTo>
                  <a:lnTo>
                    <a:pt x="1079" y="72"/>
                  </a:lnTo>
                  <a:lnTo>
                    <a:pt x="1072" y="72"/>
                  </a:lnTo>
                  <a:lnTo>
                    <a:pt x="152" y="72"/>
                  </a:lnTo>
                  <a:lnTo>
                    <a:pt x="145" y="72"/>
                  </a:lnTo>
                  <a:lnTo>
                    <a:pt x="136" y="73"/>
                  </a:lnTo>
                  <a:lnTo>
                    <a:pt x="129" y="75"/>
                  </a:lnTo>
                  <a:lnTo>
                    <a:pt x="121" y="78"/>
                  </a:lnTo>
                  <a:lnTo>
                    <a:pt x="114" y="82"/>
                  </a:lnTo>
                  <a:lnTo>
                    <a:pt x="108" y="85"/>
                  </a:lnTo>
                  <a:lnTo>
                    <a:pt x="101" y="90"/>
                  </a:lnTo>
                  <a:lnTo>
                    <a:pt x="95" y="95"/>
                  </a:lnTo>
                  <a:lnTo>
                    <a:pt x="85" y="108"/>
                  </a:lnTo>
                  <a:lnTo>
                    <a:pt x="79" y="121"/>
                  </a:lnTo>
                  <a:lnTo>
                    <a:pt x="74" y="136"/>
                  </a:lnTo>
                  <a:lnTo>
                    <a:pt x="73" y="152"/>
                  </a:lnTo>
                  <a:lnTo>
                    <a:pt x="73" y="1073"/>
                  </a:lnTo>
                  <a:lnTo>
                    <a:pt x="74" y="1089"/>
                  </a:lnTo>
                  <a:lnTo>
                    <a:pt x="79" y="1104"/>
                  </a:lnTo>
                  <a:lnTo>
                    <a:pt x="87" y="1118"/>
                  </a:lnTo>
                  <a:lnTo>
                    <a:pt x="96" y="1129"/>
                  </a:lnTo>
                  <a:lnTo>
                    <a:pt x="108" y="1139"/>
                  </a:lnTo>
                  <a:lnTo>
                    <a:pt x="121" y="1146"/>
                  </a:lnTo>
                  <a:lnTo>
                    <a:pt x="136" y="1151"/>
                  </a:lnTo>
                  <a:lnTo>
                    <a:pt x="152" y="1152"/>
                  </a:lnTo>
                  <a:lnTo>
                    <a:pt x="1072" y="1152"/>
                  </a:lnTo>
                  <a:lnTo>
                    <a:pt x="1079" y="1152"/>
                  </a:lnTo>
                  <a:lnTo>
                    <a:pt x="1088" y="1151"/>
                  </a:lnTo>
                  <a:lnTo>
                    <a:pt x="1095" y="1149"/>
                  </a:lnTo>
                  <a:lnTo>
                    <a:pt x="1103" y="1146"/>
                  </a:lnTo>
                  <a:lnTo>
                    <a:pt x="1109" y="1144"/>
                  </a:lnTo>
                  <a:lnTo>
                    <a:pt x="1116" y="1139"/>
                  </a:lnTo>
                  <a:lnTo>
                    <a:pt x="1123" y="1135"/>
                  </a:lnTo>
                  <a:lnTo>
                    <a:pt x="1129" y="1129"/>
                  </a:lnTo>
                  <a:lnTo>
                    <a:pt x="1139" y="1116"/>
                  </a:lnTo>
                  <a:lnTo>
                    <a:pt x="1146" y="1103"/>
                  </a:lnTo>
                  <a:lnTo>
                    <a:pt x="1150" y="1089"/>
                  </a:lnTo>
                  <a:lnTo>
                    <a:pt x="1151" y="1073"/>
                  </a:lnTo>
                  <a:lnTo>
                    <a:pt x="1151" y="580"/>
                  </a:lnTo>
                  <a:lnTo>
                    <a:pt x="1224" y="580"/>
                  </a:lnTo>
                  <a:lnTo>
                    <a:pt x="1224" y="1073"/>
                  </a:lnTo>
                  <a:lnTo>
                    <a:pt x="1223" y="1088"/>
                  </a:lnTo>
                  <a:lnTo>
                    <a:pt x="1222" y="1103"/>
                  </a:lnTo>
                  <a:lnTo>
                    <a:pt x="1218" y="1118"/>
                  </a:lnTo>
                  <a:lnTo>
                    <a:pt x="1213" y="1131"/>
                  </a:lnTo>
                  <a:lnTo>
                    <a:pt x="1205" y="1145"/>
                  </a:lnTo>
                  <a:lnTo>
                    <a:pt x="1198" y="1157"/>
                  </a:lnTo>
                  <a:lnTo>
                    <a:pt x="1189" y="1170"/>
                  </a:lnTo>
                  <a:lnTo>
                    <a:pt x="1179" y="1181"/>
                  </a:lnTo>
                  <a:lnTo>
                    <a:pt x="1168" y="1191"/>
                  </a:lnTo>
                  <a:lnTo>
                    <a:pt x="1156" y="1199"/>
                  </a:lnTo>
                  <a:lnTo>
                    <a:pt x="1144" y="1207"/>
                  </a:lnTo>
                  <a:lnTo>
                    <a:pt x="1130" y="1213"/>
                  </a:lnTo>
                  <a:lnTo>
                    <a:pt x="1116" y="1218"/>
                  </a:lnTo>
                  <a:lnTo>
                    <a:pt x="1102" y="1222"/>
                  </a:lnTo>
                  <a:lnTo>
                    <a:pt x="1087" y="1223"/>
                  </a:lnTo>
                  <a:lnTo>
                    <a:pt x="1072" y="1224"/>
                  </a:lnTo>
                  <a:lnTo>
                    <a:pt x="152" y="1224"/>
                  </a:lnTo>
                  <a:lnTo>
                    <a:pt x="137" y="1223"/>
                  </a:lnTo>
                  <a:lnTo>
                    <a:pt x="122" y="1222"/>
                  </a:lnTo>
                  <a:lnTo>
                    <a:pt x="108" y="1218"/>
                  </a:lnTo>
                  <a:lnTo>
                    <a:pt x="94" y="1213"/>
                  </a:lnTo>
                  <a:lnTo>
                    <a:pt x="80" y="1207"/>
                  </a:lnTo>
                  <a:lnTo>
                    <a:pt x="68" y="1199"/>
                  </a:lnTo>
                  <a:lnTo>
                    <a:pt x="56" y="1191"/>
                  </a:lnTo>
                  <a:lnTo>
                    <a:pt x="45" y="1181"/>
                  </a:lnTo>
                  <a:lnTo>
                    <a:pt x="35" y="1170"/>
                  </a:lnTo>
                  <a:lnTo>
                    <a:pt x="26" y="1157"/>
                  </a:lnTo>
                  <a:lnTo>
                    <a:pt x="19" y="1145"/>
                  </a:lnTo>
                  <a:lnTo>
                    <a:pt x="11" y="1131"/>
                  </a:lnTo>
                  <a:lnTo>
                    <a:pt x="6" y="1118"/>
                  </a:lnTo>
                  <a:lnTo>
                    <a:pt x="2" y="1103"/>
                  </a:lnTo>
                  <a:lnTo>
                    <a:pt x="1" y="1088"/>
                  </a:lnTo>
                  <a:lnTo>
                    <a:pt x="0" y="1073"/>
                  </a:lnTo>
                  <a:lnTo>
                    <a:pt x="0" y="152"/>
                  </a:lnTo>
                  <a:lnTo>
                    <a:pt x="1" y="137"/>
                  </a:lnTo>
                  <a:lnTo>
                    <a:pt x="2" y="123"/>
                  </a:lnTo>
                  <a:lnTo>
                    <a:pt x="6" y="108"/>
                  </a:lnTo>
                  <a:lnTo>
                    <a:pt x="11" y="94"/>
                  </a:lnTo>
                  <a:lnTo>
                    <a:pt x="19" y="80"/>
                  </a:lnTo>
                  <a:lnTo>
                    <a:pt x="26" y="68"/>
                  </a:lnTo>
                  <a:lnTo>
                    <a:pt x="35" y="56"/>
                  </a:lnTo>
                  <a:lnTo>
                    <a:pt x="4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0" name="Freeform 32"/>
            <p:cNvSpPr>
              <a:spLocks/>
            </p:cNvSpPr>
            <p:nvPr/>
          </p:nvSpPr>
          <p:spPr bwMode="auto">
            <a:xfrm>
              <a:off x="4675" y="919"/>
              <a:ext cx="373" cy="51"/>
            </a:xfrm>
            <a:custGeom>
              <a:avLst/>
              <a:gdLst>
                <a:gd name="T0" fmla="*/ 0 w 1119"/>
                <a:gd name="T1" fmla="*/ 0 h 151"/>
                <a:gd name="T2" fmla="*/ 0 w 1119"/>
                <a:gd name="T3" fmla="*/ 0 h 151"/>
                <a:gd name="T4" fmla="*/ 0 w 1119"/>
                <a:gd name="T5" fmla="*/ 0 h 151"/>
                <a:gd name="T6" fmla="*/ 0 w 1119"/>
                <a:gd name="T7" fmla="*/ 0 h 151"/>
                <a:gd name="T8" fmla="*/ 0 w 1119"/>
                <a:gd name="T9" fmla="*/ 0 h 151"/>
                <a:gd name="T10" fmla="*/ 0 60000 65536"/>
                <a:gd name="T11" fmla="*/ 0 60000 65536"/>
                <a:gd name="T12" fmla="*/ 0 60000 65536"/>
                <a:gd name="T13" fmla="*/ 0 60000 65536"/>
                <a:gd name="T14" fmla="*/ 0 60000 65536"/>
                <a:gd name="T15" fmla="*/ 0 w 1119"/>
                <a:gd name="T16" fmla="*/ 0 h 151"/>
                <a:gd name="T17" fmla="*/ 1119 w 1119"/>
                <a:gd name="T18" fmla="*/ 151 h 151"/>
              </a:gdLst>
              <a:ahLst/>
              <a:cxnLst>
                <a:cxn ang="T10">
                  <a:pos x="T0" y="T1"/>
                </a:cxn>
                <a:cxn ang="T11">
                  <a:pos x="T2" y="T3"/>
                </a:cxn>
                <a:cxn ang="T12">
                  <a:pos x="T4" y="T5"/>
                </a:cxn>
                <a:cxn ang="T13">
                  <a:pos x="T6" y="T7"/>
                </a:cxn>
                <a:cxn ang="T14">
                  <a:pos x="T8" y="T9"/>
                </a:cxn>
              </a:cxnLst>
              <a:rect l="T15" t="T16" r="T17" b="T18"/>
              <a:pathLst>
                <a:path w="1119" h="151">
                  <a:moveTo>
                    <a:pt x="1091" y="151"/>
                  </a:moveTo>
                  <a:lnTo>
                    <a:pt x="1119" y="0"/>
                  </a:lnTo>
                  <a:lnTo>
                    <a:pt x="0" y="0"/>
                  </a:lnTo>
                  <a:lnTo>
                    <a:pt x="0" y="151"/>
                  </a:lnTo>
                  <a:lnTo>
                    <a:pt x="1091" y="1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1" name="Freeform 33"/>
            <p:cNvSpPr>
              <a:spLocks/>
            </p:cNvSpPr>
            <p:nvPr/>
          </p:nvSpPr>
          <p:spPr bwMode="auto">
            <a:xfrm>
              <a:off x="4926" y="626"/>
              <a:ext cx="30" cy="32"/>
            </a:xfrm>
            <a:custGeom>
              <a:avLst/>
              <a:gdLst>
                <a:gd name="T0" fmla="*/ 0 w 88"/>
                <a:gd name="T1" fmla="*/ 0 h 96"/>
                <a:gd name="T2" fmla="*/ 0 w 88"/>
                <a:gd name="T3" fmla="*/ 0 h 96"/>
                <a:gd name="T4" fmla="*/ 0 w 88"/>
                <a:gd name="T5" fmla="*/ 0 h 96"/>
                <a:gd name="T6" fmla="*/ 0 w 88"/>
                <a:gd name="T7" fmla="*/ 0 h 96"/>
                <a:gd name="T8" fmla="*/ 0 w 88"/>
                <a:gd name="T9" fmla="*/ 0 h 96"/>
                <a:gd name="T10" fmla="*/ 0 w 88"/>
                <a:gd name="T11" fmla="*/ 0 h 96"/>
                <a:gd name="T12" fmla="*/ 0 w 88"/>
                <a:gd name="T13" fmla="*/ 0 h 96"/>
                <a:gd name="T14" fmla="*/ 0 w 88"/>
                <a:gd name="T15" fmla="*/ 0 h 96"/>
                <a:gd name="T16" fmla="*/ 0 w 88"/>
                <a:gd name="T17" fmla="*/ 0 h 96"/>
                <a:gd name="T18" fmla="*/ 0 w 88"/>
                <a:gd name="T19" fmla="*/ 0 h 96"/>
                <a:gd name="T20" fmla="*/ 0 w 88"/>
                <a:gd name="T21" fmla="*/ 0 h 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8"/>
                <a:gd name="T34" fmla="*/ 0 h 96"/>
                <a:gd name="T35" fmla="*/ 88 w 88"/>
                <a:gd name="T36" fmla="*/ 96 h 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8" h="96">
                  <a:moveTo>
                    <a:pt x="41" y="96"/>
                  </a:moveTo>
                  <a:lnTo>
                    <a:pt x="88" y="0"/>
                  </a:lnTo>
                  <a:lnTo>
                    <a:pt x="0" y="64"/>
                  </a:lnTo>
                  <a:lnTo>
                    <a:pt x="5" y="68"/>
                  </a:lnTo>
                  <a:lnTo>
                    <a:pt x="11" y="72"/>
                  </a:lnTo>
                  <a:lnTo>
                    <a:pt x="16" y="75"/>
                  </a:lnTo>
                  <a:lnTo>
                    <a:pt x="21" y="80"/>
                  </a:lnTo>
                  <a:lnTo>
                    <a:pt x="26" y="84"/>
                  </a:lnTo>
                  <a:lnTo>
                    <a:pt x="31" y="88"/>
                  </a:lnTo>
                  <a:lnTo>
                    <a:pt x="36" y="93"/>
                  </a:lnTo>
                  <a:lnTo>
                    <a:pt x="41"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2" name="Freeform 34"/>
            <p:cNvSpPr>
              <a:spLocks/>
            </p:cNvSpPr>
            <p:nvPr/>
          </p:nvSpPr>
          <p:spPr bwMode="auto">
            <a:xfrm>
              <a:off x="4972" y="695"/>
              <a:ext cx="34" cy="21"/>
            </a:xfrm>
            <a:custGeom>
              <a:avLst/>
              <a:gdLst>
                <a:gd name="T0" fmla="*/ 0 w 104"/>
                <a:gd name="T1" fmla="*/ 0 h 61"/>
                <a:gd name="T2" fmla="*/ 0 w 104"/>
                <a:gd name="T3" fmla="*/ 0 h 61"/>
                <a:gd name="T4" fmla="*/ 0 w 104"/>
                <a:gd name="T5" fmla="*/ 0 h 61"/>
                <a:gd name="T6" fmla="*/ 0 w 104"/>
                <a:gd name="T7" fmla="*/ 0 h 61"/>
                <a:gd name="T8" fmla="*/ 0 w 104"/>
                <a:gd name="T9" fmla="*/ 0 h 61"/>
                <a:gd name="T10" fmla="*/ 0 w 104"/>
                <a:gd name="T11" fmla="*/ 0 h 61"/>
                <a:gd name="T12" fmla="*/ 0 w 104"/>
                <a:gd name="T13" fmla="*/ 0 h 61"/>
                <a:gd name="T14" fmla="*/ 0 60000 65536"/>
                <a:gd name="T15" fmla="*/ 0 60000 65536"/>
                <a:gd name="T16" fmla="*/ 0 60000 65536"/>
                <a:gd name="T17" fmla="*/ 0 60000 65536"/>
                <a:gd name="T18" fmla="*/ 0 60000 65536"/>
                <a:gd name="T19" fmla="*/ 0 60000 65536"/>
                <a:gd name="T20" fmla="*/ 0 60000 65536"/>
                <a:gd name="T21" fmla="*/ 0 w 104"/>
                <a:gd name="T22" fmla="*/ 0 h 61"/>
                <a:gd name="T23" fmla="*/ 104 w 104"/>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61">
                  <a:moveTo>
                    <a:pt x="19" y="61"/>
                  </a:moveTo>
                  <a:lnTo>
                    <a:pt x="104" y="0"/>
                  </a:lnTo>
                  <a:lnTo>
                    <a:pt x="0" y="15"/>
                  </a:lnTo>
                  <a:lnTo>
                    <a:pt x="5" y="26"/>
                  </a:lnTo>
                  <a:lnTo>
                    <a:pt x="10" y="37"/>
                  </a:lnTo>
                  <a:lnTo>
                    <a:pt x="15" y="48"/>
                  </a:lnTo>
                  <a:lnTo>
                    <a:pt x="19"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3" name="Freeform 35"/>
            <p:cNvSpPr>
              <a:spLocks/>
            </p:cNvSpPr>
            <p:nvPr/>
          </p:nvSpPr>
          <p:spPr bwMode="auto">
            <a:xfrm>
              <a:off x="4952" y="657"/>
              <a:ext cx="33" cy="27"/>
            </a:xfrm>
            <a:custGeom>
              <a:avLst/>
              <a:gdLst>
                <a:gd name="T0" fmla="*/ 0 w 99"/>
                <a:gd name="T1" fmla="*/ 0 h 81"/>
                <a:gd name="T2" fmla="*/ 0 w 99"/>
                <a:gd name="T3" fmla="*/ 0 h 81"/>
                <a:gd name="T4" fmla="*/ 0 w 99"/>
                <a:gd name="T5" fmla="*/ 0 h 81"/>
                <a:gd name="T6" fmla="*/ 0 w 99"/>
                <a:gd name="T7" fmla="*/ 0 h 81"/>
                <a:gd name="T8" fmla="*/ 0 w 99"/>
                <a:gd name="T9" fmla="*/ 0 h 81"/>
                <a:gd name="T10" fmla="*/ 0 w 99"/>
                <a:gd name="T11" fmla="*/ 0 h 81"/>
                <a:gd name="T12" fmla="*/ 0 w 99"/>
                <a:gd name="T13" fmla="*/ 0 h 81"/>
                <a:gd name="T14" fmla="*/ 0 60000 65536"/>
                <a:gd name="T15" fmla="*/ 0 60000 65536"/>
                <a:gd name="T16" fmla="*/ 0 60000 65536"/>
                <a:gd name="T17" fmla="*/ 0 60000 65536"/>
                <a:gd name="T18" fmla="*/ 0 60000 65536"/>
                <a:gd name="T19" fmla="*/ 0 60000 65536"/>
                <a:gd name="T20" fmla="*/ 0 60000 65536"/>
                <a:gd name="T21" fmla="*/ 0 w 99"/>
                <a:gd name="T22" fmla="*/ 0 h 81"/>
                <a:gd name="T23" fmla="*/ 99 w 99"/>
                <a:gd name="T24" fmla="*/ 81 h 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 h="81">
                  <a:moveTo>
                    <a:pt x="31" y="81"/>
                  </a:moveTo>
                  <a:lnTo>
                    <a:pt x="99" y="0"/>
                  </a:lnTo>
                  <a:lnTo>
                    <a:pt x="0" y="40"/>
                  </a:lnTo>
                  <a:lnTo>
                    <a:pt x="9" y="50"/>
                  </a:lnTo>
                  <a:lnTo>
                    <a:pt x="16" y="60"/>
                  </a:lnTo>
                  <a:lnTo>
                    <a:pt x="23" y="69"/>
                  </a:lnTo>
                  <a:lnTo>
                    <a:pt x="31"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4" name="Freeform 36"/>
            <p:cNvSpPr>
              <a:spLocks/>
            </p:cNvSpPr>
            <p:nvPr/>
          </p:nvSpPr>
          <p:spPr bwMode="auto">
            <a:xfrm>
              <a:off x="4700" y="833"/>
              <a:ext cx="87" cy="86"/>
            </a:xfrm>
            <a:custGeom>
              <a:avLst/>
              <a:gdLst>
                <a:gd name="T0" fmla="*/ 0 w 260"/>
                <a:gd name="T1" fmla="*/ 0 h 260"/>
                <a:gd name="T2" fmla="*/ 0 w 260"/>
                <a:gd name="T3" fmla="*/ 0 h 260"/>
                <a:gd name="T4" fmla="*/ 0 w 260"/>
                <a:gd name="T5" fmla="*/ 0 h 260"/>
                <a:gd name="T6" fmla="*/ 0 w 260"/>
                <a:gd name="T7" fmla="*/ 0 h 260"/>
                <a:gd name="T8" fmla="*/ 0 w 260"/>
                <a:gd name="T9" fmla="*/ 0 h 260"/>
                <a:gd name="T10" fmla="*/ 0 w 260"/>
                <a:gd name="T11" fmla="*/ 0 h 260"/>
                <a:gd name="T12" fmla="*/ 0 w 260"/>
                <a:gd name="T13" fmla="*/ 0 h 260"/>
                <a:gd name="T14" fmla="*/ 0 w 260"/>
                <a:gd name="T15" fmla="*/ 0 h 260"/>
                <a:gd name="T16" fmla="*/ 0 w 260"/>
                <a:gd name="T17" fmla="*/ 0 h 260"/>
                <a:gd name="T18" fmla="*/ 0 w 260"/>
                <a:gd name="T19" fmla="*/ 0 h 260"/>
                <a:gd name="T20" fmla="*/ 0 w 260"/>
                <a:gd name="T21" fmla="*/ 0 h 260"/>
                <a:gd name="T22" fmla="*/ 0 w 260"/>
                <a:gd name="T23" fmla="*/ 0 h 260"/>
                <a:gd name="T24" fmla="*/ 0 w 260"/>
                <a:gd name="T25" fmla="*/ 0 h 260"/>
                <a:gd name="T26" fmla="*/ 0 w 260"/>
                <a:gd name="T27" fmla="*/ 0 h 260"/>
                <a:gd name="T28" fmla="*/ 0 w 260"/>
                <a:gd name="T29" fmla="*/ 0 h 260"/>
                <a:gd name="T30" fmla="*/ 0 w 260"/>
                <a:gd name="T31" fmla="*/ 0 h 260"/>
                <a:gd name="T32" fmla="*/ 0 w 260"/>
                <a:gd name="T33" fmla="*/ 0 h 260"/>
                <a:gd name="T34" fmla="*/ 0 w 260"/>
                <a:gd name="T35" fmla="*/ 0 h 260"/>
                <a:gd name="T36" fmla="*/ 0 w 260"/>
                <a:gd name="T37" fmla="*/ 0 h 260"/>
                <a:gd name="T38" fmla="*/ 0 w 260"/>
                <a:gd name="T39" fmla="*/ 0 h 260"/>
                <a:gd name="T40" fmla="*/ 0 w 260"/>
                <a:gd name="T41" fmla="*/ 0 h 260"/>
                <a:gd name="T42" fmla="*/ 0 w 260"/>
                <a:gd name="T43" fmla="*/ 0 h 260"/>
                <a:gd name="T44" fmla="*/ 0 w 260"/>
                <a:gd name="T45" fmla="*/ 0 h 260"/>
                <a:gd name="T46" fmla="*/ 0 w 260"/>
                <a:gd name="T47" fmla="*/ 0 h 260"/>
                <a:gd name="T48" fmla="*/ 0 w 260"/>
                <a:gd name="T49" fmla="*/ 0 h 260"/>
                <a:gd name="T50" fmla="*/ 0 w 260"/>
                <a:gd name="T51" fmla="*/ 0 h 260"/>
                <a:gd name="T52" fmla="*/ 0 w 260"/>
                <a:gd name="T53" fmla="*/ 0 h 260"/>
                <a:gd name="T54" fmla="*/ 0 w 260"/>
                <a:gd name="T55" fmla="*/ 0 h 260"/>
                <a:gd name="T56" fmla="*/ 0 w 260"/>
                <a:gd name="T57" fmla="*/ 0 h 260"/>
                <a:gd name="T58" fmla="*/ 0 w 260"/>
                <a:gd name="T59" fmla="*/ 0 h 260"/>
                <a:gd name="T60" fmla="*/ 0 w 260"/>
                <a:gd name="T61" fmla="*/ 0 h 260"/>
                <a:gd name="T62" fmla="*/ 0 w 260"/>
                <a:gd name="T63" fmla="*/ 0 h 260"/>
                <a:gd name="T64" fmla="*/ 0 w 260"/>
                <a:gd name="T65" fmla="*/ 0 h 260"/>
                <a:gd name="T66" fmla="*/ 0 w 260"/>
                <a:gd name="T67" fmla="*/ 0 h 260"/>
                <a:gd name="T68" fmla="*/ 0 w 260"/>
                <a:gd name="T69" fmla="*/ 0 h 260"/>
                <a:gd name="T70" fmla="*/ 0 w 260"/>
                <a:gd name="T71" fmla="*/ 0 h 260"/>
                <a:gd name="T72" fmla="*/ 0 w 260"/>
                <a:gd name="T73" fmla="*/ 0 h 260"/>
                <a:gd name="T74" fmla="*/ 0 w 260"/>
                <a:gd name="T75" fmla="*/ 0 h 260"/>
                <a:gd name="T76" fmla="*/ 0 w 260"/>
                <a:gd name="T77" fmla="*/ 0 h 260"/>
                <a:gd name="T78" fmla="*/ 0 w 260"/>
                <a:gd name="T79" fmla="*/ 0 h 260"/>
                <a:gd name="T80" fmla="*/ 0 w 260"/>
                <a:gd name="T81" fmla="*/ 0 h 260"/>
                <a:gd name="T82" fmla="*/ 0 w 260"/>
                <a:gd name="T83" fmla="*/ 0 h 260"/>
                <a:gd name="T84" fmla="*/ 0 w 260"/>
                <a:gd name="T85" fmla="*/ 0 h 260"/>
                <a:gd name="T86" fmla="*/ 0 w 260"/>
                <a:gd name="T87" fmla="*/ 0 h 260"/>
                <a:gd name="T88" fmla="*/ 0 w 260"/>
                <a:gd name="T89" fmla="*/ 0 h 260"/>
                <a:gd name="T90" fmla="*/ 0 w 260"/>
                <a:gd name="T91" fmla="*/ 0 h 260"/>
                <a:gd name="T92" fmla="*/ 0 w 260"/>
                <a:gd name="T93" fmla="*/ 0 h 260"/>
                <a:gd name="T94" fmla="*/ 0 w 260"/>
                <a:gd name="T95" fmla="*/ 0 h 260"/>
                <a:gd name="T96" fmla="*/ 0 w 260"/>
                <a:gd name="T97" fmla="*/ 0 h 260"/>
                <a:gd name="T98" fmla="*/ 0 w 260"/>
                <a:gd name="T99" fmla="*/ 0 h 260"/>
                <a:gd name="T100" fmla="*/ 0 w 260"/>
                <a:gd name="T101" fmla="*/ 0 h 260"/>
                <a:gd name="T102" fmla="*/ 0 w 260"/>
                <a:gd name="T103" fmla="*/ 0 h 260"/>
                <a:gd name="T104" fmla="*/ 0 w 260"/>
                <a:gd name="T105" fmla="*/ 0 h 260"/>
                <a:gd name="T106" fmla="*/ 0 w 260"/>
                <a:gd name="T107" fmla="*/ 0 h 260"/>
                <a:gd name="T108" fmla="*/ 0 w 260"/>
                <a:gd name="T109" fmla="*/ 0 h 260"/>
                <a:gd name="T110" fmla="*/ 0 w 260"/>
                <a:gd name="T111" fmla="*/ 0 h 260"/>
                <a:gd name="T112" fmla="*/ 0 w 260"/>
                <a:gd name="T113" fmla="*/ 0 h 2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0"/>
                <a:gd name="T172" fmla="*/ 0 h 260"/>
                <a:gd name="T173" fmla="*/ 260 w 260"/>
                <a:gd name="T174" fmla="*/ 260 h 2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0" h="260">
                  <a:moveTo>
                    <a:pt x="223" y="37"/>
                  </a:moveTo>
                  <a:lnTo>
                    <a:pt x="213" y="29"/>
                  </a:lnTo>
                  <a:lnTo>
                    <a:pt x="203" y="21"/>
                  </a:lnTo>
                  <a:lnTo>
                    <a:pt x="192" y="15"/>
                  </a:lnTo>
                  <a:lnTo>
                    <a:pt x="181" y="10"/>
                  </a:lnTo>
                  <a:lnTo>
                    <a:pt x="168" y="5"/>
                  </a:lnTo>
                  <a:lnTo>
                    <a:pt x="156" y="3"/>
                  </a:lnTo>
                  <a:lnTo>
                    <a:pt x="142" y="1"/>
                  </a:lnTo>
                  <a:lnTo>
                    <a:pt x="130" y="0"/>
                  </a:lnTo>
                  <a:lnTo>
                    <a:pt x="104" y="3"/>
                  </a:lnTo>
                  <a:lnTo>
                    <a:pt x="79" y="10"/>
                  </a:lnTo>
                  <a:lnTo>
                    <a:pt x="57" y="22"/>
                  </a:lnTo>
                  <a:lnTo>
                    <a:pt x="39" y="39"/>
                  </a:lnTo>
                  <a:lnTo>
                    <a:pt x="23" y="57"/>
                  </a:lnTo>
                  <a:lnTo>
                    <a:pt x="10" y="79"/>
                  </a:lnTo>
                  <a:lnTo>
                    <a:pt x="3" y="104"/>
                  </a:lnTo>
                  <a:lnTo>
                    <a:pt x="0" y="130"/>
                  </a:lnTo>
                  <a:lnTo>
                    <a:pt x="2" y="142"/>
                  </a:lnTo>
                  <a:lnTo>
                    <a:pt x="3" y="156"/>
                  </a:lnTo>
                  <a:lnTo>
                    <a:pt x="6" y="167"/>
                  </a:lnTo>
                  <a:lnTo>
                    <a:pt x="10" y="180"/>
                  </a:lnTo>
                  <a:lnTo>
                    <a:pt x="15" y="191"/>
                  </a:lnTo>
                  <a:lnTo>
                    <a:pt x="23" y="202"/>
                  </a:lnTo>
                  <a:lnTo>
                    <a:pt x="30" y="212"/>
                  </a:lnTo>
                  <a:lnTo>
                    <a:pt x="39" y="222"/>
                  </a:lnTo>
                  <a:lnTo>
                    <a:pt x="49" y="230"/>
                  </a:lnTo>
                  <a:lnTo>
                    <a:pt x="58" y="238"/>
                  </a:lnTo>
                  <a:lnTo>
                    <a:pt x="70" y="245"/>
                  </a:lnTo>
                  <a:lnTo>
                    <a:pt x="81" y="250"/>
                  </a:lnTo>
                  <a:lnTo>
                    <a:pt x="93" y="254"/>
                  </a:lnTo>
                  <a:lnTo>
                    <a:pt x="104" y="258"/>
                  </a:lnTo>
                  <a:lnTo>
                    <a:pt x="118" y="259"/>
                  </a:lnTo>
                  <a:lnTo>
                    <a:pt x="130" y="260"/>
                  </a:lnTo>
                  <a:lnTo>
                    <a:pt x="142" y="259"/>
                  </a:lnTo>
                  <a:lnTo>
                    <a:pt x="156" y="258"/>
                  </a:lnTo>
                  <a:lnTo>
                    <a:pt x="168" y="254"/>
                  </a:lnTo>
                  <a:lnTo>
                    <a:pt x="181" y="250"/>
                  </a:lnTo>
                  <a:lnTo>
                    <a:pt x="192" y="245"/>
                  </a:lnTo>
                  <a:lnTo>
                    <a:pt x="203" y="238"/>
                  </a:lnTo>
                  <a:lnTo>
                    <a:pt x="213" y="230"/>
                  </a:lnTo>
                  <a:lnTo>
                    <a:pt x="223" y="222"/>
                  </a:lnTo>
                  <a:lnTo>
                    <a:pt x="231" y="212"/>
                  </a:lnTo>
                  <a:lnTo>
                    <a:pt x="239" y="202"/>
                  </a:lnTo>
                  <a:lnTo>
                    <a:pt x="245" y="191"/>
                  </a:lnTo>
                  <a:lnTo>
                    <a:pt x="251" y="180"/>
                  </a:lnTo>
                  <a:lnTo>
                    <a:pt x="255" y="167"/>
                  </a:lnTo>
                  <a:lnTo>
                    <a:pt x="257" y="156"/>
                  </a:lnTo>
                  <a:lnTo>
                    <a:pt x="260" y="142"/>
                  </a:lnTo>
                  <a:lnTo>
                    <a:pt x="260" y="130"/>
                  </a:lnTo>
                  <a:lnTo>
                    <a:pt x="260" y="118"/>
                  </a:lnTo>
                  <a:lnTo>
                    <a:pt x="257" y="104"/>
                  </a:lnTo>
                  <a:lnTo>
                    <a:pt x="255" y="92"/>
                  </a:lnTo>
                  <a:lnTo>
                    <a:pt x="251" y="79"/>
                  </a:lnTo>
                  <a:lnTo>
                    <a:pt x="245" y="68"/>
                  </a:lnTo>
                  <a:lnTo>
                    <a:pt x="239" y="57"/>
                  </a:lnTo>
                  <a:lnTo>
                    <a:pt x="231" y="47"/>
                  </a:lnTo>
                  <a:lnTo>
                    <a:pt x="223"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5" name="Freeform 37"/>
            <p:cNvSpPr>
              <a:spLocks/>
            </p:cNvSpPr>
            <p:nvPr/>
          </p:nvSpPr>
          <p:spPr bwMode="auto">
            <a:xfrm>
              <a:off x="4721" y="854"/>
              <a:ext cx="45" cy="44"/>
            </a:xfrm>
            <a:custGeom>
              <a:avLst/>
              <a:gdLst>
                <a:gd name="T0" fmla="*/ 0 w 134"/>
                <a:gd name="T1" fmla="*/ 0 h 134"/>
                <a:gd name="T2" fmla="*/ 0 w 134"/>
                <a:gd name="T3" fmla="*/ 0 h 134"/>
                <a:gd name="T4" fmla="*/ 0 w 134"/>
                <a:gd name="T5" fmla="*/ 0 h 134"/>
                <a:gd name="T6" fmla="*/ 0 w 134"/>
                <a:gd name="T7" fmla="*/ 0 h 134"/>
                <a:gd name="T8" fmla="*/ 0 w 134"/>
                <a:gd name="T9" fmla="*/ 0 h 134"/>
                <a:gd name="T10" fmla="*/ 0 w 134"/>
                <a:gd name="T11" fmla="*/ 0 h 134"/>
                <a:gd name="T12" fmla="*/ 0 w 134"/>
                <a:gd name="T13" fmla="*/ 0 h 134"/>
                <a:gd name="T14" fmla="*/ 0 w 134"/>
                <a:gd name="T15" fmla="*/ 0 h 134"/>
                <a:gd name="T16" fmla="*/ 0 w 134"/>
                <a:gd name="T17" fmla="*/ 0 h 134"/>
                <a:gd name="T18" fmla="*/ 0 w 134"/>
                <a:gd name="T19" fmla="*/ 0 h 134"/>
                <a:gd name="T20" fmla="*/ 0 w 134"/>
                <a:gd name="T21" fmla="*/ 0 h 134"/>
                <a:gd name="T22" fmla="*/ 0 w 134"/>
                <a:gd name="T23" fmla="*/ 0 h 134"/>
                <a:gd name="T24" fmla="*/ 0 w 134"/>
                <a:gd name="T25" fmla="*/ 0 h 134"/>
                <a:gd name="T26" fmla="*/ 0 w 134"/>
                <a:gd name="T27" fmla="*/ 0 h 134"/>
                <a:gd name="T28" fmla="*/ 0 w 134"/>
                <a:gd name="T29" fmla="*/ 0 h 134"/>
                <a:gd name="T30" fmla="*/ 0 w 134"/>
                <a:gd name="T31" fmla="*/ 0 h 134"/>
                <a:gd name="T32" fmla="*/ 0 w 134"/>
                <a:gd name="T33" fmla="*/ 0 h 134"/>
                <a:gd name="T34" fmla="*/ 0 w 134"/>
                <a:gd name="T35" fmla="*/ 0 h 134"/>
                <a:gd name="T36" fmla="*/ 0 w 134"/>
                <a:gd name="T37" fmla="*/ 0 h 134"/>
                <a:gd name="T38" fmla="*/ 0 w 134"/>
                <a:gd name="T39" fmla="*/ 0 h 134"/>
                <a:gd name="T40" fmla="*/ 0 w 134"/>
                <a:gd name="T41" fmla="*/ 0 h 134"/>
                <a:gd name="T42" fmla="*/ 0 w 134"/>
                <a:gd name="T43" fmla="*/ 0 h 134"/>
                <a:gd name="T44" fmla="*/ 0 w 134"/>
                <a:gd name="T45" fmla="*/ 0 h 134"/>
                <a:gd name="T46" fmla="*/ 0 w 134"/>
                <a:gd name="T47" fmla="*/ 0 h 134"/>
                <a:gd name="T48" fmla="*/ 0 w 134"/>
                <a:gd name="T49" fmla="*/ 0 h 134"/>
                <a:gd name="T50" fmla="*/ 0 w 134"/>
                <a:gd name="T51" fmla="*/ 0 h 134"/>
                <a:gd name="T52" fmla="*/ 0 w 134"/>
                <a:gd name="T53" fmla="*/ 0 h 134"/>
                <a:gd name="T54" fmla="*/ 0 w 134"/>
                <a:gd name="T55" fmla="*/ 0 h 134"/>
                <a:gd name="T56" fmla="*/ 0 w 134"/>
                <a:gd name="T57" fmla="*/ 0 h 134"/>
                <a:gd name="T58" fmla="*/ 0 w 134"/>
                <a:gd name="T59" fmla="*/ 0 h 134"/>
                <a:gd name="T60" fmla="*/ 0 w 134"/>
                <a:gd name="T61" fmla="*/ 0 h 134"/>
                <a:gd name="T62" fmla="*/ 0 w 134"/>
                <a:gd name="T63" fmla="*/ 0 h 134"/>
                <a:gd name="T64" fmla="*/ 0 w 134"/>
                <a:gd name="T65" fmla="*/ 0 h 134"/>
                <a:gd name="T66" fmla="*/ 0 w 134"/>
                <a:gd name="T67" fmla="*/ 0 h 134"/>
                <a:gd name="T68" fmla="*/ 0 w 134"/>
                <a:gd name="T69" fmla="*/ 0 h 134"/>
                <a:gd name="T70" fmla="*/ 0 w 134"/>
                <a:gd name="T71" fmla="*/ 0 h 134"/>
                <a:gd name="T72" fmla="*/ 0 w 134"/>
                <a:gd name="T73" fmla="*/ 0 h 134"/>
                <a:gd name="T74" fmla="*/ 0 w 134"/>
                <a:gd name="T75" fmla="*/ 0 h 134"/>
                <a:gd name="T76" fmla="*/ 0 w 134"/>
                <a:gd name="T77" fmla="*/ 0 h 134"/>
                <a:gd name="T78" fmla="*/ 0 w 134"/>
                <a:gd name="T79" fmla="*/ 0 h 134"/>
                <a:gd name="T80" fmla="*/ 0 w 134"/>
                <a:gd name="T81" fmla="*/ 0 h 134"/>
                <a:gd name="T82" fmla="*/ 0 w 134"/>
                <a:gd name="T83" fmla="*/ 0 h 134"/>
                <a:gd name="T84" fmla="*/ 0 w 134"/>
                <a:gd name="T85" fmla="*/ 0 h 134"/>
                <a:gd name="T86" fmla="*/ 0 w 134"/>
                <a:gd name="T87" fmla="*/ 0 h 134"/>
                <a:gd name="T88" fmla="*/ 0 w 134"/>
                <a:gd name="T89" fmla="*/ 0 h 1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4"/>
                <a:gd name="T136" fmla="*/ 0 h 134"/>
                <a:gd name="T137" fmla="*/ 134 w 134"/>
                <a:gd name="T138" fmla="*/ 134 h 1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4" h="134">
                  <a:moveTo>
                    <a:pt x="0" y="67"/>
                  </a:moveTo>
                  <a:lnTo>
                    <a:pt x="2" y="55"/>
                  </a:lnTo>
                  <a:lnTo>
                    <a:pt x="5" y="41"/>
                  </a:lnTo>
                  <a:lnTo>
                    <a:pt x="11" y="30"/>
                  </a:lnTo>
                  <a:lnTo>
                    <a:pt x="20" y="20"/>
                  </a:lnTo>
                  <a:lnTo>
                    <a:pt x="25" y="15"/>
                  </a:lnTo>
                  <a:lnTo>
                    <a:pt x="30" y="11"/>
                  </a:lnTo>
                  <a:lnTo>
                    <a:pt x="36" y="9"/>
                  </a:lnTo>
                  <a:lnTo>
                    <a:pt x="42" y="5"/>
                  </a:lnTo>
                  <a:lnTo>
                    <a:pt x="47" y="3"/>
                  </a:lnTo>
                  <a:lnTo>
                    <a:pt x="55" y="2"/>
                  </a:lnTo>
                  <a:lnTo>
                    <a:pt x="61" y="0"/>
                  </a:lnTo>
                  <a:lnTo>
                    <a:pt x="67" y="0"/>
                  </a:lnTo>
                  <a:lnTo>
                    <a:pt x="75" y="0"/>
                  </a:lnTo>
                  <a:lnTo>
                    <a:pt x="81" y="2"/>
                  </a:lnTo>
                  <a:lnTo>
                    <a:pt x="87" y="3"/>
                  </a:lnTo>
                  <a:lnTo>
                    <a:pt x="93" y="5"/>
                  </a:lnTo>
                  <a:lnTo>
                    <a:pt x="99" y="9"/>
                  </a:lnTo>
                  <a:lnTo>
                    <a:pt x="104" y="11"/>
                  </a:lnTo>
                  <a:lnTo>
                    <a:pt x="109" y="15"/>
                  </a:lnTo>
                  <a:lnTo>
                    <a:pt x="114" y="20"/>
                  </a:lnTo>
                  <a:lnTo>
                    <a:pt x="123" y="30"/>
                  </a:lnTo>
                  <a:lnTo>
                    <a:pt x="129" y="41"/>
                  </a:lnTo>
                  <a:lnTo>
                    <a:pt x="133" y="55"/>
                  </a:lnTo>
                  <a:lnTo>
                    <a:pt x="134" y="67"/>
                  </a:lnTo>
                  <a:lnTo>
                    <a:pt x="133" y="81"/>
                  </a:lnTo>
                  <a:lnTo>
                    <a:pt x="129" y="93"/>
                  </a:lnTo>
                  <a:lnTo>
                    <a:pt x="123" y="104"/>
                  </a:lnTo>
                  <a:lnTo>
                    <a:pt x="114" y="114"/>
                  </a:lnTo>
                  <a:lnTo>
                    <a:pt x="104" y="123"/>
                  </a:lnTo>
                  <a:lnTo>
                    <a:pt x="93" y="129"/>
                  </a:lnTo>
                  <a:lnTo>
                    <a:pt x="81" y="133"/>
                  </a:lnTo>
                  <a:lnTo>
                    <a:pt x="67" y="134"/>
                  </a:lnTo>
                  <a:lnTo>
                    <a:pt x="61" y="134"/>
                  </a:lnTo>
                  <a:lnTo>
                    <a:pt x="55" y="133"/>
                  </a:lnTo>
                  <a:lnTo>
                    <a:pt x="47" y="131"/>
                  </a:lnTo>
                  <a:lnTo>
                    <a:pt x="42" y="129"/>
                  </a:lnTo>
                  <a:lnTo>
                    <a:pt x="36" y="125"/>
                  </a:lnTo>
                  <a:lnTo>
                    <a:pt x="30" y="123"/>
                  </a:lnTo>
                  <a:lnTo>
                    <a:pt x="25" y="119"/>
                  </a:lnTo>
                  <a:lnTo>
                    <a:pt x="20" y="114"/>
                  </a:lnTo>
                  <a:lnTo>
                    <a:pt x="11" y="104"/>
                  </a:lnTo>
                  <a:lnTo>
                    <a:pt x="5" y="92"/>
                  </a:lnTo>
                  <a:lnTo>
                    <a:pt x="2" y="79"/>
                  </a:lnTo>
                  <a:lnTo>
                    <a:pt x="0"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6" name="Freeform 38"/>
            <p:cNvSpPr>
              <a:spLocks/>
            </p:cNvSpPr>
            <p:nvPr/>
          </p:nvSpPr>
          <p:spPr bwMode="auto">
            <a:xfrm>
              <a:off x="4936" y="831"/>
              <a:ext cx="76" cy="77"/>
            </a:xfrm>
            <a:custGeom>
              <a:avLst/>
              <a:gdLst>
                <a:gd name="T0" fmla="*/ 0 w 228"/>
                <a:gd name="T1" fmla="*/ 0 h 229"/>
                <a:gd name="T2" fmla="*/ 0 w 228"/>
                <a:gd name="T3" fmla="*/ 0 h 229"/>
                <a:gd name="T4" fmla="*/ 0 w 228"/>
                <a:gd name="T5" fmla="*/ 0 h 229"/>
                <a:gd name="T6" fmla="*/ 0 w 228"/>
                <a:gd name="T7" fmla="*/ 0 h 229"/>
                <a:gd name="T8" fmla="*/ 0 w 228"/>
                <a:gd name="T9" fmla="*/ 0 h 229"/>
                <a:gd name="T10" fmla="*/ 0 w 228"/>
                <a:gd name="T11" fmla="*/ 0 h 229"/>
                <a:gd name="T12" fmla="*/ 0 w 228"/>
                <a:gd name="T13" fmla="*/ 0 h 229"/>
                <a:gd name="T14" fmla="*/ 0 w 228"/>
                <a:gd name="T15" fmla="*/ 0 h 229"/>
                <a:gd name="T16" fmla="*/ 0 w 228"/>
                <a:gd name="T17" fmla="*/ 0 h 229"/>
                <a:gd name="T18" fmla="*/ 0 w 228"/>
                <a:gd name="T19" fmla="*/ 0 h 229"/>
                <a:gd name="T20" fmla="*/ 0 w 228"/>
                <a:gd name="T21" fmla="*/ 0 h 229"/>
                <a:gd name="T22" fmla="*/ 0 w 228"/>
                <a:gd name="T23" fmla="*/ 0 h 229"/>
                <a:gd name="T24" fmla="*/ 0 w 228"/>
                <a:gd name="T25" fmla="*/ 0 h 229"/>
                <a:gd name="T26" fmla="*/ 0 w 228"/>
                <a:gd name="T27" fmla="*/ 0 h 229"/>
                <a:gd name="T28" fmla="*/ 0 w 228"/>
                <a:gd name="T29" fmla="*/ 0 h 229"/>
                <a:gd name="T30" fmla="*/ 0 w 228"/>
                <a:gd name="T31" fmla="*/ 0 h 229"/>
                <a:gd name="T32" fmla="*/ 0 w 228"/>
                <a:gd name="T33" fmla="*/ 0 h 229"/>
                <a:gd name="T34" fmla="*/ 0 w 228"/>
                <a:gd name="T35" fmla="*/ 0 h 229"/>
                <a:gd name="T36" fmla="*/ 0 w 228"/>
                <a:gd name="T37" fmla="*/ 0 h 229"/>
                <a:gd name="T38" fmla="*/ 0 w 228"/>
                <a:gd name="T39" fmla="*/ 0 h 229"/>
                <a:gd name="T40" fmla="*/ 0 w 228"/>
                <a:gd name="T41" fmla="*/ 0 h 229"/>
                <a:gd name="T42" fmla="*/ 0 w 228"/>
                <a:gd name="T43" fmla="*/ 0 h 229"/>
                <a:gd name="T44" fmla="*/ 0 w 228"/>
                <a:gd name="T45" fmla="*/ 0 h 229"/>
                <a:gd name="T46" fmla="*/ 0 w 228"/>
                <a:gd name="T47" fmla="*/ 0 h 229"/>
                <a:gd name="T48" fmla="*/ 0 w 228"/>
                <a:gd name="T49" fmla="*/ 0 h 229"/>
                <a:gd name="T50" fmla="*/ 0 w 228"/>
                <a:gd name="T51" fmla="*/ 0 h 229"/>
                <a:gd name="T52" fmla="*/ 0 w 228"/>
                <a:gd name="T53" fmla="*/ 0 h 229"/>
                <a:gd name="T54" fmla="*/ 0 w 228"/>
                <a:gd name="T55" fmla="*/ 0 h 229"/>
                <a:gd name="T56" fmla="*/ 0 w 228"/>
                <a:gd name="T57" fmla="*/ 0 h 229"/>
                <a:gd name="T58" fmla="*/ 0 w 228"/>
                <a:gd name="T59" fmla="*/ 0 h 229"/>
                <a:gd name="T60" fmla="*/ 0 w 228"/>
                <a:gd name="T61" fmla="*/ 0 h 229"/>
                <a:gd name="T62" fmla="*/ 0 w 228"/>
                <a:gd name="T63" fmla="*/ 0 h 229"/>
                <a:gd name="T64" fmla="*/ 0 w 228"/>
                <a:gd name="T65" fmla="*/ 0 h 229"/>
                <a:gd name="T66" fmla="*/ 0 w 228"/>
                <a:gd name="T67" fmla="*/ 0 h 229"/>
                <a:gd name="T68" fmla="*/ 0 w 228"/>
                <a:gd name="T69" fmla="*/ 0 h 229"/>
                <a:gd name="T70" fmla="*/ 0 w 228"/>
                <a:gd name="T71" fmla="*/ 0 h 229"/>
                <a:gd name="T72" fmla="*/ 0 w 228"/>
                <a:gd name="T73" fmla="*/ 0 h 229"/>
                <a:gd name="T74" fmla="*/ 0 w 228"/>
                <a:gd name="T75" fmla="*/ 0 h 229"/>
                <a:gd name="T76" fmla="*/ 0 w 228"/>
                <a:gd name="T77" fmla="*/ 0 h 229"/>
                <a:gd name="T78" fmla="*/ 0 w 228"/>
                <a:gd name="T79" fmla="*/ 0 h 229"/>
                <a:gd name="T80" fmla="*/ 0 w 228"/>
                <a:gd name="T81" fmla="*/ 0 h 229"/>
                <a:gd name="T82" fmla="*/ 0 w 228"/>
                <a:gd name="T83" fmla="*/ 0 h 229"/>
                <a:gd name="T84" fmla="*/ 0 w 228"/>
                <a:gd name="T85" fmla="*/ 0 h 229"/>
                <a:gd name="T86" fmla="*/ 0 w 228"/>
                <a:gd name="T87" fmla="*/ 0 h 229"/>
                <a:gd name="T88" fmla="*/ 0 w 228"/>
                <a:gd name="T89" fmla="*/ 0 h 22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28"/>
                <a:gd name="T136" fmla="*/ 0 h 229"/>
                <a:gd name="T137" fmla="*/ 228 w 228"/>
                <a:gd name="T138" fmla="*/ 229 h 22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28" h="229">
                  <a:moveTo>
                    <a:pt x="195" y="34"/>
                  </a:moveTo>
                  <a:lnTo>
                    <a:pt x="186" y="26"/>
                  </a:lnTo>
                  <a:lnTo>
                    <a:pt x="178" y="19"/>
                  </a:lnTo>
                  <a:lnTo>
                    <a:pt x="169" y="14"/>
                  </a:lnTo>
                  <a:lnTo>
                    <a:pt x="159" y="9"/>
                  </a:lnTo>
                  <a:lnTo>
                    <a:pt x="148" y="5"/>
                  </a:lnTo>
                  <a:lnTo>
                    <a:pt x="137" y="3"/>
                  </a:lnTo>
                  <a:lnTo>
                    <a:pt x="126" y="0"/>
                  </a:lnTo>
                  <a:lnTo>
                    <a:pt x="115" y="0"/>
                  </a:lnTo>
                  <a:lnTo>
                    <a:pt x="91" y="3"/>
                  </a:lnTo>
                  <a:lnTo>
                    <a:pt x="70" y="9"/>
                  </a:lnTo>
                  <a:lnTo>
                    <a:pt x="50" y="20"/>
                  </a:lnTo>
                  <a:lnTo>
                    <a:pt x="33" y="34"/>
                  </a:lnTo>
                  <a:lnTo>
                    <a:pt x="20" y="50"/>
                  </a:lnTo>
                  <a:lnTo>
                    <a:pt x="8" y="70"/>
                  </a:lnTo>
                  <a:lnTo>
                    <a:pt x="2" y="91"/>
                  </a:lnTo>
                  <a:lnTo>
                    <a:pt x="0" y="114"/>
                  </a:lnTo>
                  <a:lnTo>
                    <a:pt x="2" y="137"/>
                  </a:lnTo>
                  <a:lnTo>
                    <a:pt x="8" y="159"/>
                  </a:lnTo>
                  <a:lnTo>
                    <a:pt x="20" y="179"/>
                  </a:lnTo>
                  <a:lnTo>
                    <a:pt x="33" y="196"/>
                  </a:lnTo>
                  <a:lnTo>
                    <a:pt x="42" y="203"/>
                  </a:lnTo>
                  <a:lnTo>
                    <a:pt x="50" y="210"/>
                  </a:lnTo>
                  <a:lnTo>
                    <a:pt x="60" y="216"/>
                  </a:lnTo>
                  <a:lnTo>
                    <a:pt x="70" y="221"/>
                  </a:lnTo>
                  <a:lnTo>
                    <a:pt x="81" y="224"/>
                  </a:lnTo>
                  <a:lnTo>
                    <a:pt x="92" y="227"/>
                  </a:lnTo>
                  <a:lnTo>
                    <a:pt x="104" y="229"/>
                  </a:lnTo>
                  <a:lnTo>
                    <a:pt x="115" y="229"/>
                  </a:lnTo>
                  <a:lnTo>
                    <a:pt x="126" y="229"/>
                  </a:lnTo>
                  <a:lnTo>
                    <a:pt x="137" y="227"/>
                  </a:lnTo>
                  <a:lnTo>
                    <a:pt x="148" y="224"/>
                  </a:lnTo>
                  <a:lnTo>
                    <a:pt x="159" y="221"/>
                  </a:lnTo>
                  <a:lnTo>
                    <a:pt x="169" y="216"/>
                  </a:lnTo>
                  <a:lnTo>
                    <a:pt x="178" y="210"/>
                  </a:lnTo>
                  <a:lnTo>
                    <a:pt x="186" y="203"/>
                  </a:lnTo>
                  <a:lnTo>
                    <a:pt x="195" y="196"/>
                  </a:lnTo>
                  <a:lnTo>
                    <a:pt x="210" y="179"/>
                  </a:lnTo>
                  <a:lnTo>
                    <a:pt x="220" y="159"/>
                  </a:lnTo>
                  <a:lnTo>
                    <a:pt x="226" y="137"/>
                  </a:lnTo>
                  <a:lnTo>
                    <a:pt x="228" y="114"/>
                  </a:lnTo>
                  <a:lnTo>
                    <a:pt x="226" y="92"/>
                  </a:lnTo>
                  <a:lnTo>
                    <a:pt x="220" y="70"/>
                  </a:lnTo>
                  <a:lnTo>
                    <a:pt x="210" y="51"/>
                  </a:lnTo>
                  <a:lnTo>
                    <a:pt x="195"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7" name="Freeform 39"/>
            <p:cNvSpPr>
              <a:spLocks/>
            </p:cNvSpPr>
            <p:nvPr/>
          </p:nvSpPr>
          <p:spPr bwMode="auto">
            <a:xfrm>
              <a:off x="4957" y="852"/>
              <a:ext cx="35" cy="35"/>
            </a:xfrm>
            <a:custGeom>
              <a:avLst/>
              <a:gdLst>
                <a:gd name="T0" fmla="*/ 0 w 105"/>
                <a:gd name="T1" fmla="*/ 0 h 106"/>
                <a:gd name="T2" fmla="*/ 0 w 105"/>
                <a:gd name="T3" fmla="*/ 0 h 106"/>
                <a:gd name="T4" fmla="*/ 0 w 105"/>
                <a:gd name="T5" fmla="*/ 0 h 106"/>
                <a:gd name="T6" fmla="*/ 0 w 105"/>
                <a:gd name="T7" fmla="*/ 0 h 106"/>
                <a:gd name="T8" fmla="*/ 0 w 105"/>
                <a:gd name="T9" fmla="*/ 0 h 106"/>
                <a:gd name="T10" fmla="*/ 0 w 105"/>
                <a:gd name="T11" fmla="*/ 0 h 106"/>
                <a:gd name="T12" fmla="*/ 0 w 105"/>
                <a:gd name="T13" fmla="*/ 0 h 106"/>
                <a:gd name="T14" fmla="*/ 0 w 105"/>
                <a:gd name="T15" fmla="*/ 0 h 106"/>
                <a:gd name="T16" fmla="*/ 0 w 105"/>
                <a:gd name="T17" fmla="*/ 0 h 106"/>
                <a:gd name="T18" fmla="*/ 0 w 105"/>
                <a:gd name="T19" fmla="*/ 0 h 106"/>
                <a:gd name="T20" fmla="*/ 0 w 105"/>
                <a:gd name="T21" fmla="*/ 0 h 106"/>
                <a:gd name="T22" fmla="*/ 0 w 105"/>
                <a:gd name="T23" fmla="*/ 0 h 106"/>
                <a:gd name="T24" fmla="*/ 0 w 105"/>
                <a:gd name="T25" fmla="*/ 0 h 106"/>
                <a:gd name="T26" fmla="*/ 0 w 105"/>
                <a:gd name="T27" fmla="*/ 0 h 106"/>
                <a:gd name="T28" fmla="*/ 0 w 105"/>
                <a:gd name="T29" fmla="*/ 0 h 106"/>
                <a:gd name="T30" fmla="*/ 0 w 105"/>
                <a:gd name="T31" fmla="*/ 0 h 106"/>
                <a:gd name="T32" fmla="*/ 0 w 105"/>
                <a:gd name="T33" fmla="*/ 0 h 106"/>
                <a:gd name="T34" fmla="*/ 0 w 105"/>
                <a:gd name="T35" fmla="*/ 0 h 106"/>
                <a:gd name="T36" fmla="*/ 0 w 105"/>
                <a:gd name="T37" fmla="*/ 0 h 106"/>
                <a:gd name="T38" fmla="*/ 0 w 105"/>
                <a:gd name="T39" fmla="*/ 0 h 106"/>
                <a:gd name="T40" fmla="*/ 0 w 105"/>
                <a:gd name="T41" fmla="*/ 0 h 106"/>
                <a:gd name="T42" fmla="*/ 0 w 105"/>
                <a:gd name="T43" fmla="*/ 0 h 106"/>
                <a:gd name="T44" fmla="*/ 0 w 105"/>
                <a:gd name="T45" fmla="*/ 0 h 106"/>
                <a:gd name="T46" fmla="*/ 0 w 105"/>
                <a:gd name="T47" fmla="*/ 0 h 106"/>
                <a:gd name="T48" fmla="*/ 0 w 105"/>
                <a:gd name="T49" fmla="*/ 0 h 106"/>
                <a:gd name="T50" fmla="*/ 0 w 105"/>
                <a:gd name="T51" fmla="*/ 0 h 106"/>
                <a:gd name="T52" fmla="*/ 0 w 105"/>
                <a:gd name="T53" fmla="*/ 0 h 106"/>
                <a:gd name="T54" fmla="*/ 0 w 105"/>
                <a:gd name="T55" fmla="*/ 0 h 106"/>
                <a:gd name="T56" fmla="*/ 0 w 105"/>
                <a:gd name="T57" fmla="*/ 0 h 106"/>
                <a:gd name="T58" fmla="*/ 0 w 105"/>
                <a:gd name="T59" fmla="*/ 0 h 106"/>
                <a:gd name="T60" fmla="*/ 0 w 105"/>
                <a:gd name="T61" fmla="*/ 0 h 106"/>
                <a:gd name="T62" fmla="*/ 0 w 105"/>
                <a:gd name="T63" fmla="*/ 0 h 106"/>
                <a:gd name="T64" fmla="*/ 0 w 105"/>
                <a:gd name="T65" fmla="*/ 0 h 106"/>
                <a:gd name="T66" fmla="*/ 0 w 105"/>
                <a:gd name="T67" fmla="*/ 0 h 106"/>
                <a:gd name="T68" fmla="*/ 0 w 105"/>
                <a:gd name="T69" fmla="*/ 0 h 106"/>
                <a:gd name="T70" fmla="*/ 0 w 105"/>
                <a:gd name="T71" fmla="*/ 0 h 106"/>
                <a:gd name="T72" fmla="*/ 0 w 105"/>
                <a:gd name="T73" fmla="*/ 0 h 106"/>
                <a:gd name="T74" fmla="*/ 0 w 105"/>
                <a:gd name="T75" fmla="*/ 0 h 106"/>
                <a:gd name="T76" fmla="*/ 0 w 105"/>
                <a:gd name="T77" fmla="*/ 0 h 106"/>
                <a:gd name="T78" fmla="*/ 0 w 105"/>
                <a:gd name="T79" fmla="*/ 0 h 106"/>
                <a:gd name="T80" fmla="*/ 0 w 105"/>
                <a:gd name="T81" fmla="*/ 0 h 106"/>
                <a:gd name="T82" fmla="*/ 0 w 105"/>
                <a:gd name="T83" fmla="*/ 0 h 106"/>
                <a:gd name="T84" fmla="*/ 0 w 105"/>
                <a:gd name="T85" fmla="*/ 0 h 106"/>
                <a:gd name="T86" fmla="*/ 0 w 105"/>
                <a:gd name="T87" fmla="*/ 0 h 106"/>
                <a:gd name="T88" fmla="*/ 0 w 105"/>
                <a:gd name="T89" fmla="*/ 0 h 1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5"/>
                <a:gd name="T136" fmla="*/ 0 h 106"/>
                <a:gd name="T137" fmla="*/ 105 w 105"/>
                <a:gd name="T138" fmla="*/ 106 h 10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5" h="106">
                  <a:moveTo>
                    <a:pt x="0" y="52"/>
                  </a:moveTo>
                  <a:lnTo>
                    <a:pt x="1" y="42"/>
                  </a:lnTo>
                  <a:lnTo>
                    <a:pt x="4" y="33"/>
                  </a:lnTo>
                  <a:lnTo>
                    <a:pt x="9" y="24"/>
                  </a:lnTo>
                  <a:lnTo>
                    <a:pt x="16" y="15"/>
                  </a:lnTo>
                  <a:lnTo>
                    <a:pt x="19" y="11"/>
                  </a:lnTo>
                  <a:lnTo>
                    <a:pt x="23" y="9"/>
                  </a:lnTo>
                  <a:lnTo>
                    <a:pt x="28" y="7"/>
                  </a:lnTo>
                  <a:lnTo>
                    <a:pt x="33" y="4"/>
                  </a:lnTo>
                  <a:lnTo>
                    <a:pt x="37" y="3"/>
                  </a:lnTo>
                  <a:lnTo>
                    <a:pt x="42" y="2"/>
                  </a:lnTo>
                  <a:lnTo>
                    <a:pt x="48" y="0"/>
                  </a:lnTo>
                  <a:lnTo>
                    <a:pt x="53" y="0"/>
                  </a:lnTo>
                  <a:lnTo>
                    <a:pt x="58" y="0"/>
                  </a:lnTo>
                  <a:lnTo>
                    <a:pt x="63" y="2"/>
                  </a:lnTo>
                  <a:lnTo>
                    <a:pt x="68" y="3"/>
                  </a:lnTo>
                  <a:lnTo>
                    <a:pt x="72" y="4"/>
                  </a:lnTo>
                  <a:lnTo>
                    <a:pt x="77" y="7"/>
                  </a:lnTo>
                  <a:lnTo>
                    <a:pt x="81" y="9"/>
                  </a:lnTo>
                  <a:lnTo>
                    <a:pt x="86" y="11"/>
                  </a:lnTo>
                  <a:lnTo>
                    <a:pt x="90" y="15"/>
                  </a:lnTo>
                  <a:lnTo>
                    <a:pt x="96" y="24"/>
                  </a:lnTo>
                  <a:lnTo>
                    <a:pt x="101" y="33"/>
                  </a:lnTo>
                  <a:lnTo>
                    <a:pt x="103" y="42"/>
                  </a:lnTo>
                  <a:lnTo>
                    <a:pt x="105" y="52"/>
                  </a:lnTo>
                  <a:lnTo>
                    <a:pt x="103" y="63"/>
                  </a:lnTo>
                  <a:lnTo>
                    <a:pt x="101" y="73"/>
                  </a:lnTo>
                  <a:lnTo>
                    <a:pt x="96" y="82"/>
                  </a:lnTo>
                  <a:lnTo>
                    <a:pt x="90" y="89"/>
                  </a:lnTo>
                  <a:lnTo>
                    <a:pt x="81" y="97"/>
                  </a:lnTo>
                  <a:lnTo>
                    <a:pt x="72" y="102"/>
                  </a:lnTo>
                  <a:lnTo>
                    <a:pt x="63" y="104"/>
                  </a:lnTo>
                  <a:lnTo>
                    <a:pt x="53" y="106"/>
                  </a:lnTo>
                  <a:lnTo>
                    <a:pt x="48" y="106"/>
                  </a:lnTo>
                  <a:lnTo>
                    <a:pt x="42" y="104"/>
                  </a:lnTo>
                  <a:lnTo>
                    <a:pt x="37" y="103"/>
                  </a:lnTo>
                  <a:lnTo>
                    <a:pt x="33" y="101"/>
                  </a:lnTo>
                  <a:lnTo>
                    <a:pt x="28" y="99"/>
                  </a:lnTo>
                  <a:lnTo>
                    <a:pt x="23" y="96"/>
                  </a:lnTo>
                  <a:lnTo>
                    <a:pt x="19" y="93"/>
                  </a:lnTo>
                  <a:lnTo>
                    <a:pt x="16" y="89"/>
                  </a:lnTo>
                  <a:lnTo>
                    <a:pt x="9" y="82"/>
                  </a:lnTo>
                  <a:lnTo>
                    <a:pt x="4" y="72"/>
                  </a:lnTo>
                  <a:lnTo>
                    <a:pt x="1" y="63"/>
                  </a:lnTo>
                  <a:lnTo>
                    <a:pt x="0" y="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8" name="Freeform 40"/>
            <p:cNvSpPr>
              <a:spLocks/>
            </p:cNvSpPr>
            <p:nvPr/>
          </p:nvSpPr>
          <p:spPr bwMode="auto">
            <a:xfrm>
              <a:off x="4735" y="867"/>
              <a:ext cx="17" cy="18"/>
            </a:xfrm>
            <a:custGeom>
              <a:avLst/>
              <a:gdLst>
                <a:gd name="T0" fmla="*/ 0 w 52"/>
                <a:gd name="T1" fmla="*/ 0 h 52"/>
                <a:gd name="T2" fmla="*/ 0 w 52"/>
                <a:gd name="T3" fmla="*/ 0 h 52"/>
                <a:gd name="T4" fmla="*/ 0 w 52"/>
                <a:gd name="T5" fmla="*/ 0 h 52"/>
                <a:gd name="T6" fmla="*/ 0 w 52"/>
                <a:gd name="T7" fmla="*/ 0 h 52"/>
                <a:gd name="T8" fmla="*/ 0 w 52"/>
                <a:gd name="T9" fmla="*/ 0 h 52"/>
                <a:gd name="T10" fmla="*/ 0 w 52"/>
                <a:gd name="T11" fmla="*/ 0 h 52"/>
                <a:gd name="T12" fmla="*/ 0 w 52"/>
                <a:gd name="T13" fmla="*/ 0 h 52"/>
                <a:gd name="T14" fmla="*/ 0 w 52"/>
                <a:gd name="T15" fmla="*/ 0 h 52"/>
                <a:gd name="T16" fmla="*/ 0 w 52"/>
                <a:gd name="T17" fmla="*/ 0 h 52"/>
                <a:gd name="T18" fmla="*/ 0 w 52"/>
                <a:gd name="T19" fmla="*/ 0 h 52"/>
                <a:gd name="T20" fmla="*/ 0 w 52"/>
                <a:gd name="T21" fmla="*/ 0 h 52"/>
                <a:gd name="T22" fmla="*/ 0 w 52"/>
                <a:gd name="T23" fmla="*/ 0 h 52"/>
                <a:gd name="T24" fmla="*/ 0 w 52"/>
                <a:gd name="T25" fmla="*/ 0 h 52"/>
                <a:gd name="T26" fmla="*/ 0 w 52"/>
                <a:gd name="T27" fmla="*/ 0 h 52"/>
                <a:gd name="T28" fmla="*/ 0 w 52"/>
                <a:gd name="T29" fmla="*/ 0 h 52"/>
                <a:gd name="T30" fmla="*/ 0 w 52"/>
                <a:gd name="T31" fmla="*/ 0 h 52"/>
                <a:gd name="T32" fmla="*/ 0 w 52"/>
                <a:gd name="T33" fmla="*/ 0 h 52"/>
                <a:gd name="T34" fmla="*/ 0 w 52"/>
                <a:gd name="T35" fmla="*/ 0 h 52"/>
                <a:gd name="T36" fmla="*/ 0 w 52"/>
                <a:gd name="T37" fmla="*/ 0 h 52"/>
                <a:gd name="T38" fmla="*/ 0 w 52"/>
                <a:gd name="T39" fmla="*/ 0 h 52"/>
                <a:gd name="T40" fmla="*/ 0 w 52"/>
                <a:gd name="T41" fmla="*/ 0 h 52"/>
                <a:gd name="T42" fmla="*/ 0 w 52"/>
                <a:gd name="T43" fmla="*/ 0 h 52"/>
                <a:gd name="T44" fmla="*/ 0 w 52"/>
                <a:gd name="T45" fmla="*/ 0 h 52"/>
                <a:gd name="T46" fmla="*/ 0 w 52"/>
                <a:gd name="T47" fmla="*/ 0 h 52"/>
                <a:gd name="T48" fmla="*/ 0 w 52"/>
                <a:gd name="T49" fmla="*/ 0 h 52"/>
                <a:gd name="T50" fmla="*/ 0 w 52"/>
                <a:gd name="T51" fmla="*/ 0 h 52"/>
                <a:gd name="T52" fmla="*/ 0 w 52"/>
                <a:gd name="T53" fmla="*/ 0 h 52"/>
                <a:gd name="T54" fmla="*/ 0 w 52"/>
                <a:gd name="T55" fmla="*/ 0 h 52"/>
                <a:gd name="T56" fmla="*/ 0 w 52"/>
                <a:gd name="T57" fmla="*/ 0 h 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
                <a:gd name="T88" fmla="*/ 0 h 52"/>
                <a:gd name="T89" fmla="*/ 52 w 52"/>
                <a:gd name="T90" fmla="*/ 52 h 5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 h="52">
                  <a:moveTo>
                    <a:pt x="0" y="26"/>
                  </a:moveTo>
                  <a:lnTo>
                    <a:pt x="0" y="21"/>
                  </a:lnTo>
                  <a:lnTo>
                    <a:pt x="3" y="16"/>
                  </a:lnTo>
                  <a:lnTo>
                    <a:pt x="4" y="11"/>
                  </a:lnTo>
                  <a:lnTo>
                    <a:pt x="8" y="8"/>
                  </a:lnTo>
                  <a:lnTo>
                    <a:pt x="11" y="4"/>
                  </a:lnTo>
                  <a:lnTo>
                    <a:pt x="16" y="1"/>
                  </a:lnTo>
                  <a:lnTo>
                    <a:pt x="21" y="0"/>
                  </a:lnTo>
                  <a:lnTo>
                    <a:pt x="26" y="0"/>
                  </a:lnTo>
                  <a:lnTo>
                    <a:pt x="31" y="0"/>
                  </a:lnTo>
                  <a:lnTo>
                    <a:pt x="36" y="1"/>
                  </a:lnTo>
                  <a:lnTo>
                    <a:pt x="41" y="4"/>
                  </a:lnTo>
                  <a:lnTo>
                    <a:pt x="45" y="8"/>
                  </a:lnTo>
                  <a:lnTo>
                    <a:pt x="48" y="11"/>
                  </a:lnTo>
                  <a:lnTo>
                    <a:pt x="51" y="16"/>
                  </a:lnTo>
                  <a:lnTo>
                    <a:pt x="52" y="21"/>
                  </a:lnTo>
                  <a:lnTo>
                    <a:pt x="52" y="26"/>
                  </a:lnTo>
                  <a:lnTo>
                    <a:pt x="50" y="36"/>
                  </a:lnTo>
                  <a:lnTo>
                    <a:pt x="45" y="45"/>
                  </a:lnTo>
                  <a:lnTo>
                    <a:pt x="36" y="50"/>
                  </a:lnTo>
                  <a:lnTo>
                    <a:pt x="26" y="52"/>
                  </a:lnTo>
                  <a:lnTo>
                    <a:pt x="21" y="52"/>
                  </a:lnTo>
                  <a:lnTo>
                    <a:pt x="16" y="50"/>
                  </a:lnTo>
                  <a:lnTo>
                    <a:pt x="11" y="48"/>
                  </a:lnTo>
                  <a:lnTo>
                    <a:pt x="8" y="45"/>
                  </a:lnTo>
                  <a:lnTo>
                    <a:pt x="4" y="41"/>
                  </a:lnTo>
                  <a:lnTo>
                    <a:pt x="3" y="36"/>
                  </a:lnTo>
                  <a:lnTo>
                    <a:pt x="0" y="31"/>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9" name="Freeform 41"/>
            <p:cNvSpPr>
              <a:spLocks/>
            </p:cNvSpPr>
            <p:nvPr/>
          </p:nvSpPr>
          <p:spPr bwMode="auto">
            <a:xfrm>
              <a:off x="4849" y="659"/>
              <a:ext cx="36" cy="36"/>
            </a:xfrm>
            <a:custGeom>
              <a:avLst/>
              <a:gdLst>
                <a:gd name="T0" fmla="*/ 0 w 106"/>
                <a:gd name="T1" fmla="*/ 0 h 109"/>
                <a:gd name="T2" fmla="*/ 0 w 106"/>
                <a:gd name="T3" fmla="*/ 0 h 109"/>
                <a:gd name="T4" fmla="*/ 0 w 106"/>
                <a:gd name="T5" fmla="*/ 0 h 109"/>
                <a:gd name="T6" fmla="*/ 0 w 106"/>
                <a:gd name="T7" fmla="*/ 0 h 109"/>
                <a:gd name="T8" fmla="*/ 0 w 106"/>
                <a:gd name="T9" fmla="*/ 0 h 109"/>
                <a:gd name="T10" fmla="*/ 0 w 106"/>
                <a:gd name="T11" fmla="*/ 0 h 109"/>
                <a:gd name="T12" fmla="*/ 0 w 106"/>
                <a:gd name="T13" fmla="*/ 0 h 109"/>
                <a:gd name="T14" fmla="*/ 0 w 106"/>
                <a:gd name="T15" fmla="*/ 0 h 109"/>
                <a:gd name="T16" fmla="*/ 0 w 106"/>
                <a:gd name="T17" fmla="*/ 0 h 109"/>
                <a:gd name="T18" fmla="*/ 0 w 106"/>
                <a:gd name="T19" fmla="*/ 0 h 109"/>
                <a:gd name="T20" fmla="*/ 0 w 106"/>
                <a:gd name="T21" fmla="*/ 0 h 109"/>
                <a:gd name="T22" fmla="*/ 0 w 106"/>
                <a:gd name="T23" fmla="*/ 0 h 109"/>
                <a:gd name="T24" fmla="*/ 0 w 106"/>
                <a:gd name="T25" fmla="*/ 0 h 109"/>
                <a:gd name="T26" fmla="*/ 0 w 106"/>
                <a:gd name="T27" fmla="*/ 0 h 109"/>
                <a:gd name="T28" fmla="*/ 0 w 106"/>
                <a:gd name="T29" fmla="*/ 0 h 109"/>
                <a:gd name="T30" fmla="*/ 0 w 106"/>
                <a:gd name="T31" fmla="*/ 0 h 109"/>
                <a:gd name="T32" fmla="*/ 0 w 106"/>
                <a:gd name="T33" fmla="*/ 0 h 109"/>
                <a:gd name="T34" fmla="*/ 0 w 106"/>
                <a:gd name="T35" fmla="*/ 0 h 109"/>
                <a:gd name="T36" fmla="*/ 0 w 106"/>
                <a:gd name="T37" fmla="*/ 0 h 109"/>
                <a:gd name="T38" fmla="*/ 0 w 106"/>
                <a:gd name="T39" fmla="*/ 0 h 109"/>
                <a:gd name="T40" fmla="*/ 0 w 106"/>
                <a:gd name="T41" fmla="*/ 0 h 109"/>
                <a:gd name="T42" fmla="*/ 0 w 106"/>
                <a:gd name="T43" fmla="*/ 0 h 109"/>
                <a:gd name="T44" fmla="*/ 0 w 106"/>
                <a:gd name="T45" fmla="*/ 0 h 109"/>
                <a:gd name="T46" fmla="*/ 0 w 106"/>
                <a:gd name="T47" fmla="*/ 0 h 109"/>
                <a:gd name="T48" fmla="*/ 0 w 106"/>
                <a:gd name="T49" fmla="*/ 0 h 109"/>
                <a:gd name="T50" fmla="*/ 0 w 106"/>
                <a:gd name="T51" fmla="*/ 0 h 109"/>
                <a:gd name="T52" fmla="*/ 0 w 106"/>
                <a:gd name="T53" fmla="*/ 0 h 109"/>
                <a:gd name="T54" fmla="*/ 0 w 106"/>
                <a:gd name="T55" fmla="*/ 0 h 109"/>
                <a:gd name="T56" fmla="*/ 0 w 106"/>
                <a:gd name="T57" fmla="*/ 0 h 109"/>
                <a:gd name="T58" fmla="*/ 0 w 106"/>
                <a:gd name="T59" fmla="*/ 0 h 109"/>
                <a:gd name="T60" fmla="*/ 0 w 106"/>
                <a:gd name="T61" fmla="*/ 0 h 109"/>
                <a:gd name="T62" fmla="*/ 0 w 106"/>
                <a:gd name="T63" fmla="*/ 0 h 109"/>
                <a:gd name="T64" fmla="*/ 0 w 106"/>
                <a:gd name="T65" fmla="*/ 0 h 1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6"/>
                <a:gd name="T100" fmla="*/ 0 h 109"/>
                <a:gd name="T101" fmla="*/ 106 w 106"/>
                <a:gd name="T102" fmla="*/ 109 h 10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6" h="109">
                  <a:moveTo>
                    <a:pt x="54" y="109"/>
                  </a:moveTo>
                  <a:lnTo>
                    <a:pt x="65" y="108"/>
                  </a:lnTo>
                  <a:lnTo>
                    <a:pt x="75" y="104"/>
                  </a:lnTo>
                  <a:lnTo>
                    <a:pt x="84" y="99"/>
                  </a:lnTo>
                  <a:lnTo>
                    <a:pt x="91" y="93"/>
                  </a:lnTo>
                  <a:lnTo>
                    <a:pt x="98" y="84"/>
                  </a:lnTo>
                  <a:lnTo>
                    <a:pt x="102" y="75"/>
                  </a:lnTo>
                  <a:lnTo>
                    <a:pt x="105" y="65"/>
                  </a:lnTo>
                  <a:lnTo>
                    <a:pt x="106" y="54"/>
                  </a:lnTo>
                  <a:lnTo>
                    <a:pt x="105" y="43"/>
                  </a:lnTo>
                  <a:lnTo>
                    <a:pt x="102" y="33"/>
                  </a:lnTo>
                  <a:lnTo>
                    <a:pt x="98" y="25"/>
                  </a:lnTo>
                  <a:lnTo>
                    <a:pt x="91" y="16"/>
                  </a:lnTo>
                  <a:lnTo>
                    <a:pt x="84" y="10"/>
                  </a:lnTo>
                  <a:lnTo>
                    <a:pt x="75" y="4"/>
                  </a:lnTo>
                  <a:lnTo>
                    <a:pt x="65" y="1"/>
                  </a:lnTo>
                  <a:lnTo>
                    <a:pt x="54" y="0"/>
                  </a:lnTo>
                  <a:lnTo>
                    <a:pt x="43" y="1"/>
                  </a:lnTo>
                  <a:lnTo>
                    <a:pt x="33" y="4"/>
                  </a:lnTo>
                  <a:lnTo>
                    <a:pt x="23" y="10"/>
                  </a:lnTo>
                  <a:lnTo>
                    <a:pt x="16" y="16"/>
                  </a:lnTo>
                  <a:lnTo>
                    <a:pt x="9" y="25"/>
                  </a:lnTo>
                  <a:lnTo>
                    <a:pt x="4" y="33"/>
                  </a:lnTo>
                  <a:lnTo>
                    <a:pt x="1" y="43"/>
                  </a:lnTo>
                  <a:lnTo>
                    <a:pt x="0" y="54"/>
                  </a:lnTo>
                  <a:lnTo>
                    <a:pt x="1" y="65"/>
                  </a:lnTo>
                  <a:lnTo>
                    <a:pt x="4" y="75"/>
                  </a:lnTo>
                  <a:lnTo>
                    <a:pt x="9" y="84"/>
                  </a:lnTo>
                  <a:lnTo>
                    <a:pt x="16" y="93"/>
                  </a:lnTo>
                  <a:lnTo>
                    <a:pt x="23" y="99"/>
                  </a:lnTo>
                  <a:lnTo>
                    <a:pt x="33" y="104"/>
                  </a:lnTo>
                  <a:lnTo>
                    <a:pt x="43" y="108"/>
                  </a:lnTo>
                  <a:lnTo>
                    <a:pt x="54"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40" name="Rectangle 42"/>
            <p:cNvSpPr>
              <a:spLocks noChangeArrowheads="1"/>
            </p:cNvSpPr>
            <p:nvPr/>
          </p:nvSpPr>
          <p:spPr bwMode="auto">
            <a:xfrm>
              <a:off x="4865" y="677"/>
              <a:ext cx="4" cy="1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8941" name="Freeform 43"/>
            <p:cNvSpPr>
              <a:spLocks/>
            </p:cNvSpPr>
            <p:nvPr/>
          </p:nvSpPr>
          <p:spPr bwMode="auto">
            <a:xfrm>
              <a:off x="4851" y="773"/>
              <a:ext cx="32" cy="32"/>
            </a:xfrm>
            <a:custGeom>
              <a:avLst/>
              <a:gdLst>
                <a:gd name="T0" fmla="*/ 0 w 94"/>
                <a:gd name="T1" fmla="*/ 0 h 95"/>
                <a:gd name="T2" fmla="*/ 0 w 94"/>
                <a:gd name="T3" fmla="*/ 0 h 95"/>
                <a:gd name="T4" fmla="*/ 0 w 94"/>
                <a:gd name="T5" fmla="*/ 0 h 95"/>
                <a:gd name="T6" fmla="*/ 0 w 94"/>
                <a:gd name="T7" fmla="*/ 0 h 95"/>
                <a:gd name="T8" fmla="*/ 0 w 94"/>
                <a:gd name="T9" fmla="*/ 0 h 95"/>
                <a:gd name="T10" fmla="*/ 0 w 94"/>
                <a:gd name="T11" fmla="*/ 0 h 95"/>
                <a:gd name="T12" fmla="*/ 0 w 94"/>
                <a:gd name="T13" fmla="*/ 0 h 95"/>
                <a:gd name="T14" fmla="*/ 0 w 94"/>
                <a:gd name="T15" fmla="*/ 0 h 95"/>
                <a:gd name="T16" fmla="*/ 0 w 94"/>
                <a:gd name="T17" fmla="*/ 0 h 95"/>
                <a:gd name="T18" fmla="*/ 0 w 94"/>
                <a:gd name="T19" fmla="*/ 0 h 95"/>
                <a:gd name="T20" fmla="*/ 0 w 94"/>
                <a:gd name="T21" fmla="*/ 0 h 95"/>
                <a:gd name="T22" fmla="*/ 0 w 94"/>
                <a:gd name="T23" fmla="*/ 0 h 95"/>
                <a:gd name="T24" fmla="*/ 0 w 94"/>
                <a:gd name="T25" fmla="*/ 0 h 95"/>
                <a:gd name="T26" fmla="*/ 0 w 94"/>
                <a:gd name="T27" fmla="*/ 0 h 95"/>
                <a:gd name="T28" fmla="*/ 0 w 94"/>
                <a:gd name="T29" fmla="*/ 0 h 95"/>
                <a:gd name="T30" fmla="*/ 0 w 94"/>
                <a:gd name="T31" fmla="*/ 0 h 95"/>
                <a:gd name="T32" fmla="*/ 0 w 94"/>
                <a:gd name="T33" fmla="*/ 0 h 95"/>
                <a:gd name="T34" fmla="*/ 0 w 94"/>
                <a:gd name="T35" fmla="*/ 0 h 95"/>
                <a:gd name="T36" fmla="*/ 0 w 94"/>
                <a:gd name="T37" fmla="*/ 0 h 95"/>
                <a:gd name="T38" fmla="*/ 0 w 94"/>
                <a:gd name="T39" fmla="*/ 0 h 95"/>
                <a:gd name="T40" fmla="*/ 0 w 94"/>
                <a:gd name="T41" fmla="*/ 0 h 95"/>
                <a:gd name="T42" fmla="*/ 0 w 94"/>
                <a:gd name="T43" fmla="*/ 0 h 95"/>
                <a:gd name="T44" fmla="*/ 0 w 94"/>
                <a:gd name="T45" fmla="*/ 0 h 95"/>
                <a:gd name="T46" fmla="*/ 0 w 94"/>
                <a:gd name="T47" fmla="*/ 0 h 95"/>
                <a:gd name="T48" fmla="*/ 0 w 94"/>
                <a:gd name="T49" fmla="*/ 0 h 95"/>
                <a:gd name="T50" fmla="*/ 0 w 94"/>
                <a:gd name="T51" fmla="*/ 0 h 95"/>
                <a:gd name="T52" fmla="*/ 0 w 94"/>
                <a:gd name="T53" fmla="*/ 0 h 95"/>
                <a:gd name="T54" fmla="*/ 0 w 94"/>
                <a:gd name="T55" fmla="*/ 0 h 95"/>
                <a:gd name="T56" fmla="*/ 0 w 94"/>
                <a:gd name="T57" fmla="*/ 0 h 95"/>
                <a:gd name="T58" fmla="*/ 0 w 94"/>
                <a:gd name="T59" fmla="*/ 0 h 95"/>
                <a:gd name="T60" fmla="*/ 0 w 94"/>
                <a:gd name="T61" fmla="*/ 0 h 95"/>
                <a:gd name="T62" fmla="*/ 0 w 94"/>
                <a:gd name="T63" fmla="*/ 0 h 95"/>
                <a:gd name="T64" fmla="*/ 0 w 94"/>
                <a:gd name="T65" fmla="*/ 0 h 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4"/>
                <a:gd name="T100" fmla="*/ 0 h 95"/>
                <a:gd name="T101" fmla="*/ 94 w 94"/>
                <a:gd name="T102" fmla="*/ 95 h 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4" h="95">
                  <a:moveTo>
                    <a:pt x="47" y="95"/>
                  </a:moveTo>
                  <a:lnTo>
                    <a:pt x="57" y="94"/>
                  </a:lnTo>
                  <a:lnTo>
                    <a:pt x="66" y="91"/>
                  </a:lnTo>
                  <a:lnTo>
                    <a:pt x="74" y="86"/>
                  </a:lnTo>
                  <a:lnTo>
                    <a:pt x="80" y="81"/>
                  </a:lnTo>
                  <a:lnTo>
                    <a:pt x="87" y="74"/>
                  </a:lnTo>
                  <a:lnTo>
                    <a:pt x="90" y="65"/>
                  </a:lnTo>
                  <a:lnTo>
                    <a:pt x="93" y="57"/>
                  </a:lnTo>
                  <a:lnTo>
                    <a:pt x="94" y="47"/>
                  </a:lnTo>
                  <a:lnTo>
                    <a:pt x="93" y="37"/>
                  </a:lnTo>
                  <a:lnTo>
                    <a:pt x="90" y="28"/>
                  </a:lnTo>
                  <a:lnTo>
                    <a:pt x="87" y="21"/>
                  </a:lnTo>
                  <a:lnTo>
                    <a:pt x="80" y="13"/>
                  </a:lnTo>
                  <a:lnTo>
                    <a:pt x="74" y="7"/>
                  </a:lnTo>
                  <a:lnTo>
                    <a:pt x="66" y="3"/>
                  </a:lnTo>
                  <a:lnTo>
                    <a:pt x="57" y="1"/>
                  </a:lnTo>
                  <a:lnTo>
                    <a:pt x="47" y="0"/>
                  </a:lnTo>
                  <a:lnTo>
                    <a:pt x="37" y="1"/>
                  </a:lnTo>
                  <a:lnTo>
                    <a:pt x="28" y="3"/>
                  </a:lnTo>
                  <a:lnTo>
                    <a:pt x="21" y="7"/>
                  </a:lnTo>
                  <a:lnTo>
                    <a:pt x="14" y="13"/>
                  </a:lnTo>
                  <a:lnTo>
                    <a:pt x="7" y="21"/>
                  </a:lnTo>
                  <a:lnTo>
                    <a:pt x="4" y="28"/>
                  </a:lnTo>
                  <a:lnTo>
                    <a:pt x="1" y="37"/>
                  </a:lnTo>
                  <a:lnTo>
                    <a:pt x="0" y="47"/>
                  </a:lnTo>
                  <a:lnTo>
                    <a:pt x="1" y="57"/>
                  </a:lnTo>
                  <a:lnTo>
                    <a:pt x="4" y="65"/>
                  </a:lnTo>
                  <a:lnTo>
                    <a:pt x="7" y="74"/>
                  </a:lnTo>
                  <a:lnTo>
                    <a:pt x="14" y="81"/>
                  </a:lnTo>
                  <a:lnTo>
                    <a:pt x="21" y="86"/>
                  </a:lnTo>
                  <a:lnTo>
                    <a:pt x="28" y="91"/>
                  </a:lnTo>
                  <a:lnTo>
                    <a:pt x="37" y="94"/>
                  </a:lnTo>
                  <a:lnTo>
                    <a:pt x="47"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42" name="Freeform 44"/>
            <p:cNvSpPr>
              <a:spLocks/>
            </p:cNvSpPr>
            <p:nvPr/>
          </p:nvSpPr>
          <p:spPr bwMode="auto">
            <a:xfrm>
              <a:off x="4850" y="796"/>
              <a:ext cx="38" cy="55"/>
            </a:xfrm>
            <a:custGeom>
              <a:avLst/>
              <a:gdLst>
                <a:gd name="T0" fmla="*/ 0 w 114"/>
                <a:gd name="T1" fmla="*/ 0 h 164"/>
                <a:gd name="T2" fmla="*/ 0 w 114"/>
                <a:gd name="T3" fmla="*/ 0 h 164"/>
                <a:gd name="T4" fmla="*/ 0 w 114"/>
                <a:gd name="T5" fmla="*/ 0 h 164"/>
                <a:gd name="T6" fmla="*/ 0 w 114"/>
                <a:gd name="T7" fmla="*/ 0 h 164"/>
                <a:gd name="T8" fmla="*/ 0 w 114"/>
                <a:gd name="T9" fmla="*/ 0 h 164"/>
                <a:gd name="T10" fmla="*/ 0 w 114"/>
                <a:gd name="T11" fmla="*/ 0 h 164"/>
                <a:gd name="T12" fmla="*/ 0 w 114"/>
                <a:gd name="T13" fmla="*/ 0 h 164"/>
                <a:gd name="T14" fmla="*/ 0 w 114"/>
                <a:gd name="T15" fmla="*/ 0 h 164"/>
                <a:gd name="T16" fmla="*/ 0 w 114"/>
                <a:gd name="T17" fmla="*/ 0 h 164"/>
                <a:gd name="T18" fmla="*/ 0 w 114"/>
                <a:gd name="T19" fmla="*/ 0 h 164"/>
                <a:gd name="T20" fmla="*/ 0 w 114"/>
                <a:gd name="T21" fmla="*/ 0 h 164"/>
                <a:gd name="T22" fmla="*/ 0 w 114"/>
                <a:gd name="T23" fmla="*/ 0 h 164"/>
                <a:gd name="T24" fmla="*/ 0 w 114"/>
                <a:gd name="T25" fmla="*/ 0 h 164"/>
                <a:gd name="T26" fmla="*/ 0 w 114"/>
                <a:gd name="T27" fmla="*/ 0 h 164"/>
                <a:gd name="T28" fmla="*/ 0 w 114"/>
                <a:gd name="T29" fmla="*/ 0 h 164"/>
                <a:gd name="T30" fmla="*/ 0 w 114"/>
                <a:gd name="T31" fmla="*/ 0 h 164"/>
                <a:gd name="T32" fmla="*/ 0 w 114"/>
                <a:gd name="T33" fmla="*/ 0 h 164"/>
                <a:gd name="T34" fmla="*/ 0 w 114"/>
                <a:gd name="T35" fmla="*/ 0 h 164"/>
                <a:gd name="T36" fmla="*/ 0 w 114"/>
                <a:gd name="T37" fmla="*/ 0 h 164"/>
                <a:gd name="T38" fmla="*/ 0 w 114"/>
                <a:gd name="T39" fmla="*/ 0 h 164"/>
                <a:gd name="T40" fmla="*/ 0 w 114"/>
                <a:gd name="T41" fmla="*/ 0 h 164"/>
                <a:gd name="T42" fmla="*/ 0 w 114"/>
                <a:gd name="T43" fmla="*/ 0 h 164"/>
                <a:gd name="T44" fmla="*/ 0 w 114"/>
                <a:gd name="T45" fmla="*/ 0 h 164"/>
                <a:gd name="T46" fmla="*/ 0 w 114"/>
                <a:gd name="T47" fmla="*/ 0 h 164"/>
                <a:gd name="T48" fmla="*/ 0 w 114"/>
                <a:gd name="T49" fmla="*/ 0 h 164"/>
                <a:gd name="T50" fmla="*/ 0 w 114"/>
                <a:gd name="T51" fmla="*/ 0 h 164"/>
                <a:gd name="T52" fmla="*/ 0 w 114"/>
                <a:gd name="T53" fmla="*/ 0 h 164"/>
                <a:gd name="T54" fmla="*/ 0 w 114"/>
                <a:gd name="T55" fmla="*/ 0 h 164"/>
                <a:gd name="T56" fmla="*/ 0 w 114"/>
                <a:gd name="T57" fmla="*/ 0 h 164"/>
                <a:gd name="T58" fmla="*/ 0 w 114"/>
                <a:gd name="T59" fmla="*/ 0 h 164"/>
                <a:gd name="T60" fmla="*/ 0 w 114"/>
                <a:gd name="T61" fmla="*/ 0 h 164"/>
                <a:gd name="T62" fmla="*/ 0 w 114"/>
                <a:gd name="T63" fmla="*/ 0 h 164"/>
                <a:gd name="T64" fmla="*/ 0 w 114"/>
                <a:gd name="T65" fmla="*/ 0 h 164"/>
                <a:gd name="T66" fmla="*/ 0 w 114"/>
                <a:gd name="T67" fmla="*/ 0 h 164"/>
                <a:gd name="T68" fmla="*/ 0 w 114"/>
                <a:gd name="T69" fmla="*/ 0 h 164"/>
                <a:gd name="T70" fmla="*/ 0 w 114"/>
                <a:gd name="T71" fmla="*/ 0 h 164"/>
                <a:gd name="T72" fmla="*/ 0 w 114"/>
                <a:gd name="T73" fmla="*/ 0 h 164"/>
                <a:gd name="T74" fmla="*/ 0 w 114"/>
                <a:gd name="T75" fmla="*/ 0 h 1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4"/>
                <a:gd name="T115" fmla="*/ 0 h 164"/>
                <a:gd name="T116" fmla="*/ 114 w 114"/>
                <a:gd name="T117" fmla="*/ 164 h 1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4" h="164">
                  <a:moveTo>
                    <a:pt x="114" y="93"/>
                  </a:moveTo>
                  <a:lnTo>
                    <a:pt x="114" y="93"/>
                  </a:lnTo>
                  <a:lnTo>
                    <a:pt x="111" y="88"/>
                  </a:lnTo>
                  <a:lnTo>
                    <a:pt x="108" y="83"/>
                  </a:lnTo>
                  <a:lnTo>
                    <a:pt x="103" y="81"/>
                  </a:lnTo>
                  <a:lnTo>
                    <a:pt x="98" y="79"/>
                  </a:lnTo>
                  <a:lnTo>
                    <a:pt x="93" y="81"/>
                  </a:lnTo>
                  <a:lnTo>
                    <a:pt x="89" y="84"/>
                  </a:lnTo>
                  <a:lnTo>
                    <a:pt x="87" y="89"/>
                  </a:lnTo>
                  <a:lnTo>
                    <a:pt x="85" y="96"/>
                  </a:lnTo>
                  <a:lnTo>
                    <a:pt x="85" y="105"/>
                  </a:lnTo>
                  <a:lnTo>
                    <a:pt x="84" y="113"/>
                  </a:lnTo>
                  <a:lnTo>
                    <a:pt x="82" y="120"/>
                  </a:lnTo>
                  <a:lnTo>
                    <a:pt x="78" y="125"/>
                  </a:lnTo>
                  <a:lnTo>
                    <a:pt x="72" y="130"/>
                  </a:lnTo>
                  <a:lnTo>
                    <a:pt x="66" y="134"/>
                  </a:lnTo>
                  <a:lnTo>
                    <a:pt x="61" y="135"/>
                  </a:lnTo>
                  <a:lnTo>
                    <a:pt x="58" y="135"/>
                  </a:lnTo>
                  <a:lnTo>
                    <a:pt x="53" y="134"/>
                  </a:lnTo>
                  <a:lnTo>
                    <a:pt x="47" y="133"/>
                  </a:lnTo>
                  <a:lnTo>
                    <a:pt x="42" y="129"/>
                  </a:lnTo>
                  <a:lnTo>
                    <a:pt x="37" y="125"/>
                  </a:lnTo>
                  <a:lnTo>
                    <a:pt x="33" y="122"/>
                  </a:lnTo>
                  <a:lnTo>
                    <a:pt x="31" y="117"/>
                  </a:lnTo>
                  <a:lnTo>
                    <a:pt x="30" y="110"/>
                  </a:lnTo>
                  <a:lnTo>
                    <a:pt x="29" y="104"/>
                  </a:lnTo>
                  <a:lnTo>
                    <a:pt x="30" y="96"/>
                  </a:lnTo>
                  <a:lnTo>
                    <a:pt x="33" y="89"/>
                  </a:lnTo>
                  <a:lnTo>
                    <a:pt x="38" y="83"/>
                  </a:lnTo>
                  <a:lnTo>
                    <a:pt x="45" y="78"/>
                  </a:lnTo>
                  <a:lnTo>
                    <a:pt x="50" y="73"/>
                  </a:lnTo>
                  <a:lnTo>
                    <a:pt x="59" y="62"/>
                  </a:lnTo>
                  <a:lnTo>
                    <a:pt x="68" y="41"/>
                  </a:lnTo>
                  <a:lnTo>
                    <a:pt x="69" y="13"/>
                  </a:lnTo>
                  <a:lnTo>
                    <a:pt x="67" y="6"/>
                  </a:lnTo>
                  <a:lnTo>
                    <a:pt x="63" y="3"/>
                  </a:lnTo>
                  <a:lnTo>
                    <a:pt x="58" y="0"/>
                  </a:lnTo>
                  <a:lnTo>
                    <a:pt x="52" y="0"/>
                  </a:lnTo>
                  <a:lnTo>
                    <a:pt x="47" y="3"/>
                  </a:lnTo>
                  <a:lnTo>
                    <a:pt x="42" y="6"/>
                  </a:lnTo>
                  <a:lnTo>
                    <a:pt x="40" y="11"/>
                  </a:lnTo>
                  <a:lnTo>
                    <a:pt x="40" y="16"/>
                  </a:lnTo>
                  <a:lnTo>
                    <a:pt x="40" y="34"/>
                  </a:lnTo>
                  <a:lnTo>
                    <a:pt x="36" y="45"/>
                  </a:lnTo>
                  <a:lnTo>
                    <a:pt x="31" y="52"/>
                  </a:lnTo>
                  <a:lnTo>
                    <a:pt x="29" y="55"/>
                  </a:lnTo>
                  <a:lnTo>
                    <a:pt x="17" y="63"/>
                  </a:lnTo>
                  <a:lnTo>
                    <a:pt x="8" y="76"/>
                  </a:lnTo>
                  <a:lnTo>
                    <a:pt x="3" y="89"/>
                  </a:lnTo>
                  <a:lnTo>
                    <a:pt x="0" y="104"/>
                  </a:lnTo>
                  <a:lnTo>
                    <a:pt x="1" y="117"/>
                  </a:lnTo>
                  <a:lnTo>
                    <a:pt x="5" y="126"/>
                  </a:lnTo>
                  <a:lnTo>
                    <a:pt x="10" y="138"/>
                  </a:lnTo>
                  <a:lnTo>
                    <a:pt x="17" y="146"/>
                  </a:lnTo>
                  <a:lnTo>
                    <a:pt x="22" y="150"/>
                  </a:lnTo>
                  <a:lnTo>
                    <a:pt x="26" y="154"/>
                  </a:lnTo>
                  <a:lnTo>
                    <a:pt x="31" y="156"/>
                  </a:lnTo>
                  <a:lnTo>
                    <a:pt x="37" y="159"/>
                  </a:lnTo>
                  <a:lnTo>
                    <a:pt x="42" y="161"/>
                  </a:lnTo>
                  <a:lnTo>
                    <a:pt x="47" y="162"/>
                  </a:lnTo>
                  <a:lnTo>
                    <a:pt x="53" y="164"/>
                  </a:lnTo>
                  <a:lnTo>
                    <a:pt x="59" y="164"/>
                  </a:lnTo>
                  <a:lnTo>
                    <a:pt x="61" y="164"/>
                  </a:lnTo>
                  <a:lnTo>
                    <a:pt x="64" y="164"/>
                  </a:lnTo>
                  <a:lnTo>
                    <a:pt x="69" y="162"/>
                  </a:lnTo>
                  <a:lnTo>
                    <a:pt x="74" y="161"/>
                  </a:lnTo>
                  <a:lnTo>
                    <a:pt x="80" y="159"/>
                  </a:lnTo>
                  <a:lnTo>
                    <a:pt x="87" y="155"/>
                  </a:lnTo>
                  <a:lnTo>
                    <a:pt x="93" y="151"/>
                  </a:lnTo>
                  <a:lnTo>
                    <a:pt x="99" y="145"/>
                  </a:lnTo>
                  <a:lnTo>
                    <a:pt x="106" y="134"/>
                  </a:lnTo>
                  <a:lnTo>
                    <a:pt x="111" y="122"/>
                  </a:lnTo>
                  <a:lnTo>
                    <a:pt x="114" y="108"/>
                  </a:lnTo>
                  <a:lnTo>
                    <a:pt x="114" y="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43" name="Freeform 45"/>
            <p:cNvSpPr>
              <a:spLocks/>
            </p:cNvSpPr>
            <p:nvPr/>
          </p:nvSpPr>
          <p:spPr bwMode="auto">
            <a:xfrm>
              <a:off x="4659" y="670"/>
              <a:ext cx="213" cy="206"/>
            </a:xfrm>
            <a:custGeom>
              <a:avLst/>
              <a:gdLst>
                <a:gd name="T0" fmla="*/ 0 w 639"/>
                <a:gd name="T1" fmla="*/ 0 h 618"/>
                <a:gd name="T2" fmla="*/ 0 w 639"/>
                <a:gd name="T3" fmla="*/ 0 h 618"/>
                <a:gd name="T4" fmla="*/ 0 w 639"/>
                <a:gd name="T5" fmla="*/ 0 h 618"/>
                <a:gd name="T6" fmla="*/ 0 w 639"/>
                <a:gd name="T7" fmla="*/ 0 h 618"/>
                <a:gd name="T8" fmla="*/ 0 w 639"/>
                <a:gd name="T9" fmla="*/ 0 h 618"/>
                <a:gd name="T10" fmla="*/ 0 w 639"/>
                <a:gd name="T11" fmla="*/ 0 h 618"/>
                <a:gd name="T12" fmla="*/ 0 w 639"/>
                <a:gd name="T13" fmla="*/ 0 h 618"/>
                <a:gd name="T14" fmla="*/ 0 w 639"/>
                <a:gd name="T15" fmla="*/ 0 h 618"/>
                <a:gd name="T16" fmla="*/ 0 w 639"/>
                <a:gd name="T17" fmla="*/ 0 h 618"/>
                <a:gd name="T18" fmla="*/ 0 w 639"/>
                <a:gd name="T19" fmla="*/ 0 h 618"/>
                <a:gd name="T20" fmla="*/ 0 w 639"/>
                <a:gd name="T21" fmla="*/ 0 h 618"/>
                <a:gd name="T22" fmla="*/ 0 w 639"/>
                <a:gd name="T23" fmla="*/ 0 h 618"/>
                <a:gd name="T24" fmla="*/ 0 w 639"/>
                <a:gd name="T25" fmla="*/ 0 h 618"/>
                <a:gd name="T26" fmla="*/ 0 w 639"/>
                <a:gd name="T27" fmla="*/ 0 h 618"/>
                <a:gd name="T28" fmla="*/ 0 w 639"/>
                <a:gd name="T29" fmla="*/ 0 h 618"/>
                <a:gd name="T30" fmla="*/ 0 w 639"/>
                <a:gd name="T31" fmla="*/ 0 h 618"/>
                <a:gd name="T32" fmla="*/ 0 w 639"/>
                <a:gd name="T33" fmla="*/ 0 h 618"/>
                <a:gd name="T34" fmla="*/ 0 w 639"/>
                <a:gd name="T35" fmla="*/ 0 h 618"/>
                <a:gd name="T36" fmla="*/ 0 w 639"/>
                <a:gd name="T37" fmla="*/ 0 h 618"/>
                <a:gd name="T38" fmla="*/ 0 w 639"/>
                <a:gd name="T39" fmla="*/ 0 h 618"/>
                <a:gd name="T40" fmla="*/ 0 w 639"/>
                <a:gd name="T41" fmla="*/ 0 h 618"/>
                <a:gd name="T42" fmla="*/ 0 w 639"/>
                <a:gd name="T43" fmla="*/ 0 h 618"/>
                <a:gd name="T44" fmla="*/ 0 w 639"/>
                <a:gd name="T45" fmla="*/ 0 h 618"/>
                <a:gd name="T46" fmla="*/ 0 w 639"/>
                <a:gd name="T47" fmla="*/ 0 h 618"/>
                <a:gd name="T48" fmla="*/ 0 w 639"/>
                <a:gd name="T49" fmla="*/ 0 h 618"/>
                <a:gd name="T50" fmla="*/ 0 w 639"/>
                <a:gd name="T51" fmla="*/ 0 h 618"/>
                <a:gd name="T52" fmla="*/ 0 w 639"/>
                <a:gd name="T53" fmla="*/ 0 h 618"/>
                <a:gd name="T54" fmla="*/ 0 w 639"/>
                <a:gd name="T55" fmla="*/ 0 h 618"/>
                <a:gd name="T56" fmla="*/ 0 w 639"/>
                <a:gd name="T57" fmla="*/ 0 h 618"/>
                <a:gd name="T58" fmla="*/ 0 w 639"/>
                <a:gd name="T59" fmla="*/ 0 h 618"/>
                <a:gd name="T60" fmla="*/ 0 w 639"/>
                <a:gd name="T61" fmla="*/ 0 h 618"/>
                <a:gd name="T62" fmla="*/ 0 w 639"/>
                <a:gd name="T63" fmla="*/ 0 h 618"/>
                <a:gd name="T64" fmla="*/ 0 w 639"/>
                <a:gd name="T65" fmla="*/ 0 h 618"/>
                <a:gd name="T66" fmla="*/ 0 w 639"/>
                <a:gd name="T67" fmla="*/ 0 h 618"/>
                <a:gd name="T68" fmla="*/ 0 w 639"/>
                <a:gd name="T69" fmla="*/ 0 h 618"/>
                <a:gd name="T70" fmla="*/ 0 w 639"/>
                <a:gd name="T71" fmla="*/ 0 h 618"/>
                <a:gd name="T72" fmla="*/ 0 w 639"/>
                <a:gd name="T73" fmla="*/ 0 h 618"/>
                <a:gd name="T74" fmla="*/ 0 w 639"/>
                <a:gd name="T75" fmla="*/ 0 h 618"/>
                <a:gd name="T76" fmla="*/ 0 w 639"/>
                <a:gd name="T77" fmla="*/ 0 h 618"/>
                <a:gd name="T78" fmla="*/ 0 w 639"/>
                <a:gd name="T79" fmla="*/ 0 h 618"/>
                <a:gd name="T80" fmla="*/ 0 w 639"/>
                <a:gd name="T81" fmla="*/ 0 h 618"/>
                <a:gd name="T82" fmla="*/ 0 w 639"/>
                <a:gd name="T83" fmla="*/ 0 h 618"/>
                <a:gd name="T84" fmla="*/ 0 w 639"/>
                <a:gd name="T85" fmla="*/ 0 h 61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39"/>
                <a:gd name="T130" fmla="*/ 0 h 618"/>
                <a:gd name="T131" fmla="*/ 639 w 639"/>
                <a:gd name="T132" fmla="*/ 618 h 61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39" h="618">
                  <a:moveTo>
                    <a:pt x="481" y="313"/>
                  </a:moveTo>
                  <a:lnTo>
                    <a:pt x="244" y="313"/>
                  </a:lnTo>
                  <a:lnTo>
                    <a:pt x="639" y="29"/>
                  </a:lnTo>
                  <a:lnTo>
                    <a:pt x="620" y="0"/>
                  </a:lnTo>
                  <a:lnTo>
                    <a:pt x="110" y="245"/>
                  </a:lnTo>
                  <a:lnTo>
                    <a:pt x="110" y="99"/>
                  </a:lnTo>
                  <a:lnTo>
                    <a:pt x="29" y="99"/>
                  </a:lnTo>
                  <a:lnTo>
                    <a:pt x="29" y="284"/>
                  </a:lnTo>
                  <a:lnTo>
                    <a:pt x="0" y="299"/>
                  </a:lnTo>
                  <a:lnTo>
                    <a:pt x="6" y="353"/>
                  </a:lnTo>
                  <a:lnTo>
                    <a:pt x="8" y="353"/>
                  </a:lnTo>
                  <a:lnTo>
                    <a:pt x="8" y="618"/>
                  </a:lnTo>
                  <a:lnTo>
                    <a:pt x="102" y="618"/>
                  </a:lnTo>
                  <a:lnTo>
                    <a:pt x="102" y="617"/>
                  </a:lnTo>
                  <a:lnTo>
                    <a:pt x="102" y="615"/>
                  </a:lnTo>
                  <a:lnTo>
                    <a:pt x="102" y="614"/>
                  </a:lnTo>
                  <a:lnTo>
                    <a:pt x="105" y="583"/>
                  </a:lnTo>
                  <a:lnTo>
                    <a:pt x="115" y="555"/>
                  </a:lnTo>
                  <a:lnTo>
                    <a:pt x="128" y="529"/>
                  </a:lnTo>
                  <a:lnTo>
                    <a:pt x="147" y="506"/>
                  </a:lnTo>
                  <a:lnTo>
                    <a:pt x="169" y="488"/>
                  </a:lnTo>
                  <a:lnTo>
                    <a:pt x="195" y="474"/>
                  </a:lnTo>
                  <a:lnTo>
                    <a:pt x="223" y="464"/>
                  </a:lnTo>
                  <a:lnTo>
                    <a:pt x="254" y="462"/>
                  </a:lnTo>
                  <a:lnTo>
                    <a:pt x="285" y="464"/>
                  </a:lnTo>
                  <a:lnTo>
                    <a:pt x="314" y="474"/>
                  </a:lnTo>
                  <a:lnTo>
                    <a:pt x="340" y="488"/>
                  </a:lnTo>
                  <a:lnTo>
                    <a:pt x="362" y="506"/>
                  </a:lnTo>
                  <a:lnTo>
                    <a:pt x="380" y="529"/>
                  </a:lnTo>
                  <a:lnTo>
                    <a:pt x="394" y="555"/>
                  </a:lnTo>
                  <a:lnTo>
                    <a:pt x="404" y="583"/>
                  </a:lnTo>
                  <a:lnTo>
                    <a:pt x="406" y="614"/>
                  </a:lnTo>
                  <a:lnTo>
                    <a:pt x="406" y="615"/>
                  </a:lnTo>
                  <a:lnTo>
                    <a:pt x="406" y="617"/>
                  </a:lnTo>
                  <a:lnTo>
                    <a:pt x="406" y="618"/>
                  </a:lnTo>
                  <a:lnTo>
                    <a:pt x="481" y="618"/>
                  </a:lnTo>
                  <a:lnTo>
                    <a:pt x="481" y="617"/>
                  </a:lnTo>
                  <a:lnTo>
                    <a:pt x="524" y="617"/>
                  </a:lnTo>
                  <a:lnTo>
                    <a:pt x="524" y="524"/>
                  </a:lnTo>
                  <a:lnTo>
                    <a:pt x="481" y="524"/>
                  </a:lnTo>
                  <a:lnTo>
                    <a:pt x="481" y="3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44" name="Freeform 46"/>
            <p:cNvSpPr>
              <a:spLocks/>
            </p:cNvSpPr>
            <p:nvPr/>
          </p:nvSpPr>
          <p:spPr bwMode="auto">
            <a:xfrm>
              <a:off x="4861" y="671"/>
              <a:ext cx="13" cy="12"/>
            </a:xfrm>
            <a:custGeom>
              <a:avLst/>
              <a:gdLst>
                <a:gd name="T0" fmla="*/ 0 w 39"/>
                <a:gd name="T1" fmla="*/ 0 h 37"/>
                <a:gd name="T2" fmla="*/ 0 w 39"/>
                <a:gd name="T3" fmla="*/ 0 h 37"/>
                <a:gd name="T4" fmla="*/ 0 w 39"/>
                <a:gd name="T5" fmla="*/ 0 h 37"/>
                <a:gd name="T6" fmla="*/ 0 w 39"/>
                <a:gd name="T7" fmla="*/ 0 h 37"/>
                <a:gd name="T8" fmla="*/ 0 w 39"/>
                <a:gd name="T9" fmla="*/ 0 h 37"/>
                <a:gd name="T10" fmla="*/ 0 w 39"/>
                <a:gd name="T11" fmla="*/ 0 h 37"/>
                <a:gd name="T12" fmla="*/ 0 w 39"/>
                <a:gd name="T13" fmla="*/ 0 h 37"/>
                <a:gd name="T14" fmla="*/ 0 w 39"/>
                <a:gd name="T15" fmla="*/ 0 h 37"/>
                <a:gd name="T16" fmla="*/ 0 w 39"/>
                <a:gd name="T17" fmla="*/ 0 h 37"/>
                <a:gd name="T18" fmla="*/ 0 w 39"/>
                <a:gd name="T19" fmla="*/ 0 h 37"/>
                <a:gd name="T20" fmla="*/ 0 w 39"/>
                <a:gd name="T21" fmla="*/ 0 h 37"/>
                <a:gd name="T22" fmla="*/ 0 w 39"/>
                <a:gd name="T23" fmla="*/ 0 h 37"/>
                <a:gd name="T24" fmla="*/ 0 w 39"/>
                <a:gd name="T25" fmla="*/ 0 h 37"/>
                <a:gd name="T26" fmla="*/ 0 w 39"/>
                <a:gd name="T27" fmla="*/ 0 h 37"/>
                <a:gd name="T28" fmla="*/ 0 w 39"/>
                <a:gd name="T29" fmla="*/ 0 h 37"/>
                <a:gd name="T30" fmla="*/ 0 w 39"/>
                <a:gd name="T31" fmla="*/ 0 h 37"/>
                <a:gd name="T32" fmla="*/ 0 w 39"/>
                <a:gd name="T33" fmla="*/ 0 h 3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37"/>
                <a:gd name="T53" fmla="*/ 39 w 39"/>
                <a:gd name="T54" fmla="*/ 37 h 3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37">
                  <a:moveTo>
                    <a:pt x="20" y="37"/>
                  </a:moveTo>
                  <a:lnTo>
                    <a:pt x="28" y="36"/>
                  </a:lnTo>
                  <a:lnTo>
                    <a:pt x="34" y="32"/>
                  </a:lnTo>
                  <a:lnTo>
                    <a:pt x="38" y="26"/>
                  </a:lnTo>
                  <a:lnTo>
                    <a:pt x="39" y="18"/>
                  </a:lnTo>
                  <a:lnTo>
                    <a:pt x="38" y="11"/>
                  </a:lnTo>
                  <a:lnTo>
                    <a:pt x="34" y="5"/>
                  </a:lnTo>
                  <a:lnTo>
                    <a:pt x="28" y="1"/>
                  </a:lnTo>
                  <a:lnTo>
                    <a:pt x="20" y="0"/>
                  </a:lnTo>
                  <a:lnTo>
                    <a:pt x="13" y="1"/>
                  </a:lnTo>
                  <a:lnTo>
                    <a:pt x="7" y="5"/>
                  </a:lnTo>
                  <a:lnTo>
                    <a:pt x="2" y="11"/>
                  </a:lnTo>
                  <a:lnTo>
                    <a:pt x="0" y="18"/>
                  </a:lnTo>
                  <a:lnTo>
                    <a:pt x="2" y="26"/>
                  </a:lnTo>
                  <a:lnTo>
                    <a:pt x="7" y="32"/>
                  </a:lnTo>
                  <a:lnTo>
                    <a:pt x="13" y="36"/>
                  </a:lnTo>
                  <a:lnTo>
                    <a:pt x="2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45" name="Freeform 47"/>
            <p:cNvSpPr>
              <a:spLocks/>
            </p:cNvSpPr>
            <p:nvPr/>
          </p:nvSpPr>
          <p:spPr bwMode="auto">
            <a:xfrm>
              <a:off x="4978" y="733"/>
              <a:ext cx="67" cy="69"/>
            </a:xfrm>
            <a:custGeom>
              <a:avLst/>
              <a:gdLst>
                <a:gd name="T0" fmla="*/ 0 w 201"/>
                <a:gd name="T1" fmla="*/ 0 h 205"/>
                <a:gd name="T2" fmla="*/ 0 w 201"/>
                <a:gd name="T3" fmla="*/ 0 h 205"/>
                <a:gd name="T4" fmla="*/ 0 w 201"/>
                <a:gd name="T5" fmla="*/ 0 h 205"/>
                <a:gd name="T6" fmla="*/ 0 w 201"/>
                <a:gd name="T7" fmla="*/ 0 h 205"/>
                <a:gd name="T8" fmla="*/ 0 w 201"/>
                <a:gd name="T9" fmla="*/ 0 h 205"/>
                <a:gd name="T10" fmla="*/ 0 w 201"/>
                <a:gd name="T11" fmla="*/ 0 h 205"/>
                <a:gd name="T12" fmla="*/ 0 w 201"/>
                <a:gd name="T13" fmla="*/ 0 h 205"/>
                <a:gd name="T14" fmla="*/ 0 w 201"/>
                <a:gd name="T15" fmla="*/ 0 h 205"/>
                <a:gd name="T16" fmla="*/ 0 w 201"/>
                <a:gd name="T17" fmla="*/ 0 h 205"/>
                <a:gd name="T18" fmla="*/ 0 w 201"/>
                <a:gd name="T19" fmla="*/ 0 h 205"/>
                <a:gd name="T20" fmla="*/ 0 w 201"/>
                <a:gd name="T21" fmla="*/ 0 h 205"/>
                <a:gd name="T22" fmla="*/ 0 w 201"/>
                <a:gd name="T23" fmla="*/ 0 h 205"/>
                <a:gd name="T24" fmla="*/ 0 w 201"/>
                <a:gd name="T25" fmla="*/ 0 h 205"/>
                <a:gd name="T26" fmla="*/ 0 w 201"/>
                <a:gd name="T27" fmla="*/ 0 h 205"/>
                <a:gd name="T28" fmla="*/ 0 w 201"/>
                <a:gd name="T29" fmla="*/ 0 h 205"/>
                <a:gd name="T30" fmla="*/ 0 w 201"/>
                <a:gd name="T31" fmla="*/ 0 h 205"/>
                <a:gd name="T32" fmla="*/ 0 w 201"/>
                <a:gd name="T33" fmla="*/ 0 h 205"/>
                <a:gd name="T34" fmla="*/ 0 w 201"/>
                <a:gd name="T35" fmla="*/ 0 h 205"/>
                <a:gd name="T36" fmla="*/ 0 w 201"/>
                <a:gd name="T37" fmla="*/ 0 h 205"/>
                <a:gd name="T38" fmla="*/ 0 w 201"/>
                <a:gd name="T39" fmla="*/ 0 h 205"/>
                <a:gd name="T40" fmla="*/ 0 w 201"/>
                <a:gd name="T41" fmla="*/ 0 h 205"/>
                <a:gd name="T42" fmla="*/ 0 w 201"/>
                <a:gd name="T43" fmla="*/ 0 h 205"/>
                <a:gd name="T44" fmla="*/ 0 w 201"/>
                <a:gd name="T45" fmla="*/ 0 h 205"/>
                <a:gd name="T46" fmla="*/ 0 w 201"/>
                <a:gd name="T47" fmla="*/ 0 h 205"/>
                <a:gd name="T48" fmla="*/ 0 w 201"/>
                <a:gd name="T49" fmla="*/ 0 h 205"/>
                <a:gd name="T50" fmla="*/ 0 w 201"/>
                <a:gd name="T51" fmla="*/ 0 h 205"/>
                <a:gd name="T52" fmla="*/ 0 w 201"/>
                <a:gd name="T53" fmla="*/ 0 h 205"/>
                <a:gd name="T54" fmla="*/ 0 w 201"/>
                <a:gd name="T55" fmla="*/ 0 h 205"/>
                <a:gd name="T56" fmla="*/ 0 w 201"/>
                <a:gd name="T57" fmla="*/ 0 h 205"/>
                <a:gd name="T58" fmla="*/ 0 w 201"/>
                <a:gd name="T59" fmla="*/ 0 h 205"/>
                <a:gd name="T60" fmla="*/ 0 w 201"/>
                <a:gd name="T61" fmla="*/ 0 h 20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1"/>
                <a:gd name="T94" fmla="*/ 0 h 205"/>
                <a:gd name="T95" fmla="*/ 201 w 201"/>
                <a:gd name="T96" fmla="*/ 205 h 20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1" h="205">
                  <a:moveTo>
                    <a:pt x="0" y="183"/>
                  </a:moveTo>
                  <a:lnTo>
                    <a:pt x="64" y="205"/>
                  </a:lnTo>
                  <a:lnTo>
                    <a:pt x="71" y="186"/>
                  </a:lnTo>
                  <a:lnTo>
                    <a:pt x="80" y="167"/>
                  </a:lnTo>
                  <a:lnTo>
                    <a:pt x="91" y="150"/>
                  </a:lnTo>
                  <a:lnTo>
                    <a:pt x="103" y="134"/>
                  </a:lnTo>
                  <a:lnTo>
                    <a:pt x="118" y="119"/>
                  </a:lnTo>
                  <a:lnTo>
                    <a:pt x="133" y="106"/>
                  </a:lnTo>
                  <a:lnTo>
                    <a:pt x="149" y="94"/>
                  </a:lnTo>
                  <a:lnTo>
                    <a:pt x="168" y="84"/>
                  </a:lnTo>
                  <a:lnTo>
                    <a:pt x="176" y="80"/>
                  </a:lnTo>
                  <a:lnTo>
                    <a:pt x="185" y="77"/>
                  </a:lnTo>
                  <a:lnTo>
                    <a:pt x="192" y="73"/>
                  </a:lnTo>
                  <a:lnTo>
                    <a:pt x="201" y="70"/>
                  </a:lnTo>
                  <a:lnTo>
                    <a:pt x="201" y="0"/>
                  </a:lnTo>
                  <a:lnTo>
                    <a:pt x="184" y="5"/>
                  </a:lnTo>
                  <a:lnTo>
                    <a:pt x="168" y="10"/>
                  </a:lnTo>
                  <a:lnTo>
                    <a:pt x="152" y="16"/>
                  </a:lnTo>
                  <a:lnTo>
                    <a:pt x="136" y="23"/>
                  </a:lnTo>
                  <a:lnTo>
                    <a:pt x="120" y="32"/>
                  </a:lnTo>
                  <a:lnTo>
                    <a:pt x="105" y="42"/>
                  </a:lnTo>
                  <a:lnTo>
                    <a:pt x="91" y="52"/>
                  </a:lnTo>
                  <a:lnTo>
                    <a:pt x="77" y="63"/>
                  </a:lnTo>
                  <a:lnTo>
                    <a:pt x="65" y="75"/>
                  </a:lnTo>
                  <a:lnTo>
                    <a:pt x="53" y="89"/>
                  </a:lnTo>
                  <a:lnTo>
                    <a:pt x="42" y="103"/>
                  </a:lnTo>
                  <a:lnTo>
                    <a:pt x="32" y="117"/>
                  </a:lnTo>
                  <a:lnTo>
                    <a:pt x="22" y="132"/>
                  </a:lnTo>
                  <a:lnTo>
                    <a:pt x="13" y="148"/>
                  </a:lnTo>
                  <a:lnTo>
                    <a:pt x="6" y="166"/>
                  </a:lnTo>
                  <a:lnTo>
                    <a:pt x="0" y="1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46" name="Freeform 48"/>
            <p:cNvSpPr>
              <a:spLocks/>
            </p:cNvSpPr>
            <p:nvPr/>
          </p:nvSpPr>
          <p:spPr bwMode="auto">
            <a:xfrm>
              <a:off x="4872" y="769"/>
              <a:ext cx="173" cy="120"/>
            </a:xfrm>
            <a:custGeom>
              <a:avLst/>
              <a:gdLst>
                <a:gd name="T0" fmla="*/ 0 w 519"/>
                <a:gd name="T1" fmla="*/ 0 h 362"/>
                <a:gd name="T2" fmla="*/ 0 w 519"/>
                <a:gd name="T3" fmla="*/ 0 h 362"/>
                <a:gd name="T4" fmla="*/ 0 w 519"/>
                <a:gd name="T5" fmla="*/ 0 h 362"/>
                <a:gd name="T6" fmla="*/ 0 w 519"/>
                <a:gd name="T7" fmla="*/ 0 h 362"/>
                <a:gd name="T8" fmla="*/ 0 w 519"/>
                <a:gd name="T9" fmla="*/ 0 h 362"/>
                <a:gd name="T10" fmla="*/ 0 w 519"/>
                <a:gd name="T11" fmla="*/ 0 h 362"/>
                <a:gd name="T12" fmla="*/ 0 w 519"/>
                <a:gd name="T13" fmla="*/ 0 h 362"/>
                <a:gd name="T14" fmla="*/ 0 w 519"/>
                <a:gd name="T15" fmla="*/ 0 h 362"/>
                <a:gd name="T16" fmla="*/ 0 w 519"/>
                <a:gd name="T17" fmla="*/ 0 h 362"/>
                <a:gd name="T18" fmla="*/ 0 w 519"/>
                <a:gd name="T19" fmla="*/ 0 h 362"/>
                <a:gd name="T20" fmla="*/ 0 w 519"/>
                <a:gd name="T21" fmla="*/ 0 h 362"/>
                <a:gd name="T22" fmla="*/ 0 w 519"/>
                <a:gd name="T23" fmla="*/ 0 h 362"/>
                <a:gd name="T24" fmla="*/ 0 w 519"/>
                <a:gd name="T25" fmla="*/ 0 h 362"/>
                <a:gd name="T26" fmla="*/ 0 w 519"/>
                <a:gd name="T27" fmla="*/ 0 h 362"/>
                <a:gd name="T28" fmla="*/ 0 w 519"/>
                <a:gd name="T29" fmla="*/ 0 h 362"/>
                <a:gd name="T30" fmla="*/ 0 w 519"/>
                <a:gd name="T31" fmla="*/ 0 h 362"/>
                <a:gd name="T32" fmla="*/ 0 w 519"/>
                <a:gd name="T33" fmla="*/ 0 h 362"/>
                <a:gd name="T34" fmla="*/ 0 w 519"/>
                <a:gd name="T35" fmla="*/ 0 h 362"/>
                <a:gd name="T36" fmla="*/ 0 w 519"/>
                <a:gd name="T37" fmla="*/ 0 h 362"/>
                <a:gd name="T38" fmla="*/ 0 w 519"/>
                <a:gd name="T39" fmla="*/ 0 h 362"/>
                <a:gd name="T40" fmla="*/ 0 w 519"/>
                <a:gd name="T41" fmla="*/ 0 h 362"/>
                <a:gd name="T42" fmla="*/ 0 w 519"/>
                <a:gd name="T43" fmla="*/ 0 h 362"/>
                <a:gd name="T44" fmla="*/ 0 w 519"/>
                <a:gd name="T45" fmla="*/ 0 h 362"/>
                <a:gd name="T46" fmla="*/ 0 w 519"/>
                <a:gd name="T47" fmla="*/ 0 h 362"/>
                <a:gd name="T48" fmla="*/ 0 w 519"/>
                <a:gd name="T49" fmla="*/ 0 h 362"/>
                <a:gd name="T50" fmla="*/ 0 w 519"/>
                <a:gd name="T51" fmla="*/ 0 h 362"/>
                <a:gd name="T52" fmla="*/ 0 w 519"/>
                <a:gd name="T53" fmla="*/ 0 h 362"/>
                <a:gd name="T54" fmla="*/ 0 w 519"/>
                <a:gd name="T55" fmla="*/ 0 h 362"/>
                <a:gd name="T56" fmla="*/ 0 w 519"/>
                <a:gd name="T57" fmla="*/ 0 h 362"/>
                <a:gd name="T58" fmla="*/ 0 w 519"/>
                <a:gd name="T59" fmla="*/ 0 h 362"/>
                <a:gd name="T60" fmla="*/ 0 w 519"/>
                <a:gd name="T61" fmla="*/ 0 h 362"/>
                <a:gd name="T62" fmla="*/ 0 w 519"/>
                <a:gd name="T63" fmla="*/ 0 h 362"/>
                <a:gd name="T64" fmla="*/ 0 w 519"/>
                <a:gd name="T65" fmla="*/ 0 h 362"/>
                <a:gd name="T66" fmla="*/ 0 w 519"/>
                <a:gd name="T67" fmla="*/ 0 h 362"/>
                <a:gd name="T68" fmla="*/ 0 w 519"/>
                <a:gd name="T69" fmla="*/ 0 h 362"/>
                <a:gd name="T70" fmla="*/ 0 w 519"/>
                <a:gd name="T71" fmla="*/ 0 h 362"/>
                <a:gd name="T72" fmla="*/ 0 w 519"/>
                <a:gd name="T73" fmla="*/ 0 h 362"/>
                <a:gd name="T74" fmla="*/ 0 w 519"/>
                <a:gd name="T75" fmla="*/ 0 h 362"/>
                <a:gd name="T76" fmla="*/ 0 w 519"/>
                <a:gd name="T77" fmla="*/ 0 h 36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19"/>
                <a:gd name="T118" fmla="*/ 0 h 362"/>
                <a:gd name="T119" fmla="*/ 519 w 519"/>
                <a:gd name="T120" fmla="*/ 362 h 36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19" h="362">
                  <a:moveTo>
                    <a:pt x="62" y="138"/>
                  </a:moveTo>
                  <a:lnTo>
                    <a:pt x="22" y="125"/>
                  </a:lnTo>
                  <a:lnTo>
                    <a:pt x="0" y="192"/>
                  </a:lnTo>
                  <a:lnTo>
                    <a:pt x="178" y="250"/>
                  </a:lnTo>
                  <a:lnTo>
                    <a:pt x="189" y="224"/>
                  </a:lnTo>
                  <a:lnTo>
                    <a:pt x="205" y="202"/>
                  </a:lnTo>
                  <a:lnTo>
                    <a:pt x="225" y="185"/>
                  </a:lnTo>
                  <a:lnTo>
                    <a:pt x="248" y="171"/>
                  </a:lnTo>
                  <a:lnTo>
                    <a:pt x="273" y="161"/>
                  </a:lnTo>
                  <a:lnTo>
                    <a:pt x="300" y="156"/>
                  </a:lnTo>
                  <a:lnTo>
                    <a:pt x="327" y="156"/>
                  </a:lnTo>
                  <a:lnTo>
                    <a:pt x="355" y="162"/>
                  </a:lnTo>
                  <a:lnTo>
                    <a:pt x="381" y="174"/>
                  </a:lnTo>
                  <a:lnTo>
                    <a:pt x="403" y="190"/>
                  </a:lnTo>
                  <a:lnTo>
                    <a:pt x="421" y="208"/>
                  </a:lnTo>
                  <a:lnTo>
                    <a:pt x="436" y="231"/>
                  </a:lnTo>
                  <a:lnTo>
                    <a:pt x="446" y="255"/>
                  </a:lnTo>
                  <a:lnTo>
                    <a:pt x="451" y="283"/>
                  </a:lnTo>
                  <a:lnTo>
                    <a:pt x="451" y="310"/>
                  </a:lnTo>
                  <a:lnTo>
                    <a:pt x="446" y="337"/>
                  </a:lnTo>
                  <a:lnTo>
                    <a:pt x="519" y="362"/>
                  </a:lnTo>
                  <a:lnTo>
                    <a:pt x="519" y="77"/>
                  </a:lnTo>
                  <a:lnTo>
                    <a:pt x="305" y="8"/>
                  </a:lnTo>
                  <a:lnTo>
                    <a:pt x="289" y="4"/>
                  </a:lnTo>
                  <a:lnTo>
                    <a:pt x="273" y="2"/>
                  </a:lnTo>
                  <a:lnTo>
                    <a:pt x="256" y="0"/>
                  </a:lnTo>
                  <a:lnTo>
                    <a:pt x="237" y="0"/>
                  </a:lnTo>
                  <a:lnTo>
                    <a:pt x="220" y="2"/>
                  </a:lnTo>
                  <a:lnTo>
                    <a:pt x="201" y="4"/>
                  </a:lnTo>
                  <a:lnTo>
                    <a:pt x="184" y="9"/>
                  </a:lnTo>
                  <a:lnTo>
                    <a:pt x="167" y="15"/>
                  </a:lnTo>
                  <a:lnTo>
                    <a:pt x="149" y="23"/>
                  </a:lnTo>
                  <a:lnTo>
                    <a:pt x="133" y="33"/>
                  </a:lnTo>
                  <a:lnTo>
                    <a:pt x="117" y="45"/>
                  </a:lnTo>
                  <a:lnTo>
                    <a:pt x="104" y="59"/>
                  </a:lnTo>
                  <a:lnTo>
                    <a:pt x="91" y="75"/>
                  </a:lnTo>
                  <a:lnTo>
                    <a:pt x="79" y="93"/>
                  </a:lnTo>
                  <a:lnTo>
                    <a:pt x="69" y="114"/>
                  </a:lnTo>
                  <a:lnTo>
                    <a:pt x="62"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543" y="2857499"/>
            <a:ext cx="8711613" cy="10382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0" name="AutoShape 12"/>
          <p:cNvSpPr>
            <a:spLocks noChangeArrowheads="1"/>
          </p:cNvSpPr>
          <p:nvPr/>
        </p:nvSpPr>
        <p:spPr bwMode="auto">
          <a:xfrm>
            <a:off x="911681" y="2857499"/>
            <a:ext cx="7822744" cy="439737"/>
          </a:xfrm>
          <a:prstGeom prst="roundRect">
            <a:avLst>
              <a:gd name="adj" fmla="val 16667"/>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51" name="AutoShape 12"/>
          <p:cNvSpPr>
            <a:spLocks noChangeArrowheads="1"/>
          </p:cNvSpPr>
          <p:nvPr/>
        </p:nvSpPr>
        <p:spPr bwMode="auto">
          <a:xfrm>
            <a:off x="908505" y="3298823"/>
            <a:ext cx="7825919" cy="219868"/>
          </a:xfrm>
          <a:prstGeom prst="roundRect">
            <a:avLst>
              <a:gd name="adj" fmla="val 16667"/>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Lesson outline</a:t>
            </a:r>
          </a:p>
        </p:txBody>
      </p:sp>
      <p:sp>
        <p:nvSpPr>
          <p:cNvPr id="39939" name="Rectangle 3"/>
          <p:cNvSpPr>
            <a:spLocks noGrp="1" noChangeArrowheads="1"/>
          </p:cNvSpPr>
          <p:nvPr>
            <p:ph idx="1"/>
          </p:nvPr>
        </p:nvSpPr>
        <p:spPr/>
        <p:txBody>
          <a:bodyPr/>
          <a:lstStyle/>
          <a:p>
            <a:pPr>
              <a:lnSpc>
                <a:spcPct val="150000"/>
              </a:lnSpc>
            </a:pPr>
            <a:r>
              <a:rPr lang="en-US" sz="2800">
                <a:solidFill>
                  <a:srgbClr val="C0C0C0"/>
                </a:solidFill>
              </a:rPr>
              <a:t>Contact basics</a:t>
            </a:r>
          </a:p>
          <a:p>
            <a:pPr>
              <a:lnSpc>
                <a:spcPct val="150000"/>
              </a:lnSpc>
            </a:pPr>
            <a:r>
              <a:rPr lang="en-US" sz="2800">
                <a:solidFill>
                  <a:srgbClr val="C0C0C0"/>
                </a:solidFill>
              </a:rPr>
              <a:t>Contact roles</a:t>
            </a:r>
          </a:p>
          <a:p>
            <a:pPr>
              <a:lnSpc>
                <a:spcPct val="150000"/>
              </a:lnSpc>
            </a:pPr>
            <a:r>
              <a:rPr lang="en-US" sz="2800">
                <a:solidFill>
                  <a:srgbClr val="C0C0C0"/>
                </a:solidFill>
              </a:rPr>
              <a:t>Categorizing contact</a:t>
            </a:r>
          </a:p>
          <a:p>
            <a:pPr>
              <a:lnSpc>
                <a:spcPct val="150000"/>
              </a:lnSpc>
            </a:pPr>
            <a:r>
              <a:rPr lang="en-US" sz="2800">
                <a:solidFill>
                  <a:srgbClr val="C0C0C0"/>
                </a:solidFill>
              </a:rPr>
              <a:t>Contact role configuration</a:t>
            </a:r>
          </a:p>
          <a:p>
            <a:pPr>
              <a:lnSpc>
                <a:spcPct val="150000"/>
              </a:lnSpc>
            </a:pPr>
            <a:r>
              <a:rPr lang="en-US" sz="2800">
                <a:solidFill>
                  <a:srgbClr val="C0C0C0"/>
                </a:solidFill>
              </a:rPr>
              <a:t>Contact role type constraints</a:t>
            </a:r>
          </a:p>
          <a:p>
            <a:pPr>
              <a:lnSpc>
                <a:spcPct val="150000"/>
              </a:lnSpc>
            </a:pPr>
            <a:r>
              <a:rPr lang="en-US" sz="2800"/>
              <a:t>Entity role constraints</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2"/>
          <p:cNvGrpSpPr>
            <a:grpSpLocks/>
          </p:cNvGrpSpPr>
          <p:nvPr/>
        </p:nvGrpSpPr>
        <p:grpSpPr bwMode="auto">
          <a:xfrm>
            <a:off x="4395788" y="2551113"/>
            <a:ext cx="688975" cy="688975"/>
            <a:chOff x="1350" y="686"/>
            <a:chExt cx="1132" cy="1132"/>
          </a:xfrm>
        </p:grpSpPr>
        <p:sp>
          <p:nvSpPr>
            <p:cNvPr id="41287" name="AutoShape 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1288" name="Picture 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963" name="Rectangle 5"/>
          <p:cNvSpPr>
            <a:spLocks noGrp="1" noChangeArrowheads="1"/>
          </p:cNvSpPr>
          <p:nvPr>
            <p:ph type="title"/>
          </p:nvPr>
        </p:nvSpPr>
        <p:spPr/>
        <p:txBody>
          <a:bodyPr/>
          <a:lstStyle/>
          <a:p>
            <a:pPr eaLnBrk="1" hangingPunct="1"/>
            <a:r>
              <a:rPr lang="en-US"/>
              <a:t>Entity role constraints</a:t>
            </a:r>
          </a:p>
        </p:txBody>
      </p:sp>
      <p:sp>
        <p:nvSpPr>
          <p:cNvPr id="40964" name="Rectangle 6"/>
          <p:cNvSpPr>
            <a:spLocks noGrp="1" noChangeArrowheads="1"/>
          </p:cNvSpPr>
          <p:nvPr>
            <p:ph idx="1"/>
          </p:nvPr>
        </p:nvSpPr>
        <p:spPr>
          <a:xfrm>
            <a:off x="495300" y="966788"/>
            <a:ext cx="8318500" cy="1958975"/>
          </a:xfrm>
        </p:spPr>
        <p:txBody>
          <a:bodyPr/>
          <a:lstStyle/>
          <a:p>
            <a:r>
              <a:rPr lang="en-US"/>
              <a:t>For a given type of "related to" entity, a role can be:</a:t>
            </a:r>
          </a:p>
          <a:p>
            <a:pPr lvl="1"/>
            <a:r>
              <a:rPr lang="en-US"/>
              <a:t>Not allowed</a:t>
            </a:r>
          </a:p>
          <a:p>
            <a:pPr lvl="1"/>
            <a:r>
              <a:rPr lang="en-US"/>
              <a:t>Unlimited</a:t>
            </a:r>
          </a:p>
        </p:txBody>
      </p:sp>
      <p:sp>
        <p:nvSpPr>
          <p:cNvPr id="40965" name="Rectangle 7"/>
          <p:cNvSpPr>
            <a:spLocks noChangeArrowheads="1"/>
          </p:cNvSpPr>
          <p:nvPr/>
        </p:nvSpPr>
        <p:spPr bwMode="auto">
          <a:xfrm>
            <a:off x="3030538" y="1395413"/>
            <a:ext cx="564197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28650" lvl="1" indent="-228600" algn="l" eaLnBrk="0" hangingPunct="0">
              <a:spcBef>
                <a:spcPct val="20000"/>
              </a:spcBef>
              <a:spcAft>
                <a:spcPct val="0"/>
              </a:spcAft>
              <a:buClr>
                <a:srgbClr val="0146AD"/>
              </a:buClr>
              <a:buSzPct val="90000"/>
            </a:pPr>
            <a:r>
              <a:rPr lang="en-US" sz="2200" b="0">
                <a:solidFill>
                  <a:srgbClr val="0033CC"/>
                </a:solidFill>
              </a:rPr>
              <a:t>-</a:t>
            </a:r>
            <a:r>
              <a:rPr lang="en-US" sz="2200" b="0">
                <a:solidFill>
                  <a:schemeClr val="bg1"/>
                </a:solidFill>
              </a:rPr>
              <a:t> Limited to at least one, at most one, or exactly one contact</a:t>
            </a:r>
          </a:p>
        </p:txBody>
      </p:sp>
      <p:grpSp>
        <p:nvGrpSpPr>
          <p:cNvPr id="40966" name="Group 8"/>
          <p:cNvGrpSpPr>
            <a:grpSpLocks/>
          </p:cNvGrpSpPr>
          <p:nvPr/>
        </p:nvGrpSpPr>
        <p:grpSpPr bwMode="auto">
          <a:xfrm>
            <a:off x="1498600" y="2552700"/>
            <a:ext cx="820738" cy="742950"/>
            <a:chOff x="2780" y="1585"/>
            <a:chExt cx="668" cy="605"/>
          </a:xfrm>
        </p:grpSpPr>
        <p:sp>
          <p:nvSpPr>
            <p:cNvPr id="41283" name="AutoShape 9"/>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41284" name="Group 10"/>
            <p:cNvGrpSpPr>
              <a:grpSpLocks/>
            </p:cNvGrpSpPr>
            <p:nvPr/>
          </p:nvGrpSpPr>
          <p:grpSpPr bwMode="auto">
            <a:xfrm flipH="1">
              <a:off x="3089" y="1738"/>
              <a:ext cx="359" cy="452"/>
              <a:chOff x="4325" y="1984"/>
              <a:chExt cx="359" cy="452"/>
            </a:xfrm>
          </p:grpSpPr>
          <p:sp>
            <p:nvSpPr>
              <p:cNvPr id="41285" name="Freeform 11"/>
              <p:cNvSpPr>
                <a:spLocks/>
              </p:cNvSpPr>
              <p:nvPr/>
            </p:nvSpPr>
            <p:spPr bwMode="auto">
              <a:xfrm>
                <a:off x="4325" y="1984"/>
                <a:ext cx="359" cy="452"/>
              </a:xfrm>
              <a:custGeom>
                <a:avLst/>
                <a:gdLst>
                  <a:gd name="T0" fmla="*/ 1 w 717"/>
                  <a:gd name="T1" fmla="*/ 0 h 906"/>
                  <a:gd name="T2" fmla="*/ 1 w 717"/>
                  <a:gd name="T3" fmla="*/ 0 h 906"/>
                  <a:gd name="T4" fmla="*/ 1 w 717"/>
                  <a:gd name="T5" fmla="*/ 0 h 906"/>
                  <a:gd name="T6" fmla="*/ 1 w 717"/>
                  <a:gd name="T7" fmla="*/ 0 h 906"/>
                  <a:gd name="T8" fmla="*/ 1 w 717"/>
                  <a:gd name="T9" fmla="*/ 0 h 906"/>
                  <a:gd name="T10" fmla="*/ 1 w 717"/>
                  <a:gd name="T11" fmla="*/ 0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0 h 906"/>
                  <a:gd name="T32" fmla="*/ 1 w 717"/>
                  <a:gd name="T33" fmla="*/ 0 h 906"/>
                  <a:gd name="T34" fmla="*/ 1 w 717"/>
                  <a:gd name="T35" fmla="*/ 0 h 906"/>
                  <a:gd name="T36" fmla="*/ 1 w 717"/>
                  <a:gd name="T37" fmla="*/ 0 h 906"/>
                  <a:gd name="T38" fmla="*/ 1 w 717"/>
                  <a:gd name="T39" fmla="*/ 0 h 906"/>
                  <a:gd name="T40" fmla="*/ 1 w 717"/>
                  <a:gd name="T41" fmla="*/ 0 h 906"/>
                  <a:gd name="T42" fmla="*/ 1 w 717"/>
                  <a:gd name="T43" fmla="*/ 0 h 906"/>
                  <a:gd name="T44" fmla="*/ 1 w 717"/>
                  <a:gd name="T45" fmla="*/ 0 h 906"/>
                  <a:gd name="T46" fmla="*/ 1 w 717"/>
                  <a:gd name="T47" fmla="*/ 0 h 906"/>
                  <a:gd name="T48" fmla="*/ 1 w 717"/>
                  <a:gd name="T49" fmla="*/ 0 h 906"/>
                  <a:gd name="T50" fmla="*/ 1 w 717"/>
                  <a:gd name="T51" fmla="*/ 0 h 906"/>
                  <a:gd name="T52" fmla="*/ 1 w 717"/>
                  <a:gd name="T53" fmla="*/ 0 h 906"/>
                  <a:gd name="T54" fmla="*/ 1 w 717"/>
                  <a:gd name="T55" fmla="*/ 0 h 906"/>
                  <a:gd name="T56" fmla="*/ 1 w 717"/>
                  <a:gd name="T57" fmla="*/ 0 h 906"/>
                  <a:gd name="T58" fmla="*/ 1 w 717"/>
                  <a:gd name="T59" fmla="*/ 0 h 906"/>
                  <a:gd name="T60" fmla="*/ 1 w 717"/>
                  <a:gd name="T61" fmla="*/ 0 h 906"/>
                  <a:gd name="T62" fmla="*/ 1 w 717"/>
                  <a:gd name="T63" fmla="*/ 0 h 906"/>
                  <a:gd name="T64" fmla="*/ 1 w 717"/>
                  <a:gd name="T65" fmla="*/ 0 h 906"/>
                  <a:gd name="T66" fmla="*/ 1 w 717"/>
                  <a:gd name="T67" fmla="*/ 0 h 906"/>
                  <a:gd name="T68" fmla="*/ 1 w 717"/>
                  <a:gd name="T69" fmla="*/ 0 h 906"/>
                  <a:gd name="T70" fmla="*/ 1 w 717"/>
                  <a:gd name="T71" fmla="*/ 0 h 906"/>
                  <a:gd name="T72" fmla="*/ 1 w 717"/>
                  <a:gd name="T73" fmla="*/ 0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86" name="Freeform 12"/>
              <p:cNvSpPr>
                <a:spLocks/>
              </p:cNvSpPr>
              <p:nvPr/>
            </p:nvSpPr>
            <p:spPr bwMode="auto">
              <a:xfrm>
                <a:off x="4378" y="2075"/>
                <a:ext cx="281" cy="341"/>
              </a:xfrm>
              <a:custGeom>
                <a:avLst/>
                <a:gdLst>
                  <a:gd name="T0" fmla="*/ 1 w 562"/>
                  <a:gd name="T1" fmla="*/ 1 h 682"/>
                  <a:gd name="T2" fmla="*/ 1 w 562"/>
                  <a:gd name="T3" fmla="*/ 1 h 682"/>
                  <a:gd name="T4" fmla="*/ 1 w 562"/>
                  <a:gd name="T5" fmla="*/ 1 h 682"/>
                  <a:gd name="T6" fmla="*/ 1 w 562"/>
                  <a:gd name="T7" fmla="*/ 1 h 682"/>
                  <a:gd name="T8" fmla="*/ 1 w 562"/>
                  <a:gd name="T9" fmla="*/ 1 h 682"/>
                  <a:gd name="T10" fmla="*/ 1 w 562"/>
                  <a:gd name="T11" fmla="*/ 1 h 682"/>
                  <a:gd name="T12" fmla="*/ 1 w 562"/>
                  <a:gd name="T13" fmla="*/ 1 h 682"/>
                  <a:gd name="T14" fmla="*/ 1 w 562"/>
                  <a:gd name="T15" fmla="*/ 1 h 682"/>
                  <a:gd name="T16" fmla="*/ 1 w 562"/>
                  <a:gd name="T17" fmla="*/ 1 h 682"/>
                  <a:gd name="T18" fmla="*/ 1 w 562"/>
                  <a:gd name="T19" fmla="*/ 1 h 682"/>
                  <a:gd name="T20" fmla="*/ 1 w 562"/>
                  <a:gd name="T21" fmla="*/ 1 h 682"/>
                  <a:gd name="T22" fmla="*/ 1 w 562"/>
                  <a:gd name="T23" fmla="*/ 1 h 682"/>
                  <a:gd name="T24" fmla="*/ 1 w 562"/>
                  <a:gd name="T25" fmla="*/ 1 h 682"/>
                  <a:gd name="T26" fmla="*/ 1 w 562"/>
                  <a:gd name="T27" fmla="*/ 1 h 682"/>
                  <a:gd name="T28" fmla="*/ 1 w 562"/>
                  <a:gd name="T29" fmla="*/ 1 h 682"/>
                  <a:gd name="T30" fmla="*/ 1 w 562"/>
                  <a:gd name="T31" fmla="*/ 1 h 682"/>
                  <a:gd name="T32" fmla="*/ 0 w 562"/>
                  <a:gd name="T33" fmla="*/ 1 h 682"/>
                  <a:gd name="T34" fmla="*/ 1 w 562"/>
                  <a:gd name="T35" fmla="*/ 0 h 682"/>
                  <a:gd name="T36" fmla="*/ 1 w 562"/>
                  <a:gd name="T37" fmla="*/ 1 h 682"/>
                  <a:gd name="T38" fmla="*/ 1 w 562"/>
                  <a:gd name="T39" fmla="*/ 1 h 682"/>
                  <a:gd name="T40" fmla="*/ 1 w 562"/>
                  <a:gd name="T41" fmla="*/ 1 h 682"/>
                  <a:gd name="T42" fmla="*/ 1 w 562"/>
                  <a:gd name="T43" fmla="*/ 1 h 682"/>
                  <a:gd name="T44" fmla="*/ 1 w 562"/>
                  <a:gd name="T45" fmla="*/ 1 h 682"/>
                  <a:gd name="T46" fmla="*/ 1 w 562"/>
                  <a:gd name="T47" fmla="*/ 1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0967" name="Text Box 13"/>
          <p:cNvSpPr txBox="1">
            <a:spLocks noChangeArrowheads="1"/>
          </p:cNvSpPr>
          <p:nvPr/>
        </p:nvSpPr>
        <p:spPr bwMode="auto">
          <a:xfrm>
            <a:off x="1249363" y="3262313"/>
            <a:ext cx="12049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reporter</a:t>
            </a:r>
          </a:p>
        </p:txBody>
      </p:sp>
      <p:grpSp>
        <p:nvGrpSpPr>
          <p:cNvPr id="40968" name="Group 14"/>
          <p:cNvGrpSpPr>
            <a:grpSpLocks/>
          </p:cNvGrpSpPr>
          <p:nvPr/>
        </p:nvGrpSpPr>
        <p:grpSpPr bwMode="auto">
          <a:xfrm>
            <a:off x="712788" y="3671888"/>
            <a:ext cx="850900" cy="627062"/>
            <a:chOff x="2083" y="1606"/>
            <a:chExt cx="1489" cy="1097"/>
          </a:xfrm>
        </p:grpSpPr>
        <p:sp>
          <p:nvSpPr>
            <p:cNvPr id="41250" name="Rectangle 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1251" name="Freeform 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252" name="Freeform 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253" name="Freeform 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254" name="Freeform 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255" name="Rectangle 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1256" name="Rectangle 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257" name="AutoShape 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1258" name="Freeform 23"/>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259" name="Freeform 24"/>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260" name="Rectangle 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261" name="Rectangle 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262" name="Rectangle 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1263" name="Group 28"/>
            <p:cNvGrpSpPr>
              <a:grpSpLocks/>
            </p:cNvGrpSpPr>
            <p:nvPr/>
          </p:nvGrpSpPr>
          <p:grpSpPr bwMode="auto">
            <a:xfrm>
              <a:off x="2221" y="1871"/>
              <a:ext cx="518" cy="782"/>
              <a:chOff x="2400" y="1656"/>
              <a:chExt cx="752" cy="1136"/>
            </a:xfrm>
          </p:grpSpPr>
          <p:sp>
            <p:nvSpPr>
              <p:cNvPr id="41276"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277"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278"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279"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280"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41281"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282"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1264" name="Group 36"/>
            <p:cNvGrpSpPr>
              <a:grpSpLocks/>
            </p:cNvGrpSpPr>
            <p:nvPr/>
          </p:nvGrpSpPr>
          <p:grpSpPr bwMode="auto">
            <a:xfrm rot="-6511945">
              <a:off x="2834" y="1842"/>
              <a:ext cx="518" cy="783"/>
              <a:chOff x="2400" y="1656"/>
              <a:chExt cx="752" cy="1136"/>
            </a:xfrm>
          </p:grpSpPr>
          <p:sp>
            <p:nvSpPr>
              <p:cNvPr id="41269" name="Freeform 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270" name="Freeform 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271" name="Freeform 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272" name="Freeform 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273" name="Freeform 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274" name="Line 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275" name="Line 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1265" name="Freeform 44"/>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266" name="Freeform 45"/>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267" name="Rectangle 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268" name="Rectangle 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0969" name="Group 48"/>
          <p:cNvGrpSpPr>
            <a:grpSpLocks/>
          </p:cNvGrpSpPr>
          <p:nvPr/>
        </p:nvGrpSpPr>
        <p:grpSpPr bwMode="auto">
          <a:xfrm>
            <a:off x="817563" y="5097463"/>
            <a:ext cx="641350" cy="636587"/>
            <a:chOff x="3360" y="800"/>
            <a:chExt cx="620" cy="616"/>
          </a:xfrm>
        </p:grpSpPr>
        <p:sp>
          <p:nvSpPr>
            <p:cNvPr id="41244" name="AutoShape 4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1245" name="Freeform 50"/>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1246" name="Group 51"/>
            <p:cNvGrpSpPr>
              <a:grpSpLocks/>
            </p:cNvGrpSpPr>
            <p:nvPr/>
          </p:nvGrpSpPr>
          <p:grpSpPr bwMode="auto">
            <a:xfrm flipH="1">
              <a:off x="3749" y="1171"/>
              <a:ext cx="212" cy="213"/>
              <a:chOff x="1350" y="686"/>
              <a:chExt cx="1132" cy="1132"/>
            </a:xfrm>
          </p:grpSpPr>
          <p:sp>
            <p:nvSpPr>
              <p:cNvPr id="41248" name="AutoShape 5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1249" name="Picture 5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247" name="Picture 5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970" name="Text Box 55"/>
          <p:cNvSpPr txBox="1">
            <a:spLocks noChangeArrowheads="1"/>
          </p:cNvSpPr>
          <p:nvPr/>
        </p:nvSpPr>
        <p:spPr bwMode="auto">
          <a:xfrm>
            <a:off x="425450" y="4292600"/>
            <a:ext cx="14271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claim</a:t>
            </a:r>
            <a:br>
              <a:rPr lang="en-US" sz="1800">
                <a:solidFill>
                  <a:schemeClr val="bg1"/>
                </a:solidFill>
              </a:rPr>
            </a:br>
            <a:r>
              <a:rPr lang="en-US" sz="1800">
                <a:solidFill>
                  <a:schemeClr val="bg1"/>
                </a:solidFill>
              </a:rPr>
              <a:t>(exactly 1)</a:t>
            </a:r>
          </a:p>
        </p:txBody>
      </p:sp>
      <p:sp>
        <p:nvSpPr>
          <p:cNvPr id="40971" name="Text Box 56"/>
          <p:cNvSpPr txBox="1">
            <a:spLocks noChangeArrowheads="1"/>
          </p:cNvSpPr>
          <p:nvPr/>
        </p:nvSpPr>
        <p:spPr bwMode="auto">
          <a:xfrm>
            <a:off x="474663" y="5727700"/>
            <a:ext cx="13287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exposure</a:t>
            </a:r>
            <a:br>
              <a:rPr lang="en-US" sz="1800">
                <a:solidFill>
                  <a:schemeClr val="bg1"/>
                </a:solidFill>
              </a:rPr>
            </a:br>
            <a:r>
              <a:rPr lang="en-US" sz="1800">
                <a:solidFill>
                  <a:schemeClr val="bg1"/>
                </a:solidFill>
              </a:rPr>
              <a:t>(0)</a:t>
            </a:r>
          </a:p>
        </p:txBody>
      </p:sp>
      <p:grpSp>
        <p:nvGrpSpPr>
          <p:cNvPr id="40972" name="Group 57"/>
          <p:cNvGrpSpPr>
            <a:grpSpLocks/>
          </p:cNvGrpSpPr>
          <p:nvPr/>
        </p:nvGrpSpPr>
        <p:grpSpPr bwMode="auto">
          <a:xfrm>
            <a:off x="2190750" y="3673475"/>
            <a:ext cx="538163" cy="604838"/>
            <a:chOff x="2324" y="435"/>
            <a:chExt cx="933" cy="1052"/>
          </a:xfrm>
        </p:grpSpPr>
        <p:sp>
          <p:nvSpPr>
            <p:cNvPr id="41235" name="AutoShape 58"/>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1236" name="Freeform 59"/>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1237" name="Freeform 60"/>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1238" name="Freeform 61"/>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1239" name="Group 62"/>
            <p:cNvGrpSpPr>
              <a:grpSpLocks/>
            </p:cNvGrpSpPr>
            <p:nvPr/>
          </p:nvGrpSpPr>
          <p:grpSpPr bwMode="auto">
            <a:xfrm>
              <a:off x="2889" y="957"/>
              <a:ext cx="348" cy="510"/>
              <a:chOff x="2784" y="3210"/>
              <a:chExt cx="523" cy="772"/>
            </a:xfrm>
          </p:grpSpPr>
          <p:sp>
            <p:nvSpPr>
              <p:cNvPr id="41240" name="AutoShape 63"/>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1241" name="AutoShape 64"/>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1242" name="AutoShape 65"/>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1243" name="Oval 66"/>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40973" name="Text Box 67"/>
          <p:cNvSpPr txBox="1">
            <a:spLocks noChangeArrowheads="1"/>
          </p:cNvSpPr>
          <p:nvPr/>
        </p:nvSpPr>
        <p:spPr bwMode="auto">
          <a:xfrm>
            <a:off x="1989138" y="5727700"/>
            <a:ext cx="9826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incident</a:t>
            </a:r>
            <a:br>
              <a:rPr lang="en-US" sz="1800">
                <a:solidFill>
                  <a:schemeClr val="bg1"/>
                </a:solidFill>
              </a:rPr>
            </a:br>
            <a:r>
              <a:rPr lang="en-US" sz="1800">
                <a:solidFill>
                  <a:schemeClr val="bg1"/>
                </a:solidFill>
              </a:rPr>
              <a:t>(0)</a:t>
            </a:r>
          </a:p>
        </p:txBody>
      </p:sp>
      <p:sp>
        <p:nvSpPr>
          <p:cNvPr id="40974" name="Text Box 68"/>
          <p:cNvSpPr txBox="1">
            <a:spLocks noChangeArrowheads="1"/>
          </p:cNvSpPr>
          <p:nvPr/>
        </p:nvSpPr>
        <p:spPr bwMode="auto">
          <a:xfrm>
            <a:off x="2089150" y="4292600"/>
            <a:ext cx="7191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policy</a:t>
            </a:r>
            <a:br>
              <a:rPr lang="en-US" sz="1800">
                <a:solidFill>
                  <a:schemeClr val="bg1"/>
                </a:solidFill>
              </a:rPr>
            </a:br>
            <a:r>
              <a:rPr lang="en-US" sz="1800">
                <a:solidFill>
                  <a:schemeClr val="bg1"/>
                </a:solidFill>
              </a:rPr>
              <a:t>(0)</a:t>
            </a:r>
          </a:p>
        </p:txBody>
      </p:sp>
      <p:grpSp>
        <p:nvGrpSpPr>
          <p:cNvPr id="40975" name="Group 69"/>
          <p:cNvGrpSpPr>
            <a:grpSpLocks/>
          </p:cNvGrpSpPr>
          <p:nvPr/>
        </p:nvGrpSpPr>
        <p:grpSpPr bwMode="auto">
          <a:xfrm>
            <a:off x="2025650" y="5097463"/>
            <a:ext cx="900113" cy="654050"/>
            <a:chOff x="1872" y="1807"/>
            <a:chExt cx="1670" cy="1215"/>
          </a:xfrm>
        </p:grpSpPr>
        <p:grpSp>
          <p:nvGrpSpPr>
            <p:cNvPr id="41189" name="Group 70"/>
            <p:cNvGrpSpPr>
              <a:grpSpLocks/>
            </p:cNvGrpSpPr>
            <p:nvPr/>
          </p:nvGrpSpPr>
          <p:grpSpPr bwMode="auto">
            <a:xfrm>
              <a:off x="1872" y="1807"/>
              <a:ext cx="1186" cy="813"/>
              <a:chOff x="1808" y="2634"/>
              <a:chExt cx="1186" cy="813"/>
            </a:xfrm>
          </p:grpSpPr>
          <p:grpSp>
            <p:nvGrpSpPr>
              <p:cNvPr id="41226" name="Group 71"/>
              <p:cNvGrpSpPr>
                <a:grpSpLocks/>
              </p:cNvGrpSpPr>
              <p:nvPr/>
            </p:nvGrpSpPr>
            <p:grpSpPr bwMode="auto">
              <a:xfrm>
                <a:off x="1808" y="2634"/>
                <a:ext cx="1186" cy="813"/>
                <a:chOff x="1732" y="3507"/>
                <a:chExt cx="1186" cy="813"/>
              </a:xfrm>
            </p:grpSpPr>
            <p:sp>
              <p:nvSpPr>
                <p:cNvPr id="41233" name="AutoShape 72"/>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234" name="AutoShape 73"/>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1227" name="Group 74"/>
              <p:cNvGrpSpPr>
                <a:grpSpLocks/>
              </p:cNvGrpSpPr>
              <p:nvPr/>
            </p:nvGrpSpPr>
            <p:grpSpPr bwMode="auto">
              <a:xfrm>
                <a:off x="2083" y="2655"/>
                <a:ext cx="617" cy="784"/>
                <a:chOff x="2900" y="2726"/>
                <a:chExt cx="505" cy="642"/>
              </a:xfrm>
            </p:grpSpPr>
            <p:sp>
              <p:nvSpPr>
                <p:cNvPr id="41228" name="Oval 75"/>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1229" name="Freeform 76"/>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1230" name="Freeform 77"/>
                <p:cNvSpPr>
                  <a:spLocks/>
                </p:cNvSpPr>
                <p:nvPr/>
              </p:nvSpPr>
              <p:spPr bwMode="auto">
                <a:xfrm>
                  <a:off x="2900" y="3068"/>
                  <a:ext cx="409" cy="264"/>
                </a:xfrm>
                <a:custGeom>
                  <a:avLst/>
                  <a:gdLst>
                    <a:gd name="T0" fmla="*/ 1 w 559"/>
                    <a:gd name="T1" fmla="*/ 1 h 434"/>
                    <a:gd name="T2" fmla="*/ 10 w 559"/>
                    <a:gd name="T3" fmla="*/ 0 h 434"/>
                    <a:gd name="T4" fmla="*/ 9 w 559"/>
                    <a:gd name="T5" fmla="*/ 1 h 434"/>
                    <a:gd name="T6" fmla="*/ 17 w 559"/>
                    <a:gd name="T7" fmla="*/ 1 h 434"/>
                    <a:gd name="T8" fmla="*/ 22 w 559"/>
                    <a:gd name="T9" fmla="*/ 1 h 434"/>
                    <a:gd name="T10" fmla="*/ 25 w 559"/>
                    <a:gd name="T11" fmla="*/ 2 h 434"/>
                    <a:gd name="T12" fmla="*/ 23 w 559"/>
                    <a:gd name="T13" fmla="*/ 2 h 434"/>
                    <a:gd name="T14" fmla="*/ 17 w 559"/>
                    <a:gd name="T15" fmla="*/ 3 h 434"/>
                    <a:gd name="T16" fmla="*/ 10 w 559"/>
                    <a:gd name="T17" fmla="*/ 3 h 434"/>
                    <a:gd name="T18" fmla="*/ 4 w 559"/>
                    <a:gd name="T19" fmla="*/ 3 h 434"/>
                    <a:gd name="T20" fmla="*/ 1 w 559"/>
                    <a:gd name="T21" fmla="*/ 2 h 434"/>
                    <a:gd name="T22" fmla="*/ 0 w 559"/>
                    <a:gd name="T23" fmla="*/ 1 h 434"/>
                    <a:gd name="T24" fmla="*/ 1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1231" name="Freeform 78"/>
                <p:cNvSpPr>
                  <a:spLocks/>
                </p:cNvSpPr>
                <p:nvPr/>
              </p:nvSpPr>
              <p:spPr bwMode="auto">
                <a:xfrm>
                  <a:off x="3022" y="2996"/>
                  <a:ext cx="219" cy="331"/>
                </a:xfrm>
                <a:custGeom>
                  <a:avLst/>
                  <a:gdLst>
                    <a:gd name="T0" fmla="*/ 11 w 300"/>
                    <a:gd name="T1" fmla="*/ 0 h 543"/>
                    <a:gd name="T2" fmla="*/ 0 w 300"/>
                    <a:gd name="T3" fmla="*/ 4 h 543"/>
                    <a:gd name="T4" fmla="*/ 8 w 300"/>
                    <a:gd name="T5" fmla="*/ 4 h 543"/>
                    <a:gd name="T6" fmla="*/ 1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1232" name="Line 79"/>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41190" name="Group 80"/>
            <p:cNvGrpSpPr>
              <a:grpSpLocks/>
            </p:cNvGrpSpPr>
            <p:nvPr/>
          </p:nvGrpSpPr>
          <p:grpSpPr bwMode="auto">
            <a:xfrm>
              <a:off x="2114" y="2008"/>
              <a:ext cx="1186" cy="813"/>
              <a:chOff x="3182" y="2642"/>
              <a:chExt cx="1186" cy="813"/>
            </a:xfrm>
          </p:grpSpPr>
          <p:grpSp>
            <p:nvGrpSpPr>
              <p:cNvPr id="41212" name="Group 81"/>
              <p:cNvGrpSpPr>
                <a:grpSpLocks/>
              </p:cNvGrpSpPr>
              <p:nvPr/>
            </p:nvGrpSpPr>
            <p:grpSpPr bwMode="auto">
              <a:xfrm>
                <a:off x="3182" y="2642"/>
                <a:ext cx="1186" cy="813"/>
                <a:chOff x="1732" y="3507"/>
                <a:chExt cx="1186" cy="813"/>
              </a:xfrm>
            </p:grpSpPr>
            <p:sp>
              <p:nvSpPr>
                <p:cNvPr id="41224" name="AutoShape 82"/>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225" name="AutoShape 83"/>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1213" name="Group 84"/>
              <p:cNvGrpSpPr>
                <a:grpSpLocks/>
              </p:cNvGrpSpPr>
              <p:nvPr/>
            </p:nvGrpSpPr>
            <p:grpSpPr bwMode="auto">
              <a:xfrm>
                <a:off x="3309" y="2668"/>
                <a:ext cx="876" cy="739"/>
                <a:chOff x="3309" y="2668"/>
                <a:chExt cx="876" cy="739"/>
              </a:xfrm>
            </p:grpSpPr>
            <p:sp>
              <p:nvSpPr>
                <p:cNvPr id="41214" name="Freeform 85"/>
                <p:cNvSpPr>
                  <a:spLocks/>
                </p:cNvSpPr>
                <p:nvPr/>
              </p:nvSpPr>
              <p:spPr bwMode="auto">
                <a:xfrm>
                  <a:off x="3344" y="2668"/>
                  <a:ext cx="841" cy="739"/>
                </a:xfrm>
                <a:custGeom>
                  <a:avLst/>
                  <a:gdLst>
                    <a:gd name="T0" fmla="*/ 264 w 638"/>
                    <a:gd name="T1" fmla="*/ 8777 h 561"/>
                    <a:gd name="T2" fmla="*/ 264 w 638"/>
                    <a:gd name="T3" fmla="*/ 5052 h 561"/>
                    <a:gd name="T4" fmla="*/ 0 w 638"/>
                    <a:gd name="T5" fmla="*/ 4576 h 561"/>
                    <a:gd name="T6" fmla="*/ 5263 w 638"/>
                    <a:gd name="T7" fmla="*/ 95 h 561"/>
                    <a:gd name="T8" fmla="*/ 7168 w 638"/>
                    <a:gd name="T9" fmla="*/ 1888 h 561"/>
                    <a:gd name="T10" fmla="*/ 7168 w 638"/>
                    <a:gd name="T11" fmla="*/ 0 h 561"/>
                    <a:gd name="T12" fmla="*/ 8676 w 638"/>
                    <a:gd name="T13" fmla="*/ 0 h 561"/>
                    <a:gd name="T14" fmla="*/ 8676 w 638"/>
                    <a:gd name="T15" fmla="*/ 3353 h 561"/>
                    <a:gd name="T16" fmla="*/ 10108 w 638"/>
                    <a:gd name="T17" fmla="*/ 4517 h 561"/>
                    <a:gd name="T18" fmla="*/ 9594 w 638"/>
                    <a:gd name="T19" fmla="*/ 5004 h 561"/>
                    <a:gd name="T20" fmla="*/ 9594 w 638"/>
                    <a:gd name="T21" fmla="*/ 8826 h 561"/>
                    <a:gd name="T22" fmla="*/ 264 w 638"/>
                    <a:gd name="T23" fmla="*/ 8777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215" name="Rectangle 86"/>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216" name="Rectangle 87"/>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217" name="Line 88"/>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218" name="Line 89"/>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219" name="Rectangle 90"/>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220" name="Line 91"/>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221" name="Line 92"/>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222" name="Freeform 93"/>
                <p:cNvSpPr>
                  <a:spLocks/>
                </p:cNvSpPr>
                <p:nvPr/>
              </p:nvSpPr>
              <p:spPr bwMode="auto">
                <a:xfrm>
                  <a:off x="3309" y="2675"/>
                  <a:ext cx="326" cy="428"/>
                </a:xfrm>
                <a:custGeom>
                  <a:avLst/>
                  <a:gdLst>
                    <a:gd name="T0" fmla="*/ 0 w 1163"/>
                    <a:gd name="T1" fmla="*/ 0 h 1531"/>
                    <a:gd name="T2" fmla="*/ 0 w 1163"/>
                    <a:gd name="T3" fmla="*/ 0 h 1531"/>
                    <a:gd name="T4" fmla="*/ 0 w 1163"/>
                    <a:gd name="T5" fmla="*/ 0 h 1531"/>
                    <a:gd name="T6" fmla="*/ 0 w 1163"/>
                    <a:gd name="T7" fmla="*/ 0 h 1531"/>
                    <a:gd name="T8" fmla="*/ 0 w 1163"/>
                    <a:gd name="T9" fmla="*/ 0 h 1531"/>
                    <a:gd name="T10" fmla="*/ 0 w 1163"/>
                    <a:gd name="T11" fmla="*/ 0 h 1531"/>
                    <a:gd name="T12" fmla="*/ 0 w 1163"/>
                    <a:gd name="T13" fmla="*/ 0 h 1531"/>
                    <a:gd name="T14" fmla="*/ 0 w 1163"/>
                    <a:gd name="T15" fmla="*/ 0 h 1531"/>
                    <a:gd name="T16" fmla="*/ 0 w 1163"/>
                    <a:gd name="T17" fmla="*/ 0 h 1531"/>
                    <a:gd name="T18" fmla="*/ 0 w 1163"/>
                    <a:gd name="T19" fmla="*/ 0 h 1531"/>
                    <a:gd name="T20" fmla="*/ 0 w 1163"/>
                    <a:gd name="T21" fmla="*/ 0 h 1531"/>
                    <a:gd name="T22" fmla="*/ 0 w 1163"/>
                    <a:gd name="T23" fmla="*/ 0 h 1531"/>
                    <a:gd name="T24" fmla="*/ 0 w 1163"/>
                    <a:gd name="T25" fmla="*/ 0 h 1531"/>
                    <a:gd name="T26" fmla="*/ 0 w 1163"/>
                    <a:gd name="T27" fmla="*/ 0 h 1531"/>
                    <a:gd name="T28" fmla="*/ 0 w 1163"/>
                    <a:gd name="T29" fmla="*/ 0 h 1531"/>
                    <a:gd name="T30" fmla="*/ 0 w 1163"/>
                    <a:gd name="T31" fmla="*/ 0 h 1531"/>
                    <a:gd name="T32" fmla="*/ 0 w 1163"/>
                    <a:gd name="T33" fmla="*/ 0 h 1531"/>
                    <a:gd name="T34" fmla="*/ 0 w 1163"/>
                    <a:gd name="T35" fmla="*/ 0 h 1531"/>
                    <a:gd name="T36" fmla="*/ 0 w 1163"/>
                    <a:gd name="T37" fmla="*/ 0 h 1531"/>
                    <a:gd name="T38" fmla="*/ 0 w 1163"/>
                    <a:gd name="T39" fmla="*/ 0 h 1531"/>
                    <a:gd name="T40" fmla="*/ 0 w 1163"/>
                    <a:gd name="T41" fmla="*/ 0 h 1531"/>
                    <a:gd name="T42" fmla="*/ 0 w 1163"/>
                    <a:gd name="T43" fmla="*/ 0 h 1531"/>
                    <a:gd name="T44" fmla="*/ 0 w 1163"/>
                    <a:gd name="T45" fmla="*/ 0 h 1531"/>
                    <a:gd name="T46" fmla="*/ 0 w 1163"/>
                    <a:gd name="T47" fmla="*/ 0 h 1531"/>
                    <a:gd name="T48" fmla="*/ 0 w 1163"/>
                    <a:gd name="T49" fmla="*/ 0 h 1531"/>
                    <a:gd name="T50" fmla="*/ 0 w 1163"/>
                    <a:gd name="T51" fmla="*/ 0 h 1531"/>
                    <a:gd name="T52" fmla="*/ 0 w 1163"/>
                    <a:gd name="T53" fmla="*/ 0 h 1531"/>
                    <a:gd name="T54" fmla="*/ 0 w 1163"/>
                    <a:gd name="T55" fmla="*/ 0 h 1531"/>
                    <a:gd name="T56" fmla="*/ 0 w 1163"/>
                    <a:gd name="T57" fmla="*/ 0 h 1531"/>
                    <a:gd name="T58" fmla="*/ 0 w 1163"/>
                    <a:gd name="T59" fmla="*/ 0 h 1531"/>
                    <a:gd name="T60" fmla="*/ 0 w 1163"/>
                    <a:gd name="T61" fmla="*/ 0 h 1531"/>
                    <a:gd name="T62" fmla="*/ 0 w 1163"/>
                    <a:gd name="T63" fmla="*/ 0 h 1531"/>
                    <a:gd name="T64" fmla="*/ 0 w 1163"/>
                    <a:gd name="T65" fmla="*/ 0 h 1531"/>
                    <a:gd name="T66" fmla="*/ 0 w 1163"/>
                    <a:gd name="T67" fmla="*/ 0 h 1531"/>
                    <a:gd name="T68" fmla="*/ 0 w 1163"/>
                    <a:gd name="T69" fmla="*/ 0 h 1531"/>
                    <a:gd name="T70" fmla="*/ 0 w 1163"/>
                    <a:gd name="T71" fmla="*/ 0 h 1531"/>
                    <a:gd name="T72" fmla="*/ 0 w 1163"/>
                    <a:gd name="T73" fmla="*/ 0 h 1531"/>
                    <a:gd name="T74" fmla="*/ 0 w 1163"/>
                    <a:gd name="T75" fmla="*/ 0 h 1531"/>
                    <a:gd name="T76" fmla="*/ 0 w 1163"/>
                    <a:gd name="T77" fmla="*/ 0 h 1531"/>
                    <a:gd name="T78" fmla="*/ 0 w 1163"/>
                    <a:gd name="T79" fmla="*/ 0 h 1531"/>
                    <a:gd name="T80" fmla="*/ 0 w 1163"/>
                    <a:gd name="T81" fmla="*/ 0 h 1531"/>
                    <a:gd name="T82" fmla="*/ 0 w 1163"/>
                    <a:gd name="T83" fmla="*/ 0 h 1531"/>
                    <a:gd name="T84" fmla="*/ 0 w 1163"/>
                    <a:gd name="T85" fmla="*/ 0 h 1531"/>
                    <a:gd name="T86" fmla="*/ 0 w 1163"/>
                    <a:gd name="T87" fmla="*/ 0 h 1531"/>
                    <a:gd name="T88" fmla="*/ 0 w 1163"/>
                    <a:gd name="T89" fmla="*/ 0 h 1531"/>
                    <a:gd name="T90" fmla="*/ 0 w 1163"/>
                    <a:gd name="T91" fmla="*/ 0 h 1531"/>
                    <a:gd name="T92" fmla="*/ 0 w 1163"/>
                    <a:gd name="T93" fmla="*/ 0 h 1531"/>
                    <a:gd name="T94" fmla="*/ 0 w 1163"/>
                    <a:gd name="T95" fmla="*/ 0 h 1531"/>
                    <a:gd name="T96" fmla="*/ 0 w 1163"/>
                    <a:gd name="T97" fmla="*/ 0 h 1531"/>
                    <a:gd name="T98" fmla="*/ 0 w 1163"/>
                    <a:gd name="T99" fmla="*/ 0 h 1531"/>
                    <a:gd name="T100" fmla="*/ 0 w 1163"/>
                    <a:gd name="T101" fmla="*/ 0 h 1531"/>
                    <a:gd name="T102" fmla="*/ 0 w 1163"/>
                    <a:gd name="T103" fmla="*/ 0 h 1531"/>
                    <a:gd name="T104" fmla="*/ 0 w 1163"/>
                    <a:gd name="T105" fmla="*/ 0 h 1531"/>
                    <a:gd name="T106" fmla="*/ 0 w 1163"/>
                    <a:gd name="T107" fmla="*/ 0 h 1531"/>
                    <a:gd name="T108" fmla="*/ 0 w 1163"/>
                    <a:gd name="T109" fmla="*/ 0 h 1531"/>
                    <a:gd name="T110" fmla="*/ 0 w 1163"/>
                    <a:gd name="T111" fmla="*/ 0 h 1531"/>
                    <a:gd name="T112" fmla="*/ 0 w 1163"/>
                    <a:gd name="T113" fmla="*/ 0 h 1531"/>
                    <a:gd name="T114" fmla="*/ 0 w 1163"/>
                    <a:gd name="T115" fmla="*/ 0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41223" name="Freeform 94"/>
                <p:cNvSpPr>
                  <a:spLocks/>
                </p:cNvSpPr>
                <p:nvPr/>
              </p:nvSpPr>
              <p:spPr bwMode="auto">
                <a:xfrm>
                  <a:off x="3332" y="2706"/>
                  <a:ext cx="43" cy="49"/>
                </a:xfrm>
                <a:custGeom>
                  <a:avLst/>
                  <a:gdLst>
                    <a:gd name="T0" fmla="*/ 0 w 154"/>
                    <a:gd name="T1" fmla="*/ 0 h 173"/>
                    <a:gd name="T2" fmla="*/ 0 w 154"/>
                    <a:gd name="T3" fmla="*/ 0 h 173"/>
                    <a:gd name="T4" fmla="*/ 0 w 154"/>
                    <a:gd name="T5" fmla="*/ 0 h 173"/>
                    <a:gd name="T6" fmla="*/ 0 w 154"/>
                    <a:gd name="T7" fmla="*/ 0 h 173"/>
                    <a:gd name="T8" fmla="*/ 0 w 154"/>
                    <a:gd name="T9" fmla="*/ 0 h 173"/>
                    <a:gd name="T10" fmla="*/ 0 w 154"/>
                    <a:gd name="T11" fmla="*/ 0 h 173"/>
                    <a:gd name="T12" fmla="*/ 0 w 154"/>
                    <a:gd name="T13" fmla="*/ 0 h 173"/>
                    <a:gd name="T14" fmla="*/ 0 w 154"/>
                    <a:gd name="T15" fmla="*/ 0 h 173"/>
                    <a:gd name="T16" fmla="*/ 0 w 154"/>
                    <a:gd name="T17" fmla="*/ 0 h 173"/>
                    <a:gd name="T18" fmla="*/ 0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0 h 173"/>
                    <a:gd name="T40" fmla="*/ 0 w 154"/>
                    <a:gd name="T41" fmla="*/ 0 h 173"/>
                    <a:gd name="T42" fmla="*/ 0 w 154"/>
                    <a:gd name="T43" fmla="*/ 0 h 173"/>
                    <a:gd name="T44" fmla="*/ 0 w 154"/>
                    <a:gd name="T45" fmla="*/ 0 h 173"/>
                    <a:gd name="T46" fmla="*/ 0 w 154"/>
                    <a:gd name="T47" fmla="*/ 0 h 173"/>
                    <a:gd name="T48" fmla="*/ 0 w 154"/>
                    <a:gd name="T49" fmla="*/ 0 h 173"/>
                    <a:gd name="T50" fmla="*/ 0 w 154"/>
                    <a:gd name="T51" fmla="*/ 0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41191" name="Group 95"/>
            <p:cNvGrpSpPr>
              <a:grpSpLocks/>
            </p:cNvGrpSpPr>
            <p:nvPr/>
          </p:nvGrpSpPr>
          <p:grpSpPr bwMode="auto">
            <a:xfrm>
              <a:off x="2356" y="2209"/>
              <a:ext cx="1186" cy="813"/>
              <a:chOff x="463" y="1743"/>
              <a:chExt cx="1186" cy="813"/>
            </a:xfrm>
          </p:grpSpPr>
          <p:sp>
            <p:nvSpPr>
              <p:cNvPr id="41192" name="Freeform 96"/>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93" name="Freeform 97"/>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94" name="AutoShape 98"/>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195" name="AutoShape 99"/>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41196" name="Freeform 100"/>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197" name="Freeform 101"/>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198" name="Freeform 102"/>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199" name="Freeform 103"/>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00" name="Freeform 104"/>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01" name="Freeform 105"/>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02" name="Freeform 106"/>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1203" name="Freeform 107"/>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41204" name="Line 108"/>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205" name="Line 109"/>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206" name="Oval 110"/>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1207" name="Freeform 111"/>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08" name="Freeform 112"/>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09" name="Oval 113"/>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1210" name="Freeform 114"/>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11" name="Freeform 115"/>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0976" name="Rectangle 116"/>
          <p:cNvSpPr>
            <a:spLocks noChangeArrowheads="1"/>
          </p:cNvSpPr>
          <p:nvPr/>
        </p:nvSpPr>
        <p:spPr bwMode="auto">
          <a:xfrm>
            <a:off x="544513" y="3556000"/>
            <a:ext cx="2479675" cy="279876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0977" name="Text Box 117"/>
          <p:cNvSpPr txBox="1">
            <a:spLocks noChangeArrowheads="1"/>
          </p:cNvSpPr>
          <p:nvPr/>
        </p:nvSpPr>
        <p:spPr bwMode="auto">
          <a:xfrm>
            <a:off x="4149725" y="3263900"/>
            <a:ext cx="12049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claimant</a:t>
            </a:r>
          </a:p>
        </p:txBody>
      </p:sp>
      <p:grpSp>
        <p:nvGrpSpPr>
          <p:cNvPr id="40978" name="Group 118"/>
          <p:cNvGrpSpPr>
            <a:grpSpLocks/>
          </p:cNvGrpSpPr>
          <p:nvPr/>
        </p:nvGrpSpPr>
        <p:grpSpPr bwMode="auto">
          <a:xfrm>
            <a:off x="3613150" y="3673475"/>
            <a:ext cx="850900" cy="627063"/>
            <a:chOff x="2083" y="1606"/>
            <a:chExt cx="1489" cy="1097"/>
          </a:xfrm>
        </p:grpSpPr>
        <p:sp>
          <p:nvSpPr>
            <p:cNvPr id="41156" name="Rectangle 1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1157" name="Freeform 1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158" name="Freeform 1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159" name="Freeform 1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160" name="Freeform 1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161" name="Rectangle 1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1162" name="Rectangle 1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163" name="AutoShape 1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1164" name="Freeform 127"/>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165" name="Freeform 128"/>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166" name="Rectangle 1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167" name="Rectangle 1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168" name="Rectangle 1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1169" name="Group 132"/>
            <p:cNvGrpSpPr>
              <a:grpSpLocks/>
            </p:cNvGrpSpPr>
            <p:nvPr/>
          </p:nvGrpSpPr>
          <p:grpSpPr bwMode="auto">
            <a:xfrm>
              <a:off x="2221" y="1871"/>
              <a:ext cx="518" cy="782"/>
              <a:chOff x="2400" y="1656"/>
              <a:chExt cx="752" cy="1136"/>
            </a:xfrm>
          </p:grpSpPr>
          <p:sp>
            <p:nvSpPr>
              <p:cNvPr id="41182" name="Freeform 1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183" name="Freeform 1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184" name="Freeform 1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185" name="Freeform 1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186" name="Freeform 1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41187" name="Line 1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188" name="Line 1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1170" name="Group 140"/>
            <p:cNvGrpSpPr>
              <a:grpSpLocks/>
            </p:cNvGrpSpPr>
            <p:nvPr/>
          </p:nvGrpSpPr>
          <p:grpSpPr bwMode="auto">
            <a:xfrm rot="-6511945">
              <a:off x="2834" y="1842"/>
              <a:ext cx="518" cy="783"/>
              <a:chOff x="2400" y="1656"/>
              <a:chExt cx="752" cy="1136"/>
            </a:xfrm>
          </p:grpSpPr>
          <p:sp>
            <p:nvSpPr>
              <p:cNvPr id="41175" name="Freeform 1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176" name="Freeform 1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177" name="Freeform 1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178" name="Freeform 1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179" name="Freeform 1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180" name="Line 1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181" name="Line 1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1171" name="Freeform 148"/>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172" name="Freeform 149"/>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173" name="Rectangle 1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174" name="Rectangle 1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0979" name="Group 152"/>
          <p:cNvGrpSpPr>
            <a:grpSpLocks/>
          </p:cNvGrpSpPr>
          <p:nvPr/>
        </p:nvGrpSpPr>
        <p:grpSpPr bwMode="auto">
          <a:xfrm>
            <a:off x="3717925" y="5099050"/>
            <a:ext cx="641350" cy="636588"/>
            <a:chOff x="3360" y="800"/>
            <a:chExt cx="620" cy="616"/>
          </a:xfrm>
        </p:grpSpPr>
        <p:sp>
          <p:nvSpPr>
            <p:cNvPr id="41150" name="AutoShape 15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1151" name="Freeform 154"/>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1152" name="Group 155"/>
            <p:cNvGrpSpPr>
              <a:grpSpLocks/>
            </p:cNvGrpSpPr>
            <p:nvPr/>
          </p:nvGrpSpPr>
          <p:grpSpPr bwMode="auto">
            <a:xfrm flipH="1">
              <a:off x="3749" y="1171"/>
              <a:ext cx="212" cy="213"/>
              <a:chOff x="1350" y="686"/>
              <a:chExt cx="1132" cy="1132"/>
            </a:xfrm>
          </p:grpSpPr>
          <p:sp>
            <p:nvSpPr>
              <p:cNvPr id="41154" name="AutoShape 15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1155" name="Picture 15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153" name="Picture 15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980" name="Text Box 159"/>
          <p:cNvSpPr txBox="1">
            <a:spLocks noChangeArrowheads="1"/>
          </p:cNvSpPr>
          <p:nvPr/>
        </p:nvSpPr>
        <p:spPr bwMode="auto">
          <a:xfrm>
            <a:off x="3325813" y="4294188"/>
            <a:ext cx="14271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claim*</a:t>
            </a:r>
            <a:br>
              <a:rPr lang="en-US" sz="1800">
                <a:solidFill>
                  <a:schemeClr val="bg1"/>
                </a:solidFill>
              </a:rPr>
            </a:br>
            <a:r>
              <a:rPr lang="en-US" sz="1800">
                <a:solidFill>
                  <a:schemeClr val="bg1"/>
                </a:solidFill>
              </a:rPr>
              <a:t>(0)</a:t>
            </a:r>
          </a:p>
        </p:txBody>
      </p:sp>
      <p:sp>
        <p:nvSpPr>
          <p:cNvPr id="40981" name="Text Box 160"/>
          <p:cNvSpPr txBox="1">
            <a:spLocks noChangeArrowheads="1"/>
          </p:cNvSpPr>
          <p:nvPr/>
        </p:nvSpPr>
        <p:spPr bwMode="auto">
          <a:xfrm>
            <a:off x="3375025" y="5729288"/>
            <a:ext cx="13287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exposure</a:t>
            </a:r>
            <a:br>
              <a:rPr lang="en-US" sz="1800">
                <a:solidFill>
                  <a:schemeClr val="bg1"/>
                </a:solidFill>
              </a:rPr>
            </a:br>
            <a:r>
              <a:rPr lang="en-US" sz="1800">
                <a:solidFill>
                  <a:schemeClr val="bg1"/>
                </a:solidFill>
              </a:rPr>
              <a:t>(exactly 1)</a:t>
            </a:r>
          </a:p>
        </p:txBody>
      </p:sp>
      <p:grpSp>
        <p:nvGrpSpPr>
          <p:cNvPr id="40982" name="Group 161"/>
          <p:cNvGrpSpPr>
            <a:grpSpLocks/>
          </p:cNvGrpSpPr>
          <p:nvPr/>
        </p:nvGrpSpPr>
        <p:grpSpPr bwMode="auto">
          <a:xfrm>
            <a:off x="5091113" y="3675063"/>
            <a:ext cx="538162" cy="604837"/>
            <a:chOff x="2324" y="435"/>
            <a:chExt cx="933" cy="1052"/>
          </a:xfrm>
        </p:grpSpPr>
        <p:sp>
          <p:nvSpPr>
            <p:cNvPr id="41141" name="AutoShape 162"/>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1142" name="Freeform 163"/>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1143" name="Freeform 164"/>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1144" name="Freeform 165"/>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1145" name="Group 166"/>
            <p:cNvGrpSpPr>
              <a:grpSpLocks/>
            </p:cNvGrpSpPr>
            <p:nvPr/>
          </p:nvGrpSpPr>
          <p:grpSpPr bwMode="auto">
            <a:xfrm>
              <a:off x="2889" y="957"/>
              <a:ext cx="348" cy="510"/>
              <a:chOff x="2784" y="3210"/>
              <a:chExt cx="523" cy="772"/>
            </a:xfrm>
          </p:grpSpPr>
          <p:sp>
            <p:nvSpPr>
              <p:cNvPr id="41146" name="AutoShape 167"/>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1147" name="AutoShape 168"/>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1148" name="AutoShape 169"/>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1149" name="Oval 170"/>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40983" name="Text Box 171"/>
          <p:cNvSpPr txBox="1">
            <a:spLocks noChangeArrowheads="1"/>
          </p:cNvSpPr>
          <p:nvPr/>
        </p:nvSpPr>
        <p:spPr bwMode="auto">
          <a:xfrm>
            <a:off x="4889500" y="5729288"/>
            <a:ext cx="9826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incident</a:t>
            </a:r>
            <a:br>
              <a:rPr lang="en-US" sz="1800">
                <a:solidFill>
                  <a:schemeClr val="bg1"/>
                </a:solidFill>
              </a:rPr>
            </a:br>
            <a:r>
              <a:rPr lang="en-US" sz="1800">
                <a:solidFill>
                  <a:schemeClr val="bg1"/>
                </a:solidFill>
              </a:rPr>
              <a:t>(0)</a:t>
            </a:r>
          </a:p>
        </p:txBody>
      </p:sp>
      <p:sp>
        <p:nvSpPr>
          <p:cNvPr id="40984" name="Text Box 172"/>
          <p:cNvSpPr txBox="1">
            <a:spLocks noChangeArrowheads="1"/>
          </p:cNvSpPr>
          <p:nvPr/>
        </p:nvSpPr>
        <p:spPr bwMode="auto">
          <a:xfrm>
            <a:off x="4989513" y="4294188"/>
            <a:ext cx="7191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policy</a:t>
            </a:r>
            <a:br>
              <a:rPr lang="en-US" sz="1800">
                <a:solidFill>
                  <a:schemeClr val="bg1"/>
                </a:solidFill>
              </a:rPr>
            </a:br>
            <a:r>
              <a:rPr lang="en-US" sz="1800">
                <a:solidFill>
                  <a:schemeClr val="bg1"/>
                </a:solidFill>
              </a:rPr>
              <a:t>(0)</a:t>
            </a:r>
          </a:p>
        </p:txBody>
      </p:sp>
      <p:grpSp>
        <p:nvGrpSpPr>
          <p:cNvPr id="40985" name="Group 173"/>
          <p:cNvGrpSpPr>
            <a:grpSpLocks/>
          </p:cNvGrpSpPr>
          <p:nvPr/>
        </p:nvGrpSpPr>
        <p:grpSpPr bwMode="auto">
          <a:xfrm>
            <a:off x="4926013" y="5099050"/>
            <a:ext cx="900112" cy="654050"/>
            <a:chOff x="1872" y="1807"/>
            <a:chExt cx="1670" cy="1215"/>
          </a:xfrm>
        </p:grpSpPr>
        <p:grpSp>
          <p:nvGrpSpPr>
            <p:cNvPr id="41095" name="Group 174"/>
            <p:cNvGrpSpPr>
              <a:grpSpLocks/>
            </p:cNvGrpSpPr>
            <p:nvPr/>
          </p:nvGrpSpPr>
          <p:grpSpPr bwMode="auto">
            <a:xfrm>
              <a:off x="1872" y="1807"/>
              <a:ext cx="1186" cy="813"/>
              <a:chOff x="1808" y="2634"/>
              <a:chExt cx="1186" cy="813"/>
            </a:xfrm>
          </p:grpSpPr>
          <p:grpSp>
            <p:nvGrpSpPr>
              <p:cNvPr id="41132" name="Group 175"/>
              <p:cNvGrpSpPr>
                <a:grpSpLocks/>
              </p:cNvGrpSpPr>
              <p:nvPr/>
            </p:nvGrpSpPr>
            <p:grpSpPr bwMode="auto">
              <a:xfrm>
                <a:off x="1808" y="2634"/>
                <a:ext cx="1186" cy="813"/>
                <a:chOff x="1732" y="3507"/>
                <a:chExt cx="1186" cy="813"/>
              </a:xfrm>
            </p:grpSpPr>
            <p:sp>
              <p:nvSpPr>
                <p:cNvPr id="41139" name="AutoShape 176"/>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140" name="AutoShape 177"/>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1133" name="Group 178"/>
              <p:cNvGrpSpPr>
                <a:grpSpLocks/>
              </p:cNvGrpSpPr>
              <p:nvPr/>
            </p:nvGrpSpPr>
            <p:grpSpPr bwMode="auto">
              <a:xfrm>
                <a:off x="2083" y="2655"/>
                <a:ext cx="617" cy="784"/>
                <a:chOff x="2900" y="2726"/>
                <a:chExt cx="505" cy="642"/>
              </a:xfrm>
            </p:grpSpPr>
            <p:sp>
              <p:nvSpPr>
                <p:cNvPr id="41134" name="Oval 179"/>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1135" name="Freeform 180"/>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1136" name="Freeform 181"/>
                <p:cNvSpPr>
                  <a:spLocks/>
                </p:cNvSpPr>
                <p:nvPr/>
              </p:nvSpPr>
              <p:spPr bwMode="auto">
                <a:xfrm>
                  <a:off x="2900" y="3068"/>
                  <a:ext cx="409" cy="264"/>
                </a:xfrm>
                <a:custGeom>
                  <a:avLst/>
                  <a:gdLst>
                    <a:gd name="T0" fmla="*/ 1 w 559"/>
                    <a:gd name="T1" fmla="*/ 1 h 434"/>
                    <a:gd name="T2" fmla="*/ 10 w 559"/>
                    <a:gd name="T3" fmla="*/ 0 h 434"/>
                    <a:gd name="T4" fmla="*/ 9 w 559"/>
                    <a:gd name="T5" fmla="*/ 1 h 434"/>
                    <a:gd name="T6" fmla="*/ 17 w 559"/>
                    <a:gd name="T7" fmla="*/ 1 h 434"/>
                    <a:gd name="T8" fmla="*/ 22 w 559"/>
                    <a:gd name="T9" fmla="*/ 1 h 434"/>
                    <a:gd name="T10" fmla="*/ 25 w 559"/>
                    <a:gd name="T11" fmla="*/ 2 h 434"/>
                    <a:gd name="T12" fmla="*/ 23 w 559"/>
                    <a:gd name="T13" fmla="*/ 2 h 434"/>
                    <a:gd name="T14" fmla="*/ 17 w 559"/>
                    <a:gd name="T15" fmla="*/ 3 h 434"/>
                    <a:gd name="T16" fmla="*/ 10 w 559"/>
                    <a:gd name="T17" fmla="*/ 3 h 434"/>
                    <a:gd name="T18" fmla="*/ 4 w 559"/>
                    <a:gd name="T19" fmla="*/ 3 h 434"/>
                    <a:gd name="T20" fmla="*/ 1 w 559"/>
                    <a:gd name="T21" fmla="*/ 2 h 434"/>
                    <a:gd name="T22" fmla="*/ 0 w 559"/>
                    <a:gd name="T23" fmla="*/ 1 h 434"/>
                    <a:gd name="T24" fmla="*/ 1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1137" name="Freeform 182"/>
                <p:cNvSpPr>
                  <a:spLocks/>
                </p:cNvSpPr>
                <p:nvPr/>
              </p:nvSpPr>
              <p:spPr bwMode="auto">
                <a:xfrm>
                  <a:off x="3022" y="2996"/>
                  <a:ext cx="219" cy="331"/>
                </a:xfrm>
                <a:custGeom>
                  <a:avLst/>
                  <a:gdLst>
                    <a:gd name="T0" fmla="*/ 11 w 300"/>
                    <a:gd name="T1" fmla="*/ 0 h 543"/>
                    <a:gd name="T2" fmla="*/ 0 w 300"/>
                    <a:gd name="T3" fmla="*/ 4 h 543"/>
                    <a:gd name="T4" fmla="*/ 8 w 300"/>
                    <a:gd name="T5" fmla="*/ 4 h 543"/>
                    <a:gd name="T6" fmla="*/ 1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1138" name="Line 183"/>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41096" name="Group 184"/>
            <p:cNvGrpSpPr>
              <a:grpSpLocks/>
            </p:cNvGrpSpPr>
            <p:nvPr/>
          </p:nvGrpSpPr>
          <p:grpSpPr bwMode="auto">
            <a:xfrm>
              <a:off x="2114" y="2008"/>
              <a:ext cx="1186" cy="813"/>
              <a:chOff x="3182" y="2642"/>
              <a:chExt cx="1186" cy="813"/>
            </a:xfrm>
          </p:grpSpPr>
          <p:grpSp>
            <p:nvGrpSpPr>
              <p:cNvPr id="41118" name="Group 185"/>
              <p:cNvGrpSpPr>
                <a:grpSpLocks/>
              </p:cNvGrpSpPr>
              <p:nvPr/>
            </p:nvGrpSpPr>
            <p:grpSpPr bwMode="auto">
              <a:xfrm>
                <a:off x="3182" y="2642"/>
                <a:ext cx="1186" cy="813"/>
                <a:chOff x="1732" y="3507"/>
                <a:chExt cx="1186" cy="813"/>
              </a:xfrm>
            </p:grpSpPr>
            <p:sp>
              <p:nvSpPr>
                <p:cNvPr id="41130" name="AutoShape 186"/>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131" name="AutoShape 187"/>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1119" name="Group 188"/>
              <p:cNvGrpSpPr>
                <a:grpSpLocks/>
              </p:cNvGrpSpPr>
              <p:nvPr/>
            </p:nvGrpSpPr>
            <p:grpSpPr bwMode="auto">
              <a:xfrm>
                <a:off x="3309" y="2668"/>
                <a:ext cx="876" cy="739"/>
                <a:chOff x="3309" y="2668"/>
                <a:chExt cx="876" cy="739"/>
              </a:xfrm>
            </p:grpSpPr>
            <p:sp>
              <p:nvSpPr>
                <p:cNvPr id="41120" name="Freeform 189"/>
                <p:cNvSpPr>
                  <a:spLocks/>
                </p:cNvSpPr>
                <p:nvPr/>
              </p:nvSpPr>
              <p:spPr bwMode="auto">
                <a:xfrm>
                  <a:off x="3344" y="2668"/>
                  <a:ext cx="841" cy="739"/>
                </a:xfrm>
                <a:custGeom>
                  <a:avLst/>
                  <a:gdLst>
                    <a:gd name="T0" fmla="*/ 264 w 638"/>
                    <a:gd name="T1" fmla="*/ 8777 h 561"/>
                    <a:gd name="T2" fmla="*/ 264 w 638"/>
                    <a:gd name="T3" fmla="*/ 5052 h 561"/>
                    <a:gd name="T4" fmla="*/ 0 w 638"/>
                    <a:gd name="T5" fmla="*/ 4576 h 561"/>
                    <a:gd name="T6" fmla="*/ 5263 w 638"/>
                    <a:gd name="T7" fmla="*/ 95 h 561"/>
                    <a:gd name="T8" fmla="*/ 7168 w 638"/>
                    <a:gd name="T9" fmla="*/ 1888 h 561"/>
                    <a:gd name="T10" fmla="*/ 7168 w 638"/>
                    <a:gd name="T11" fmla="*/ 0 h 561"/>
                    <a:gd name="T12" fmla="*/ 8676 w 638"/>
                    <a:gd name="T13" fmla="*/ 0 h 561"/>
                    <a:gd name="T14" fmla="*/ 8676 w 638"/>
                    <a:gd name="T15" fmla="*/ 3353 h 561"/>
                    <a:gd name="T16" fmla="*/ 10108 w 638"/>
                    <a:gd name="T17" fmla="*/ 4517 h 561"/>
                    <a:gd name="T18" fmla="*/ 9594 w 638"/>
                    <a:gd name="T19" fmla="*/ 5004 h 561"/>
                    <a:gd name="T20" fmla="*/ 9594 w 638"/>
                    <a:gd name="T21" fmla="*/ 8826 h 561"/>
                    <a:gd name="T22" fmla="*/ 264 w 638"/>
                    <a:gd name="T23" fmla="*/ 8777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121" name="Rectangle 190"/>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122" name="Rectangle 191"/>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123" name="Line 192"/>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124" name="Line 193"/>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125" name="Rectangle 194"/>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126" name="Line 195"/>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127" name="Line 196"/>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128" name="Freeform 197"/>
                <p:cNvSpPr>
                  <a:spLocks/>
                </p:cNvSpPr>
                <p:nvPr/>
              </p:nvSpPr>
              <p:spPr bwMode="auto">
                <a:xfrm>
                  <a:off x="3309" y="2675"/>
                  <a:ext cx="326" cy="428"/>
                </a:xfrm>
                <a:custGeom>
                  <a:avLst/>
                  <a:gdLst>
                    <a:gd name="T0" fmla="*/ 0 w 1163"/>
                    <a:gd name="T1" fmla="*/ 0 h 1531"/>
                    <a:gd name="T2" fmla="*/ 0 w 1163"/>
                    <a:gd name="T3" fmla="*/ 0 h 1531"/>
                    <a:gd name="T4" fmla="*/ 0 w 1163"/>
                    <a:gd name="T5" fmla="*/ 0 h 1531"/>
                    <a:gd name="T6" fmla="*/ 0 w 1163"/>
                    <a:gd name="T7" fmla="*/ 0 h 1531"/>
                    <a:gd name="T8" fmla="*/ 0 w 1163"/>
                    <a:gd name="T9" fmla="*/ 0 h 1531"/>
                    <a:gd name="T10" fmla="*/ 0 w 1163"/>
                    <a:gd name="T11" fmla="*/ 0 h 1531"/>
                    <a:gd name="T12" fmla="*/ 0 w 1163"/>
                    <a:gd name="T13" fmla="*/ 0 h 1531"/>
                    <a:gd name="T14" fmla="*/ 0 w 1163"/>
                    <a:gd name="T15" fmla="*/ 0 h 1531"/>
                    <a:gd name="T16" fmla="*/ 0 w 1163"/>
                    <a:gd name="T17" fmla="*/ 0 h 1531"/>
                    <a:gd name="T18" fmla="*/ 0 w 1163"/>
                    <a:gd name="T19" fmla="*/ 0 h 1531"/>
                    <a:gd name="T20" fmla="*/ 0 w 1163"/>
                    <a:gd name="T21" fmla="*/ 0 h 1531"/>
                    <a:gd name="T22" fmla="*/ 0 w 1163"/>
                    <a:gd name="T23" fmla="*/ 0 h 1531"/>
                    <a:gd name="T24" fmla="*/ 0 w 1163"/>
                    <a:gd name="T25" fmla="*/ 0 h 1531"/>
                    <a:gd name="T26" fmla="*/ 0 w 1163"/>
                    <a:gd name="T27" fmla="*/ 0 h 1531"/>
                    <a:gd name="T28" fmla="*/ 0 w 1163"/>
                    <a:gd name="T29" fmla="*/ 0 h 1531"/>
                    <a:gd name="T30" fmla="*/ 0 w 1163"/>
                    <a:gd name="T31" fmla="*/ 0 h 1531"/>
                    <a:gd name="T32" fmla="*/ 0 w 1163"/>
                    <a:gd name="T33" fmla="*/ 0 h 1531"/>
                    <a:gd name="T34" fmla="*/ 0 w 1163"/>
                    <a:gd name="T35" fmla="*/ 0 h 1531"/>
                    <a:gd name="T36" fmla="*/ 0 w 1163"/>
                    <a:gd name="T37" fmla="*/ 0 h 1531"/>
                    <a:gd name="T38" fmla="*/ 0 w 1163"/>
                    <a:gd name="T39" fmla="*/ 0 h 1531"/>
                    <a:gd name="T40" fmla="*/ 0 w 1163"/>
                    <a:gd name="T41" fmla="*/ 0 h 1531"/>
                    <a:gd name="T42" fmla="*/ 0 w 1163"/>
                    <a:gd name="T43" fmla="*/ 0 h 1531"/>
                    <a:gd name="T44" fmla="*/ 0 w 1163"/>
                    <a:gd name="T45" fmla="*/ 0 h 1531"/>
                    <a:gd name="T46" fmla="*/ 0 w 1163"/>
                    <a:gd name="T47" fmla="*/ 0 h 1531"/>
                    <a:gd name="T48" fmla="*/ 0 w 1163"/>
                    <a:gd name="T49" fmla="*/ 0 h 1531"/>
                    <a:gd name="T50" fmla="*/ 0 w 1163"/>
                    <a:gd name="T51" fmla="*/ 0 h 1531"/>
                    <a:gd name="T52" fmla="*/ 0 w 1163"/>
                    <a:gd name="T53" fmla="*/ 0 h 1531"/>
                    <a:gd name="T54" fmla="*/ 0 w 1163"/>
                    <a:gd name="T55" fmla="*/ 0 h 1531"/>
                    <a:gd name="T56" fmla="*/ 0 w 1163"/>
                    <a:gd name="T57" fmla="*/ 0 h 1531"/>
                    <a:gd name="T58" fmla="*/ 0 w 1163"/>
                    <a:gd name="T59" fmla="*/ 0 h 1531"/>
                    <a:gd name="T60" fmla="*/ 0 w 1163"/>
                    <a:gd name="T61" fmla="*/ 0 h 1531"/>
                    <a:gd name="T62" fmla="*/ 0 w 1163"/>
                    <a:gd name="T63" fmla="*/ 0 h 1531"/>
                    <a:gd name="T64" fmla="*/ 0 w 1163"/>
                    <a:gd name="T65" fmla="*/ 0 h 1531"/>
                    <a:gd name="T66" fmla="*/ 0 w 1163"/>
                    <a:gd name="T67" fmla="*/ 0 h 1531"/>
                    <a:gd name="T68" fmla="*/ 0 w 1163"/>
                    <a:gd name="T69" fmla="*/ 0 h 1531"/>
                    <a:gd name="T70" fmla="*/ 0 w 1163"/>
                    <a:gd name="T71" fmla="*/ 0 h 1531"/>
                    <a:gd name="T72" fmla="*/ 0 w 1163"/>
                    <a:gd name="T73" fmla="*/ 0 h 1531"/>
                    <a:gd name="T74" fmla="*/ 0 w 1163"/>
                    <a:gd name="T75" fmla="*/ 0 h 1531"/>
                    <a:gd name="T76" fmla="*/ 0 w 1163"/>
                    <a:gd name="T77" fmla="*/ 0 h 1531"/>
                    <a:gd name="T78" fmla="*/ 0 w 1163"/>
                    <a:gd name="T79" fmla="*/ 0 h 1531"/>
                    <a:gd name="T80" fmla="*/ 0 w 1163"/>
                    <a:gd name="T81" fmla="*/ 0 h 1531"/>
                    <a:gd name="T82" fmla="*/ 0 w 1163"/>
                    <a:gd name="T83" fmla="*/ 0 h 1531"/>
                    <a:gd name="T84" fmla="*/ 0 w 1163"/>
                    <a:gd name="T85" fmla="*/ 0 h 1531"/>
                    <a:gd name="T86" fmla="*/ 0 w 1163"/>
                    <a:gd name="T87" fmla="*/ 0 h 1531"/>
                    <a:gd name="T88" fmla="*/ 0 w 1163"/>
                    <a:gd name="T89" fmla="*/ 0 h 1531"/>
                    <a:gd name="T90" fmla="*/ 0 w 1163"/>
                    <a:gd name="T91" fmla="*/ 0 h 1531"/>
                    <a:gd name="T92" fmla="*/ 0 w 1163"/>
                    <a:gd name="T93" fmla="*/ 0 h 1531"/>
                    <a:gd name="T94" fmla="*/ 0 w 1163"/>
                    <a:gd name="T95" fmla="*/ 0 h 1531"/>
                    <a:gd name="T96" fmla="*/ 0 w 1163"/>
                    <a:gd name="T97" fmla="*/ 0 h 1531"/>
                    <a:gd name="T98" fmla="*/ 0 w 1163"/>
                    <a:gd name="T99" fmla="*/ 0 h 1531"/>
                    <a:gd name="T100" fmla="*/ 0 w 1163"/>
                    <a:gd name="T101" fmla="*/ 0 h 1531"/>
                    <a:gd name="T102" fmla="*/ 0 w 1163"/>
                    <a:gd name="T103" fmla="*/ 0 h 1531"/>
                    <a:gd name="T104" fmla="*/ 0 w 1163"/>
                    <a:gd name="T105" fmla="*/ 0 h 1531"/>
                    <a:gd name="T106" fmla="*/ 0 w 1163"/>
                    <a:gd name="T107" fmla="*/ 0 h 1531"/>
                    <a:gd name="T108" fmla="*/ 0 w 1163"/>
                    <a:gd name="T109" fmla="*/ 0 h 1531"/>
                    <a:gd name="T110" fmla="*/ 0 w 1163"/>
                    <a:gd name="T111" fmla="*/ 0 h 1531"/>
                    <a:gd name="T112" fmla="*/ 0 w 1163"/>
                    <a:gd name="T113" fmla="*/ 0 h 1531"/>
                    <a:gd name="T114" fmla="*/ 0 w 1163"/>
                    <a:gd name="T115" fmla="*/ 0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41129" name="Freeform 198"/>
                <p:cNvSpPr>
                  <a:spLocks/>
                </p:cNvSpPr>
                <p:nvPr/>
              </p:nvSpPr>
              <p:spPr bwMode="auto">
                <a:xfrm>
                  <a:off x="3332" y="2706"/>
                  <a:ext cx="43" cy="49"/>
                </a:xfrm>
                <a:custGeom>
                  <a:avLst/>
                  <a:gdLst>
                    <a:gd name="T0" fmla="*/ 0 w 154"/>
                    <a:gd name="T1" fmla="*/ 0 h 173"/>
                    <a:gd name="T2" fmla="*/ 0 w 154"/>
                    <a:gd name="T3" fmla="*/ 0 h 173"/>
                    <a:gd name="T4" fmla="*/ 0 w 154"/>
                    <a:gd name="T5" fmla="*/ 0 h 173"/>
                    <a:gd name="T6" fmla="*/ 0 w 154"/>
                    <a:gd name="T7" fmla="*/ 0 h 173"/>
                    <a:gd name="T8" fmla="*/ 0 w 154"/>
                    <a:gd name="T9" fmla="*/ 0 h 173"/>
                    <a:gd name="T10" fmla="*/ 0 w 154"/>
                    <a:gd name="T11" fmla="*/ 0 h 173"/>
                    <a:gd name="T12" fmla="*/ 0 w 154"/>
                    <a:gd name="T13" fmla="*/ 0 h 173"/>
                    <a:gd name="T14" fmla="*/ 0 w 154"/>
                    <a:gd name="T15" fmla="*/ 0 h 173"/>
                    <a:gd name="T16" fmla="*/ 0 w 154"/>
                    <a:gd name="T17" fmla="*/ 0 h 173"/>
                    <a:gd name="T18" fmla="*/ 0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0 h 173"/>
                    <a:gd name="T40" fmla="*/ 0 w 154"/>
                    <a:gd name="T41" fmla="*/ 0 h 173"/>
                    <a:gd name="T42" fmla="*/ 0 w 154"/>
                    <a:gd name="T43" fmla="*/ 0 h 173"/>
                    <a:gd name="T44" fmla="*/ 0 w 154"/>
                    <a:gd name="T45" fmla="*/ 0 h 173"/>
                    <a:gd name="T46" fmla="*/ 0 w 154"/>
                    <a:gd name="T47" fmla="*/ 0 h 173"/>
                    <a:gd name="T48" fmla="*/ 0 w 154"/>
                    <a:gd name="T49" fmla="*/ 0 h 173"/>
                    <a:gd name="T50" fmla="*/ 0 w 154"/>
                    <a:gd name="T51" fmla="*/ 0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41097" name="Group 199"/>
            <p:cNvGrpSpPr>
              <a:grpSpLocks/>
            </p:cNvGrpSpPr>
            <p:nvPr/>
          </p:nvGrpSpPr>
          <p:grpSpPr bwMode="auto">
            <a:xfrm>
              <a:off x="2356" y="2209"/>
              <a:ext cx="1186" cy="813"/>
              <a:chOff x="463" y="1743"/>
              <a:chExt cx="1186" cy="813"/>
            </a:xfrm>
          </p:grpSpPr>
          <p:sp>
            <p:nvSpPr>
              <p:cNvPr id="41098" name="Freeform 200"/>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99" name="Freeform 201"/>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00" name="AutoShape 202"/>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101" name="AutoShape 203"/>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41102" name="Freeform 204"/>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103" name="Freeform 205"/>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104" name="Freeform 206"/>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105" name="Freeform 207"/>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06" name="Freeform 208"/>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07" name="Freeform 209"/>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08" name="Freeform 210"/>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1109" name="Freeform 211"/>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41110" name="Line 212"/>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111" name="Line 213"/>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112" name="Oval 214"/>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1113" name="Freeform 215"/>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14" name="Freeform 216"/>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15" name="Oval 217"/>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1116" name="Freeform 218"/>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17" name="Freeform 219"/>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0986" name="Rectangle 220"/>
          <p:cNvSpPr>
            <a:spLocks noChangeArrowheads="1"/>
          </p:cNvSpPr>
          <p:nvPr/>
        </p:nvSpPr>
        <p:spPr bwMode="auto">
          <a:xfrm>
            <a:off x="3444875" y="3557588"/>
            <a:ext cx="2479675" cy="2798762"/>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0987" name="Text Box 221"/>
          <p:cNvSpPr txBox="1">
            <a:spLocks noChangeArrowheads="1"/>
          </p:cNvSpPr>
          <p:nvPr/>
        </p:nvSpPr>
        <p:spPr bwMode="auto">
          <a:xfrm>
            <a:off x="7050088" y="3260725"/>
            <a:ext cx="12049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driver</a:t>
            </a:r>
          </a:p>
        </p:txBody>
      </p:sp>
      <p:grpSp>
        <p:nvGrpSpPr>
          <p:cNvPr id="40988" name="Group 222"/>
          <p:cNvGrpSpPr>
            <a:grpSpLocks/>
          </p:cNvGrpSpPr>
          <p:nvPr/>
        </p:nvGrpSpPr>
        <p:grpSpPr bwMode="auto">
          <a:xfrm>
            <a:off x="6427788" y="3670300"/>
            <a:ext cx="850900" cy="627063"/>
            <a:chOff x="2083" y="1606"/>
            <a:chExt cx="1489" cy="1097"/>
          </a:xfrm>
        </p:grpSpPr>
        <p:sp>
          <p:nvSpPr>
            <p:cNvPr id="41062" name="Rectangle 22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1063" name="Freeform 22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064" name="Freeform 22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065" name="Freeform 22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066" name="Freeform 22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067" name="Rectangle 22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1068" name="Rectangle 22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69" name="AutoShape 23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1070" name="Freeform 231"/>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071" name="Freeform 232"/>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072" name="Rectangle 23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73" name="Rectangle 23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74" name="Rectangle 23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1075" name="Group 236"/>
            <p:cNvGrpSpPr>
              <a:grpSpLocks/>
            </p:cNvGrpSpPr>
            <p:nvPr/>
          </p:nvGrpSpPr>
          <p:grpSpPr bwMode="auto">
            <a:xfrm>
              <a:off x="2221" y="1871"/>
              <a:ext cx="518" cy="782"/>
              <a:chOff x="2400" y="1656"/>
              <a:chExt cx="752" cy="1136"/>
            </a:xfrm>
          </p:grpSpPr>
          <p:sp>
            <p:nvSpPr>
              <p:cNvPr id="41088" name="Freeform 2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089" name="Freeform 2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090" name="Freeform 2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091" name="Freeform 2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092" name="Freeform 2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41093" name="Line 2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94" name="Line 2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1076" name="Group 244"/>
            <p:cNvGrpSpPr>
              <a:grpSpLocks/>
            </p:cNvGrpSpPr>
            <p:nvPr/>
          </p:nvGrpSpPr>
          <p:grpSpPr bwMode="auto">
            <a:xfrm rot="-6511945">
              <a:off x="2834" y="1842"/>
              <a:ext cx="518" cy="783"/>
              <a:chOff x="2400" y="1656"/>
              <a:chExt cx="752" cy="1136"/>
            </a:xfrm>
          </p:grpSpPr>
          <p:sp>
            <p:nvSpPr>
              <p:cNvPr id="41081" name="Freeform 24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082" name="Freeform 24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083" name="Freeform 24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084" name="Freeform 24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085" name="Freeform 24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1086" name="Line 25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087" name="Line 25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1077" name="Freeform 252"/>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078" name="Freeform 253"/>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1079" name="Rectangle 25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80" name="Rectangle 25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0989" name="Group 256"/>
          <p:cNvGrpSpPr>
            <a:grpSpLocks/>
          </p:cNvGrpSpPr>
          <p:nvPr/>
        </p:nvGrpSpPr>
        <p:grpSpPr bwMode="auto">
          <a:xfrm>
            <a:off x="7364413" y="3667125"/>
            <a:ext cx="641350" cy="636588"/>
            <a:chOff x="3360" y="800"/>
            <a:chExt cx="620" cy="616"/>
          </a:xfrm>
        </p:grpSpPr>
        <p:sp>
          <p:nvSpPr>
            <p:cNvPr id="41056" name="AutoShape 25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1057" name="Freeform 258"/>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1058" name="Group 259"/>
            <p:cNvGrpSpPr>
              <a:grpSpLocks/>
            </p:cNvGrpSpPr>
            <p:nvPr/>
          </p:nvGrpSpPr>
          <p:grpSpPr bwMode="auto">
            <a:xfrm flipH="1">
              <a:off x="3749" y="1171"/>
              <a:ext cx="212" cy="213"/>
              <a:chOff x="1350" y="686"/>
              <a:chExt cx="1132" cy="1132"/>
            </a:xfrm>
          </p:grpSpPr>
          <p:sp>
            <p:nvSpPr>
              <p:cNvPr id="41060" name="AutoShape 26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1061" name="Picture 26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59" name="Picture 26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0990" name="Group 263"/>
          <p:cNvGrpSpPr>
            <a:grpSpLocks/>
          </p:cNvGrpSpPr>
          <p:nvPr/>
        </p:nvGrpSpPr>
        <p:grpSpPr bwMode="auto">
          <a:xfrm>
            <a:off x="8118475" y="3673475"/>
            <a:ext cx="538163" cy="604838"/>
            <a:chOff x="2324" y="435"/>
            <a:chExt cx="933" cy="1052"/>
          </a:xfrm>
        </p:grpSpPr>
        <p:sp>
          <p:nvSpPr>
            <p:cNvPr id="41047" name="AutoShape 264"/>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1048" name="Freeform 265"/>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1049" name="Freeform 266"/>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1050" name="Freeform 267"/>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1051" name="Group 268"/>
            <p:cNvGrpSpPr>
              <a:grpSpLocks/>
            </p:cNvGrpSpPr>
            <p:nvPr/>
          </p:nvGrpSpPr>
          <p:grpSpPr bwMode="auto">
            <a:xfrm>
              <a:off x="2889" y="957"/>
              <a:ext cx="348" cy="510"/>
              <a:chOff x="2784" y="3210"/>
              <a:chExt cx="523" cy="772"/>
            </a:xfrm>
          </p:grpSpPr>
          <p:sp>
            <p:nvSpPr>
              <p:cNvPr id="41052" name="AutoShape 269"/>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1053" name="AutoShape 270"/>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1054" name="AutoShape 271"/>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1055" name="Oval 272"/>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40991" name="Text Box 273"/>
          <p:cNvSpPr txBox="1">
            <a:spLocks noChangeArrowheads="1"/>
          </p:cNvSpPr>
          <p:nvPr/>
        </p:nvSpPr>
        <p:spPr bwMode="auto">
          <a:xfrm>
            <a:off x="7546975" y="5726113"/>
            <a:ext cx="1174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vehicle in.</a:t>
            </a:r>
            <a:br>
              <a:rPr lang="en-US" sz="1800">
                <a:solidFill>
                  <a:schemeClr val="bg1"/>
                </a:solidFill>
              </a:rPr>
            </a:br>
            <a:r>
              <a:rPr lang="en-US" sz="1800">
                <a:solidFill>
                  <a:schemeClr val="bg1"/>
                </a:solidFill>
              </a:rPr>
              <a:t>(up to 1)</a:t>
            </a:r>
          </a:p>
        </p:txBody>
      </p:sp>
      <p:sp>
        <p:nvSpPr>
          <p:cNvPr id="40992" name="Text Box 274"/>
          <p:cNvSpPr txBox="1">
            <a:spLocks noChangeArrowheads="1"/>
          </p:cNvSpPr>
          <p:nvPr/>
        </p:nvSpPr>
        <p:spPr bwMode="auto">
          <a:xfrm>
            <a:off x="6335713" y="4640263"/>
            <a:ext cx="247967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eaLnBrk="1" hangingPunct="1"/>
            <a:r>
              <a:rPr lang="en-US" sz="1800">
                <a:solidFill>
                  <a:schemeClr val="bg1"/>
                </a:solidFill>
              </a:rPr>
              <a:t>claim, exp., policy, injury in., property in.</a:t>
            </a:r>
            <a:br>
              <a:rPr lang="en-US" sz="1800">
                <a:solidFill>
                  <a:schemeClr val="bg1"/>
                </a:solidFill>
              </a:rPr>
            </a:br>
            <a:r>
              <a:rPr lang="en-US" sz="1800">
                <a:solidFill>
                  <a:schemeClr val="bg1"/>
                </a:solidFill>
              </a:rPr>
              <a:t>(0)</a:t>
            </a:r>
          </a:p>
        </p:txBody>
      </p:sp>
      <p:sp>
        <p:nvSpPr>
          <p:cNvPr id="40993" name="Rectangle 275"/>
          <p:cNvSpPr>
            <a:spLocks noChangeArrowheads="1"/>
          </p:cNvSpPr>
          <p:nvPr/>
        </p:nvSpPr>
        <p:spPr bwMode="auto">
          <a:xfrm>
            <a:off x="6345238" y="3554413"/>
            <a:ext cx="2479675" cy="2798762"/>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nvGrpSpPr>
          <p:cNvPr id="40994" name="Group 276"/>
          <p:cNvGrpSpPr>
            <a:grpSpLocks/>
          </p:cNvGrpSpPr>
          <p:nvPr/>
        </p:nvGrpSpPr>
        <p:grpSpPr bwMode="auto">
          <a:xfrm>
            <a:off x="6688138" y="4041775"/>
            <a:ext cx="839787" cy="574675"/>
            <a:chOff x="1808" y="2634"/>
            <a:chExt cx="1186" cy="813"/>
          </a:xfrm>
        </p:grpSpPr>
        <p:grpSp>
          <p:nvGrpSpPr>
            <p:cNvPr id="41038" name="Group 277"/>
            <p:cNvGrpSpPr>
              <a:grpSpLocks/>
            </p:cNvGrpSpPr>
            <p:nvPr/>
          </p:nvGrpSpPr>
          <p:grpSpPr bwMode="auto">
            <a:xfrm>
              <a:off x="1808" y="2634"/>
              <a:ext cx="1186" cy="813"/>
              <a:chOff x="1732" y="3507"/>
              <a:chExt cx="1186" cy="813"/>
            </a:xfrm>
          </p:grpSpPr>
          <p:sp>
            <p:nvSpPr>
              <p:cNvPr id="41045" name="AutoShape 278"/>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046" name="AutoShape 279"/>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1039" name="Group 280"/>
            <p:cNvGrpSpPr>
              <a:grpSpLocks/>
            </p:cNvGrpSpPr>
            <p:nvPr/>
          </p:nvGrpSpPr>
          <p:grpSpPr bwMode="auto">
            <a:xfrm>
              <a:off x="2083" y="2655"/>
              <a:ext cx="617" cy="784"/>
              <a:chOff x="2900" y="2726"/>
              <a:chExt cx="505" cy="642"/>
            </a:xfrm>
          </p:grpSpPr>
          <p:sp>
            <p:nvSpPr>
              <p:cNvPr id="41040" name="Oval 281"/>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1041" name="Freeform 282"/>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1042" name="Freeform 283"/>
              <p:cNvSpPr>
                <a:spLocks/>
              </p:cNvSpPr>
              <p:nvPr/>
            </p:nvSpPr>
            <p:spPr bwMode="auto">
              <a:xfrm>
                <a:off x="2900" y="3068"/>
                <a:ext cx="409" cy="264"/>
              </a:xfrm>
              <a:custGeom>
                <a:avLst/>
                <a:gdLst>
                  <a:gd name="T0" fmla="*/ 1 w 559"/>
                  <a:gd name="T1" fmla="*/ 1 h 434"/>
                  <a:gd name="T2" fmla="*/ 10 w 559"/>
                  <a:gd name="T3" fmla="*/ 0 h 434"/>
                  <a:gd name="T4" fmla="*/ 9 w 559"/>
                  <a:gd name="T5" fmla="*/ 1 h 434"/>
                  <a:gd name="T6" fmla="*/ 17 w 559"/>
                  <a:gd name="T7" fmla="*/ 1 h 434"/>
                  <a:gd name="T8" fmla="*/ 22 w 559"/>
                  <a:gd name="T9" fmla="*/ 1 h 434"/>
                  <a:gd name="T10" fmla="*/ 25 w 559"/>
                  <a:gd name="T11" fmla="*/ 2 h 434"/>
                  <a:gd name="T12" fmla="*/ 23 w 559"/>
                  <a:gd name="T13" fmla="*/ 2 h 434"/>
                  <a:gd name="T14" fmla="*/ 17 w 559"/>
                  <a:gd name="T15" fmla="*/ 3 h 434"/>
                  <a:gd name="T16" fmla="*/ 10 w 559"/>
                  <a:gd name="T17" fmla="*/ 3 h 434"/>
                  <a:gd name="T18" fmla="*/ 4 w 559"/>
                  <a:gd name="T19" fmla="*/ 3 h 434"/>
                  <a:gd name="T20" fmla="*/ 1 w 559"/>
                  <a:gd name="T21" fmla="*/ 2 h 434"/>
                  <a:gd name="T22" fmla="*/ 0 w 559"/>
                  <a:gd name="T23" fmla="*/ 1 h 434"/>
                  <a:gd name="T24" fmla="*/ 1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1043" name="Freeform 284"/>
              <p:cNvSpPr>
                <a:spLocks/>
              </p:cNvSpPr>
              <p:nvPr/>
            </p:nvSpPr>
            <p:spPr bwMode="auto">
              <a:xfrm>
                <a:off x="3022" y="2996"/>
                <a:ext cx="219" cy="331"/>
              </a:xfrm>
              <a:custGeom>
                <a:avLst/>
                <a:gdLst>
                  <a:gd name="T0" fmla="*/ 11 w 300"/>
                  <a:gd name="T1" fmla="*/ 0 h 543"/>
                  <a:gd name="T2" fmla="*/ 0 w 300"/>
                  <a:gd name="T3" fmla="*/ 4 h 543"/>
                  <a:gd name="T4" fmla="*/ 8 w 300"/>
                  <a:gd name="T5" fmla="*/ 4 h 543"/>
                  <a:gd name="T6" fmla="*/ 1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1044" name="Line 285"/>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40995" name="Group 286"/>
          <p:cNvGrpSpPr>
            <a:grpSpLocks/>
          </p:cNvGrpSpPr>
          <p:nvPr/>
        </p:nvGrpSpPr>
        <p:grpSpPr bwMode="auto">
          <a:xfrm>
            <a:off x="7670800" y="4068763"/>
            <a:ext cx="796925" cy="546100"/>
            <a:chOff x="3182" y="2642"/>
            <a:chExt cx="1186" cy="813"/>
          </a:xfrm>
        </p:grpSpPr>
        <p:grpSp>
          <p:nvGrpSpPr>
            <p:cNvPr id="41024" name="Group 287"/>
            <p:cNvGrpSpPr>
              <a:grpSpLocks/>
            </p:cNvGrpSpPr>
            <p:nvPr/>
          </p:nvGrpSpPr>
          <p:grpSpPr bwMode="auto">
            <a:xfrm>
              <a:off x="3182" y="2642"/>
              <a:ext cx="1186" cy="813"/>
              <a:chOff x="1732" y="3507"/>
              <a:chExt cx="1186" cy="813"/>
            </a:xfrm>
          </p:grpSpPr>
          <p:sp>
            <p:nvSpPr>
              <p:cNvPr id="41036" name="AutoShape 288"/>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037" name="AutoShape 289"/>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1025" name="Group 290"/>
            <p:cNvGrpSpPr>
              <a:grpSpLocks/>
            </p:cNvGrpSpPr>
            <p:nvPr/>
          </p:nvGrpSpPr>
          <p:grpSpPr bwMode="auto">
            <a:xfrm>
              <a:off x="3309" y="2668"/>
              <a:ext cx="876" cy="739"/>
              <a:chOff x="3309" y="2668"/>
              <a:chExt cx="876" cy="739"/>
            </a:xfrm>
          </p:grpSpPr>
          <p:sp>
            <p:nvSpPr>
              <p:cNvPr id="41026" name="Freeform 291"/>
              <p:cNvSpPr>
                <a:spLocks/>
              </p:cNvSpPr>
              <p:nvPr/>
            </p:nvSpPr>
            <p:spPr bwMode="auto">
              <a:xfrm>
                <a:off x="3344" y="2668"/>
                <a:ext cx="841" cy="739"/>
              </a:xfrm>
              <a:custGeom>
                <a:avLst/>
                <a:gdLst>
                  <a:gd name="T0" fmla="*/ 264 w 638"/>
                  <a:gd name="T1" fmla="*/ 8777 h 561"/>
                  <a:gd name="T2" fmla="*/ 264 w 638"/>
                  <a:gd name="T3" fmla="*/ 5052 h 561"/>
                  <a:gd name="T4" fmla="*/ 0 w 638"/>
                  <a:gd name="T5" fmla="*/ 4576 h 561"/>
                  <a:gd name="T6" fmla="*/ 5263 w 638"/>
                  <a:gd name="T7" fmla="*/ 95 h 561"/>
                  <a:gd name="T8" fmla="*/ 7168 w 638"/>
                  <a:gd name="T9" fmla="*/ 1888 h 561"/>
                  <a:gd name="T10" fmla="*/ 7168 w 638"/>
                  <a:gd name="T11" fmla="*/ 0 h 561"/>
                  <a:gd name="T12" fmla="*/ 8676 w 638"/>
                  <a:gd name="T13" fmla="*/ 0 h 561"/>
                  <a:gd name="T14" fmla="*/ 8676 w 638"/>
                  <a:gd name="T15" fmla="*/ 3353 h 561"/>
                  <a:gd name="T16" fmla="*/ 10108 w 638"/>
                  <a:gd name="T17" fmla="*/ 4517 h 561"/>
                  <a:gd name="T18" fmla="*/ 9594 w 638"/>
                  <a:gd name="T19" fmla="*/ 5004 h 561"/>
                  <a:gd name="T20" fmla="*/ 9594 w 638"/>
                  <a:gd name="T21" fmla="*/ 8826 h 561"/>
                  <a:gd name="T22" fmla="*/ 264 w 638"/>
                  <a:gd name="T23" fmla="*/ 8777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027" name="Rectangle 292"/>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41028" name="Rectangle 293"/>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029" name="Line 294"/>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030" name="Line 295"/>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31" name="Rectangle 296"/>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032" name="Line 297"/>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033" name="Line 298"/>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34" name="Freeform 299"/>
              <p:cNvSpPr>
                <a:spLocks/>
              </p:cNvSpPr>
              <p:nvPr/>
            </p:nvSpPr>
            <p:spPr bwMode="auto">
              <a:xfrm>
                <a:off x="3309" y="2675"/>
                <a:ext cx="326" cy="428"/>
              </a:xfrm>
              <a:custGeom>
                <a:avLst/>
                <a:gdLst>
                  <a:gd name="T0" fmla="*/ 0 w 1163"/>
                  <a:gd name="T1" fmla="*/ 0 h 1531"/>
                  <a:gd name="T2" fmla="*/ 0 w 1163"/>
                  <a:gd name="T3" fmla="*/ 0 h 1531"/>
                  <a:gd name="T4" fmla="*/ 0 w 1163"/>
                  <a:gd name="T5" fmla="*/ 0 h 1531"/>
                  <a:gd name="T6" fmla="*/ 0 w 1163"/>
                  <a:gd name="T7" fmla="*/ 0 h 1531"/>
                  <a:gd name="T8" fmla="*/ 0 w 1163"/>
                  <a:gd name="T9" fmla="*/ 0 h 1531"/>
                  <a:gd name="T10" fmla="*/ 0 w 1163"/>
                  <a:gd name="T11" fmla="*/ 0 h 1531"/>
                  <a:gd name="T12" fmla="*/ 0 w 1163"/>
                  <a:gd name="T13" fmla="*/ 0 h 1531"/>
                  <a:gd name="T14" fmla="*/ 0 w 1163"/>
                  <a:gd name="T15" fmla="*/ 0 h 1531"/>
                  <a:gd name="T16" fmla="*/ 0 w 1163"/>
                  <a:gd name="T17" fmla="*/ 0 h 1531"/>
                  <a:gd name="T18" fmla="*/ 0 w 1163"/>
                  <a:gd name="T19" fmla="*/ 0 h 1531"/>
                  <a:gd name="T20" fmla="*/ 0 w 1163"/>
                  <a:gd name="T21" fmla="*/ 0 h 1531"/>
                  <a:gd name="T22" fmla="*/ 0 w 1163"/>
                  <a:gd name="T23" fmla="*/ 0 h 1531"/>
                  <a:gd name="T24" fmla="*/ 0 w 1163"/>
                  <a:gd name="T25" fmla="*/ 0 h 1531"/>
                  <a:gd name="T26" fmla="*/ 0 w 1163"/>
                  <a:gd name="T27" fmla="*/ 0 h 1531"/>
                  <a:gd name="T28" fmla="*/ 0 w 1163"/>
                  <a:gd name="T29" fmla="*/ 0 h 1531"/>
                  <a:gd name="T30" fmla="*/ 0 w 1163"/>
                  <a:gd name="T31" fmla="*/ 0 h 1531"/>
                  <a:gd name="T32" fmla="*/ 0 w 1163"/>
                  <a:gd name="T33" fmla="*/ 0 h 1531"/>
                  <a:gd name="T34" fmla="*/ 0 w 1163"/>
                  <a:gd name="T35" fmla="*/ 0 h 1531"/>
                  <a:gd name="T36" fmla="*/ 0 w 1163"/>
                  <a:gd name="T37" fmla="*/ 0 h 1531"/>
                  <a:gd name="T38" fmla="*/ 0 w 1163"/>
                  <a:gd name="T39" fmla="*/ 0 h 1531"/>
                  <a:gd name="T40" fmla="*/ 0 w 1163"/>
                  <a:gd name="T41" fmla="*/ 0 h 1531"/>
                  <a:gd name="T42" fmla="*/ 0 w 1163"/>
                  <a:gd name="T43" fmla="*/ 0 h 1531"/>
                  <a:gd name="T44" fmla="*/ 0 w 1163"/>
                  <a:gd name="T45" fmla="*/ 0 h 1531"/>
                  <a:gd name="T46" fmla="*/ 0 w 1163"/>
                  <a:gd name="T47" fmla="*/ 0 h 1531"/>
                  <a:gd name="T48" fmla="*/ 0 w 1163"/>
                  <a:gd name="T49" fmla="*/ 0 h 1531"/>
                  <a:gd name="T50" fmla="*/ 0 w 1163"/>
                  <a:gd name="T51" fmla="*/ 0 h 1531"/>
                  <a:gd name="T52" fmla="*/ 0 w 1163"/>
                  <a:gd name="T53" fmla="*/ 0 h 1531"/>
                  <a:gd name="T54" fmla="*/ 0 w 1163"/>
                  <a:gd name="T55" fmla="*/ 0 h 1531"/>
                  <a:gd name="T56" fmla="*/ 0 w 1163"/>
                  <a:gd name="T57" fmla="*/ 0 h 1531"/>
                  <a:gd name="T58" fmla="*/ 0 w 1163"/>
                  <a:gd name="T59" fmla="*/ 0 h 1531"/>
                  <a:gd name="T60" fmla="*/ 0 w 1163"/>
                  <a:gd name="T61" fmla="*/ 0 h 1531"/>
                  <a:gd name="T62" fmla="*/ 0 w 1163"/>
                  <a:gd name="T63" fmla="*/ 0 h 1531"/>
                  <a:gd name="T64" fmla="*/ 0 w 1163"/>
                  <a:gd name="T65" fmla="*/ 0 h 1531"/>
                  <a:gd name="T66" fmla="*/ 0 w 1163"/>
                  <a:gd name="T67" fmla="*/ 0 h 1531"/>
                  <a:gd name="T68" fmla="*/ 0 w 1163"/>
                  <a:gd name="T69" fmla="*/ 0 h 1531"/>
                  <a:gd name="T70" fmla="*/ 0 w 1163"/>
                  <a:gd name="T71" fmla="*/ 0 h 1531"/>
                  <a:gd name="T72" fmla="*/ 0 w 1163"/>
                  <a:gd name="T73" fmla="*/ 0 h 1531"/>
                  <a:gd name="T74" fmla="*/ 0 w 1163"/>
                  <a:gd name="T75" fmla="*/ 0 h 1531"/>
                  <a:gd name="T76" fmla="*/ 0 w 1163"/>
                  <a:gd name="T77" fmla="*/ 0 h 1531"/>
                  <a:gd name="T78" fmla="*/ 0 w 1163"/>
                  <a:gd name="T79" fmla="*/ 0 h 1531"/>
                  <a:gd name="T80" fmla="*/ 0 w 1163"/>
                  <a:gd name="T81" fmla="*/ 0 h 1531"/>
                  <a:gd name="T82" fmla="*/ 0 w 1163"/>
                  <a:gd name="T83" fmla="*/ 0 h 1531"/>
                  <a:gd name="T84" fmla="*/ 0 w 1163"/>
                  <a:gd name="T85" fmla="*/ 0 h 1531"/>
                  <a:gd name="T86" fmla="*/ 0 w 1163"/>
                  <a:gd name="T87" fmla="*/ 0 h 1531"/>
                  <a:gd name="T88" fmla="*/ 0 w 1163"/>
                  <a:gd name="T89" fmla="*/ 0 h 1531"/>
                  <a:gd name="T90" fmla="*/ 0 w 1163"/>
                  <a:gd name="T91" fmla="*/ 0 h 1531"/>
                  <a:gd name="T92" fmla="*/ 0 w 1163"/>
                  <a:gd name="T93" fmla="*/ 0 h 1531"/>
                  <a:gd name="T94" fmla="*/ 0 w 1163"/>
                  <a:gd name="T95" fmla="*/ 0 h 1531"/>
                  <a:gd name="T96" fmla="*/ 0 w 1163"/>
                  <a:gd name="T97" fmla="*/ 0 h 1531"/>
                  <a:gd name="T98" fmla="*/ 0 w 1163"/>
                  <a:gd name="T99" fmla="*/ 0 h 1531"/>
                  <a:gd name="T100" fmla="*/ 0 w 1163"/>
                  <a:gd name="T101" fmla="*/ 0 h 1531"/>
                  <a:gd name="T102" fmla="*/ 0 w 1163"/>
                  <a:gd name="T103" fmla="*/ 0 h 1531"/>
                  <a:gd name="T104" fmla="*/ 0 w 1163"/>
                  <a:gd name="T105" fmla="*/ 0 h 1531"/>
                  <a:gd name="T106" fmla="*/ 0 w 1163"/>
                  <a:gd name="T107" fmla="*/ 0 h 1531"/>
                  <a:gd name="T108" fmla="*/ 0 w 1163"/>
                  <a:gd name="T109" fmla="*/ 0 h 1531"/>
                  <a:gd name="T110" fmla="*/ 0 w 1163"/>
                  <a:gd name="T111" fmla="*/ 0 h 1531"/>
                  <a:gd name="T112" fmla="*/ 0 w 1163"/>
                  <a:gd name="T113" fmla="*/ 0 h 1531"/>
                  <a:gd name="T114" fmla="*/ 0 w 1163"/>
                  <a:gd name="T115" fmla="*/ 0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41035" name="Freeform 300"/>
              <p:cNvSpPr>
                <a:spLocks/>
              </p:cNvSpPr>
              <p:nvPr/>
            </p:nvSpPr>
            <p:spPr bwMode="auto">
              <a:xfrm>
                <a:off x="3332" y="2706"/>
                <a:ext cx="43" cy="49"/>
              </a:xfrm>
              <a:custGeom>
                <a:avLst/>
                <a:gdLst>
                  <a:gd name="T0" fmla="*/ 0 w 154"/>
                  <a:gd name="T1" fmla="*/ 0 h 173"/>
                  <a:gd name="T2" fmla="*/ 0 w 154"/>
                  <a:gd name="T3" fmla="*/ 0 h 173"/>
                  <a:gd name="T4" fmla="*/ 0 w 154"/>
                  <a:gd name="T5" fmla="*/ 0 h 173"/>
                  <a:gd name="T6" fmla="*/ 0 w 154"/>
                  <a:gd name="T7" fmla="*/ 0 h 173"/>
                  <a:gd name="T8" fmla="*/ 0 w 154"/>
                  <a:gd name="T9" fmla="*/ 0 h 173"/>
                  <a:gd name="T10" fmla="*/ 0 w 154"/>
                  <a:gd name="T11" fmla="*/ 0 h 173"/>
                  <a:gd name="T12" fmla="*/ 0 w 154"/>
                  <a:gd name="T13" fmla="*/ 0 h 173"/>
                  <a:gd name="T14" fmla="*/ 0 w 154"/>
                  <a:gd name="T15" fmla="*/ 0 h 173"/>
                  <a:gd name="T16" fmla="*/ 0 w 154"/>
                  <a:gd name="T17" fmla="*/ 0 h 173"/>
                  <a:gd name="T18" fmla="*/ 0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0 h 173"/>
                  <a:gd name="T40" fmla="*/ 0 w 154"/>
                  <a:gd name="T41" fmla="*/ 0 h 173"/>
                  <a:gd name="T42" fmla="*/ 0 w 154"/>
                  <a:gd name="T43" fmla="*/ 0 h 173"/>
                  <a:gd name="T44" fmla="*/ 0 w 154"/>
                  <a:gd name="T45" fmla="*/ 0 h 173"/>
                  <a:gd name="T46" fmla="*/ 0 w 154"/>
                  <a:gd name="T47" fmla="*/ 0 h 173"/>
                  <a:gd name="T48" fmla="*/ 0 w 154"/>
                  <a:gd name="T49" fmla="*/ 0 h 173"/>
                  <a:gd name="T50" fmla="*/ 0 w 154"/>
                  <a:gd name="T51" fmla="*/ 0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40996" name="Group 301"/>
          <p:cNvGrpSpPr>
            <a:grpSpLocks/>
          </p:cNvGrpSpPr>
          <p:nvPr/>
        </p:nvGrpSpPr>
        <p:grpSpPr bwMode="auto">
          <a:xfrm>
            <a:off x="6670675" y="5705475"/>
            <a:ext cx="841375" cy="576263"/>
            <a:chOff x="463" y="1743"/>
            <a:chExt cx="1186" cy="813"/>
          </a:xfrm>
        </p:grpSpPr>
        <p:sp>
          <p:nvSpPr>
            <p:cNvPr id="41004" name="Freeform 302"/>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05" name="Freeform 303"/>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06" name="AutoShape 304"/>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007" name="AutoShape 305"/>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41008" name="Freeform 306"/>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1009" name="Freeform 307"/>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010" name="Freeform 308"/>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sp>
          <p:nvSpPr>
            <p:cNvPr id="41011" name="Freeform 309"/>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12" name="Freeform 310"/>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13" name="Freeform 311"/>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14" name="Freeform 312"/>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1015" name="Freeform 313"/>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41016" name="Line 314"/>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017" name="Line 315"/>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018" name="Oval 316"/>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1019" name="Freeform 317"/>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20" name="Freeform 318"/>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21" name="Oval 319"/>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1022" name="Freeform 320"/>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23" name="Freeform 321"/>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0997" name="Group 322"/>
          <p:cNvGrpSpPr>
            <a:grpSpLocks/>
          </p:cNvGrpSpPr>
          <p:nvPr/>
        </p:nvGrpSpPr>
        <p:grpSpPr bwMode="auto">
          <a:xfrm>
            <a:off x="7300913" y="2536825"/>
            <a:ext cx="820737" cy="749300"/>
            <a:chOff x="1929" y="2960"/>
            <a:chExt cx="728" cy="665"/>
          </a:xfrm>
        </p:grpSpPr>
        <p:sp>
          <p:nvSpPr>
            <p:cNvPr id="40998" name="AutoShape 323"/>
            <p:cNvSpPr>
              <a:spLocks noChangeArrowheads="1"/>
            </p:cNvSpPr>
            <p:nvPr/>
          </p:nvSpPr>
          <p:spPr bwMode="auto">
            <a:xfrm>
              <a:off x="1929" y="2960"/>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40999" name="Group 324"/>
            <p:cNvGrpSpPr>
              <a:grpSpLocks/>
            </p:cNvGrpSpPr>
            <p:nvPr/>
          </p:nvGrpSpPr>
          <p:grpSpPr bwMode="auto">
            <a:xfrm>
              <a:off x="2328" y="3296"/>
              <a:ext cx="329" cy="329"/>
              <a:chOff x="2806" y="3358"/>
              <a:chExt cx="329" cy="329"/>
            </a:xfrm>
          </p:grpSpPr>
          <p:sp>
            <p:nvSpPr>
              <p:cNvPr id="41000" name="Oval 325"/>
              <p:cNvSpPr>
                <a:spLocks noChangeArrowheads="1"/>
              </p:cNvSpPr>
              <p:nvPr/>
            </p:nvSpPr>
            <p:spPr bwMode="auto">
              <a:xfrm>
                <a:off x="2806" y="3358"/>
                <a:ext cx="329" cy="329"/>
              </a:xfrm>
              <a:prstGeom prst="ellipse">
                <a:avLst/>
              </a:prstGeom>
              <a:solidFill>
                <a:srgbClr val="D39E54"/>
              </a:solidFill>
              <a:ln w="28575" algn="ctr">
                <a:solidFill>
                  <a:schemeClr val="bg1"/>
                </a:solidFill>
                <a:round/>
                <a:headEnd/>
                <a:tailEnd/>
              </a:ln>
            </p:spPr>
            <p:txBody>
              <a:bodyPr wrap="none" lIns="0" tIns="0" rIns="0" bIns="0" anchor="ctr">
                <a:spAutoFit/>
              </a:bodyPr>
              <a:lstStyle/>
              <a:p>
                <a:endParaRPr lang="en-US"/>
              </a:p>
            </p:txBody>
          </p:sp>
          <p:sp>
            <p:nvSpPr>
              <p:cNvPr id="41001" name="Freeform 326"/>
              <p:cNvSpPr>
                <a:spLocks/>
              </p:cNvSpPr>
              <p:nvPr/>
            </p:nvSpPr>
            <p:spPr bwMode="auto">
              <a:xfrm>
                <a:off x="2999" y="3399"/>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1002" name="Freeform 327"/>
              <p:cNvSpPr>
                <a:spLocks/>
              </p:cNvSpPr>
              <p:nvPr/>
            </p:nvSpPr>
            <p:spPr bwMode="auto">
              <a:xfrm flipH="1">
                <a:off x="2843" y="3395"/>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41003" name="Freeform 328"/>
              <p:cNvSpPr>
                <a:spLocks/>
              </p:cNvSpPr>
              <p:nvPr/>
            </p:nvSpPr>
            <p:spPr bwMode="auto">
              <a:xfrm>
                <a:off x="2879" y="3575"/>
                <a:ext cx="177" cy="72"/>
              </a:xfrm>
              <a:custGeom>
                <a:avLst/>
                <a:gdLst>
                  <a:gd name="T0" fmla="*/ 128 w 177"/>
                  <a:gd name="T1" fmla="*/ 5 h 68"/>
                  <a:gd name="T2" fmla="*/ 177 w 177"/>
                  <a:gd name="T3" fmla="*/ 56 h 68"/>
                  <a:gd name="T4" fmla="*/ 159 w 177"/>
                  <a:gd name="T5" fmla="*/ 85 h 68"/>
                  <a:gd name="T6" fmla="*/ 137 w 177"/>
                  <a:gd name="T7" fmla="*/ 104 h 68"/>
                  <a:gd name="T8" fmla="*/ 105 w 177"/>
                  <a:gd name="T9" fmla="*/ 120 h 68"/>
                  <a:gd name="T10" fmla="*/ 60 w 177"/>
                  <a:gd name="T11" fmla="*/ 110 h 68"/>
                  <a:gd name="T12" fmla="*/ 26 w 177"/>
                  <a:gd name="T13" fmla="*/ 95 h 68"/>
                  <a:gd name="T14" fmla="*/ 0 w 177"/>
                  <a:gd name="T15" fmla="*/ 61 h 68"/>
                  <a:gd name="T16" fmla="*/ 53 w 177"/>
                  <a:gd name="T17" fmla="*/ 0 h 68"/>
                  <a:gd name="T18" fmla="*/ 66 w 177"/>
                  <a:gd name="T19" fmla="*/ 7 h 68"/>
                  <a:gd name="T20" fmla="*/ 86 w 177"/>
                  <a:gd name="T21" fmla="*/ 21 h 68"/>
                  <a:gd name="T22" fmla="*/ 105 w 177"/>
                  <a:gd name="T23" fmla="*/ 21 h 68"/>
                  <a:gd name="T24" fmla="*/ 128 w 177"/>
                  <a:gd name="T25" fmla="*/ 5 h 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68"/>
                  <a:gd name="T41" fmla="*/ 177 w 177"/>
                  <a:gd name="T42" fmla="*/ 68 h 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68">
                    <a:moveTo>
                      <a:pt x="128" y="5"/>
                    </a:moveTo>
                    <a:lnTo>
                      <a:pt x="177" y="32"/>
                    </a:lnTo>
                    <a:lnTo>
                      <a:pt x="159" y="48"/>
                    </a:lnTo>
                    <a:lnTo>
                      <a:pt x="137" y="59"/>
                    </a:lnTo>
                    <a:lnTo>
                      <a:pt x="105" y="68"/>
                    </a:lnTo>
                    <a:lnTo>
                      <a:pt x="60" y="62"/>
                    </a:lnTo>
                    <a:lnTo>
                      <a:pt x="26" y="54"/>
                    </a:lnTo>
                    <a:lnTo>
                      <a:pt x="0" y="35"/>
                    </a:lnTo>
                    <a:lnTo>
                      <a:pt x="53" y="0"/>
                    </a:lnTo>
                    <a:lnTo>
                      <a:pt x="66" y="7"/>
                    </a:lnTo>
                    <a:lnTo>
                      <a:pt x="86" y="11"/>
                    </a:lnTo>
                    <a:lnTo>
                      <a:pt x="105" y="11"/>
                    </a:lnTo>
                    <a:lnTo>
                      <a:pt x="128" y="5"/>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gr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7338" y="3705728"/>
            <a:ext cx="7424737" cy="278086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1986" name="Rectangle 2"/>
          <p:cNvSpPr>
            <a:spLocks noGrp="1" noChangeArrowheads="1"/>
          </p:cNvSpPr>
          <p:nvPr>
            <p:ph type="title"/>
          </p:nvPr>
        </p:nvSpPr>
        <p:spPr/>
        <p:txBody>
          <a:bodyPr/>
          <a:lstStyle/>
          <a:p>
            <a:pPr eaLnBrk="1" hangingPunct="1"/>
            <a:r>
              <a:rPr lang="en-US"/>
              <a:t>Entity role constraints in the UI (1)</a:t>
            </a:r>
          </a:p>
        </p:txBody>
      </p:sp>
      <p:sp>
        <p:nvSpPr>
          <p:cNvPr id="41987" name="Rectangle 3"/>
          <p:cNvSpPr>
            <a:spLocks noGrp="1" noChangeArrowheads="1"/>
          </p:cNvSpPr>
          <p:nvPr>
            <p:ph idx="1"/>
          </p:nvPr>
        </p:nvSpPr>
        <p:spPr>
          <a:xfrm>
            <a:off x="5026358" y="587100"/>
            <a:ext cx="4117642" cy="2535238"/>
          </a:xfrm>
        </p:spPr>
        <p:txBody>
          <a:bodyPr/>
          <a:lstStyle/>
          <a:p>
            <a:r>
              <a:rPr lang="en-US"/>
              <a:t>If role is required:</a:t>
            </a:r>
          </a:p>
          <a:p>
            <a:pPr lvl="1"/>
            <a:r>
              <a:rPr lang="en-US"/>
              <a:t>Contact must be specified during object creation</a:t>
            </a:r>
          </a:p>
          <a:p>
            <a:pPr lvl="1"/>
            <a:r>
              <a:rPr lang="en-US"/>
              <a:t>Role can be shifted between contacts, but must always exist</a:t>
            </a:r>
          </a:p>
        </p:txBody>
      </p:sp>
      <p:sp>
        <p:nvSpPr>
          <p:cNvPr id="41989" name="AutoShape 5"/>
          <p:cNvSpPr>
            <a:spLocks noChangeArrowheads="1"/>
          </p:cNvSpPr>
          <p:nvPr/>
        </p:nvSpPr>
        <p:spPr bwMode="auto">
          <a:xfrm>
            <a:off x="3314700" y="6208785"/>
            <a:ext cx="5667375" cy="27781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grpSp>
        <p:nvGrpSpPr>
          <p:cNvPr id="41992" name="Group 8"/>
          <p:cNvGrpSpPr>
            <a:grpSpLocks/>
          </p:cNvGrpSpPr>
          <p:nvPr/>
        </p:nvGrpSpPr>
        <p:grpSpPr bwMode="auto">
          <a:xfrm>
            <a:off x="2739232" y="722313"/>
            <a:ext cx="641350" cy="636588"/>
            <a:chOff x="3360" y="800"/>
            <a:chExt cx="620" cy="616"/>
          </a:xfrm>
        </p:grpSpPr>
        <p:sp>
          <p:nvSpPr>
            <p:cNvPr id="42000" name="AutoShape 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2001" name="Freeform 10"/>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2002" name="Group 11"/>
            <p:cNvGrpSpPr>
              <a:grpSpLocks/>
            </p:cNvGrpSpPr>
            <p:nvPr/>
          </p:nvGrpSpPr>
          <p:grpSpPr bwMode="auto">
            <a:xfrm flipH="1">
              <a:off x="3749" y="1171"/>
              <a:ext cx="212" cy="213"/>
              <a:chOff x="1350" y="686"/>
              <a:chExt cx="1132" cy="1132"/>
            </a:xfrm>
          </p:grpSpPr>
          <p:sp>
            <p:nvSpPr>
              <p:cNvPr id="42004" name="AutoShape 1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2005" name="Picture 1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2003" name="Picture 14"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993" name="Text Box 15"/>
          <p:cNvSpPr txBox="1">
            <a:spLocks noChangeArrowheads="1"/>
          </p:cNvSpPr>
          <p:nvPr/>
        </p:nvSpPr>
        <p:spPr bwMode="auto">
          <a:xfrm>
            <a:off x="3491707" y="741363"/>
            <a:ext cx="13287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exposure</a:t>
            </a:r>
            <a:br>
              <a:rPr lang="en-US" sz="1800">
                <a:solidFill>
                  <a:schemeClr val="bg1"/>
                </a:solidFill>
              </a:rPr>
            </a:br>
            <a:r>
              <a:rPr lang="en-US" sz="1800">
                <a:solidFill>
                  <a:schemeClr val="bg1"/>
                </a:solidFill>
              </a:rPr>
              <a:t>(exactly 1)</a:t>
            </a:r>
          </a:p>
        </p:txBody>
      </p:sp>
      <p:grpSp>
        <p:nvGrpSpPr>
          <p:cNvPr id="41994" name="Group 16"/>
          <p:cNvGrpSpPr>
            <a:grpSpLocks/>
          </p:cNvGrpSpPr>
          <p:nvPr/>
        </p:nvGrpSpPr>
        <p:grpSpPr bwMode="auto">
          <a:xfrm>
            <a:off x="1697832" y="698501"/>
            <a:ext cx="688975" cy="688975"/>
            <a:chOff x="1350" y="686"/>
            <a:chExt cx="1132" cy="1132"/>
          </a:xfrm>
        </p:grpSpPr>
        <p:sp>
          <p:nvSpPr>
            <p:cNvPr id="41998" name="AutoShape 1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1999" name="Picture 1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995" name="Text Box 19"/>
          <p:cNvSpPr txBox="1">
            <a:spLocks noChangeArrowheads="1"/>
          </p:cNvSpPr>
          <p:nvPr/>
        </p:nvSpPr>
        <p:spPr bwMode="auto">
          <a:xfrm>
            <a:off x="570707" y="876301"/>
            <a:ext cx="10572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r" eaLnBrk="1" hangingPunct="1"/>
            <a:r>
              <a:rPr lang="en-US" sz="1800">
                <a:solidFill>
                  <a:schemeClr val="bg1"/>
                </a:solidFill>
              </a:rPr>
              <a:t>claimant</a:t>
            </a:r>
          </a:p>
        </p:txBody>
      </p:sp>
      <p:sp>
        <p:nvSpPr>
          <p:cNvPr id="41996" name="AutoShape 20"/>
          <p:cNvSpPr>
            <a:spLocks noChangeArrowheads="1"/>
          </p:cNvSpPr>
          <p:nvPr/>
        </p:nvSpPr>
        <p:spPr bwMode="auto">
          <a:xfrm>
            <a:off x="2329657" y="887413"/>
            <a:ext cx="442912" cy="346075"/>
          </a:xfrm>
          <a:prstGeom prst="rightArrow">
            <a:avLst>
              <a:gd name="adj1" fmla="val 50000"/>
              <a:gd name="adj2" fmla="val 31995"/>
            </a:avLst>
          </a:prstGeom>
          <a:solidFill>
            <a:srgbClr val="008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1997" name="Rectangle 21"/>
          <p:cNvSpPr>
            <a:spLocks noChangeArrowheads="1"/>
          </p:cNvSpPr>
          <p:nvPr/>
        </p:nvSpPr>
        <p:spPr bwMode="auto">
          <a:xfrm>
            <a:off x="583407" y="584201"/>
            <a:ext cx="4198937" cy="900112"/>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921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901" y="1387477"/>
            <a:ext cx="3511550" cy="277227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1991" name="AutoShape 7"/>
          <p:cNvSpPr>
            <a:spLocks noChangeArrowheads="1"/>
          </p:cNvSpPr>
          <p:nvPr/>
        </p:nvSpPr>
        <p:spPr bwMode="auto">
          <a:xfrm>
            <a:off x="469901" y="3926871"/>
            <a:ext cx="3226968" cy="23288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922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05275" y="2773615"/>
            <a:ext cx="4876800" cy="7715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 name="AutoShape 7"/>
          <p:cNvSpPr>
            <a:spLocks noChangeArrowheads="1"/>
          </p:cNvSpPr>
          <p:nvPr/>
        </p:nvSpPr>
        <p:spPr bwMode="auto">
          <a:xfrm>
            <a:off x="4534903" y="3042936"/>
            <a:ext cx="4447172" cy="23288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842" y="742986"/>
            <a:ext cx="6387666" cy="2743090"/>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3010" name="Rectangle 2"/>
          <p:cNvSpPr>
            <a:spLocks noGrp="1" noChangeArrowheads="1"/>
          </p:cNvSpPr>
          <p:nvPr>
            <p:ph type="title"/>
          </p:nvPr>
        </p:nvSpPr>
        <p:spPr/>
        <p:txBody>
          <a:bodyPr/>
          <a:lstStyle/>
          <a:p>
            <a:pPr eaLnBrk="1" hangingPunct="1"/>
            <a:r>
              <a:rPr lang="en-US"/>
              <a:t>Entity role constraints in the UI (2)</a:t>
            </a:r>
          </a:p>
        </p:txBody>
      </p:sp>
      <p:sp>
        <p:nvSpPr>
          <p:cNvPr id="43011" name="Rectangle 4"/>
          <p:cNvSpPr>
            <a:spLocks noGrp="1" noChangeArrowheads="1"/>
          </p:cNvSpPr>
          <p:nvPr>
            <p:ph idx="1"/>
          </p:nvPr>
        </p:nvSpPr>
        <p:spPr>
          <a:xfrm>
            <a:off x="432593" y="5057731"/>
            <a:ext cx="6689510" cy="1192212"/>
          </a:xfrm>
        </p:spPr>
        <p:txBody>
          <a:bodyPr/>
          <a:lstStyle/>
          <a:p>
            <a:r>
              <a:rPr lang="en-US"/>
              <a:t>If role is not allowed:</a:t>
            </a:r>
          </a:p>
          <a:p>
            <a:pPr lvl="1"/>
            <a:r>
              <a:rPr lang="en-US"/>
              <a:t>Does not appear in dropdown once Related To entity is selected</a:t>
            </a:r>
          </a:p>
          <a:p>
            <a:endParaRPr lang="en-US"/>
          </a:p>
        </p:txBody>
      </p:sp>
      <p:sp>
        <p:nvSpPr>
          <p:cNvPr id="43013" name="Text Box 5"/>
          <p:cNvSpPr txBox="1">
            <a:spLocks noChangeArrowheads="1"/>
          </p:cNvSpPr>
          <p:nvPr/>
        </p:nvSpPr>
        <p:spPr bwMode="auto">
          <a:xfrm>
            <a:off x="4783138" y="3802063"/>
            <a:ext cx="91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policy</a:t>
            </a:r>
            <a:br>
              <a:rPr lang="en-US" sz="1800">
                <a:solidFill>
                  <a:schemeClr val="bg1"/>
                </a:solidFill>
              </a:rPr>
            </a:br>
            <a:r>
              <a:rPr lang="en-US" sz="1800">
                <a:solidFill>
                  <a:schemeClr val="bg1"/>
                </a:solidFill>
              </a:rPr>
              <a:t>(0)</a:t>
            </a:r>
          </a:p>
        </p:txBody>
      </p:sp>
      <p:grpSp>
        <p:nvGrpSpPr>
          <p:cNvPr id="43014" name="Group 6"/>
          <p:cNvGrpSpPr>
            <a:grpSpLocks/>
          </p:cNvGrpSpPr>
          <p:nvPr/>
        </p:nvGrpSpPr>
        <p:grpSpPr bwMode="auto">
          <a:xfrm>
            <a:off x="3060700" y="3730625"/>
            <a:ext cx="688975" cy="688975"/>
            <a:chOff x="1350" y="686"/>
            <a:chExt cx="1132" cy="1132"/>
          </a:xfrm>
        </p:grpSpPr>
        <p:sp>
          <p:nvSpPr>
            <p:cNvPr id="43030" name="AutoShape 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3031" name="Picture 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015" name="Text Box 9"/>
          <p:cNvSpPr txBox="1">
            <a:spLocks noChangeArrowheads="1"/>
          </p:cNvSpPr>
          <p:nvPr/>
        </p:nvSpPr>
        <p:spPr bwMode="auto">
          <a:xfrm>
            <a:off x="1965325" y="3929063"/>
            <a:ext cx="10255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r" eaLnBrk="1" hangingPunct="1"/>
            <a:r>
              <a:rPr lang="en-US" sz="1800">
                <a:solidFill>
                  <a:schemeClr val="bg1"/>
                </a:solidFill>
              </a:rPr>
              <a:t>claimant</a:t>
            </a:r>
          </a:p>
        </p:txBody>
      </p:sp>
      <p:sp>
        <p:nvSpPr>
          <p:cNvPr id="43016" name="Rectangle 10"/>
          <p:cNvSpPr>
            <a:spLocks noChangeArrowheads="1"/>
          </p:cNvSpPr>
          <p:nvPr/>
        </p:nvSpPr>
        <p:spPr bwMode="auto">
          <a:xfrm>
            <a:off x="1946275" y="3616325"/>
            <a:ext cx="4005263" cy="9001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43017" name="Group 11"/>
          <p:cNvGrpSpPr>
            <a:grpSpLocks/>
          </p:cNvGrpSpPr>
          <p:nvPr/>
        </p:nvGrpSpPr>
        <p:grpSpPr bwMode="auto">
          <a:xfrm>
            <a:off x="4090988" y="3716338"/>
            <a:ext cx="622300" cy="700087"/>
            <a:chOff x="2324" y="435"/>
            <a:chExt cx="933" cy="1052"/>
          </a:xfrm>
        </p:grpSpPr>
        <p:sp>
          <p:nvSpPr>
            <p:cNvPr id="43021" name="AutoShape 12"/>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3022" name="Freeform 13"/>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3023" name="Freeform 14"/>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3024" name="Freeform 15"/>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3025" name="Group 16"/>
            <p:cNvGrpSpPr>
              <a:grpSpLocks/>
            </p:cNvGrpSpPr>
            <p:nvPr/>
          </p:nvGrpSpPr>
          <p:grpSpPr bwMode="auto">
            <a:xfrm>
              <a:off x="2889" y="957"/>
              <a:ext cx="348" cy="510"/>
              <a:chOff x="2784" y="3210"/>
              <a:chExt cx="523" cy="772"/>
            </a:xfrm>
          </p:grpSpPr>
          <p:sp>
            <p:nvSpPr>
              <p:cNvPr id="43026" name="AutoShape 17"/>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3027" name="AutoShape 18"/>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43028" name="AutoShape 19"/>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3029" name="Oval 20"/>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43018" name="AutoShape 21"/>
          <p:cNvSpPr>
            <a:spLocks noChangeArrowheads="1"/>
          </p:cNvSpPr>
          <p:nvPr/>
        </p:nvSpPr>
        <p:spPr bwMode="auto">
          <a:xfrm>
            <a:off x="3692525" y="3919538"/>
            <a:ext cx="442913" cy="346075"/>
          </a:xfrm>
          <a:prstGeom prst="rightArrow">
            <a:avLst>
              <a:gd name="adj1" fmla="val 50000"/>
              <a:gd name="adj2" fmla="val 31995"/>
            </a:avLst>
          </a:prstGeom>
          <a:solidFill>
            <a:srgbClr val="008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3019" name="Text Box 22"/>
          <p:cNvSpPr txBox="1">
            <a:spLocks noChangeArrowheads="1"/>
          </p:cNvSpPr>
          <p:nvPr/>
        </p:nvSpPr>
        <p:spPr bwMode="auto">
          <a:xfrm>
            <a:off x="4166648" y="2970525"/>
            <a:ext cx="1054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t>(policy)</a:t>
            </a:r>
          </a:p>
        </p:txBody>
      </p:sp>
      <p:pic>
        <p:nvPicPr>
          <p:cNvPr id="10242" name="Picture 2" descr="C:\Users\trhoades\AppData\Local\Temp\SNAGHTML24055a9a.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1613" y="982707"/>
            <a:ext cx="1575940" cy="5267236"/>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6" name="Line 6"/>
          <p:cNvSpPr>
            <a:spLocks noChangeShapeType="1"/>
          </p:cNvSpPr>
          <p:nvPr/>
        </p:nvSpPr>
        <p:spPr bwMode="auto">
          <a:xfrm flipH="1" flipV="1">
            <a:off x="6943508" y="3359887"/>
            <a:ext cx="348105" cy="289005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7" name="Line 7"/>
          <p:cNvSpPr>
            <a:spLocks noChangeShapeType="1"/>
          </p:cNvSpPr>
          <p:nvPr/>
        </p:nvSpPr>
        <p:spPr bwMode="auto">
          <a:xfrm flipV="1">
            <a:off x="6943508" y="1180214"/>
            <a:ext cx="357188" cy="18257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8" name="AutoShape 12"/>
          <p:cNvSpPr>
            <a:spLocks noChangeArrowheads="1"/>
          </p:cNvSpPr>
          <p:nvPr/>
        </p:nvSpPr>
        <p:spPr bwMode="auto">
          <a:xfrm>
            <a:off x="5240338" y="2970525"/>
            <a:ext cx="1703170" cy="35746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9" name="Text Box 22"/>
          <p:cNvSpPr txBox="1">
            <a:spLocks noChangeArrowheads="1"/>
          </p:cNvSpPr>
          <p:nvPr/>
        </p:nvSpPr>
        <p:spPr bwMode="auto">
          <a:xfrm>
            <a:off x="7291613" y="708070"/>
            <a:ext cx="1054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t>claimant</a:t>
            </a:r>
          </a:p>
        </p:txBody>
      </p:sp>
      <p:sp>
        <p:nvSpPr>
          <p:cNvPr id="30" name="AutoShape 18"/>
          <p:cNvSpPr>
            <a:spLocks noChangeArrowheads="1"/>
          </p:cNvSpPr>
          <p:nvPr/>
        </p:nvSpPr>
        <p:spPr bwMode="auto">
          <a:xfrm>
            <a:off x="7403308" y="179744"/>
            <a:ext cx="676275" cy="6762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4" name="Group 2"/>
          <p:cNvGrpSpPr>
            <a:grpSpLocks/>
          </p:cNvGrpSpPr>
          <p:nvPr/>
        </p:nvGrpSpPr>
        <p:grpSpPr bwMode="auto">
          <a:xfrm>
            <a:off x="4097338" y="1211263"/>
            <a:ext cx="841375" cy="576262"/>
            <a:chOff x="463" y="1743"/>
            <a:chExt cx="1186" cy="813"/>
          </a:xfrm>
        </p:grpSpPr>
        <p:sp>
          <p:nvSpPr>
            <p:cNvPr id="44049" name="Freeform 3"/>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50" name="Freeform 4"/>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51" name="AutoShape 5"/>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4052" name="AutoShape 6"/>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44053" name="Freeform 7"/>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4054" name="Freeform 8"/>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4055" name="Freeform 9"/>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sp>
          <p:nvSpPr>
            <p:cNvPr id="44056" name="Freeform 10"/>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57" name="Freeform 11"/>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58" name="Freeform 12"/>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59" name="Freeform 13"/>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4060" name="Freeform 14"/>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44061" name="Line 15"/>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062" name="Line 16"/>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063" name="Oval 17"/>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4064" name="Freeform 18"/>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65" name="Freeform 19"/>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66" name="Oval 20"/>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4067" name="Freeform 21"/>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68" name="Freeform 22"/>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4035" name="Rectangle 23"/>
          <p:cNvSpPr>
            <a:spLocks noGrp="1" noChangeArrowheads="1"/>
          </p:cNvSpPr>
          <p:nvPr>
            <p:ph type="title"/>
          </p:nvPr>
        </p:nvSpPr>
        <p:spPr/>
        <p:txBody>
          <a:bodyPr/>
          <a:lstStyle/>
          <a:p>
            <a:pPr eaLnBrk="1" hangingPunct="1"/>
            <a:r>
              <a:rPr lang="en-US"/>
              <a:t>Entity role constraints in the UI (3)</a:t>
            </a:r>
          </a:p>
        </p:txBody>
      </p:sp>
      <p:sp>
        <p:nvSpPr>
          <p:cNvPr id="44036" name="Rectangle 24"/>
          <p:cNvSpPr>
            <a:spLocks noGrp="1" noChangeArrowheads="1"/>
          </p:cNvSpPr>
          <p:nvPr>
            <p:ph idx="1"/>
          </p:nvPr>
        </p:nvSpPr>
        <p:spPr>
          <a:xfrm>
            <a:off x="616631" y="2273300"/>
            <a:ext cx="8097837" cy="1128713"/>
          </a:xfrm>
        </p:spPr>
        <p:txBody>
          <a:bodyPr/>
          <a:lstStyle/>
          <a:p>
            <a:r>
              <a:rPr lang="en-US"/>
              <a:t>If role is limited to at most one contact and existing contact has role, then error message displays when user attempts to give role to additional contact</a:t>
            </a:r>
          </a:p>
        </p:txBody>
      </p:sp>
      <p:sp>
        <p:nvSpPr>
          <p:cNvPr id="44038" name="Text Box 26"/>
          <p:cNvSpPr txBox="1">
            <a:spLocks noChangeArrowheads="1"/>
          </p:cNvSpPr>
          <p:nvPr/>
        </p:nvSpPr>
        <p:spPr bwMode="auto">
          <a:xfrm>
            <a:off x="1912938" y="1352550"/>
            <a:ext cx="1025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r" eaLnBrk="1" hangingPunct="1"/>
            <a:r>
              <a:rPr lang="en-US" sz="1800">
                <a:solidFill>
                  <a:schemeClr val="bg1"/>
                </a:solidFill>
              </a:rPr>
              <a:t>driver</a:t>
            </a:r>
          </a:p>
        </p:txBody>
      </p:sp>
      <p:sp>
        <p:nvSpPr>
          <p:cNvPr id="44039" name="Rectangle 27"/>
          <p:cNvSpPr>
            <a:spLocks noChangeArrowheads="1"/>
          </p:cNvSpPr>
          <p:nvPr/>
        </p:nvSpPr>
        <p:spPr bwMode="auto">
          <a:xfrm>
            <a:off x="1941513" y="1039813"/>
            <a:ext cx="5002212" cy="900112"/>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4040" name="Text Box 28"/>
          <p:cNvSpPr txBox="1">
            <a:spLocks noChangeArrowheads="1"/>
          </p:cNvSpPr>
          <p:nvPr/>
        </p:nvSpPr>
        <p:spPr bwMode="auto">
          <a:xfrm>
            <a:off x="5033963" y="1185863"/>
            <a:ext cx="18049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solidFill>
                  <a:schemeClr val="bg1"/>
                </a:solidFill>
              </a:rPr>
              <a:t>vehicle incident</a:t>
            </a:r>
            <a:br>
              <a:rPr lang="en-US" sz="1800">
                <a:solidFill>
                  <a:schemeClr val="bg1"/>
                </a:solidFill>
              </a:rPr>
            </a:br>
            <a:r>
              <a:rPr lang="en-US" sz="1800">
                <a:solidFill>
                  <a:schemeClr val="bg1"/>
                </a:solidFill>
              </a:rPr>
              <a:t>(up to 1)</a:t>
            </a:r>
          </a:p>
        </p:txBody>
      </p:sp>
      <p:grpSp>
        <p:nvGrpSpPr>
          <p:cNvPr id="44041" name="Group 29"/>
          <p:cNvGrpSpPr>
            <a:grpSpLocks/>
          </p:cNvGrpSpPr>
          <p:nvPr/>
        </p:nvGrpSpPr>
        <p:grpSpPr bwMode="auto">
          <a:xfrm>
            <a:off x="3049588" y="1152525"/>
            <a:ext cx="820737" cy="749300"/>
            <a:chOff x="1929" y="2960"/>
            <a:chExt cx="728" cy="665"/>
          </a:xfrm>
        </p:grpSpPr>
        <p:sp>
          <p:nvSpPr>
            <p:cNvPr id="44043" name="AutoShape 30"/>
            <p:cNvSpPr>
              <a:spLocks noChangeArrowheads="1"/>
            </p:cNvSpPr>
            <p:nvPr/>
          </p:nvSpPr>
          <p:spPr bwMode="auto">
            <a:xfrm>
              <a:off x="1929" y="2960"/>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44044" name="Group 31"/>
            <p:cNvGrpSpPr>
              <a:grpSpLocks/>
            </p:cNvGrpSpPr>
            <p:nvPr/>
          </p:nvGrpSpPr>
          <p:grpSpPr bwMode="auto">
            <a:xfrm>
              <a:off x="2328" y="3296"/>
              <a:ext cx="329" cy="329"/>
              <a:chOff x="2806" y="3358"/>
              <a:chExt cx="329" cy="329"/>
            </a:xfrm>
          </p:grpSpPr>
          <p:sp>
            <p:nvSpPr>
              <p:cNvPr id="44045" name="Oval 32"/>
              <p:cNvSpPr>
                <a:spLocks noChangeArrowheads="1"/>
              </p:cNvSpPr>
              <p:nvPr/>
            </p:nvSpPr>
            <p:spPr bwMode="auto">
              <a:xfrm>
                <a:off x="2806" y="3358"/>
                <a:ext cx="329" cy="329"/>
              </a:xfrm>
              <a:prstGeom prst="ellipse">
                <a:avLst/>
              </a:prstGeom>
              <a:solidFill>
                <a:srgbClr val="D39E54"/>
              </a:solidFill>
              <a:ln w="28575" algn="ctr">
                <a:solidFill>
                  <a:schemeClr val="bg1"/>
                </a:solidFill>
                <a:round/>
                <a:headEnd/>
                <a:tailEnd/>
              </a:ln>
            </p:spPr>
            <p:txBody>
              <a:bodyPr wrap="none" lIns="0" tIns="0" rIns="0" bIns="0" anchor="ctr">
                <a:spAutoFit/>
              </a:bodyPr>
              <a:lstStyle/>
              <a:p>
                <a:endParaRPr lang="en-US"/>
              </a:p>
            </p:txBody>
          </p:sp>
          <p:sp>
            <p:nvSpPr>
              <p:cNvPr id="44046" name="Freeform 33"/>
              <p:cNvSpPr>
                <a:spLocks/>
              </p:cNvSpPr>
              <p:nvPr/>
            </p:nvSpPr>
            <p:spPr bwMode="auto">
              <a:xfrm>
                <a:off x="2999" y="3399"/>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4047" name="Freeform 34"/>
              <p:cNvSpPr>
                <a:spLocks/>
              </p:cNvSpPr>
              <p:nvPr/>
            </p:nvSpPr>
            <p:spPr bwMode="auto">
              <a:xfrm flipH="1">
                <a:off x="2843" y="3395"/>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44048" name="Freeform 35"/>
              <p:cNvSpPr>
                <a:spLocks/>
              </p:cNvSpPr>
              <p:nvPr/>
            </p:nvSpPr>
            <p:spPr bwMode="auto">
              <a:xfrm>
                <a:off x="2879" y="3575"/>
                <a:ext cx="177" cy="72"/>
              </a:xfrm>
              <a:custGeom>
                <a:avLst/>
                <a:gdLst>
                  <a:gd name="T0" fmla="*/ 128 w 177"/>
                  <a:gd name="T1" fmla="*/ 5 h 68"/>
                  <a:gd name="T2" fmla="*/ 177 w 177"/>
                  <a:gd name="T3" fmla="*/ 56 h 68"/>
                  <a:gd name="T4" fmla="*/ 159 w 177"/>
                  <a:gd name="T5" fmla="*/ 85 h 68"/>
                  <a:gd name="T6" fmla="*/ 137 w 177"/>
                  <a:gd name="T7" fmla="*/ 104 h 68"/>
                  <a:gd name="T8" fmla="*/ 105 w 177"/>
                  <a:gd name="T9" fmla="*/ 120 h 68"/>
                  <a:gd name="T10" fmla="*/ 60 w 177"/>
                  <a:gd name="T11" fmla="*/ 110 h 68"/>
                  <a:gd name="T12" fmla="*/ 26 w 177"/>
                  <a:gd name="T13" fmla="*/ 95 h 68"/>
                  <a:gd name="T14" fmla="*/ 0 w 177"/>
                  <a:gd name="T15" fmla="*/ 61 h 68"/>
                  <a:gd name="T16" fmla="*/ 53 w 177"/>
                  <a:gd name="T17" fmla="*/ 0 h 68"/>
                  <a:gd name="T18" fmla="*/ 66 w 177"/>
                  <a:gd name="T19" fmla="*/ 7 h 68"/>
                  <a:gd name="T20" fmla="*/ 86 w 177"/>
                  <a:gd name="T21" fmla="*/ 21 h 68"/>
                  <a:gd name="T22" fmla="*/ 105 w 177"/>
                  <a:gd name="T23" fmla="*/ 21 h 68"/>
                  <a:gd name="T24" fmla="*/ 128 w 177"/>
                  <a:gd name="T25" fmla="*/ 5 h 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68"/>
                  <a:gd name="T41" fmla="*/ 177 w 177"/>
                  <a:gd name="T42" fmla="*/ 68 h 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68">
                    <a:moveTo>
                      <a:pt x="128" y="5"/>
                    </a:moveTo>
                    <a:lnTo>
                      <a:pt x="177" y="32"/>
                    </a:lnTo>
                    <a:lnTo>
                      <a:pt x="159" y="48"/>
                    </a:lnTo>
                    <a:lnTo>
                      <a:pt x="137" y="59"/>
                    </a:lnTo>
                    <a:lnTo>
                      <a:pt x="105" y="68"/>
                    </a:lnTo>
                    <a:lnTo>
                      <a:pt x="60" y="62"/>
                    </a:lnTo>
                    <a:lnTo>
                      <a:pt x="26" y="54"/>
                    </a:lnTo>
                    <a:lnTo>
                      <a:pt x="0" y="35"/>
                    </a:lnTo>
                    <a:lnTo>
                      <a:pt x="53" y="0"/>
                    </a:lnTo>
                    <a:lnTo>
                      <a:pt x="66" y="7"/>
                    </a:lnTo>
                    <a:lnTo>
                      <a:pt x="86" y="11"/>
                    </a:lnTo>
                    <a:lnTo>
                      <a:pt x="105" y="11"/>
                    </a:lnTo>
                    <a:lnTo>
                      <a:pt x="128" y="5"/>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grpSp>
      </p:grpSp>
      <p:sp>
        <p:nvSpPr>
          <p:cNvPr id="44042" name="AutoShape 36"/>
          <p:cNvSpPr>
            <a:spLocks noChangeArrowheads="1"/>
          </p:cNvSpPr>
          <p:nvPr/>
        </p:nvSpPr>
        <p:spPr bwMode="auto">
          <a:xfrm>
            <a:off x="3687763" y="1343025"/>
            <a:ext cx="442912" cy="346075"/>
          </a:xfrm>
          <a:prstGeom prst="rightArrow">
            <a:avLst>
              <a:gd name="adj1" fmla="val 50000"/>
              <a:gd name="adj2" fmla="val 31995"/>
            </a:avLst>
          </a:prstGeom>
          <a:solidFill>
            <a:srgbClr val="008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458" y="3509630"/>
            <a:ext cx="8296431" cy="293369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8" name="AutoShape 12"/>
          <p:cNvSpPr>
            <a:spLocks noChangeArrowheads="1"/>
          </p:cNvSpPr>
          <p:nvPr/>
        </p:nvSpPr>
        <p:spPr bwMode="auto">
          <a:xfrm>
            <a:off x="5135780" y="6085865"/>
            <a:ext cx="851585" cy="35746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t>Entities that can be role owners</a:t>
            </a:r>
          </a:p>
        </p:txBody>
      </p:sp>
      <p:sp>
        <p:nvSpPr>
          <p:cNvPr id="45059" name="Content Placeholder 2"/>
          <p:cNvSpPr>
            <a:spLocks noGrp="1"/>
          </p:cNvSpPr>
          <p:nvPr>
            <p:ph idx="1"/>
          </p:nvPr>
        </p:nvSpPr>
        <p:spPr>
          <a:xfrm>
            <a:off x="519113" y="914400"/>
            <a:ext cx="8318500" cy="1166813"/>
          </a:xfrm>
        </p:spPr>
        <p:txBody>
          <a:bodyPr/>
          <a:lstStyle/>
          <a:p>
            <a:r>
              <a:rPr lang="en-US"/>
              <a:t>List is self-documented in entityroleconstraints.xml file</a:t>
            </a:r>
          </a:p>
          <a:p>
            <a:r>
              <a:rPr lang="en-US"/>
              <a:t>List is not extendable</a:t>
            </a:r>
          </a:p>
          <a:p>
            <a:pPr>
              <a:buFont typeface="Arial" pitchFamily="34" charset="0"/>
              <a:buNone/>
            </a:pPr>
            <a:endParaRPr lang="en-US"/>
          </a:p>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626839036"/>
              </p:ext>
            </p:extLst>
          </p:nvPr>
        </p:nvGraphicFramePr>
        <p:xfrm>
          <a:off x="261865" y="2151912"/>
          <a:ext cx="5150108" cy="3336921"/>
        </p:xfrm>
        <a:graphic>
          <a:graphicData uri="http://schemas.openxmlformats.org/drawingml/2006/table">
            <a:tbl>
              <a:tblPr firstRow="1" bandRow="1">
                <a:tableStyleId>{5C22544A-7EE6-4342-B048-85BDC9FD1C3A}</a:tableStyleId>
              </a:tblPr>
              <a:tblGrid>
                <a:gridCol w="2555763">
                  <a:extLst>
                    <a:ext uri="{9D8B030D-6E8A-4147-A177-3AD203B41FA5}">
                      <a16:colId xmlns:a16="http://schemas.microsoft.com/office/drawing/2014/main" val="20000"/>
                    </a:ext>
                  </a:extLst>
                </a:gridCol>
                <a:gridCol w="2594345">
                  <a:extLst>
                    <a:ext uri="{9D8B030D-6E8A-4147-A177-3AD203B41FA5}">
                      <a16:colId xmlns:a16="http://schemas.microsoft.com/office/drawing/2014/main" val="20001"/>
                    </a:ext>
                  </a:extLst>
                </a:gridCol>
              </a:tblGrid>
              <a:tr h="370769">
                <a:tc gridSpan="2">
                  <a:txBody>
                    <a:bodyPr/>
                    <a:lstStyle/>
                    <a:p>
                      <a:r>
                        <a:rPr lang="en-US" sz="1800"/>
                        <a:t>From</a:t>
                      </a:r>
                      <a:r>
                        <a:rPr lang="en-US" sz="1800" baseline="0"/>
                        <a:t> entityroleconstraints.xml</a:t>
                      </a:r>
                      <a:endParaRPr lang="en-US" sz="1800"/>
                    </a:p>
                  </a:txBody>
                  <a:tcPr marT="45711" marB="45711"/>
                </a:tc>
                <a:tc hMerge="1">
                  <a:txBody>
                    <a:bodyPr/>
                    <a:lstStyle/>
                    <a:p>
                      <a:endParaRPr lang="en-US"/>
                    </a:p>
                  </a:txBody>
                  <a:tcPr/>
                </a:tc>
                <a:extLst>
                  <a:ext uri="{0D108BD9-81ED-4DB2-BD59-A6C34878D82A}">
                    <a16:rowId xmlns:a16="http://schemas.microsoft.com/office/drawing/2014/main" val="10000"/>
                  </a:ext>
                </a:extLst>
              </a:tr>
              <a:tr h="370769">
                <a:tc>
                  <a:txBody>
                    <a:bodyPr/>
                    <a:lstStyle/>
                    <a:p>
                      <a:r>
                        <a:rPr lang="en-US" sz="1800"/>
                        <a:t>Claim</a:t>
                      </a:r>
                    </a:p>
                  </a:txBody>
                  <a:tcPr marT="45711" marB="45711"/>
                </a:tc>
                <a:tc>
                  <a:txBody>
                    <a:bodyPr/>
                    <a:lstStyle/>
                    <a:p>
                      <a:r>
                        <a:rPr lang="en-US" sz="1800"/>
                        <a:t>Matter</a:t>
                      </a:r>
                    </a:p>
                  </a:txBody>
                  <a:tcPr marT="45711" marB="45711"/>
                </a:tc>
                <a:extLst>
                  <a:ext uri="{0D108BD9-81ED-4DB2-BD59-A6C34878D82A}">
                    <a16:rowId xmlns:a16="http://schemas.microsoft.com/office/drawing/2014/main" val="10001"/>
                  </a:ext>
                </a:extLst>
              </a:tr>
              <a:tr h="370769">
                <a:tc>
                  <a:txBody>
                    <a:bodyPr/>
                    <a:lstStyle/>
                    <a:p>
                      <a:r>
                        <a:rPr lang="en-US" sz="1800"/>
                        <a:t>Evaluation</a:t>
                      </a:r>
                    </a:p>
                  </a:txBody>
                  <a:tcPr marT="45711" marB="45711"/>
                </a:tc>
                <a:tc>
                  <a:txBody>
                    <a:bodyPr/>
                    <a:lstStyle/>
                    <a:p>
                      <a:r>
                        <a:rPr lang="en-US" sz="1800" err="1"/>
                        <a:t>MobilePropertyIncident</a:t>
                      </a:r>
                      <a:endParaRPr lang="en-US" sz="1800"/>
                    </a:p>
                  </a:txBody>
                  <a:tcPr marT="45711" marB="45711"/>
                </a:tc>
                <a:extLst>
                  <a:ext uri="{0D108BD9-81ED-4DB2-BD59-A6C34878D82A}">
                    <a16:rowId xmlns:a16="http://schemas.microsoft.com/office/drawing/2014/main" val="10002"/>
                  </a:ext>
                </a:extLst>
              </a:tr>
              <a:tr h="370769">
                <a:tc>
                  <a:txBody>
                    <a:bodyPr/>
                    <a:lstStyle/>
                    <a:p>
                      <a:r>
                        <a:rPr lang="en-US" sz="1800"/>
                        <a:t>Exposure</a:t>
                      </a:r>
                    </a:p>
                  </a:txBody>
                  <a:tcPr marT="45711" marB="45711"/>
                </a:tc>
                <a:tc>
                  <a:txBody>
                    <a:bodyPr/>
                    <a:lstStyle/>
                    <a:p>
                      <a:r>
                        <a:rPr lang="en-US" sz="1800"/>
                        <a:t>Negotiation</a:t>
                      </a:r>
                    </a:p>
                  </a:txBody>
                  <a:tcPr marT="45711" marB="45711"/>
                </a:tc>
                <a:extLst>
                  <a:ext uri="{0D108BD9-81ED-4DB2-BD59-A6C34878D82A}">
                    <a16:rowId xmlns:a16="http://schemas.microsoft.com/office/drawing/2014/main" val="10003"/>
                  </a:ext>
                </a:extLst>
              </a:tr>
              <a:tr h="370769">
                <a:tc>
                  <a:txBody>
                    <a:bodyPr/>
                    <a:lstStyle/>
                    <a:p>
                      <a:r>
                        <a:rPr lang="en-US" sz="1800" err="1"/>
                        <a:t>FixedPropertyIncident</a:t>
                      </a:r>
                      <a:endParaRPr lang="en-US" sz="1800"/>
                    </a:p>
                  </a:txBody>
                  <a:tcPr marT="45711" marB="45711"/>
                </a:tc>
                <a:tc>
                  <a:txBody>
                    <a:bodyPr/>
                    <a:lstStyle/>
                    <a:p>
                      <a:r>
                        <a:rPr lang="en-US" sz="1800"/>
                        <a:t>Policy</a:t>
                      </a:r>
                    </a:p>
                  </a:txBody>
                  <a:tcPr marT="45711" marB="45711"/>
                </a:tc>
                <a:extLst>
                  <a:ext uri="{0D108BD9-81ED-4DB2-BD59-A6C34878D82A}">
                    <a16:rowId xmlns:a16="http://schemas.microsoft.com/office/drawing/2014/main" val="10004"/>
                  </a:ext>
                </a:extLst>
              </a:tr>
              <a:tr h="370769">
                <a:tc>
                  <a:txBody>
                    <a:bodyPr/>
                    <a:lstStyle/>
                    <a:p>
                      <a:r>
                        <a:rPr lang="en-US" sz="1800" err="1"/>
                        <a:t>DwellingIncident</a:t>
                      </a:r>
                      <a:endParaRPr lang="en-US" sz="1800"/>
                    </a:p>
                  </a:txBody>
                  <a:tcPr marT="45711" marB="45711"/>
                </a:tc>
                <a:tc>
                  <a:txBody>
                    <a:bodyPr/>
                    <a:lstStyle/>
                    <a:p>
                      <a:r>
                        <a:rPr lang="en-US" sz="1800" err="1"/>
                        <a:t>PropertyIncident</a:t>
                      </a:r>
                      <a:endParaRPr lang="en-US" sz="1800"/>
                    </a:p>
                  </a:txBody>
                  <a:tcPr marT="45711" marB="45711"/>
                </a:tc>
                <a:extLst>
                  <a:ext uri="{0D108BD9-81ED-4DB2-BD59-A6C34878D82A}">
                    <a16:rowId xmlns:a16="http://schemas.microsoft.com/office/drawing/2014/main" val="10005"/>
                  </a:ext>
                </a:extLst>
              </a:tr>
              <a:tr h="370769">
                <a:tc>
                  <a:txBody>
                    <a:bodyPr/>
                    <a:lstStyle/>
                    <a:p>
                      <a:r>
                        <a:rPr lang="en-US" sz="1800" err="1"/>
                        <a:t>BaggageIncident</a:t>
                      </a:r>
                      <a:endParaRPr lang="en-US" sz="1800"/>
                    </a:p>
                  </a:txBody>
                  <a:tcPr marT="45711" marB="45711"/>
                </a:tc>
                <a:tc>
                  <a:txBody>
                    <a:bodyPr/>
                    <a:lstStyle/>
                    <a:p>
                      <a:r>
                        <a:rPr lang="en-US" sz="1800" err="1"/>
                        <a:t>VehicleIncident</a:t>
                      </a:r>
                      <a:endParaRPr lang="en-US" sz="1800"/>
                    </a:p>
                  </a:txBody>
                  <a:tcPr marT="45711" marB="45711"/>
                </a:tc>
                <a:extLst>
                  <a:ext uri="{0D108BD9-81ED-4DB2-BD59-A6C34878D82A}">
                    <a16:rowId xmlns:a16="http://schemas.microsoft.com/office/drawing/2014/main" val="10006"/>
                  </a:ext>
                </a:extLst>
              </a:tr>
              <a:tr h="370769">
                <a:tc>
                  <a:txBody>
                    <a:bodyPr/>
                    <a:lstStyle/>
                    <a:p>
                      <a:r>
                        <a:rPr lang="en-US" sz="1800"/>
                        <a:t>Incident</a:t>
                      </a:r>
                    </a:p>
                  </a:txBody>
                  <a:tcPr marT="45711" marB="45711"/>
                </a:tc>
                <a:tc>
                  <a:txBody>
                    <a:bodyPr/>
                    <a:lstStyle/>
                    <a:p>
                      <a:r>
                        <a:rPr lang="en-US" sz="1800" err="1"/>
                        <a:t>LivingExpensesIncident</a:t>
                      </a:r>
                      <a:endParaRPr lang="en-US" sz="1800"/>
                    </a:p>
                  </a:txBody>
                  <a:tcPr marT="45711" marB="45711"/>
                </a:tc>
                <a:extLst>
                  <a:ext uri="{0D108BD9-81ED-4DB2-BD59-A6C34878D82A}">
                    <a16:rowId xmlns:a16="http://schemas.microsoft.com/office/drawing/2014/main" val="10007"/>
                  </a:ext>
                </a:extLst>
              </a:tr>
              <a:tr h="370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err="1"/>
                        <a:t>InjuryIncident</a:t>
                      </a:r>
                      <a:endParaRPr lang="en-US" sz="1800"/>
                    </a:p>
                  </a:txBody>
                  <a:tcPr marT="45711" marB="45711"/>
                </a:tc>
                <a:tc>
                  <a:txBody>
                    <a:bodyPr/>
                    <a:lstStyle/>
                    <a:p>
                      <a:endParaRPr lang="en-US" sz="1800"/>
                    </a:p>
                  </a:txBody>
                  <a:tcPr marT="45711" marB="45711"/>
                </a:tc>
                <a:extLst>
                  <a:ext uri="{0D108BD9-81ED-4DB2-BD59-A6C34878D82A}">
                    <a16:rowId xmlns:a16="http://schemas.microsoft.com/office/drawing/2014/main" val="10008"/>
                  </a:ext>
                </a:extLst>
              </a:tr>
            </a:tbl>
          </a:graphicData>
        </a:graphic>
      </p:graphicFrame>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9645" y="2545390"/>
            <a:ext cx="3551433" cy="231369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8168" y="1012641"/>
            <a:ext cx="6560850" cy="2613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083" name="Rectangle 3"/>
          <p:cNvSpPr>
            <a:spLocks noGrp="1" noChangeArrowheads="1"/>
          </p:cNvSpPr>
          <p:nvPr>
            <p:ph type="title"/>
          </p:nvPr>
        </p:nvSpPr>
        <p:spPr>
          <a:xfrm>
            <a:off x="495300" y="115888"/>
            <a:ext cx="8318500" cy="742950"/>
          </a:xfrm>
        </p:spPr>
        <p:txBody>
          <a:bodyPr/>
          <a:lstStyle/>
          <a:p>
            <a:pPr eaLnBrk="1" hangingPunct="1"/>
            <a:r>
              <a:rPr lang="en-US"/>
              <a:t>Entity role constraint configuration</a:t>
            </a:r>
            <a:br>
              <a:rPr lang="en-US"/>
            </a:br>
            <a:r>
              <a:rPr lang="en-US"/>
              <a:t>(unrestricted)</a:t>
            </a:r>
          </a:p>
        </p:txBody>
      </p:sp>
      <p:sp>
        <p:nvSpPr>
          <p:cNvPr id="46084" name="Rectangle 4"/>
          <p:cNvSpPr>
            <a:spLocks noGrp="1" noChangeArrowheads="1"/>
          </p:cNvSpPr>
          <p:nvPr>
            <p:ph idx="1"/>
          </p:nvPr>
        </p:nvSpPr>
        <p:spPr>
          <a:xfrm>
            <a:off x="519113" y="3914775"/>
            <a:ext cx="8318500" cy="2474913"/>
          </a:xfrm>
        </p:spPr>
        <p:txBody>
          <a:bodyPr/>
          <a:lstStyle/>
          <a:p>
            <a:r>
              <a:rPr lang="en-US"/>
              <a:t>Entity role constraint lists type of entity and roles allowed for that entity</a:t>
            </a:r>
          </a:p>
          <a:p>
            <a:pPr lvl="1"/>
            <a:r>
              <a:rPr lang="en-US" err="1"/>
              <a:t>RoleRef</a:t>
            </a:r>
            <a:r>
              <a:rPr lang="en-US"/>
              <a:t> (without any child tags) identifies that any number of contacts (including 0) can have role on instance of that entity</a:t>
            </a:r>
          </a:p>
          <a:p>
            <a:pPr lvl="1"/>
            <a:r>
              <a:rPr lang="en-US"/>
              <a:t>For example, claim can have 0 to many physical therapists, occupational therapists, law enforcement agencies, and insured representatives</a:t>
            </a:r>
          </a:p>
        </p:txBody>
      </p:sp>
      <p:sp>
        <p:nvSpPr>
          <p:cNvPr id="46085" name="AutoShape 5"/>
          <p:cNvSpPr>
            <a:spLocks noChangeArrowheads="1"/>
          </p:cNvSpPr>
          <p:nvPr/>
        </p:nvSpPr>
        <p:spPr bwMode="auto">
          <a:xfrm>
            <a:off x="1765004" y="2319171"/>
            <a:ext cx="5656521" cy="1306531"/>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5"/>
          <p:cNvSpPr>
            <a:spLocks noChangeArrowheads="1"/>
          </p:cNvSpPr>
          <p:nvPr/>
        </p:nvSpPr>
        <p:spPr bwMode="auto">
          <a:xfrm>
            <a:off x="1502735" y="1004278"/>
            <a:ext cx="4026196" cy="34605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title"/>
          </p:nvPr>
        </p:nvSpPr>
        <p:spPr>
          <a:xfrm>
            <a:off x="495300" y="115888"/>
            <a:ext cx="8318500" cy="742950"/>
          </a:xfrm>
        </p:spPr>
        <p:txBody>
          <a:bodyPr/>
          <a:lstStyle/>
          <a:p>
            <a:pPr eaLnBrk="1" hangingPunct="1"/>
            <a:r>
              <a:rPr lang="en-US"/>
              <a:t>Entity role constraint configuration</a:t>
            </a:r>
            <a:br>
              <a:rPr lang="en-US"/>
            </a:br>
            <a:r>
              <a:rPr lang="en-US"/>
              <a:t>(restricted)</a:t>
            </a:r>
          </a:p>
        </p:txBody>
      </p:sp>
      <p:sp>
        <p:nvSpPr>
          <p:cNvPr id="47108" name="Rectangle 4"/>
          <p:cNvSpPr>
            <a:spLocks noGrp="1" noChangeArrowheads="1"/>
          </p:cNvSpPr>
          <p:nvPr>
            <p:ph idx="1"/>
          </p:nvPr>
        </p:nvSpPr>
        <p:spPr>
          <a:xfrm>
            <a:off x="519113" y="3854683"/>
            <a:ext cx="8318500" cy="2728913"/>
          </a:xfrm>
        </p:spPr>
        <p:txBody>
          <a:bodyPr/>
          <a:lstStyle/>
          <a:p>
            <a:r>
              <a:rPr lang="en-US"/>
              <a:t>Role constraint modifies "0 to many" default cardinality</a:t>
            </a:r>
          </a:p>
          <a:p>
            <a:r>
              <a:rPr lang="en-US"/>
              <a:t>Can be set to:</a:t>
            </a:r>
          </a:p>
          <a:p>
            <a:pPr lvl="1"/>
            <a:r>
              <a:rPr lang="en-US"/>
              <a:t>Exclusive - At most one (0 or 1)</a:t>
            </a:r>
          </a:p>
          <a:p>
            <a:pPr lvl="1"/>
            <a:r>
              <a:rPr lang="en-US"/>
              <a:t>Required - At least one (1 to many)</a:t>
            </a:r>
          </a:p>
          <a:p>
            <a:pPr lvl="1"/>
            <a:r>
              <a:rPr lang="en-US"/>
              <a:t>Prohibited - None (0)</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8168" y="1012641"/>
            <a:ext cx="6560850" cy="2613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AutoShape 5"/>
          <p:cNvSpPr>
            <a:spLocks noChangeArrowheads="1"/>
          </p:cNvSpPr>
          <p:nvPr/>
        </p:nvSpPr>
        <p:spPr bwMode="auto">
          <a:xfrm>
            <a:off x="1820332" y="1309078"/>
            <a:ext cx="6108686" cy="101009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Role refs with multiple role constraints</a:t>
            </a:r>
          </a:p>
        </p:txBody>
      </p:sp>
      <p:sp>
        <p:nvSpPr>
          <p:cNvPr id="48131" name="Rectangle 3"/>
          <p:cNvSpPr>
            <a:spLocks noGrp="1" noChangeArrowheads="1"/>
          </p:cNvSpPr>
          <p:nvPr>
            <p:ph idx="1"/>
          </p:nvPr>
        </p:nvSpPr>
        <p:spPr>
          <a:xfrm>
            <a:off x="519113" y="3168650"/>
            <a:ext cx="8318500" cy="3221038"/>
          </a:xfrm>
        </p:spPr>
        <p:txBody>
          <a:bodyPr/>
          <a:lstStyle/>
          <a:p>
            <a:r>
              <a:rPr lang="en-US"/>
              <a:t>A </a:t>
            </a:r>
            <a:r>
              <a:rPr lang="en-US" err="1"/>
              <a:t>RoleRef</a:t>
            </a:r>
            <a:r>
              <a:rPr lang="en-US"/>
              <a:t> can have multiple role constraints, which typically occurs when combining...</a:t>
            </a:r>
          </a:p>
          <a:p>
            <a:pPr lvl="1"/>
            <a:r>
              <a:rPr lang="en-US"/>
              <a:t>Exclusive (at most one), and</a:t>
            </a:r>
          </a:p>
          <a:p>
            <a:pPr lvl="1"/>
            <a:r>
              <a:rPr lang="en-US"/>
              <a:t>Required (at least one)</a:t>
            </a:r>
          </a:p>
          <a:p>
            <a:pPr>
              <a:buFont typeface="Wingdings 3" pitchFamily="18" charset="2"/>
              <a:buNone/>
            </a:pPr>
            <a:r>
              <a:rPr lang="en-US"/>
              <a:t>	...to require exactly one contact with the role</a:t>
            </a:r>
          </a:p>
        </p:txBody>
      </p:sp>
      <p:pic>
        <p:nvPicPr>
          <p:cNvPr id="7" name="Picture 2" descr="C:\Users\trhoades\AppData\Local\Temp\SNAGHTML241d669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5991" y="1595270"/>
            <a:ext cx="6171590" cy="11904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Users\trhoades\AppData\Local\Temp\SNAGHTML241d8aa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5991" y="1012641"/>
            <a:ext cx="6128638" cy="3908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title"/>
          </p:nvPr>
        </p:nvSpPr>
        <p:spPr/>
        <p:txBody>
          <a:bodyPr/>
          <a:lstStyle/>
          <a:p>
            <a:pPr eaLnBrk="1" hangingPunct="1"/>
            <a:r>
              <a:rPr lang="en-US"/>
              <a:t>Conditional role constraints</a:t>
            </a:r>
          </a:p>
        </p:txBody>
      </p:sp>
      <p:sp>
        <p:nvSpPr>
          <p:cNvPr id="49155" name="Rectangle 4"/>
          <p:cNvSpPr>
            <a:spLocks noGrp="1" noChangeArrowheads="1"/>
          </p:cNvSpPr>
          <p:nvPr>
            <p:ph idx="1"/>
          </p:nvPr>
        </p:nvSpPr>
        <p:spPr>
          <a:xfrm>
            <a:off x="519113" y="5135563"/>
            <a:ext cx="8318500" cy="1254125"/>
          </a:xfrm>
        </p:spPr>
        <p:txBody>
          <a:bodyPr/>
          <a:lstStyle/>
          <a:p>
            <a:r>
              <a:rPr lang="en-US"/>
              <a:t>RoleConstraint can have AdditionalInfo child, which specifies entity field and value</a:t>
            </a:r>
          </a:p>
          <a:p>
            <a:pPr lvl="1"/>
            <a:r>
              <a:rPr lang="en-US"/>
              <a:t>Constraint applies only when field has that value</a:t>
            </a:r>
          </a:p>
          <a:p>
            <a:pPr lvl="1"/>
            <a:endParaRPr lang="en-US"/>
          </a:p>
        </p:txBody>
      </p:sp>
      <p:pic>
        <p:nvPicPr>
          <p:cNvPr id="16388" name="Picture 4" descr="C:\Users\trhoades\AppData\Local\Temp\SNAGHTML2468e59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7863" y="1536275"/>
            <a:ext cx="7852423" cy="3350566"/>
          </a:xfrm>
          <a:prstGeom prst="rect">
            <a:avLst/>
          </a:prstGeom>
          <a:noFill/>
          <a:extLst>
            <a:ext uri="{909E8E84-426E-40DD-AFC4-6F175D3DCCD1}">
              <a14:hiddenFill xmlns:a14="http://schemas.microsoft.com/office/drawing/2010/main">
                <a:solidFill>
                  <a:srgbClr val="FFFFFF"/>
                </a:solidFill>
              </a14:hiddenFill>
            </a:ext>
          </a:extLst>
        </p:spPr>
      </p:pic>
      <p:pic>
        <p:nvPicPr>
          <p:cNvPr id="16396" name="Picture 12" descr="C:\Users\trhoades\AppData\Local\Temp\SNAGHTML246ceba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423" y="1035552"/>
            <a:ext cx="7915981" cy="7386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Group 2"/>
          <p:cNvGrpSpPr>
            <a:grpSpLocks/>
          </p:cNvGrpSpPr>
          <p:nvPr/>
        </p:nvGrpSpPr>
        <p:grpSpPr bwMode="auto">
          <a:xfrm>
            <a:off x="561975" y="3700463"/>
            <a:ext cx="1017588" cy="749300"/>
            <a:chOff x="2083" y="1606"/>
            <a:chExt cx="1489" cy="1097"/>
          </a:xfrm>
        </p:grpSpPr>
        <p:sp>
          <p:nvSpPr>
            <p:cNvPr id="50219" name="Rectangle 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50220" name="Freeform 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0221" name="Freeform 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0222" name="Freeform 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0223" name="Freeform 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0224" name="Rectangle 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50225" name="Rectangle 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50226" name="AutoShape 1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50227" name="Freeform 11"/>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50228" name="Freeform 12"/>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50229" name="Rectangle 1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50230" name="Rectangle 1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50231" name="Rectangle 1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50232" name="Group 16"/>
            <p:cNvGrpSpPr>
              <a:grpSpLocks/>
            </p:cNvGrpSpPr>
            <p:nvPr/>
          </p:nvGrpSpPr>
          <p:grpSpPr bwMode="auto">
            <a:xfrm>
              <a:off x="2221" y="1871"/>
              <a:ext cx="518" cy="782"/>
              <a:chOff x="2400" y="1656"/>
              <a:chExt cx="752" cy="1136"/>
            </a:xfrm>
          </p:grpSpPr>
          <p:sp>
            <p:nvSpPr>
              <p:cNvPr id="50245" name="Freeform 1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0246" name="Freeform 1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47" name="Freeform 1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48" name="Freeform 2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49" name="Freeform 2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50250" name="Line 2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0251" name="Line 2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50233" name="Group 24"/>
            <p:cNvGrpSpPr>
              <a:grpSpLocks/>
            </p:cNvGrpSpPr>
            <p:nvPr/>
          </p:nvGrpSpPr>
          <p:grpSpPr bwMode="auto">
            <a:xfrm rot="-6511945">
              <a:off x="2834" y="1842"/>
              <a:ext cx="518" cy="783"/>
              <a:chOff x="2400" y="1656"/>
              <a:chExt cx="752" cy="1136"/>
            </a:xfrm>
          </p:grpSpPr>
          <p:sp>
            <p:nvSpPr>
              <p:cNvPr id="50238"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0239"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40"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41"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42"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43"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0244"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50234" name="Freeform 32"/>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50235" name="Freeform 33"/>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50236" name="Rectangle 3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50237" name="Rectangle 3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50179" name="Rectangle 8"/>
          <p:cNvSpPr>
            <a:spLocks noGrp="1" noChangeArrowheads="1"/>
          </p:cNvSpPr>
          <p:nvPr>
            <p:ph type="title" idx="4294967295"/>
          </p:nvPr>
        </p:nvSpPr>
        <p:spPr/>
        <p:txBody>
          <a:bodyPr/>
          <a:lstStyle/>
          <a:p>
            <a:pPr eaLnBrk="1" hangingPunct="1"/>
            <a:r>
              <a:rPr lang="en-US"/>
              <a:t>Contact role functions</a:t>
            </a:r>
          </a:p>
        </p:txBody>
      </p:sp>
      <p:sp>
        <p:nvSpPr>
          <p:cNvPr id="50180" name="Rectangle 9"/>
          <p:cNvSpPr>
            <a:spLocks noGrp="1" noChangeArrowheads="1"/>
          </p:cNvSpPr>
          <p:nvPr>
            <p:ph idx="4294967295"/>
          </p:nvPr>
        </p:nvSpPr>
        <p:spPr>
          <a:xfrm>
            <a:off x="701675" y="976313"/>
            <a:ext cx="8442325" cy="2519362"/>
          </a:xfrm>
        </p:spPr>
        <p:txBody>
          <a:bodyPr/>
          <a:lstStyle/>
          <a:p>
            <a:pPr eaLnBrk="1" hangingPunct="1"/>
            <a:r>
              <a:rPr lang="en-US"/>
              <a:t>For "Related" entities, function created for each role entity can own</a:t>
            </a:r>
          </a:p>
          <a:p>
            <a:pPr eaLnBrk="1" hangingPunct="1"/>
            <a:r>
              <a:rPr lang="en-US"/>
              <a:t>Appears in data dictionary like a field, but:</a:t>
            </a:r>
          </a:p>
          <a:p>
            <a:pPr lvl="1" eaLnBrk="1" hangingPunct="1"/>
            <a:r>
              <a:rPr lang="en-US"/>
              <a:t>Always singular (even when many contacts can have the role)</a:t>
            </a:r>
          </a:p>
          <a:p>
            <a:pPr lvl="1" eaLnBrk="1" hangingPunct="1"/>
            <a:r>
              <a:rPr lang="en-US"/>
              <a:t>Sometimes written with a lowercase initial letter</a:t>
            </a:r>
          </a:p>
          <a:p>
            <a:pPr lvl="1" eaLnBrk="1" hangingPunct="1"/>
            <a:r>
              <a:rPr lang="en-US"/>
              <a:t>Always a virtual property, not a table column</a:t>
            </a:r>
          </a:p>
        </p:txBody>
      </p:sp>
      <p:grpSp>
        <p:nvGrpSpPr>
          <p:cNvPr id="50181" name="Group 40"/>
          <p:cNvGrpSpPr>
            <a:grpSpLocks/>
          </p:cNvGrpSpPr>
          <p:nvPr/>
        </p:nvGrpSpPr>
        <p:grpSpPr bwMode="auto">
          <a:xfrm>
            <a:off x="590550" y="5084763"/>
            <a:ext cx="1017588" cy="749300"/>
            <a:chOff x="2083" y="1606"/>
            <a:chExt cx="1489" cy="1097"/>
          </a:xfrm>
        </p:grpSpPr>
        <p:sp>
          <p:nvSpPr>
            <p:cNvPr id="50186" name="Rectangle 4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50187" name="Freeform 4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0188" name="Freeform 4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0189" name="Freeform 4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0190" name="Freeform 4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0191" name="Rectangle 4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50192" name="Rectangle 4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50193" name="AutoShape 4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50194" name="Freeform 49"/>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50195" name="Freeform 50"/>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50196" name="Rectangle 5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50197" name="Rectangle 5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50198" name="Rectangle 5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50199" name="Group 54"/>
            <p:cNvGrpSpPr>
              <a:grpSpLocks/>
            </p:cNvGrpSpPr>
            <p:nvPr/>
          </p:nvGrpSpPr>
          <p:grpSpPr bwMode="auto">
            <a:xfrm>
              <a:off x="2221" y="1871"/>
              <a:ext cx="518" cy="782"/>
              <a:chOff x="2400" y="1656"/>
              <a:chExt cx="752" cy="1136"/>
            </a:xfrm>
          </p:grpSpPr>
          <p:sp>
            <p:nvSpPr>
              <p:cNvPr id="50212" name="Freeform 5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0213" name="Freeform 5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14" name="Freeform 5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15" name="Freeform 5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16" name="Freeform 5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50217" name="Line 6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0218" name="Line 6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50200" name="Group 62"/>
            <p:cNvGrpSpPr>
              <a:grpSpLocks/>
            </p:cNvGrpSpPr>
            <p:nvPr/>
          </p:nvGrpSpPr>
          <p:grpSpPr bwMode="auto">
            <a:xfrm rot="-6511945">
              <a:off x="2834" y="1842"/>
              <a:ext cx="518" cy="783"/>
              <a:chOff x="2400" y="1656"/>
              <a:chExt cx="752" cy="1136"/>
            </a:xfrm>
          </p:grpSpPr>
          <p:sp>
            <p:nvSpPr>
              <p:cNvPr id="50205" name="Freeform 6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0206" name="Freeform 6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07" name="Freeform 6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08" name="Freeform 6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09" name="Freeform 6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210" name="Line 6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0211" name="Line 6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50201" name="Freeform 70"/>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50202" name="Freeform 71"/>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50203" name="Rectangle 7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50204" name="Rectangle 7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50182" name="Text Box 75"/>
          <p:cNvSpPr txBox="1">
            <a:spLocks noChangeArrowheads="1"/>
          </p:cNvSpPr>
          <p:nvPr/>
        </p:nvSpPr>
        <p:spPr bwMode="auto">
          <a:xfrm>
            <a:off x="6834188" y="5311775"/>
            <a:ext cx="2090737"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t>Returns the set of persons with the role "witness" for the claim</a:t>
            </a:r>
          </a:p>
        </p:txBody>
      </p:sp>
      <p:pic>
        <p:nvPicPr>
          <p:cNvPr id="50183" name="Picture 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4197350"/>
            <a:ext cx="7132638" cy="811213"/>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50184" name="Text Box 39"/>
          <p:cNvSpPr txBox="1">
            <a:spLocks noChangeArrowheads="1"/>
          </p:cNvSpPr>
          <p:nvPr/>
        </p:nvSpPr>
        <p:spPr bwMode="auto">
          <a:xfrm>
            <a:off x="6933293" y="3301712"/>
            <a:ext cx="2006600" cy="1098550"/>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defRPr>
            </a:lvl1pPr>
            <a:lvl2pPr marL="742950" indent="-285750" eaLnBrk="0" hangingPunct="0">
              <a:defRPr sz="2000" b="1">
                <a:solidFill>
                  <a:srgbClr val="FF0000"/>
                </a:solidFill>
                <a:latin typeface="Arial" pitchFamily="34" charset="0"/>
              </a:defRPr>
            </a:lvl2pPr>
            <a:lvl3pPr marL="1143000" indent="-228600" eaLnBrk="0" hangingPunct="0">
              <a:defRPr sz="2000" b="1">
                <a:solidFill>
                  <a:srgbClr val="FF0000"/>
                </a:solidFill>
                <a:latin typeface="Arial" pitchFamily="34" charset="0"/>
              </a:defRPr>
            </a:lvl3pPr>
            <a:lvl4pPr marL="1600200" indent="-228600" eaLnBrk="0" hangingPunct="0">
              <a:defRPr sz="2000" b="1">
                <a:solidFill>
                  <a:srgbClr val="FF0000"/>
                </a:solidFill>
                <a:latin typeface="Arial" pitchFamily="34" charset="0"/>
              </a:defRPr>
            </a:lvl4pPr>
            <a:lvl5pPr marL="2057400" indent="-228600" eaLnBrk="0" hangingPunct="0">
              <a:defRPr sz="2000" b="1">
                <a:solidFill>
                  <a:srgbClr val="FF0000"/>
                </a:solidFill>
                <a:latin typeface="Arial" pitchFamily="34"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pitchFamily="34"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pitchFamily="34"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pitchFamily="34"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pitchFamily="34" charset="0"/>
              </a:defRPr>
            </a:lvl9pPr>
          </a:lstStyle>
          <a:p>
            <a:pPr algn="l" eaLnBrk="1" hangingPunct="1"/>
            <a:r>
              <a:rPr lang="en-US" sz="1800"/>
              <a:t>Returns the contact with the role "reporter" for the claim</a:t>
            </a:r>
          </a:p>
        </p:txBody>
      </p:sp>
      <p:pic>
        <p:nvPicPr>
          <p:cNvPr id="50185"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575" y="5580063"/>
            <a:ext cx="5499100" cy="803275"/>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Review: Steps to create a new contact role</a:t>
            </a:r>
          </a:p>
        </p:txBody>
      </p:sp>
      <p:sp>
        <p:nvSpPr>
          <p:cNvPr id="51203" name="Rectangle 3"/>
          <p:cNvSpPr>
            <a:spLocks noGrp="1" noChangeArrowheads="1"/>
          </p:cNvSpPr>
          <p:nvPr>
            <p:ph idx="1"/>
          </p:nvPr>
        </p:nvSpPr>
        <p:spPr/>
        <p:txBody>
          <a:bodyPr/>
          <a:lstStyle/>
          <a:p>
            <a:r>
              <a:rPr lang="en-US"/>
              <a:t>Edit </a:t>
            </a:r>
            <a:r>
              <a:rPr lang="en-US" err="1"/>
              <a:t>ContactRole</a:t>
            </a:r>
            <a:r>
              <a:rPr lang="en-US"/>
              <a:t> typelist with new role</a:t>
            </a:r>
          </a:p>
          <a:p>
            <a:r>
              <a:rPr lang="en-US"/>
              <a:t>Edit </a:t>
            </a:r>
            <a:r>
              <a:rPr lang="en-US" err="1"/>
              <a:t>ContactRoleCategory</a:t>
            </a:r>
            <a:r>
              <a:rPr lang="en-US"/>
              <a:t> typelist</a:t>
            </a:r>
          </a:p>
          <a:p>
            <a:pPr lvl="1"/>
            <a:r>
              <a:rPr lang="en-US"/>
              <a:t>Only if you want this role filterable in parties involved </a:t>
            </a:r>
            <a:r>
              <a:rPr lang="en-US" err="1"/>
              <a:t>listview</a:t>
            </a:r>
            <a:r>
              <a:rPr lang="en-US"/>
              <a:t> entries</a:t>
            </a:r>
          </a:p>
          <a:p>
            <a:r>
              <a:rPr lang="en-US"/>
              <a:t>Edit </a:t>
            </a:r>
            <a:r>
              <a:rPr lang="en-US" b="1"/>
              <a:t>entityroleconstraints-config.xml</a:t>
            </a:r>
          </a:p>
          <a:p>
            <a:pPr lvl="1"/>
            <a:r>
              <a:rPr lang="en-US"/>
              <a:t>Add contact role type constraint to restrict type of contact allowable for this role</a:t>
            </a:r>
          </a:p>
          <a:p>
            <a:pPr lvl="1"/>
            <a:r>
              <a:rPr lang="en-US"/>
              <a:t>Add entity role constraints to enable role on entities</a:t>
            </a:r>
          </a:p>
          <a:p>
            <a:pPr lvl="2"/>
            <a:r>
              <a:rPr lang="en-US"/>
              <a:t>Add further constraints to make role exclusive, required, or prohibited</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noFill/>
        </p:spPr>
        <p:txBody>
          <a:bodyPr/>
          <a:lstStyle/>
          <a:p>
            <a:pPr eaLnBrk="1" hangingPunct="1"/>
            <a:r>
              <a:rPr lang="en-US"/>
              <a:t>Lesson objectives review</a:t>
            </a:r>
          </a:p>
        </p:txBody>
      </p:sp>
      <p:sp>
        <p:nvSpPr>
          <p:cNvPr id="52227"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ways in which contacts are categorized</a:t>
            </a:r>
          </a:p>
          <a:p>
            <a:pPr lvl="1" eaLnBrk="1" hangingPunct="1"/>
            <a:r>
              <a:rPr lang="en-US"/>
              <a:t>Describe and configure contact roles</a:t>
            </a:r>
          </a:p>
          <a:p>
            <a:pPr lvl="1" eaLnBrk="1" hangingPunct="1"/>
            <a:r>
              <a:rPr lang="en-US"/>
              <a:t>Configure contact role type constraints</a:t>
            </a:r>
          </a:p>
          <a:p>
            <a:pPr lvl="1" eaLnBrk="1" hangingPunct="1"/>
            <a:r>
              <a:rPr lang="en-US"/>
              <a:t>Configure entity role constraints</a:t>
            </a:r>
          </a:p>
          <a:p>
            <a:pPr lvl="1" eaLnBrk="1" hangingPunct="1"/>
            <a:endParaRPr 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p:spPr>
        <p:txBody>
          <a:bodyPr/>
          <a:lstStyle/>
          <a:p>
            <a:pPr eaLnBrk="1" hangingPunct="1"/>
            <a:r>
              <a:rPr lang="en-US"/>
              <a:t>Review questions</a:t>
            </a:r>
          </a:p>
        </p:txBody>
      </p:sp>
      <p:sp>
        <p:nvSpPr>
          <p:cNvPr id="53251" name="Rectangle 3"/>
          <p:cNvSpPr>
            <a:spLocks noGrp="1" noChangeArrowheads="1"/>
          </p:cNvSpPr>
          <p:nvPr>
            <p:ph idx="1"/>
          </p:nvPr>
        </p:nvSpPr>
        <p:spPr>
          <a:xfrm>
            <a:off x="495300" y="906463"/>
            <a:ext cx="8318500" cy="5483225"/>
          </a:xfrm>
        </p:spPr>
        <p:txBody>
          <a:bodyPr/>
          <a:lstStyle/>
          <a:p>
            <a:pPr marL="457200" indent="-457200" eaLnBrk="1" hangingPunct="1">
              <a:buFont typeface="Webdings" pitchFamily="18" charset="2"/>
              <a:buAutoNum type="arabicPeriod"/>
            </a:pPr>
            <a:r>
              <a:rPr lang="en-US"/>
              <a:t>What is the ContactRoleCategory typelist used for?</a:t>
            </a:r>
          </a:p>
          <a:p>
            <a:pPr marL="457200" indent="-457200" eaLnBrk="1" hangingPunct="1">
              <a:buFont typeface="Webdings" pitchFamily="18" charset="2"/>
              <a:buAutoNum type="arabicPeriod"/>
            </a:pPr>
            <a:r>
              <a:rPr lang="en-US"/>
              <a:t>Acme Insurance has requirements around contacts who are inspectors. For each requirement, identify if this could be implemented through a subtype, a contact role type constraint, or an entity role constraint:</a:t>
            </a:r>
          </a:p>
          <a:p>
            <a:pPr marL="909638" lvl="1" indent="-457200" eaLnBrk="1" hangingPunct="1">
              <a:buSzTx/>
              <a:buFont typeface="Webdings" pitchFamily="18" charset="2"/>
              <a:buAutoNum type="alphaLcParenR"/>
            </a:pPr>
            <a:r>
              <a:rPr lang="en-US"/>
              <a:t>A property incident can have at most one inspector, but it is not required.</a:t>
            </a:r>
          </a:p>
          <a:p>
            <a:pPr marL="909638" lvl="1" indent="-457200" eaLnBrk="1" hangingPunct="1">
              <a:buSzTx/>
              <a:buFont typeface="Webdings" pitchFamily="18" charset="2"/>
              <a:buAutoNum type="alphaLcParenR"/>
            </a:pPr>
            <a:r>
              <a:rPr lang="en-US"/>
              <a:t>An inspector must have a license, and Acme must know the date the license was issued.</a:t>
            </a:r>
          </a:p>
          <a:p>
            <a:pPr marL="909638" lvl="1" indent="-457200" eaLnBrk="1" hangingPunct="1">
              <a:buSzTx/>
              <a:buFont typeface="Webdings" pitchFamily="18" charset="2"/>
              <a:buAutoNum type="alphaLcParenR"/>
            </a:pPr>
            <a:r>
              <a:rPr lang="en-US"/>
              <a:t>You cannot assign an inspector to a policy.</a:t>
            </a:r>
          </a:p>
          <a:p>
            <a:pPr marL="909638" lvl="1" indent="-457200" eaLnBrk="1" hangingPunct="1">
              <a:buSzTx/>
              <a:buFont typeface="Webdings" pitchFamily="18" charset="2"/>
              <a:buAutoNum type="alphaLcParenR"/>
            </a:pPr>
            <a:r>
              <a:rPr lang="en-US"/>
              <a:t>The inspector role cannot be assigned to a contact whose subtype is doctor or lawyer.</a:t>
            </a:r>
          </a:p>
          <a:p>
            <a:pPr marL="457200" indent="-457200" eaLnBrk="1" hangingPunct="1">
              <a:buFont typeface="Webdings" pitchFamily="18" charset="2"/>
              <a:buAutoNum type="arabicPeriod"/>
            </a:pPr>
            <a:r>
              <a:rPr lang="en-US"/>
              <a:t>The Claim entity has a listing in the data dictionary called "reporter". It is not a data field. What is it?</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843381962"/>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AECC6D-2261-44CB-AB54-345805CBB9D3}">
  <ds:schemaRefs>
    <ds:schemaRef ds:uri="http://schemas.microsoft.com/sharepoint/v3/contenttype/forms"/>
  </ds:schemaRefs>
</ds:datastoreItem>
</file>

<file path=customXml/itemProps2.xml><?xml version="1.0" encoding="utf-8"?>
<ds:datastoreItem xmlns:ds="http://schemas.openxmlformats.org/officeDocument/2006/customXml" ds:itemID="{E9332B88-5C9A-4747-8AEF-B8DD40CA923C}">
  <ds:schemaRefs>
    <ds:schemaRef ds:uri="http://schemas.microsoft.com/office/2006/metadata/properties"/>
    <ds:schemaRef ds:uri="http://www.w3.org/2000/xmlns/"/>
    <ds:schemaRef ds:uri="d0b50dc6-d04b-4a20-8a3b-d0ae0088e943"/>
    <ds:schemaRef ds:uri="http://www.w3.org/2001/XMLSchema-instance"/>
    <ds:schemaRef ds:uri="63ac2635-8afb-4032-987d-b5ef0ef361cf"/>
    <ds:schemaRef ds:uri="http://schemas.microsoft.com/office/infopath/2007/PartnerControls"/>
  </ds:schemaRefs>
</ds:datastoreItem>
</file>

<file path=customXml/itemProps3.xml><?xml version="1.0" encoding="utf-8"?>
<ds:datastoreItem xmlns:ds="http://schemas.openxmlformats.org/officeDocument/2006/customXml" ds:itemID="{15365540-CD60-47F9-A1A6-47D346039F05}"/>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49</Slides>
  <Notes>49</Notes>
  <HiddenSlides>3</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1_test-template</vt:lpstr>
      <vt:lpstr>Contact Roles</vt:lpstr>
      <vt:lpstr>Lesson objectives</vt:lpstr>
      <vt:lpstr>Lesson outline</vt:lpstr>
      <vt:lpstr>Contacts</vt:lpstr>
      <vt:lpstr>The contact subtype hierarchy</vt:lpstr>
      <vt:lpstr>(Notes only slide)</vt:lpstr>
      <vt:lpstr>Two applications store contacts</vt:lpstr>
      <vt:lpstr>“Local” contacts</vt:lpstr>
      <vt:lpstr>“Shared” contacts</vt:lpstr>
      <vt:lpstr>(Notes only slide)</vt:lpstr>
      <vt:lpstr>Lesson outline</vt:lpstr>
      <vt:lpstr>Contact roles</vt:lpstr>
      <vt:lpstr>(Notes only slide)</vt:lpstr>
      <vt:lpstr>Creating contacts from the new claim wizard</vt:lpstr>
      <vt:lpstr>Roles in the User Interface</vt:lpstr>
      <vt:lpstr>Transferring roles on a claim</vt:lpstr>
      <vt:lpstr>Transferring roles screen</vt:lpstr>
      <vt:lpstr>Transfer the roles</vt:lpstr>
      <vt:lpstr>Lesson outline</vt:lpstr>
      <vt:lpstr>Contact categorization</vt:lpstr>
      <vt:lpstr>Categorization by subtype</vt:lpstr>
      <vt:lpstr>Categorization by role</vt:lpstr>
      <vt:lpstr>The contact role data model</vt:lpstr>
      <vt:lpstr>Intersection of roles and subtypes</vt:lpstr>
      <vt:lpstr>Lesson outline</vt:lpstr>
      <vt:lpstr>Contact roles</vt:lpstr>
      <vt:lpstr>The contacts list view filter</vt:lpstr>
      <vt:lpstr>Contact role categories</vt:lpstr>
      <vt:lpstr>Role constraints</vt:lpstr>
      <vt:lpstr>Two types of role constraints</vt:lpstr>
      <vt:lpstr>Specifying role constraints</vt:lpstr>
      <vt:lpstr>Lesson outline</vt:lpstr>
      <vt:lpstr>Contact role type constraints in the user interface</vt:lpstr>
      <vt:lpstr>Contact role type constraint configuration</vt:lpstr>
      <vt:lpstr>Lesson outline</vt:lpstr>
      <vt:lpstr>Entity role constraints</vt:lpstr>
      <vt:lpstr>Entity role constraints in the UI (1)</vt:lpstr>
      <vt:lpstr>Entity role constraints in the UI (2)</vt:lpstr>
      <vt:lpstr>Entity role constraints in the UI (3)</vt:lpstr>
      <vt:lpstr>Entities that can be role owners</vt:lpstr>
      <vt:lpstr>Entity role constraint configuration (unrestricted)</vt:lpstr>
      <vt:lpstr>Entity role constraint configuration (restricted)</vt:lpstr>
      <vt:lpstr>Role refs with multiple role constraints</vt:lpstr>
      <vt:lpstr>Conditional role constraints</vt:lpstr>
      <vt:lpstr>Contact role functions</vt:lpstr>
      <vt:lpstr>Review: Steps to create a new contact role</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Contact Roles</dc:title>
  <dc:creator>Tom Rhoades</dc:creator>
  <dc:description>3230</dc:description>
  <cp:lastModifiedBy>Reshmi Das</cp:lastModifiedBy>
  <cp:revision>6</cp:revision>
  <dcterms:created xsi:type="dcterms:W3CDTF">2007-08-02T20:13:16Z</dcterms:created>
  <dcterms:modified xsi:type="dcterms:W3CDTF">2023-03-12T13:00:33Z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71900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